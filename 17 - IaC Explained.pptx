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1" r:id="rId1"/>
    <p:sldMasterId id="2147483723" r:id="rId2"/>
    <p:sldMasterId id="2147483732" r:id="rId3"/>
    <p:sldMasterId id="2147483742" r:id="rId4"/>
    <p:sldMasterId id="2147483751" r:id="rId5"/>
    <p:sldMasterId id="2147483759" r:id="rId6"/>
  </p:sldMasterIdLst>
  <p:notesMasterIdLst>
    <p:notesMasterId r:id="rId93"/>
  </p:notesMasterIdLst>
  <p:sldIdLst>
    <p:sldId id="256" r:id="rId7"/>
    <p:sldId id="425" r:id="rId8"/>
    <p:sldId id="426" r:id="rId9"/>
    <p:sldId id="360" r:id="rId10"/>
    <p:sldId id="361" r:id="rId11"/>
    <p:sldId id="416" r:id="rId12"/>
    <p:sldId id="357" r:id="rId13"/>
    <p:sldId id="347" r:id="rId14"/>
    <p:sldId id="280" r:id="rId15"/>
    <p:sldId id="368" r:id="rId16"/>
    <p:sldId id="370" r:id="rId17"/>
    <p:sldId id="356" r:id="rId18"/>
    <p:sldId id="371" r:id="rId19"/>
    <p:sldId id="369" r:id="rId20"/>
    <p:sldId id="376" r:id="rId21"/>
    <p:sldId id="372" r:id="rId22"/>
    <p:sldId id="373" r:id="rId23"/>
    <p:sldId id="374" r:id="rId24"/>
    <p:sldId id="284" r:id="rId25"/>
    <p:sldId id="287" r:id="rId26"/>
    <p:sldId id="288" r:id="rId27"/>
    <p:sldId id="411" r:id="rId28"/>
    <p:sldId id="412" r:id="rId29"/>
    <p:sldId id="413" r:id="rId30"/>
    <p:sldId id="415" r:id="rId31"/>
    <p:sldId id="414" r:id="rId32"/>
    <p:sldId id="289" r:id="rId33"/>
    <p:sldId id="290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421" r:id="rId45"/>
    <p:sldId id="422" r:id="rId46"/>
    <p:sldId id="423" r:id="rId47"/>
    <p:sldId id="303" r:id="rId48"/>
    <p:sldId id="304" r:id="rId49"/>
    <p:sldId id="358" r:id="rId50"/>
    <p:sldId id="359" r:id="rId51"/>
    <p:sldId id="305" r:id="rId52"/>
    <p:sldId id="328" r:id="rId53"/>
    <p:sldId id="318" r:id="rId54"/>
    <p:sldId id="319" r:id="rId55"/>
    <p:sldId id="417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08" r:id="rId69"/>
    <p:sldId id="309" r:id="rId70"/>
    <p:sldId id="312" r:id="rId71"/>
    <p:sldId id="313" r:id="rId72"/>
    <p:sldId id="314" r:id="rId73"/>
    <p:sldId id="315" r:id="rId74"/>
    <p:sldId id="351" r:id="rId75"/>
    <p:sldId id="344" r:id="rId76"/>
    <p:sldId id="350" r:id="rId77"/>
    <p:sldId id="418" r:id="rId78"/>
    <p:sldId id="348" r:id="rId79"/>
    <p:sldId id="341" r:id="rId80"/>
    <p:sldId id="327" r:id="rId81"/>
    <p:sldId id="317" r:id="rId82"/>
    <p:sldId id="419" r:id="rId83"/>
    <p:sldId id="420" r:id="rId84"/>
    <p:sldId id="320" r:id="rId85"/>
    <p:sldId id="324" r:id="rId86"/>
    <p:sldId id="325" r:id="rId87"/>
    <p:sldId id="326" r:id="rId88"/>
    <p:sldId id="272" r:id="rId89"/>
    <p:sldId id="345" r:id="rId90"/>
    <p:sldId id="427" r:id="rId91"/>
    <p:sldId id="424" r:id="rId9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0"/>
    <p:restoredTop sz="94687"/>
  </p:normalViewPr>
  <p:slideViewPr>
    <p:cSldViewPr snapToGrid="0">
      <p:cViewPr varScale="1">
        <p:scale>
          <a:sx n="104" d="100"/>
          <a:sy n="104" d="100"/>
        </p:scale>
        <p:origin x="2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viewProps" Target="viewProps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9E04F7-F6BA-5B4B-9F90-7D634B9FEF08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435F411B-2777-A148-BFE8-7FCF72A01912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1.Configuration Management</a:t>
          </a:r>
        </a:p>
      </dgm:t>
    </dgm:pt>
    <dgm:pt modelId="{812A9148-FD5B-454A-B7D9-C92706EBFCDD}" type="parTrans" cxnId="{E6F4AA43-07D7-AA43-9612-77E3FAD27FE3}">
      <dgm:prSet/>
      <dgm:spPr/>
      <dgm:t>
        <a:bodyPr/>
        <a:lstStyle/>
        <a:p>
          <a:endParaRPr lang="en-CA"/>
        </a:p>
      </dgm:t>
    </dgm:pt>
    <dgm:pt modelId="{B9403083-08CC-0D48-B667-77E44267F1BE}" type="sibTrans" cxnId="{E6F4AA43-07D7-AA43-9612-77E3FAD27FE3}">
      <dgm:prSet/>
      <dgm:spPr/>
      <dgm:t>
        <a:bodyPr/>
        <a:lstStyle/>
        <a:p>
          <a:endParaRPr lang="en-CA"/>
        </a:p>
      </dgm:t>
    </dgm:pt>
    <dgm:pt modelId="{F531024A-BA6B-B14C-8EDE-BBF5EDB45846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2. Server Provisioning</a:t>
          </a:r>
        </a:p>
      </dgm:t>
    </dgm:pt>
    <dgm:pt modelId="{C59C3CF9-8D30-EF42-915A-7F95F5E4A5BA}" type="parTrans" cxnId="{C7ED520E-05B4-6940-90C2-A9DFBAF9F848}">
      <dgm:prSet/>
      <dgm:spPr/>
      <dgm:t>
        <a:bodyPr/>
        <a:lstStyle/>
        <a:p>
          <a:endParaRPr lang="en-CA"/>
        </a:p>
      </dgm:t>
    </dgm:pt>
    <dgm:pt modelId="{C2962A74-0C67-1640-AA94-BCE007FB0320}" type="sibTrans" cxnId="{C7ED520E-05B4-6940-90C2-A9DFBAF9F848}">
      <dgm:prSet/>
      <dgm:spPr/>
      <dgm:t>
        <a:bodyPr/>
        <a:lstStyle/>
        <a:p>
          <a:endParaRPr lang="en-CA"/>
        </a:p>
      </dgm:t>
    </dgm:pt>
    <dgm:pt modelId="{0A0B83BB-5157-3E4A-B697-035B49F8F843}">
      <dgm:prSet phldrT="[Text]"/>
      <dgm:spPr>
        <a:solidFill>
          <a:srgbClr val="31857F"/>
        </a:solidFill>
        <a:ln>
          <a:solidFill>
            <a:srgbClr val="31856E"/>
          </a:solidFill>
        </a:ln>
      </dgm:spPr>
      <dgm:t>
        <a:bodyPr/>
        <a:lstStyle/>
        <a:p>
          <a:r>
            <a:rPr lang="en-CA" dirty="0"/>
            <a:t>5. Self-Adaptation</a:t>
          </a:r>
        </a:p>
      </dgm:t>
    </dgm:pt>
    <dgm:pt modelId="{17F0DBF1-DE71-E04B-B75E-943FB28CAEFB}" type="parTrans" cxnId="{A3E92958-D8A4-9541-9EF9-168D87BC9A48}">
      <dgm:prSet/>
      <dgm:spPr/>
      <dgm:t>
        <a:bodyPr/>
        <a:lstStyle/>
        <a:p>
          <a:endParaRPr lang="en-CA"/>
        </a:p>
      </dgm:t>
    </dgm:pt>
    <dgm:pt modelId="{A39A0D6A-228A-BF4A-B37B-F0AB6214A57E}" type="sibTrans" cxnId="{A3E92958-D8A4-9541-9EF9-168D87BC9A48}">
      <dgm:prSet/>
      <dgm:spPr/>
      <dgm:t>
        <a:bodyPr/>
        <a:lstStyle/>
        <a:p>
          <a:endParaRPr lang="en-CA"/>
        </a:p>
      </dgm:t>
    </dgm:pt>
    <dgm:pt modelId="{EE3E9856-7D33-934C-A914-409DB4E480B1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3. Application Deployment</a:t>
          </a:r>
        </a:p>
      </dgm:t>
    </dgm:pt>
    <dgm:pt modelId="{693CC010-8FBB-C34D-9AA2-E586EDE92410}" type="parTrans" cxnId="{43C012E8-6253-3744-A154-23CF4EB45C8F}">
      <dgm:prSet/>
      <dgm:spPr/>
      <dgm:t>
        <a:bodyPr/>
        <a:lstStyle/>
        <a:p>
          <a:endParaRPr lang="en-US"/>
        </a:p>
      </dgm:t>
    </dgm:pt>
    <dgm:pt modelId="{CCB6065E-F9B3-4744-98A0-17F38B78A844}" type="sibTrans" cxnId="{43C012E8-6253-3744-A154-23CF4EB45C8F}">
      <dgm:prSet/>
      <dgm:spPr/>
      <dgm:t>
        <a:bodyPr/>
        <a:lstStyle/>
        <a:p>
          <a:endParaRPr lang="en-US"/>
        </a:p>
      </dgm:t>
    </dgm:pt>
    <dgm:pt modelId="{BC4A5BA6-F034-7A4E-B033-BE5BEC9FF62F}">
      <dgm:prSet phldrT="[Text]"/>
      <dgm:spPr>
        <a:solidFill>
          <a:srgbClr val="A20000"/>
        </a:solidFill>
      </dgm:spPr>
      <dgm:t>
        <a:bodyPr/>
        <a:lstStyle/>
        <a:p>
          <a:r>
            <a:rPr lang="en-CA" dirty="0"/>
            <a:t>4. Monitoring</a:t>
          </a:r>
        </a:p>
      </dgm:t>
    </dgm:pt>
    <dgm:pt modelId="{93FA2FB0-356F-544A-A8A6-313B1282267F}" type="sibTrans" cxnId="{70954B4F-7115-6B45-B41B-9E307D6A21DF}">
      <dgm:prSet/>
      <dgm:spPr/>
      <dgm:t>
        <a:bodyPr/>
        <a:lstStyle/>
        <a:p>
          <a:endParaRPr lang="en-CA"/>
        </a:p>
      </dgm:t>
    </dgm:pt>
    <dgm:pt modelId="{CC4429A5-7FF8-224F-B675-DA5FED3774B0}" type="parTrans" cxnId="{70954B4F-7115-6B45-B41B-9E307D6A21DF}">
      <dgm:prSet/>
      <dgm:spPr/>
      <dgm:t>
        <a:bodyPr/>
        <a:lstStyle/>
        <a:p>
          <a:endParaRPr lang="en-CA"/>
        </a:p>
      </dgm:t>
    </dgm:pt>
    <dgm:pt modelId="{374B3083-B5BA-874B-AF24-7492F75EC51E}" type="pres">
      <dgm:prSet presAssocID="{8E9E04F7-F6BA-5B4B-9F90-7D634B9FEF08}" presName="cycle" presStyleCnt="0">
        <dgm:presLayoutVars>
          <dgm:dir/>
          <dgm:resizeHandles val="exact"/>
        </dgm:presLayoutVars>
      </dgm:prSet>
      <dgm:spPr/>
    </dgm:pt>
    <dgm:pt modelId="{F5FB07C1-4726-8D41-BC00-4C5F095A46E8}" type="pres">
      <dgm:prSet presAssocID="{435F411B-2777-A148-BFE8-7FCF72A01912}" presName="node" presStyleLbl="node1" presStyleIdx="0" presStyleCnt="5">
        <dgm:presLayoutVars>
          <dgm:bulletEnabled val="1"/>
        </dgm:presLayoutVars>
      </dgm:prSet>
      <dgm:spPr/>
    </dgm:pt>
    <dgm:pt modelId="{CCABDB72-B010-B044-9BAA-8EE2B91DE723}" type="pres">
      <dgm:prSet presAssocID="{B9403083-08CC-0D48-B667-77E44267F1BE}" presName="sibTrans" presStyleLbl="sibTrans2D1" presStyleIdx="0" presStyleCnt="5"/>
      <dgm:spPr/>
    </dgm:pt>
    <dgm:pt modelId="{DD1120B1-3A0D-1B40-8880-3BB039CA497E}" type="pres">
      <dgm:prSet presAssocID="{B9403083-08CC-0D48-B667-77E44267F1BE}" presName="connectorText" presStyleLbl="sibTrans2D1" presStyleIdx="0" presStyleCnt="5"/>
      <dgm:spPr/>
    </dgm:pt>
    <dgm:pt modelId="{F71DC1AD-8E4B-7543-A90C-92E866FBB2E1}" type="pres">
      <dgm:prSet presAssocID="{F531024A-BA6B-B14C-8EDE-BBF5EDB45846}" presName="node" presStyleLbl="node1" presStyleIdx="1" presStyleCnt="5">
        <dgm:presLayoutVars>
          <dgm:bulletEnabled val="1"/>
        </dgm:presLayoutVars>
      </dgm:prSet>
      <dgm:spPr/>
    </dgm:pt>
    <dgm:pt modelId="{D89F0B7F-41D1-0549-880E-E92D1E15918E}" type="pres">
      <dgm:prSet presAssocID="{C2962A74-0C67-1640-AA94-BCE007FB0320}" presName="sibTrans" presStyleLbl="sibTrans2D1" presStyleIdx="1" presStyleCnt="5"/>
      <dgm:spPr/>
    </dgm:pt>
    <dgm:pt modelId="{9DC64873-421D-444D-AA2A-0F1921A7AEAB}" type="pres">
      <dgm:prSet presAssocID="{C2962A74-0C67-1640-AA94-BCE007FB0320}" presName="connectorText" presStyleLbl="sibTrans2D1" presStyleIdx="1" presStyleCnt="5"/>
      <dgm:spPr/>
    </dgm:pt>
    <dgm:pt modelId="{CCF81A23-7B37-BB4A-BB32-BD2D0E5639C6}" type="pres">
      <dgm:prSet presAssocID="{EE3E9856-7D33-934C-A914-409DB4E480B1}" presName="node" presStyleLbl="node1" presStyleIdx="2" presStyleCnt="5">
        <dgm:presLayoutVars>
          <dgm:bulletEnabled val="1"/>
        </dgm:presLayoutVars>
      </dgm:prSet>
      <dgm:spPr/>
    </dgm:pt>
    <dgm:pt modelId="{C22F28AB-53BC-D540-8365-DC798AC7D01A}" type="pres">
      <dgm:prSet presAssocID="{CCB6065E-F9B3-4744-98A0-17F38B78A844}" presName="sibTrans" presStyleLbl="sibTrans2D1" presStyleIdx="2" presStyleCnt="5"/>
      <dgm:spPr/>
    </dgm:pt>
    <dgm:pt modelId="{D829B965-5B8A-B24E-8128-75DE2D10F0DB}" type="pres">
      <dgm:prSet presAssocID="{CCB6065E-F9B3-4744-98A0-17F38B78A844}" presName="connectorText" presStyleLbl="sibTrans2D1" presStyleIdx="2" presStyleCnt="5"/>
      <dgm:spPr/>
    </dgm:pt>
    <dgm:pt modelId="{8D4B18F9-91CF-DF4B-9D8B-4E48A72F9534}" type="pres">
      <dgm:prSet presAssocID="{BC4A5BA6-F034-7A4E-B033-BE5BEC9FF62F}" presName="node" presStyleLbl="node1" presStyleIdx="3" presStyleCnt="5">
        <dgm:presLayoutVars>
          <dgm:bulletEnabled val="1"/>
        </dgm:presLayoutVars>
      </dgm:prSet>
      <dgm:spPr/>
    </dgm:pt>
    <dgm:pt modelId="{F39B420E-1A7A-704F-B3B6-E58DAB8C2BAF}" type="pres">
      <dgm:prSet presAssocID="{93FA2FB0-356F-544A-A8A6-313B1282267F}" presName="sibTrans" presStyleLbl="sibTrans2D1" presStyleIdx="3" presStyleCnt="5"/>
      <dgm:spPr/>
    </dgm:pt>
    <dgm:pt modelId="{FFEC9E19-526E-464D-9E18-D0316EF3B816}" type="pres">
      <dgm:prSet presAssocID="{93FA2FB0-356F-544A-A8A6-313B1282267F}" presName="connectorText" presStyleLbl="sibTrans2D1" presStyleIdx="3" presStyleCnt="5"/>
      <dgm:spPr/>
    </dgm:pt>
    <dgm:pt modelId="{1224AA48-25BE-184C-8AE5-89B4FCFF3B20}" type="pres">
      <dgm:prSet presAssocID="{0A0B83BB-5157-3E4A-B697-035B49F8F843}" presName="node" presStyleLbl="node1" presStyleIdx="4" presStyleCnt="5">
        <dgm:presLayoutVars>
          <dgm:bulletEnabled val="1"/>
        </dgm:presLayoutVars>
      </dgm:prSet>
      <dgm:spPr/>
    </dgm:pt>
    <dgm:pt modelId="{F7D04BC8-445E-DF44-A88F-2B660AD2FD01}" type="pres">
      <dgm:prSet presAssocID="{A39A0D6A-228A-BF4A-B37B-F0AB6214A57E}" presName="sibTrans" presStyleLbl="sibTrans2D1" presStyleIdx="4" presStyleCnt="5"/>
      <dgm:spPr/>
    </dgm:pt>
    <dgm:pt modelId="{4855E35C-13A3-0842-8338-117500261601}" type="pres">
      <dgm:prSet presAssocID="{A39A0D6A-228A-BF4A-B37B-F0AB6214A57E}" presName="connectorText" presStyleLbl="sibTrans2D1" presStyleIdx="4" presStyleCnt="5"/>
      <dgm:spPr/>
    </dgm:pt>
  </dgm:ptLst>
  <dgm:cxnLst>
    <dgm:cxn modelId="{1704DE02-1BD2-5842-893F-A277A576D13D}" type="presOf" srcId="{B9403083-08CC-0D48-B667-77E44267F1BE}" destId="{CCABDB72-B010-B044-9BAA-8EE2B91DE723}" srcOrd="0" destOrd="0" presId="urn:microsoft.com/office/officeart/2005/8/layout/cycle2"/>
    <dgm:cxn modelId="{C7ED520E-05B4-6940-90C2-A9DFBAF9F848}" srcId="{8E9E04F7-F6BA-5B4B-9F90-7D634B9FEF08}" destId="{F531024A-BA6B-B14C-8EDE-BBF5EDB45846}" srcOrd="1" destOrd="0" parTransId="{C59C3CF9-8D30-EF42-915A-7F95F5E4A5BA}" sibTransId="{C2962A74-0C67-1640-AA94-BCE007FB0320}"/>
    <dgm:cxn modelId="{194F8114-53F2-194C-BC31-2C07528A0F60}" type="presOf" srcId="{93FA2FB0-356F-544A-A8A6-313B1282267F}" destId="{F39B420E-1A7A-704F-B3B6-E58DAB8C2BAF}" srcOrd="0" destOrd="0" presId="urn:microsoft.com/office/officeart/2005/8/layout/cycle2"/>
    <dgm:cxn modelId="{8E63311A-05CE-9D46-8E97-5B07946DB066}" type="presOf" srcId="{C2962A74-0C67-1640-AA94-BCE007FB0320}" destId="{D89F0B7F-41D1-0549-880E-E92D1E15918E}" srcOrd="0" destOrd="0" presId="urn:microsoft.com/office/officeart/2005/8/layout/cycle2"/>
    <dgm:cxn modelId="{F98E5A29-233D-1D44-81A0-5011AF354FBA}" type="presOf" srcId="{A39A0D6A-228A-BF4A-B37B-F0AB6214A57E}" destId="{F7D04BC8-445E-DF44-A88F-2B660AD2FD01}" srcOrd="0" destOrd="0" presId="urn:microsoft.com/office/officeart/2005/8/layout/cycle2"/>
    <dgm:cxn modelId="{3FEFAE2A-E883-044C-9FC6-001AB2F2E78E}" type="presOf" srcId="{CCB6065E-F9B3-4744-98A0-17F38B78A844}" destId="{C22F28AB-53BC-D540-8365-DC798AC7D01A}" srcOrd="0" destOrd="0" presId="urn:microsoft.com/office/officeart/2005/8/layout/cycle2"/>
    <dgm:cxn modelId="{28B9353A-0108-C14F-8F31-0C47DE78B881}" type="presOf" srcId="{C2962A74-0C67-1640-AA94-BCE007FB0320}" destId="{9DC64873-421D-444D-AA2A-0F1921A7AEAB}" srcOrd="1" destOrd="0" presId="urn:microsoft.com/office/officeart/2005/8/layout/cycle2"/>
    <dgm:cxn modelId="{804FCF40-AD4E-C54C-92F5-FA5F54A34A0C}" type="presOf" srcId="{EE3E9856-7D33-934C-A914-409DB4E480B1}" destId="{CCF81A23-7B37-BB4A-BB32-BD2D0E5639C6}" srcOrd="0" destOrd="0" presId="urn:microsoft.com/office/officeart/2005/8/layout/cycle2"/>
    <dgm:cxn modelId="{E6F4AA43-07D7-AA43-9612-77E3FAD27FE3}" srcId="{8E9E04F7-F6BA-5B4B-9F90-7D634B9FEF08}" destId="{435F411B-2777-A148-BFE8-7FCF72A01912}" srcOrd="0" destOrd="0" parTransId="{812A9148-FD5B-454A-B7D9-C92706EBFCDD}" sibTransId="{B9403083-08CC-0D48-B667-77E44267F1BE}"/>
    <dgm:cxn modelId="{70954B4F-7115-6B45-B41B-9E307D6A21DF}" srcId="{8E9E04F7-F6BA-5B4B-9F90-7D634B9FEF08}" destId="{BC4A5BA6-F034-7A4E-B033-BE5BEC9FF62F}" srcOrd="3" destOrd="0" parTransId="{CC4429A5-7FF8-224F-B675-DA5FED3774B0}" sibTransId="{93FA2FB0-356F-544A-A8A6-313B1282267F}"/>
    <dgm:cxn modelId="{A3E92958-D8A4-9541-9EF9-168D87BC9A48}" srcId="{8E9E04F7-F6BA-5B4B-9F90-7D634B9FEF08}" destId="{0A0B83BB-5157-3E4A-B697-035B49F8F843}" srcOrd="4" destOrd="0" parTransId="{17F0DBF1-DE71-E04B-B75E-943FB28CAEFB}" sibTransId="{A39A0D6A-228A-BF4A-B37B-F0AB6214A57E}"/>
    <dgm:cxn modelId="{7EB65B5A-E6E8-BD42-BCD9-165FEF39C72D}" type="presOf" srcId="{F531024A-BA6B-B14C-8EDE-BBF5EDB45846}" destId="{F71DC1AD-8E4B-7543-A90C-92E866FBB2E1}" srcOrd="0" destOrd="0" presId="urn:microsoft.com/office/officeart/2005/8/layout/cycle2"/>
    <dgm:cxn modelId="{D943F968-81B7-2E4E-BCCF-B798EB59847F}" type="presOf" srcId="{CCB6065E-F9B3-4744-98A0-17F38B78A844}" destId="{D829B965-5B8A-B24E-8128-75DE2D10F0DB}" srcOrd="1" destOrd="0" presId="urn:microsoft.com/office/officeart/2005/8/layout/cycle2"/>
    <dgm:cxn modelId="{D5BAEF72-3B11-CD49-892B-7D57DEDDA054}" type="presOf" srcId="{B9403083-08CC-0D48-B667-77E44267F1BE}" destId="{DD1120B1-3A0D-1B40-8880-3BB039CA497E}" srcOrd="1" destOrd="0" presId="urn:microsoft.com/office/officeart/2005/8/layout/cycle2"/>
    <dgm:cxn modelId="{2899EE94-9BC7-544C-BAB7-52DB471A269E}" type="presOf" srcId="{0A0B83BB-5157-3E4A-B697-035B49F8F843}" destId="{1224AA48-25BE-184C-8AE5-89B4FCFF3B20}" srcOrd="0" destOrd="0" presId="urn:microsoft.com/office/officeart/2005/8/layout/cycle2"/>
    <dgm:cxn modelId="{5DB6D19C-F913-7247-9814-C2AAE92C1A76}" type="presOf" srcId="{BC4A5BA6-F034-7A4E-B033-BE5BEC9FF62F}" destId="{8D4B18F9-91CF-DF4B-9D8B-4E48A72F9534}" srcOrd="0" destOrd="0" presId="urn:microsoft.com/office/officeart/2005/8/layout/cycle2"/>
    <dgm:cxn modelId="{BE3264C0-8EB1-F245-AD86-7D4AC836C5F1}" type="presOf" srcId="{A39A0D6A-228A-BF4A-B37B-F0AB6214A57E}" destId="{4855E35C-13A3-0842-8338-117500261601}" srcOrd="1" destOrd="0" presId="urn:microsoft.com/office/officeart/2005/8/layout/cycle2"/>
    <dgm:cxn modelId="{0C8EF5C6-913D-2840-AF87-A99E10349E14}" type="presOf" srcId="{435F411B-2777-A148-BFE8-7FCF72A01912}" destId="{F5FB07C1-4726-8D41-BC00-4C5F095A46E8}" srcOrd="0" destOrd="0" presId="urn:microsoft.com/office/officeart/2005/8/layout/cycle2"/>
    <dgm:cxn modelId="{8C2D33D3-8033-5A47-9E1A-DA93CFA894B9}" type="presOf" srcId="{93FA2FB0-356F-544A-A8A6-313B1282267F}" destId="{FFEC9E19-526E-464D-9E18-D0316EF3B816}" srcOrd="1" destOrd="0" presId="urn:microsoft.com/office/officeart/2005/8/layout/cycle2"/>
    <dgm:cxn modelId="{43C012E8-6253-3744-A154-23CF4EB45C8F}" srcId="{8E9E04F7-F6BA-5B4B-9F90-7D634B9FEF08}" destId="{EE3E9856-7D33-934C-A914-409DB4E480B1}" srcOrd="2" destOrd="0" parTransId="{693CC010-8FBB-C34D-9AA2-E586EDE92410}" sibTransId="{CCB6065E-F9B3-4744-98A0-17F38B78A844}"/>
    <dgm:cxn modelId="{5E14B0FA-44CE-2A4E-8BDB-0FE7333B1FF4}" type="presOf" srcId="{8E9E04F7-F6BA-5B4B-9F90-7D634B9FEF08}" destId="{374B3083-B5BA-874B-AF24-7492F75EC51E}" srcOrd="0" destOrd="0" presId="urn:microsoft.com/office/officeart/2005/8/layout/cycle2"/>
    <dgm:cxn modelId="{4D65F06D-A03D-8D47-A9C5-CB3C4F6E82C8}" type="presParOf" srcId="{374B3083-B5BA-874B-AF24-7492F75EC51E}" destId="{F5FB07C1-4726-8D41-BC00-4C5F095A46E8}" srcOrd="0" destOrd="0" presId="urn:microsoft.com/office/officeart/2005/8/layout/cycle2"/>
    <dgm:cxn modelId="{6E900039-107C-AC40-8F1B-1A1436F7B8D9}" type="presParOf" srcId="{374B3083-B5BA-874B-AF24-7492F75EC51E}" destId="{CCABDB72-B010-B044-9BAA-8EE2B91DE723}" srcOrd="1" destOrd="0" presId="urn:microsoft.com/office/officeart/2005/8/layout/cycle2"/>
    <dgm:cxn modelId="{086A9817-1C88-FB4C-A310-A4C82D2C1182}" type="presParOf" srcId="{CCABDB72-B010-B044-9BAA-8EE2B91DE723}" destId="{DD1120B1-3A0D-1B40-8880-3BB039CA497E}" srcOrd="0" destOrd="0" presId="urn:microsoft.com/office/officeart/2005/8/layout/cycle2"/>
    <dgm:cxn modelId="{AC274BFC-DD48-DB46-B24B-004A3D506E4E}" type="presParOf" srcId="{374B3083-B5BA-874B-AF24-7492F75EC51E}" destId="{F71DC1AD-8E4B-7543-A90C-92E866FBB2E1}" srcOrd="2" destOrd="0" presId="urn:microsoft.com/office/officeart/2005/8/layout/cycle2"/>
    <dgm:cxn modelId="{E31F169B-F1BA-AE4B-9649-F128C33F7BE5}" type="presParOf" srcId="{374B3083-B5BA-874B-AF24-7492F75EC51E}" destId="{D89F0B7F-41D1-0549-880E-E92D1E15918E}" srcOrd="3" destOrd="0" presId="urn:microsoft.com/office/officeart/2005/8/layout/cycle2"/>
    <dgm:cxn modelId="{BAB031C9-2710-B441-B614-3BCA8594A1CC}" type="presParOf" srcId="{D89F0B7F-41D1-0549-880E-E92D1E15918E}" destId="{9DC64873-421D-444D-AA2A-0F1921A7AEAB}" srcOrd="0" destOrd="0" presId="urn:microsoft.com/office/officeart/2005/8/layout/cycle2"/>
    <dgm:cxn modelId="{A27DE88A-76D6-BF4F-80D8-DAB179664EFE}" type="presParOf" srcId="{374B3083-B5BA-874B-AF24-7492F75EC51E}" destId="{CCF81A23-7B37-BB4A-BB32-BD2D0E5639C6}" srcOrd="4" destOrd="0" presId="urn:microsoft.com/office/officeart/2005/8/layout/cycle2"/>
    <dgm:cxn modelId="{FC707CBD-F9AF-CF46-819A-8C1692F7DE30}" type="presParOf" srcId="{374B3083-B5BA-874B-AF24-7492F75EC51E}" destId="{C22F28AB-53BC-D540-8365-DC798AC7D01A}" srcOrd="5" destOrd="0" presId="urn:microsoft.com/office/officeart/2005/8/layout/cycle2"/>
    <dgm:cxn modelId="{B212C3F4-6100-0740-BECF-257C4D2F7618}" type="presParOf" srcId="{C22F28AB-53BC-D540-8365-DC798AC7D01A}" destId="{D829B965-5B8A-B24E-8128-75DE2D10F0DB}" srcOrd="0" destOrd="0" presId="urn:microsoft.com/office/officeart/2005/8/layout/cycle2"/>
    <dgm:cxn modelId="{678AAAA2-D293-524B-9476-2DA22F77F6BC}" type="presParOf" srcId="{374B3083-B5BA-874B-AF24-7492F75EC51E}" destId="{8D4B18F9-91CF-DF4B-9D8B-4E48A72F9534}" srcOrd="6" destOrd="0" presId="urn:microsoft.com/office/officeart/2005/8/layout/cycle2"/>
    <dgm:cxn modelId="{1A6F4628-E182-A649-B834-B9A610BDF307}" type="presParOf" srcId="{374B3083-B5BA-874B-AF24-7492F75EC51E}" destId="{F39B420E-1A7A-704F-B3B6-E58DAB8C2BAF}" srcOrd="7" destOrd="0" presId="urn:microsoft.com/office/officeart/2005/8/layout/cycle2"/>
    <dgm:cxn modelId="{6F145F30-DB10-1B44-9ECD-D028F5341C5C}" type="presParOf" srcId="{F39B420E-1A7A-704F-B3B6-E58DAB8C2BAF}" destId="{FFEC9E19-526E-464D-9E18-D0316EF3B816}" srcOrd="0" destOrd="0" presId="urn:microsoft.com/office/officeart/2005/8/layout/cycle2"/>
    <dgm:cxn modelId="{F707A651-E4BC-0E46-8A44-668B392AF7E9}" type="presParOf" srcId="{374B3083-B5BA-874B-AF24-7492F75EC51E}" destId="{1224AA48-25BE-184C-8AE5-89B4FCFF3B20}" srcOrd="8" destOrd="0" presId="urn:microsoft.com/office/officeart/2005/8/layout/cycle2"/>
    <dgm:cxn modelId="{82899342-A1C1-6A4D-833C-5157F0881F7E}" type="presParOf" srcId="{374B3083-B5BA-874B-AF24-7492F75EC51E}" destId="{F7D04BC8-445E-DF44-A88F-2B660AD2FD01}" srcOrd="9" destOrd="0" presId="urn:microsoft.com/office/officeart/2005/8/layout/cycle2"/>
    <dgm:cxn modelId="{B9F00290-9458-DD4E-A5D0-3B12FA67F5C6}" type="presParOf" srcId="{F7D04BC8-445E-DF44-A88F-2B660AD2FD01}" destId="{4855E35C-13A3-0842-8338-11750026160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9E04F7-F6BA-5B4B-9F90-7D634B9FEF08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435F411B-2777-A148-BFE8-7FCF72A01912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1.Configuration Management</a:t>
          </a:r>
        </a:p>
      </dgm:t>
    </dgm:pt>
    <dgm:pt modelId="{812A9148-FD5B-454A-B7D9-C92706EBFCDD}" type="parTrans" cxnId="{E6F4AA43-07D7-AA43-9612-77E3FAD27FE3}">
      <dgm:prSet/>
      <dgm:spPr/>
      <dgm:t>
        <a:bodyPr/>
        <a:lstStyle/>
        <a:p>
          <a:endParaRPr lang="en-CA"/>
        </a:p>
      </dgm:t>
    </dgm:pt>
    <dgm:pt modelId="{B9403083-08CC-0D48-B667-77E44267F1BE}" type="sibTrans" cxnId="{E6F4AA43-07D7-AA43-9612-77E3FAD27FE3}">
      <dgm:prSet/>
      <dgm:spPr/>
      <dgm:t>
        <a:bodyPr/>
        <a:lstStyle/>
        <a:p>
          <a:endParaRPr lang="en-CA"/>
        </a:p>
      </dgm:t>
    </dgm:pt>
    <dgm:pt modelId="{F531024A-BA6B-B14C-8EDE-BBF5EDB45846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2. Server Provisioning</a:t>
          </a:r>
        </a:p>
      </dgm:t>
    </dgm:pt>
    <dgm:pt modelId="{C59C3CF9-8D30-EF42-915A-7F95F5E4A5BA}" type="parTrans" cxnId="{C7ED520E-05B4-6940-90C2-A9DFBAF9F848}">
      <dgm:prSet/>
      <dgm:spPr/>
      <dgm:t>
        <a:bodyPr/>
        <a:lstStyle/>
        <a:p>
          <a:endParaRPr lang="en-CA"/>
        </a:p>
      </dgm:t>
    </dgm:pt>
    <dgm:pt modelId="{C2962A74-0C67-1640-AA94-BCE007FB0320}" type="sibTrans" cxnId="{C7ED520E-05B4-6940-90C2-A9DFBAF9F848}">
      <dgm:prSet/>
      <dgm:spPr/>
      <dgm:t>
        <a:bodyPr/>
        <a:lstStyle/>
        <a:p>
          <a:endParaRPr lang="en-CA"/>
        </a:p>
      </dgm:t>
    </dgm:pt>
    <dgm:pt modelId="{0A0B83BB-5157-3E4A-B697-035B49F8F843}">
      <dgm:prSet phldrT="[Text]"/>
      <dgm:spPr>
        <a:solidFill>
          <a:srgbClr val="31857F"/>
        </a:solidFill>
        <a:ln>
          <a:solidFill>
            <a:srgbClr val="31856E"/>
          </a:solidFill>
        </a:ln>
      </dgm:spPr>
      <dgm:t>
        <a:bodyPr/>
        <a:lstStyle/>
        <a:p>
          <a:r>
            <a:rPr lang="en-CA" dirty="0"/>
            <a:t>5. Self-Adaptation</a:t>
          </a:r>
        </a:p>
      </dgm:t>
    </dgm:pt>
    <dgm:pt modelId="{17F0DBF1-DE71-E04B-B75E-943FB28CAEFB}" type="parTrans" cxnId="{A3E92958-D8A4-9541-9EF9-168D87BC9A48}">
      <dgm:prSet/>
      <dgm:spPr/>
      <dgm:t>
        <a:bodyPr/>
        <a:lstStyle/>
        <a:p>
          <a:endParaRPr lang="en-CA"/>
        </a:p>
      </dgm:t>
    </dgm:pt>
    <dgm:pt modelId="{A39A0D6A-228A-BF4A-B37B-F0AB6214A57E}" type="sibTrans" cxnId="{A3E92958-D8A4-9541-9EF9-168D87BC9A48}">
      <dgm:prSet/>
      <dgm:spPr/>
      <dgm:t>
        <a:bodyPr/>
        <a:lstStyle/>
        <a:p>
          <a:endParaRPr lang="en-CA"/>
        </a:p>
      </dgm:t>
    </dgm:pt>
    <dgm:pt modelId="{EE3E9856-7D33-934C-A914-409DB4E480B1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3. Application Deployment</a:t>
          </a:r>
        </a:p>
      </dgm:t>
    </dgm:pt>
    <dgm:pt modelId="{693CC010-8FBB-C34D-9AA2-E586EDE92410}" type="parTrans" cxnId="{43C012E8-6253-3744-A154-23CF4EB45C8F}">
      <dgm:prSet/>
      <dgm:spPr/>
      <dgm:t>
        <a:bodyPr/>
        <a:lstStyle/>
        <a:p>
          <a:endParaRPr lang="en-US"/>
        </a:p>
      </dgm:t>
    </dgm:pt>
    <dgm:pt modelId="{CCB6065E-F9B3-4744-98A0-17F38B78A844}" type="sibTrans" cxnId="{43C012E8-6253-3744-A154-23CF4EB45C8F}">
      <dgm:prSet/>
      <dgm:spPr/>
      <dgm:t>
        <a:bodyPr/>
        <a:lstStyle/>
        <a:p>
          <a:endParaRPr lang="en-US"/>
        </a:p>
      </dgm:t>
    </dgm:pt>
    <dgm:pt modelId="{BC4A5BA6-F034-7A4E-B033-BE5BEC9FF62F}">
      <dgm:prSet phldrT="[Text]"/>
      <dgm:spPr>
        <a:solidFill>
          <a:srgbClr val="A20000"/>
        </a:solidFill>
      </dgm:spPr>
      <dgm:t>
        <a:bodyPr/>
        <a:lstStyle/>
        <a:p>
          <a:r>
            <a:rPr lang="en-CA" dirty="0"/>
            <a:t>4. Monitoring</a:t>
          </a:r>
        </a:p>
      </dgm:t>
    </dgm:pt>
    <dgm:pt modelId="{93FA2FB0-356F-544A-A8A6-313B1282267F}" type="sibTrans" cxnId="{70954B4F-7115-6B45-B41B-9E307D6A21DF}">
      <dgm:prSet/>
      <dgm:spPr/>
      <dgm:t>
        <a:bodyPr/>
        <a:lstStyle/>
        <a:p>
          <a:endParaRPr lang="en-CA"/>
        </a:p>
      </dgm:t>
    </dgm:pt>
    <dgm:pt modelId="{CC4429A5-7FF8-224F-B675-DA5FED3774B0}" type="parTrans" cxnId="{70954B4F-7115-6B45-B41B-9E307D6A21DF}">
      <dgm:prSet/>
      <dgm:spPr/>
      <dgm:t>
        <a:bodyPr/>
        <a:lstStyle/>
        <a:p>
          <a:endParaRPr lang="en-CA"/>
        </a:p>
      </dgm:t>
    </dgm:pt>
    <dgm:pt modelId="{374B3083-B5BA-874B-AF24-7492F75EC51E}" type="pres">
      <dgm:prSet presAssocID="{8E9E04F7-F6BA-5B4B-9F90-7D634B9FEF08}" presName="cycle" presStyleCnt="0">
        <dgm:presLayoutVars>
          <dgm:dir/>
          <dgm:resizeHandles val="exact"/>
        </dgm:presLayoutVars>
      </dgm:prSet>
      <dgm:spPr/>
    </dgm:pt>
    <dgm:pt modelId="{F5FB07C1-4726-8D41-BC00-4C5F095A46E8}" type="pres">
      <dgm:prSet presAssocID="{435F411B-2777-A148-BFE8-7FCF72A01912}" presName="node" presStyleLbl="node1" presStyleIdx="0" presStyleCnt="5">
        <dgm:presLayoutVars>
          <dgm:bulletEnabled val="1"/>
        </dgm:presLayoutVars>
      </dgm:prSet>
      <dgm:spPr/>
    </dgm:pt>
    <dgm:pt modelId="{CCABDB72-B010-B044-9BAA-8EE2B91DE723}" type="pres">
      <dgm:prSet presAssocID="{B9403083-08CC-0D48-B667-77E44267F1BE}" presName="sibTrans" presStyleLbl="sibTrans2D1" presStyleIdx="0" presStyleCnt="5"/>
      <dgm:spPr/>
    </dgm:pt>
    <dgm:pt modelId="{DD1120B1-3A0D-1B40-8880-3BB039CA497E}" type="pres">
      <dgm:prSet presAssocID="{B9403083-08CC-0D48-B667-77E44267F1BE}" presName="connectorText" presStyleLbl="sibTrans2D1" presStyleIdx="0" presStyleCnt="5"/>
      <dgm:spPr/>
    </dgm:pt>
    <dgm:pt modelId="{F71DC1AD-8E4B-7543-A90C-92E866FBB2E1}" type="pres">
      <dgm:prSet presAssocID="{F531024A-BA6B-B14C-8EDE-BBF5EDB45846}" presName="node" presStyleLbl="node1" presStyleIdx="1" presStyleCnt="5">
        <dgm:presLayoutVars>
          <dgm:bulletEnabled val="1"/>
        </dgm:presLayoutVars>
      </dgm:prSet>
      <dgm:spPr/>
    </dgm:pt>
    <dgm:pt modelId="{D89F0B7F-41D1-0549-880E-E92D1E15918E}" type="pres">
      <dgm:prSet presAssocID="{C2962A74-0C67-1640-AA94-BCE007FB0320}" presName="sibTrans" presStyleLbl="sibTrans2D1" presStyleIdx="1" presStyleCnt="5"/>
      <dgm:spPr/>
    </dgm:pt>
    <dgm:pt modelId="{9DC64873-421D-444D-AA2A-0F1921A7AEAB}" type="pres">
      <dgm:prSet presAssocID="{C2962A74-0C67-1640-AA94-BCE007FB0320}" presName="connectorText" presStyleLbl="sibTrans2D1" presStyleIdx="1" presStyleCnt="5"/>
      <dgm:spPr/>
    </dgm:pt>
    <dgm:pt modelId="{CCF81A23-7B37-BB4A-BB32-BD2D0E5639C6}" type="pres">
      <dgm:prSet presAssocID="{EE3E9856-7D33-934C-A914-409DB4E480B1}" presName="node" presStyleLbl="node1" presStyleIdx="2" presStyleCnt="5">
        <dgm:presLayoutVars>
          <dgm:bulletEnabled val="1"/>
        </dgm:presLayoutVars>
      </dgm:prSet>
      <dgm:spPr/>
    </dgm:pt>
    <dgm:pt modelId="{C22F28AB-53BC-D540-8365-DC798AC7D01A}" type="pres">
      <dgm:prSet presAssocID="{CCB6065E-F9B3-4744-98A0-17F38B78A844}" presName="sibTrans" presStyleLbl="sibTrans2D1" presStyleIdx="2" presStyleCnt="5"/>
      <dgm:spPr/>
    </dgm:pt>
    <dgm:pt modelId="{D829B965-5B8A-B24E-8128-75DE2D10F0DB}" type="pres">
      <dgm:prSet presAssocID="{CCB6065E-F9B3-4744-98A0-17F38B78A844}" presName="connectorText" presStyleLbl="sibTrans2D1" presStyleIdx="2" presStyleCnt="5"/>
      <dgm:spPr/>
    </dgm:pt>
    <dgm:pt modelId="{8D4B18F9-91CF-DF4B-9D8B-4E48A72F9534}" type="pres">
      <dgm:prSet presAssocID="{BC4A5BA6-F034-7A4E-B033-BE5BEC9FF62F}" presName="node" presStyleLbl="node1" presStyleIdx="3" presStyleCnt="5">
        <dgm:presLayoutVars>
          <dgm:bulletEnabled val="1"/>
        </dgm:presLayoutVars>
      </dgm:prSet>
      <dgm:spPr/>
    </dgm:pt>
    <dgm:pt modelId="{F39B420E-1A7A-704F-B3B6-E58DAB8C2BAF}" type="pres">
      <dgm:prSet presAssocID="{93FA2FB0-356F-544A-A8A6-313B1282267F}" presName="sibTrans" presStyleLbl="sibTrans2D1" presStyleIdx="3" presStyleCnt="5"/>
      <dgm:spPr/>
    </dgm:pt>
    <dgm:pt modelId="{FFEC9E19-526E-464D-9E18-D0316EF3B816}" type="pres">
      <dgm:prSet presAssocID="{93FA2FB0-356F-544A-A8A6-313B1282267F}" presName="connectorText" presStyleLbl="sibTrans2D1" presStyleIdx="3" presStyleCnt="5"/>
      <dgm:spPr/>
    </dgm:pt>
    <dgm:pt modelId="{1224AA48-25BE-184C-8AE5-89B4FCFF3B20}" type="pres">
      <dgm:prSet presAssocID="{0A0B83BB-5157-3E4A-B697-035B49F8F843}" presName="node" presStyleLbl="node1" presStyleIdx="4" presStyleCnt="5">
        <dgm:presLayoutVars>
          <dgm:bulletEnabled val="1"/>
        </dgm:presLayoutVars>
      </dgm:prSet>
      <dgm:spPr/>
    </dgm:pt>
    <dgm:pt modelId="{F7D04BC8-445E-DF44-A88F-2B660AD2FD01}" type="pres">
      <dgm:prSet presAssocID="{A39A0D6A-228A-BF4A-B37B-F0AB6214A57E}" presName="sibTrans" presStyleLbl="sibTrans2D1" presStyleIdx="4" presStyleCnt="5"/>
      <dgm:spPr/>
    </dgm:pt>
    <dgm:pt modelId="{4855E35C-13A3-0842-8338-117500261601}" type="pres">
      <dgm:prSet presAssocID="{A39A0D6A-228A-BF4A-B37B-F0AB6214A57E}" presName="connectorText" presStyleLbl="sibTrans2D1" presStyleIdx="4" presStyleCnt="5"/>
      <dgm:spPr/>
    </dgm:pt>
  </dgm:ptLst>
  <dgm:cxnLst>
    <dgm:cxn modelId="{CE011B08-F881-DA4E-BA4E-6F0FBA024E2B}" type="presOf" srcId="{A39A0D6A-228A-BF4A-B37B-F0AB6214A57E}" destId="{F7D04BC8-445E-DF44-A88F-2B660AD2FD01}" srcOrd="0" destOrd="0" presId="urn:microsoft.com/office/officeart/2005/8/layout/cycle2"/>
    <dgm:cxn modelId="{C7ED520E-05B4-6940-90C2-A9DFBAF9F848}" srcId="{8E9E04F7-F6BA-5B4B-9F90-7D634B9FEF08}" destId="{F531024A-BA6B-B14C-8EDE-BBF5EDB45846}" srcOrd="1" destOrd="0" parTransId="{C59C3CF9-8D30-EF42-915A-7F95F5E4A5BA}" sibTransId="{C2962A74-0C67-1640-AA94-BCE007FB0320}"/>
    <dgm:cxn modelId="{8F7DE015-B562-4344-9768-72AD6681D5AD}" type="presOf" srcId="{0A0B83BB-5157-3E4A-B697-035B49F8F843}" destId="{1224AA48-25BE-184C-8AE5-89B4FCFF3B20}" srcOrd="0" destOrd="0" presId="urn:microsoft.com/office/officeart/2005/8/layout/cycle2"/>
    <dgm:cxn modelId="{51863516-DDBF-A042-8763-1F534B3BF4FE}" type="presOf" srcId="{C2962A74-0C67-1640-AA94-BCE007FB0320}" destId="{9DC64873-421D-444D-AA2A-0F1921A7AEAB}" srcOrd="1" destOrd="0" presId="urn:microsoft.com/office/officeart/2005/8/layout/cycle2"/>
    <dgm:cxn modelId="{3F762C30-EE54-E74A-9F32-8FF091E3B927}" type="presOf" srcId="{CCB6065E-F9B3-4744-98A0-17F38B78A844}" destId="{C22F28AB-53BC-D540-8365-DC798AC7D01A}" srcOrd="0" destOrd="0" presId="urn:microsoft.com/office/officeart/2005/8/layout/cycle2"/>
    <dgm:cxn modelId="{2BCFFE31-AE38-D947-89F7-02C484444ED9}" type="presOf" srcId="{EE3E9856-7D33-934C-A914-409DB4E480B1}" destId="{CCF81A23-7B37-BB4A-BB32-BD2D0E5639C6}" srcOrd="0" destOrd="0" presId="urn:microsoft.com/office/officeart/2005/8/layout/cycle2"/>
    <dgm:cxn modelId="{B1E3B234-CF2A-A249-B2F5-60B287FD2D52}" type="presOf" srcId="{93FA2FB0-356F-544A-A8A6-313B1282267F}" destId="{F39B420E-1A7A-704F-B3B6-E58DAB8C2BAF}" srcOrd="0" destOrd="0" presId="urn:microsoft.com/office/officeart/2005/8/layout/cycle2"/>
    <dgm:cxn modelId="{20B65C36-0A28-0644-BD81-8F76E62CDDB1}" type="presOf" srcId="{C2962A74-0C67-1640-AA94-BCE007FB0320}" destId="{D89F0B7F-41D1-0549-880E-E92D1E15918E}" srcOrd="0" destOrd="0" presId="urn:microsoft.com/office/officeart/2005/8/layout/cycle2"/>
    <dgm:cxn modelId="{3A2D1A3D-9731-874A-AA53-E7F98D96C9B2}" type="presOf" srcId="{8E9E04F7-F6BA-5B4B-9F90-7D634B9FEF08}" destId="{374B3083-B5BA-874B-AF24-7492F75EC51E}" srcOrd="0" destOrd="0" presId="urn:microsoft.com/office/officeart/2005/8/layout/cycle2"/>
    <dgm:cxn modelId="{E6F4AA43-07D7-AA43-9612-77E3FAD27FE3}" srcId="{8E9E04F7-F6BA-5B4B-9F90-7D634B9FEF08}" destId="{435F411B-2777-A148-BFE8-7FCF72A01912}" srcOrd="0" destOrd="0" parTransId="{812A9148-FD5B-454A-B7D9-C92706EBFCDD}" sibTransId="{B9403083-08CC-0D48-B667-77E44267F1BE}"/>
    <dgm:cxn modelId="{70954B4F-7115-6B45-B41B-9E307D6A21DF}" srcId="{8E9E04F7-F6BA-5B4B-9F90-7D634B9FEF08}" destId="{BC4A5BA6-F034-7A4E-B033-BE5BEC9FF62F}" srcOrd="3" destOrd="0" parTransId="{CC4429A5-7FF8-224F-B675-DA5FED3774B0}" sibTransId="{93FA2FB0-356F-544A-A8A6-313B1282267F}"/>
    <dgm:cxn modelId="{A3E92958-D8A4-9541-9EF9-168D87BC9A48}" srcId="{8E9E04F7-F6BA-5B4B-9F90-7D634B9FEF08}" destId="{0A0B83BB-5157-3E4A-B697-035B49F8F843}" srcOrd="4" destOrd="0" parTransId="{17F0DBF1-DE71-E04B-B75E-943FB28CAEFB}" sibTransId="{A39A0D6A-228A-BF4A-B37B-F0AB6214A57E}"/>
    <dgm:cxn modelId="{8BFDF559-EDFE-3A45-BC67-041807353394}" type="presOf" srcId="{B9403083-08CC-0D48-B667-77E44267F1BE}" destId="{CCABDB72-B010-B044-9BAA-8EE2B91DE723}" srcOrd="0" destOrd="0" presId="urn:microsoft.com/office/officeart/2005/8/layout/cycle2"/>
    <dgm:cxn modelId="{EE2B785A-ADF0-0F4F-B297-C4C5B5481524}" type="presOf" srcId="{BC4A5BA6-F034-7A4E-B033-BE5BEC9FF62F}" destId="{8D4B18F9-91CF-DF4B-9D8B-4E48A72F9534}" srcOrd="0" destOrd="0" presId="urn:microsoft.com/office/officeart/2005/8/layout/cycle2"/>
    <dgm:cxn modelId="{5215317C-690F-7941-B5F4-03A6E8BE9BC9}" type="presOf" srcId="{F531024A-BA6B-B14C-8EDE-BBF5EDB45846}" destId="{F71DC1AD-8E4B-7543-A90C-92E866FBB2E1}" srcOrd="0" destOrd="0" presId="urn:microsoft.com/office/officeart/2005/8/layout/cycle2"/>
    <dgm:cxn modelId="{446EC589-33A4-D643-AD56-CF1EF8209D30}" type="presOf" srcId="{B9403083-08CC-0D48-B667-77E44267F1BE}" destId="{DD1120B1-3A0D-1B40-8880-3BB039CA497E}" srcOrd="1" destOrd="0" presId="urn:microsoft.com/office/officeart/2005/8/layout/cycle2"/>
    <dgm:cxn modelId="{4E03E3CD-AA24-BF41-B1BB-E84BE733BBD8}" type="presOf" srcId="{93FA2FB0-356F-544A-A8A6-313B1282267F}" destId="{FFEC9E19-526E-464D-9E18-D0316EF3B816}" srcOrd="1" destOrd="0" presId="urn:microsoft.com/office/officeart/2005/8/layout/cycle2"/>
    <dgm:cxn modelId="{B538D6D0-DF67-1E47-84E2-C9961747E186}" type="presOf" srcId="{A39A0D6A-228A-BF4A-B37B-F0AB6214A57E}" destId="{4855E35C-13A3-0842-8338-117500261601}" srcOrd="1" destOrd="0" presId="urn:microsoft.com/office/officeart/2005/8/layout/cycle2"/>
    <dgm:cxn modelId="{FC25EAE3-AA30-234E-9224-55646E534B80}" type="presOf" srcId="{435F411B-2777-A148-BFE8-7FCF72A01912}" destId="{F5FB07C1-4726-8D41-BC00-4C5F095A46E8}" srcOrd="0" destOrd="0" presId="urn:microsoft.com/office/officeart/2005/8/layout/cycle2"/>
    <dgm:cxn modelId="{BD1C4CE6-B2BF-054D-B963-CA02B0AD8361}" type="presOf" srcId="{CCB6065E-F9B3-4744-98A0-17F38B78A844}" destId="{D829B965-5B8A-B24E-8128-75DE2D10F0DB}" srcOrd="1" destOrd="0" presId="urn:microsoft.com/office/officeart/2005/8/layout/cycle2"/>
    <dgm:cxn modelId="{43C012E8-6253-3744-A154-23CF4EB45C8F}" srcId="{8E9E04F7-F6BA-5B4B-9F90-7D634B9FEF08}" destId="{EE3E9856-7D33-934C-A914-409DB4E480B1}" srcOrd="2" destOrd="0" parTransId="{693CC010-8FBB-C34D-9AA2-E586EDE92410}" sibTransId="{CCB6065E-F9B3-4744-98A0-17F38B78A844}"/>
    <dgm:cxn modelId="{C7CA71F1-B6DE-454E-807A-5D769512CDB5}" type="presParOf" srcId="{374B3083-B5BA-874B-AF24-7492F75EC51E}" destId="{F5FB07C1-4726-8D41-BC00-4C5F095A46E8}" srcOrd="0" destOrd="0" presId="urn:microsoft.com/office/officeart/2005/8/layout/cycle2"/>
    <dgm:cxn modelId="{A6C25CC4-763C-D941-A2EB-C7FDF04A637A}" type="presParOf" srcId="{374B3083-B5BA-874B-AF24-7492F75EC51E}" destId="{CCABDB72-B010-B044-9BAA-8EE2B91DE723}" srcOrd="1" destOrd="0" presId="urn:microsoft.com/office/officeart/2005/8/layout/cycle2"/>
    <dgm:cxn modelId="{4F9EDAB0-5136-5E4E-ACDD-C026A6D77158}" type="presParOf" srcId="{CCABDB72-B010-B044-9BAA-8EE2B91DE723}" destId="{DD1120B1-3A0D-1B40-8880-3BB039CA497E}" srcOrd="0" destOrd="0" presId="urn:microsoft.com/office/officeart/2005/8/layout/cycle2"/>
    <dgm:cxn modelId="{0619FC4D-16AD-8D49-B939-A57D50ED0D27}" type="presParOf" srcId="{374B3083-B5BA-874B-AF24-7492F75EC51E}" destId="{F71DC1AD-8E4B-7543-A90C-92E866FBB2E1}" srcOrd="2" destOrd="0" presId="urn:microsoft.com/office/officeart/2005/8/layout/cycle2"/>
    <dgm:cxn modelId="{C47C26BF-C4AB-9B42-9C06-692CB4AE186E}" type="presParOf" srcId="{374B3083-B5BA-874B-AF24-7492F75EC51E}" destId="{D89F0B7F-41D1-0549-880E-E92D1E15918E}" srcOrd="3" destOrd="0" presId="urn:microsoft.com/office/officeart/2005/8/layout/cycle2"/>
    <dgm:cxn modelId="{665B4173-9763-5446-BAEB-9CDE0A3C00EC}" type="presParOf" srcId="{D89F0B7F-41D1-0549-880E-E92D1E15918E}" destId="{9DC64873-421D-444D-AA2A-0F1921A7AEAB}" srcOrd="0" destOrd="0" presId="urn:microsoft.com/office/officeart/2005/8/layout/cycle2"/>
    <dgm:cxn modelId="{EA2BB7EB-C9AA-A54A-A59D-05D3C6BE132F}" type="presParOf" srcId="{374B3083-B5BA-874B-AF24-7492F75EC51E}" destId="{CCF81A23-7B37-BB4A-BB32-BD2D0E5639C6}" srcOrd="4" destOrd="0" presId="urn:microsoft.com/office/officeart/2005/8/layout/cycle2"/>
    <dgm:cxn modelId="{43A3A87A-E2AC-F841-8F0E-18FBFF7AAA8B}" type="presParOf" srcId="{374B3083-B5BA-874B-AF24-7492F75EC51E}" destId="{C22F28AB-53BC-D540-8365-DC798AC7D01A}" srcOrd="5" destOrd="0" presId="urn:microsoft.com/office/officeart/2005/8/layout/cycle2"/>
    <dgm:cxn modelId="{52CE4AD1-E972-BE47-A043-B558C02342FA}" type="presParOf" srcId="{C22F28AB-53BC-D540-8365-DC798AC7D01A}" destId="{D829B965-5B8A-B24E-8128-75DE2D10F0DB}" srcOrd="0" destOrd="0" presId="urn:microsoft.com/office/officeart/2005/8/layout/cycle2"/>
    <dgm:cxn modelId="{D9924553-78F8-034C-B8F5-9BF096E11FA5}" type="presParOf" srcId="{374B3083-B5BA-874B-AF24-7492F75EC51E}" destId="{8D4B18F9-91CF-DF4B-9D8B-4E48A72F9534}" srcOrd="6" destOrd="0" presId="urn:microsoft.com/office/officeart/2005/8/layout/cycle2"/>
    <dgm:cxn modelId="{2FA44A6D-8AA2-8746-878E-1265E932275E}" type="presParOf" srcId="{374B3083-B5BA-874B-AF24-7492F75EC51E}" destId="{F39B420E-1A7A-704F-B3B6-E58DAB8C2BAF}" srcOrd="7" destOrd="0" presId="urn:microsoft.com/office/officeart/2005/8/layout/cycle2"/>
    <dgm:cxn modelId="{4950960D-019B-A244-A14D-A015083954C4}" type="presParOf" srcId="{F39B420E-1A7A-704F-B3B6-E58DAB8C2BAF}" destId="{FFEC9E19-526E-464D-9E18-D0316EF3B816}" srcOrd="0" destOrd="0" presId="urn:microsoft.com/office/officeart/2005/8/layout/cycle2"/>
    <dgm:cxn modelId="{D2283ECE-8127-7C42-B22F-D431CE7A8740}" type="presParOf" srcId="{374B3083-B5BA-874B-AF24-7492F75EC51E}" destId="{1224AA48-25BE-184C-8AE5-89B4FCFF3B20}" srcOrd="8" destOrd="0" presId="urn:microsoft.com/office/officeart/2005/8/layout/cycle2"/>
    <dgm:cxn modelId="{E0A5B630-329B-1B4F-996A-550A0D048903}" type="presParOf" srcId="{374B3083-B5BA-874B-AF24-7492F75EC51E}" destId="{F7D04BC8-445E-DF44-A88F-2B660AD2FD01}" srcOrd="9" destOrd="0" presId="urn:microsoft.com/office/officeart/2005/8/layout/cycle2"/>
    <dgm:cxn modelId="{7D789611-A0C9-0241-A3CC-03BAB9473F0D}" type="presParOf" srcId="{F7D04BC8-445E-DF44-A88F-2B660AD2FD01}" destId="{4855E35C-13A3-0842-8338-11750026160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9E04F7-F6BA-5B4B-9F90-7D634B9FEF08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435F411B-2777-A148-BFE8-7FCF72A01912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1.Configuration Management</a:t>
          </a:r>
        </a:p>
      </dgm:t>
    </dgm:pt>
    <dgm:pt modelId="{812A9148-FD5B-454A-B7D9-C92706EBFCDD}" type="parTrans" cxnId="{E6F4AA43-07D7-AA43-9612-77E3FAD27FE3}">
      <dgm:prSet/>
      <dgm:spPr/>
      <dgm:t>
        <a:bodyPr/>
        <a:lstStyle/>
        <a:p>
          <a:endParaRPr lang="en-CA"/>
        </a:p>
      </dgm:t>
    </dgm:pt>
    <dgm:pt modelId="{B9403083-08CC-0D48-B667-77E44267F1BE}" type="sibTrans" cxnId="{E6F4AA43-07D7-AA43-9612-77E3FAD27FE3}">
      <dgm:prSet/>
      <dgm:spPr/>
      <dgm:t>
        <a:bodyPr/>
        <a:lstStyle/>
        <a:p>
          <a:endParaRPr lang="en-CA"/>
        </a:p>
      </dgm:t>
    </dgm:pt>
    <dgm:pt modelId="{F531024A-BA6B-B14C-8EDE-BBF5EDB45846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2. Server Provisioning</a:t>
          </a:r>
        </a:p>
      </dgm:t>
    </dgm:pt>
    <dgm:pt modelId="{C59C3CF9-8D30-EF42-915A-7F95F5E4A5BA}" type="parTrans" cxnId="{C7ED520E-05B4-6940-90C2-A9DFBAF9F848}">
      <dgm:prSet/>
      <dgm:spPr/>
      <dgm:t>
        <a:bodyPr/>
        <a:lstStyle/>
        <a:p>
          <a:endParaRPr lang="en-CA"/>
        </a:p>
      </dgm:t>
    </dgm:pt>
    <dgm:pt modelId="{C2962A74-0C67-1640-AA94-BCE007FB0320}" type="sibTrans" cxnId="{C7ED520E-05B4-6940-90C2-A9DFBAF9F848}">
      <dgm:prSet/>
      <dgm:spPr/>
      <dgm:t>
        <a:bodyPr/>
        <a:lstStyle/>
        <a:p>
          <a:endParaRPr lang="en-CA"/>
        </a:p>
      </dgm:t>
    </dgm:pt>
    <dgm:pt modelId="{0A0B83BB-5157-3E4A-B697-035B49F8F843}">
      <dgm:prSet phldrT="[Text]"/>
      <dgm:spPr>
        <a:solidFill>
          <a:srgbClr val="31857F"/>
        </a:solidFill>
        <a:ln>
          <a:solidFill>
            <a:srgbClr val="31856E"/>
          </a:solidFill>
        </a:ln>
      </dgm:spPr>
      <dgm:t>
        <a:bodyPr/>
        <a:lstStyle/>
        <a:p>
          <a:r>
            <a:rPr lang="en-CA" dirty="0"/>
            <a:t>5. Self-Adaptation</a:t>
          </a:r>
        </a:p>
      </dgm:t>
    </dgm:pt>
    <dgm:pt modelId="{17F0DBF1-DE71-E04B-B75E-943FB28CAEFB}" type="parTrans" cxnId="{A3E92958-D8A4-9541-9EF9-168D87BC9A48}">
      <dgm:prSet/>
      <dgm:spPr/>
      <dgm:t>
        <a:bodyPr/>
        <a:lstStyle/>
        <a:p>
          <a:endParaRPr lang="en-CA"/>
        </a:p>
      </dgm:t>
    </dgm:pt>
    <dgm:pt modelId="{A39A0D6A-228A-BF4A-B37B-F0AB6214A57E}" type="sibTrans" cxnId="{A3E92958-D8A4-9541-9EF9-168D87BC9A48}">
      <dgm:prSet/>
      <dgm:spPr/>
      <dgm:t>
        <a:bodyPr/>
        <a:lstStyle/>
        <a:p>
          <a:endParaRPr lang="en-CA"/>
        </a:p>
      </dgm:t>
    </dgm:pt>
    <dgm:pt modelId="{EE3E9856-7D33-934C-A914-409DB4E480B1}">
      <dgm:prSet phldrT="[Text]"/>
      <dgm:spPr>
        <a:solidFill>
          <a:srgbClr val="7100B0"/>
        </a:solidFill>
      </dgm:spPr>
      <dgm:t>
        <a:bodyPr/>
        <a:lstStyle/>
        <a:p>
          <a:r>
            <a:rPr lang="en-CA" dirty="0"/>
            <a:t>3. Application Deployment</a:t>
          </a:r>
        </a:p>
      </dgm:t>
    </dgm:pt>
    <dgm:pt modelId="{693CC010-8FBB-C34D-9AA2-E586EDE92410}" type="parTrans" cxnId="{43C012E8-6253-3744-A154-23CF4EB45C8F}">
      <dgm:prSet/>
      <dgm:spPr/>
      <dgm:t>
        <a:bodyPr/>
        <a:lstStyle/>
        <a:p>
          <a:endParaRPr lang="en-US"/>
        </a:p>
      </dgm:t>
    </dgm:pt>
    <dgm:pt modelId="{CCB6065E-F9B3-4744-98A0-17F38B78A844}" type="sibTrans" cxnId="{43C012E8-6253-3744-A154-23CF4EB45C8F}">
      <dgm:prSet/>
      <dgm:spPr/>
      <dgm:t>
        <a:bodyPr/>
        <a:lstStyle/>
        <a:p>
          <a:endParaRPr lang="en-US"/>
        </a:p>
      </dgm:t>
    </dgm:pt>
    <dgm:pt modelId="{BC4A5BA6-F034-7A4E-B033-BE5BEC9FF62F}">
      <dgm:prSet phldrT="[Text]"/>
      <dgm:spPr>
        <a:solidFill>
          <a:srgbClr val="A20000"/>
        </a:solidFill>
      </dgm:spPr>
      <dgm:t>
        <a:bodyPr/>
        <a:lstStyle/>
        <a:p>
          <a:r>
            <a:rPr lang="en-CA" dirty="0"/>
            <a:t>4. Monitoring</a:t>
          </a:r>
        </a:p>
      </dgm:t>
    </dgm:pt>
    <dgm:pt modelId="{93FA2FB0-356F-544A-A8A6-313B1282267F}" type="sibTrans" cxnId="{70954B4F-7115-6B45-B41B-9E307D6A21DF}">
      <dgm:prSet/>
      <dgm:spPr/>
      <dgm:t>
        <a:bodyPr/>
        <a:lstStyle/>
        <a:p>
          <a:endParaRPr lang="en-CA"/>
        </a:p>
      </dgm:t>
    </dgm:pt>
    <dgm:pt modelId="{CC4429A5-7FF8-224F-B675-DA5FED3774B0}" type="parTrans" cxnId="{70954B4F-7115-6B45-B41B-9E307D6A21DF}">
      <dgm:prSet/>
      <dgm:spPr/>
      <dgm:t>
        <a:bodyPr/>
        <a:lstStyle/>
        <a:p>
          <a:endParaRPr lang="en-CA"/>
        </a:p>
      </dgm:t>
    </dgm:pt>
    <dgm:pt modelId="{374B3083-B5BA-874B-AF24-7492F75EC51E}" type="pres">
      <dgm:prSet presAssocID="{8E9E04F7-F6BA-5B4B-9F90-7D634B9FEF08}" presName="cycle" presStyleCnt="0">
        <dgm:presLayoutVars>
          <dgm:dir/>
          <dgm:resizeHandles val="exact"/>
        </dgm:presLayoutVars>
      </dgm:prSet>
      <dgm:spPr/>
    </dgm:pt>
    <dgm:pt modelId="{F5FB07C1-4726-8D41-BC00-4C5F095A46E8}" type="pres">
      <dgm:prSet presAssocID="{435F411B-2777-A148-BFE8-7FCF72A01912}" presName="node" presStyleLbl="node1" presStyleIdx="0" presStyleCnt="5">
        <dgm:presLayoutVars>
          <dgm:bulletEnabled val="1"/>
        </dgm:presLayoutVars>
      </dgm:prSet>
      <dgm:spPr/>
    </dgm:pt>
    <dgm:pt modelId="{CCABDB72-B010-B044-9BAA-8EE2B91DE723}" type="pres">
      <dgm:prSet presAssocID="{B9403083-08CC-0D48-B667-77E44267F1BE}" presName="sibTrans" presStyleLbl="sibTrans2D1" presStyleIdx="0" presStyleCnt="5"/>
      <dgm:spPr/>
    </dgm:pt>
    <dgm:pt modelId="{DD1120B1-3A0D-1B40-8880-3BB039CA497E}" type="pres">
      <dgm:prSet presAssocID="{B9403083-08CC-0D48-B667-77E44267F1BE}" presName="connectorText" presStyleLbl="sibTrans2D1" presStyleIdx="0" presStyleCnt="5"/>
      <dgm:spPr/>
    </dgm:pt>
    <dgm:pt modelId="{F71DC1AD-8E4B-7543-A90C-92E866FBB2E1}" type="pres">
      <dgm:prSet presAssocID="{F531024A-BA6B-B14C-8EDE-BBF5EDB45846}" presName="node" presStyleLbl="node1" presStyleIdx="1" presStyleCnt="5">
        <dgm:presLayoutVars>
          <dgm:bulletEnabled val="1"/>
        </dgm:presLayoutVars>
      </dgm:prSet>
      <dgm:spPr/>
    </dgm:pt>
    <dgm:pt modelId="{D89F0B7F-41D1-0549-880E-E92D1E15918E}" type="pres">
      <dgm:prSet presAssocID="{C2962A74-0C67-1640-AA94-BCE007FB0320}" presName="sibTrans" presStyleLbl="sibTrans2D1" presStyleIdx="1" presStyleCnt="5"/>
      <dgm:spPr/>
    </dgm:pt>
    <dgm:pt modelId="{9DC64873-421D-444D-AA2A-0F1921A7AEAB}" type="pres">
      <dgm:prSet presAssocID="{C2962A74-0C67-1640-AA94-BCE007FB0320}" presName="connectorText" presStyleLbl="sibTrans2D1" presStyleIdx="1" presStyleCnt="5"/>
      <dgm:spPr/>
    </dgm:pt>
    <dgm:pt modelId="{CCF81A23-7B37-BB4A-BB32-BD2D0E5639C6}" type="pres">
      <dgm:prSet presAssocID="{EE3E9856-7D33-934C-A914-409DB4E480B1}" presName="node" presStyleLbl="node1" presStyleIdx="2" presStyleCnt="5">
        <dgm:presLayoutVars>
          <dgm:bulletEnabled val="1"/>
        </dgm:presLayoutVars>
      </dgm:prSet>
      <dgm:spPr/>
    </dgm:pt>
    <dgm:pt modelId="{C22F28AB-53BC-D540-8365-DC798AC7D01A}" type="pres">
      <dgm:prSet presAssocID="{CCB6065E-F9B3-4744-98A0-17F38B78A844}" presName="sibTrans" presStyleLbl="sibTrans2D1" presStyleIdx="2" presStyleCnt="5"/>
      <dgm:spPr/>
    </dgm:pt>
    <dgm:pt modelId="{D829B965-5B8A-B24E-8128-75DE2D10F0DB}" type="pres">
      <dgm:prSet presAssocID="{CCB6065E-F9B3-4744-98A0-17F38B78A844}" presName="connectorText" presStyleLbl="sibTrans2D1" presStyleIdx="2" presStyleCnt="5"/>
      <dgm:spPr/>
    </dgm:pt>
    <dgm:pt modelId="{8D4B18F9-91CF-DF4B-9D8B-4E48A72F9534}" type="pres">
      <dgm:prSet presAssocID="{BC4A5BA6-F034-7A4E-B033-BE5BEC9FF62F}" presName="node" presStyleLbl="node1" presStyleIdx="3" presStyleCnt="5">
        <dgm:presLayoutVars>
          <dgm:bulletEnabled val="1"/>
        </dgm:presLayoutVars>
      </dgm:prSet>
      <dgm:spPr/>
    </dgm:pt>
    <dgm:pt modelId="{F39B420E-1A7A-704F-B3B6-E58DAB8C2BAF}" type="pres">
      <dgm:prSet presAssocID="{93FA2FB0-356F-544A-A8A6-313B1282267F}" presName="sibTrans" presStyleLbl="sibTrans2D1" presStyleIdx="3" presStyleCnt="5"/>
      <dgm:spPr/>
    </dgm:pt>
    <dgm:pt modelId="{FFEC9E19-526E-464D-9E18-D0316EF3B816}" type="pres">
      <dgm:prSet presAssocID="{93FA2FB0-356F-544A-A8A6-313B1282267F}" presName="connectorText" presStyleLbl="sibTrans2D1" presStyleIdx="3" presStyleCnt="5"/>
      <dgm:spPr/>
    </dgm:pt>
    <dgm:pt modelId="{1224AA48-25BE-184C-8AE5-89B4FCFF3B20}" type="pres">
      <dgm:prSet presAssocID="{0A0B83BB-5157-3E4A-B697-035B49F8F843}" presName="node" presStyleLbl="node1" presStyleIdx="4" presStyleCnt="5">
        <dgm:presLayoutVars>
          <dgm:bulletEnabled val="1"/>
        </dgm:presLayoutVars>
      </dgm:prSet>
      <dgm:spPr/>
    </dgm:pt>
    <dgm:pt modelId="{F7D04BC8-445E-DF44-A88F-2B660AD2FD01}" type="pres">
      <dgm:prSet presAssocID="{A39A0D6A-228A-BF4A-B37B-F0AB6214A57E}" presName="sibTrans" presStyleLbl="sibTrans2D1" presStyleIdx="4" presStyleCnt="5"/>
      <dgm:spPr/>
    </dgm:pt>
    <dgm:pt modelId="{4855E35C-13A3-0842-8338-117500261601}" type="pres">
      <dgm:prSet presAssocID="{A39A0D6A-228A-BF4A-B37B-F0AB6214A57E}" presName="connectorText" presStyleLbl="sibTrans2D1" presStyleIdx="4" presStyleCnt="5"/>
      <dgm:spPr/>
    </dgm:pt>
  </dgm:ptLst>
  <dgm:cxnLst>
    <dgm:cxn modelId="{5742640B-69C2-5747-9071-434DB2CC6BDE}" type="presOf" srcId="{C2962A74-0C67-1640-AA94-BCE007FB0320}" destId="{9DC64873-421D-444D-AA2A-0F1921A7AEAB}" srcOrd="1" destOrd="0" presId="urn:microsoft.com/office/officeart/2005/8/layout/cycle2"/>
    <dgm:cxn modelId="{C7ED520E-05B4-6940-90C2-A9DFBAF9F848}" srcId="{8E9E04F7-F6BA-5B4B-9F90-7D634B9FEF08}" destId="{F531024A-BA6B-B14C-8EDE-BBF5EDB45846}" srcOrd="1" destOrd="0" parTransId="{C59C3CF9-8D30-EF42-915A-7F95F5E4A5BA}" sibTransId="{C2962A74-0C67-1640-AA94-BCE007FB0320}"/>
    <dgm:cxn modelId="{80740D25-BA5A-7C46-B14C-42E43180DF28}" type="presOf" srcId="{93FA2FB0-356F-544A-A8A6-313B1282267F}" destId="{F39B420E-1A7A-704F-B3B6-E58DAB8C2BAF}" srcOrd="0" destOrd="0" presId="urn:microsoft.com/office/officeart/2005/8/layout/cycle2"/>
    <dgm:cxn modelId="{0D41C636-50F4-FE43-BF4C-7D524422F1E2}" type="presOf" srcId="{0A0B83BB-5157-3E4A-B697-035B49F8F843}" destId="{1224AA48-25BE-184C-8AE5-89B4FCFF3B20}" srcOrd="0" destOrd="0" presId="urn:microsoft.com/office/officeart/2005/8/layout/cycle2"/>
    <dgm:cxn modelId="{E6F4AA43-07D7-AA43-9612-77E3FAD27FE3}" srcId="{8E9E04F7-F6BA-5B4B-9F90-7D634B9FEF08}" destId="{435F411B-2777-A148-BFE8-7FCF72A01912}" srcOrd="0" destOrd="0" parTransId="{812A9148-FD5B-454A-B7D9-C92706EBFCDD}" sibTransId="{B9403083-08CC-0D48-B667-77E44267F1BE}"/>
    <dgm:cxn modelId="{E5CEFF43-8325-5244-911A-CFF8BCB6144D}" type="presOf" srcId="{CCB6065E-F9B3-4744-98A0-17F38B78A844}" destId="{C22F28AB-53BC-D540-8365-DC798AC7D01A}" srcOrd="0" destOrd="0" presId="urn:microsoft.com/office/officeart/2005/8/layout/cycle2"/>
    <dgm:cxn modelId="{70954B4F-7115-6B45-B41B-9E307D6A21DF}" srcId="{8E9E04F7-F6BA-5B4B-9F90-7D634B9FEF08}" destId="{BC4A5BA6-F034-7A4E-B033-BE5BEC9FF62F}" srcOrd="3" destOrd="0" parTransId="{CC4429A5-7FF8-224F-B675-DA5FED3774B0}" sibTransId="{93FA2FB0-356F-544A-A8A6-313B1282267F}"/>
    <dgm:cxn modelId="{DA177853-2791-6C41-A339-70AADB5651D9}" type="presOf" srcId="{B9403083-08CC-0D48-B667-77E44267F1BE}" destId="{CCABDB72-B010-B044-9BAA-8EE2B91DE723}" srcOrd="0" destOrd="0" presId="urn:microsoft.com/office/officeart/2005/8/layout/cycle2"/>
    <dgm:cxn modelId="{D8181754-2F9A-6744-8D38-1D1C6F61260A}" type="presOf" srcId="{A39A0D6A-228A-BF4A-B37B-F0AB6214A57E}" destId="{F7D04BC8-445E-DF44-A88F-2B660AD2FD01}" srcOrd="0" destOrd="0" presId="urn:microsoft.com/office/officeart/2005/8/layout/cycle2"/>
    <dgm:cxn modelId="{A3E92958-D8A4-9541-9EF9-168D87BC9A48}" srcId="{8E9E04F7-F6BA-5B4B-9F90-7D634B9FEF08}" destId="{0A0B83BB-5157-3E4A-B697-035B49F8F843}" srcOrd="4" destOrd="0" parTransId="{17F0DBF1-DE71-E04B-B75E-943FB28CAEFB}" sibTransId="{A39A0D6A-228A-BF4A-B37B-F0AB6214A57E}"/>
    <dgm:cxn modelId="{DB183865-231B-2E49-AAA8-80F5842D223B}" type="presOf" srcId="{8E9E04F7-F6BA-5B4B-9F90-7D634B9FEF08}" destId="{374B3083-B5BA-874B-AF24-7492F75EC51E}" srcOrd="0" destOrd="0" presId="urn:microsoft.com/office/officeart/2005/8/layout/cycle2"/>
    <dgm:cxn modelId="{0381EE83-B027-1246-B507-FBD49F7A0D18}" type="presOf" srcId="{B9403083-08CC-0D48-B667-77E44267F1BE}" destId="{DD1120B1-3A0D-1B40-8880-3BB039CA497E}" srcOrd="1" destOrd="0" presId="urn:microsoft.com/office/officeart/2005/8/layout/cycle2"/>
    <dgm:cxn modelId="{462D3EA4-33CB-1342-B567-C6726EE2687A}" type="presOf" srcId="{EE3E9856-7D33-934C-A914-409DB4E480B1}" destId="{CCF81A23-7B37-BB4A-BB32-BD2D0E5639C6}" srcOrd="0" destOrd="0" presId="urn:microsoft.com/office/officeart/2005/8/layout/cycle2"/>
    <dgm:cxn modelId="{EE2C11AC-5F80-2545-A570-FF10426F846A}" type="presOf" srcId="{C2962A74-0C67-1640-AA94-BCE007FB0320}" destId="{D89F0B7F-41D1-0549-880E-E92D1E15918E}" srcOrd="0" destOrd="0" presId="urn:microsoft.com/office/officeart/2005/8/layout/cycle2"/>
    <dgm:cxn modelId="{8485BEBA-FAF9-984E-8F2B-A41ED7A9B05D}" type="presOf" srcId="{F531024A-BA6B-B14C-8EDE-BBF5EDB45846}" destId="{F71DC1AD-8E4B-7543-A90C-92E866FBB2E1}" srcOrd="0" destOrd="0" presId="urn:microsoft.com/office/officeart/2005/8/layout/cycle2"/>
    <dgm:cxn modelId="{B5C6E7C1-6D78-8247-8245-E00F433DDC77}" type="presOf" srcId="{A39A0D6A-228A-BF4A-B37B-F0AB6214A57E}" destId="{4855E35C-13A3-0842-8338-117500261601}" srcOrd="1" destOrd="0" presId="urn:microsoft.com/office/officeart/2005/8/layout/cycle2"/>
    <dgm:cxn modelId="{19B745C8-B6D3-9C49-9707-F3D17F2AAA57}" type="presOf" srcId="{CCB6065E-F9B3-4744-98A0-17F38B78A844}" destId="{D829B965-5B8A-B24E-8128-75DE2D10F0DB}" srcOrd="1" destOrd="0" presId="urn:microsoft.com/office/officeart/2005/8/layout/cycle2"/>
    <dgm:cxn modelId="{0652DAD2-BD60-084F-B4C1-68E7AEE554B7}" type="presOf" srcId="{BC4A5BA6-F034-7A4E-B033-BE5BEC9FF62F}" destId="{8D4B18F9-91CF-DF4B-9D8B-4E48A72F9534}" srcOrd="0" destOrd="0" presId="urn:microsoft.com/office/officeart/2005/8/layout/cycle2"/>
    <dgm:cxn modelId="{CE06CDD3-C5CF-794A-9D9F-DF017FA11C2C}" type="presOf" srcId="{93FA2FB0-356F-544A-A8A6-313B1282267F}" destId="{FFEC9E19-526E-464D-9E18-D0316EF3B816}" srcOrd="1" destOrd="0" presId="urn:microsoft.com/office/officeart/2005/8/layout/cycle2"/>
    <dgm:cxn modelId="{43C012E8-6253-3744-A154-23CF4EB45C8F}" srcId="{8E9E04F7-F6BA-5B4B-9F90-7D634B9FEF08}" destId="{EE3E9856-7D33-934C-A914-409DB4E480B1}" srcOrd="2" destOrd="0" parTransId="{693CC010-8FBB-C34D-9AA2-E586EDE92410}" sibTransId="{CCB6065E-F9B3-4744-98A0-17F38B78A844}"/>
    <dgm:cxn modelId="{0B1D1BF2-D1B7-5C46-9300-0489FEC9820C}" type="presOf" srcId="{435F411B-2777-A148-BFE8-7FCF72A01912}" destId="{F5FB07C1-4726-8D41-BC00-4C5F095A46E8}" srcOrd="0" destOrd="0" presId="urn:microsoft.com/office/officeart/2005/8/layout/cycle2"/>
    <dgm:cxn modelId="{914BA042-D2DF-BF42-BCC9-12593F7AA9C4}" type="presParOf" srcId="{374B3083-B5BA-874B-AF24-7492F75EC51E}" destId="{F5FB07C1-4726-8D41-BC00-4C5F095A46E8}" srcOrd="0" destOrd="0" presId="urn:microsoft.com/office/officeart/2005/8/layout/cycle2"/>
    <dgm:cxn modelId="{E5A7FE5C-D345-B94B-8A27-76099E7FD9F4}" type="presParOf" srcId="{374B3083-B5BA-874B-AF24-7492F75EC51E}" destId="{CCABDB72-B010-B044-9BAA-8EE2B91DE723}" srcOrd="1" destOrd="0" presId="urn:microsoft.com/office/officeart/2005/8/layout/cycle2"/>
    <dgm:cxn modelId="{425AF541-834D-2F43-B231-1A439D5935BB}" type="presParOf" srcId="{CCABDB72-B010-B044-9BAA-8EE2B91DE723}" destId="{DD1120B1-3A0D-1B40-8880-3BB039CA497E}" srcOrd="0" destOrd="0" presId="urn:microsoft.com/office/officeart/2005/8/layout/cycle2"/>
    <dgm:cxn modelId="{255DFEC8-7E5D-C742-860A-F8AE58AA3DDC}" type="presParOf" srcId="{374B3083-B5BA-874B-AF24-7492F75EC51E}" destId="{F71DC1AD-8E4B-7543-A90C-92E866FBB2E1}" srcOrd="2" destOrd="0" presId="urn:microsoft.com/office/officeart/2005/8/layout/cycle2"/>
    <dgm:cxn modelId="{AE0B15FE-EF6A-8D47-8BD2-AFE773001C6B}" type="presParOf" srcId="{374B3083-B5BA-874B-AF24-7492F75EC51E}" destId="{D89F0B7F-41D1-0549-880E-E92D1E15918E}" srcOrd="3" destOrd="0" presId="urn:microsoft.com/office/officeart/2005/8/layout/cycle2"/>
    <dgm:cxn modelId="{E10D623A-2683-7D43-8E79-9AC0AC7F49B3}" type="presParOf" srcId="{D89F0B7F-41D1-0549-880E-E92D1E15918E}" destId="{9DC64873-421D-444D-AA2A-0F1921A7AEAB}" srcOrd="0" destOrd="0" presId="urn:microsoft.com/office/officeart/2005/8/layout/cycle2"/>
    <dgm:cxn modelId="{79D58A48-7082-6742-8411-384E2B16F340}" type="presParOf" srcId="{374B3083-B5BA-874B-AF24-7492F75EC51E}" destId="{CCF81A23-7B37-BB4A-BB32-BD2D0E5639C6}" srcOrd="4" destOrd="0" presId="urn:microsoft.com/office/officeart/2005/8/layout/cycle2"/>
    <dgm:cxn modelId="{EB257A9C-1CCC-A146-83FC-F2B228BCB109}" type="presParOf" srcId="{374B3083-B5BA-874B-AF24-7492F75EC51E}" destId="{C22F28AB-53BC-D540-8365-DC798AC7D01A}" srcOrd="5" destOrd="0" presId="urn:microsoft.com/office/officeart/2005/8/layout/cycle2"/>
    <dgm:cxn modelId="{D7E98D0C-3A35-F24D-83ED-2076469EE50D}" type="presParOf" srcId="{C22F28AB-53BC-D540-8365-DC798AC7D01A}" destId="{D829B965-5B8A-B24E-8128-75DE2D10F0DB}" srcOrd="0" destOrd="0" presId="urn:microsoft.com/office/officeart/2005/8/layout/cycle2"/>
    <dgm:cxn modelId="{3DF14430-B9E8-904D-BC71-B60AD3A74A7A}" type="presParOf" srcId="{374B3083-B5BA-874B-AF24-7492F75EC51E}" destId="{8D4B18F9-91CF-DF4B-9D8B-4E48A72F9534}" srcOrd="6" destOrd="0" presId="urn:microsoft.com/office/officeart/2005/8/layout/cycle2"/>
    <dgm:cxn modelId="{5491D11A-856B-3B47-B51C-57CEACC229FE}" type="presParOf" srcId="{374B3083-B5BA-874B-AF24-7492F75EC51E}" destId="{F39B420E-1A7A-704F-B3B6-E58DAB8C2BAF}" srcOrd="7" destOrd="0" presId="urn:microsoft.com/office/officeart/2005/8/layout/cycle2"/>
    <dgm:cxn modelId="{CCA7113F-B7D4-6D4B-9BC2-626A927494D3}" type="presParOf" srcId="{F39B420E-1A7A-704F-B3B6-E58DAB8C2BAF}" destId="{FFEC9E19-526E-464D-9E18-D0316EF3B816}" srcOrd="0" destOrd="0" presId="urn:microsoft.com/office/officeart/2005/8/layout/cycle2"/>
    <dgm:cxn modelId="{830D8E8E-E957-B542-8671-488DD84A7FDB}" type="presParOf" srcId="{374B3083-B5BA-874B-AF24-7492F75EC51E}" destId="{1224AA48-25BE-184C-8AE5-89B4FCFF3B20}" srcOrd="8" destOrd="0" presId="urn:microsoft.com/office/officeart/2005/8/layout/cycle2"/>
    <dgm:cxn modelId="{5F3E72A2-4A52-3447-9765-00C24B6D0A8E}" type="presParOf" srcId="{374B3083-B5BA-874B-AF24-7492F75EC51E}" destId="{F7D04BC8-445E-DF44-A88F-2B660AD2FD01}" srcOrd="9" destOrd="0" presId="urn:microsoft.com/office/officeart/2005/8/layout/cycle2"/>
    <dgm:cxn modelId="{8A4FB425-A64B-3B44-9256-C4AB2F6A86A1}" type="presParOf" srcId="{F7D04BC8-445E-DF44-A88F-2B660AD2FD01}" destId="{4855E35C-13A3-0842-8338-11750026160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B07C1-4726-8D41-BC00-4C5F095A46E8}">
      <dsp:nvSpPr>
        <dsp:cNvPr id="0" name=""/>
        <dsp:cNvSpPr/>
      </dsp:nvSpPr>
      <dsp:spPr>
        <a:xfrm>
          <a:off x="2434828" y="401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1.Configuration Management</a:t>
          </a:r>
        </a:p>
      </dsp:txBody>
      <dsp:txXfrm>
        <a:off x="2614422" y="179995"/>
        <a:ext cx="867155" cy="867155"/>
      </dsp:txXfrm>
    </dsp:sp>
    <dsp:sp modelId="{CCABDB72-B010-B044-9BAA-8EE2B91DE723}">
      <dsp:nvSpPr>
        <dsp:cNvPr id="0" name=""/>
        <dsp:cNvSpPr/>
      </dsp:nvSpPr>
      <dsp:spPr>
        <a:xfrm rot="2160000">
          <a:off x="3622675" y="942976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3632045" y="996915"/>
        <a:ext cx="228964" cy="248335"/>
      </dsp:txXfrm>
    </dsp:sp>
    <dsp:sp modelId="{F71DC1AD-8E4B-7543-A90C-92E866FBB2E1}">
      <dsp:nvSpPr>
        <dsp:cNvPr id="0" name=""/>
        <dsp:cNvSpPr/>
      </dsp:nvSpPr>
      <dsp:spPr>
        <a:xfrm>
          <a:off x="3926250" y="1083982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2. Server Provisioning</a:t>
          </a:r>
        </a:p>
      </dsp:txBody>
      <dsp:txXfrm>
        <a:off x="4105844" y="1263576"/>
        <a:ext cx="867155" cy="867155"/>
      </dsp:txXfrm>
    </dsp:sp>
    <dsp:sp modelId="{D89F0B7F-41D1-0549-880E-E92D1E15918E}">
      <dsp:nvSpPr>
        <dsp:cNvPr id="0" name=""/>
        <dsp:cNvSpPr/>
      </dsp:nvSpPr>
      <dsp:spPr>
        <a:xfrm rot="6480000">
          <a:off x="4093900" y="235804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4158126" y="2394156"/>
        <a:ext cx="228964" cy="248335"/>
      </dsp:txXfrm>
    </dsp:sp>
    <dsp:sp modelId="{CCF81A23-7B37-BB4A-BB32-BD2D0E5639C6}">
      <dsp:nvSpPr>
        <dsp:cNvPr id="0" name=""/>
        <dsp:cNvSpPr/>
      </dsp:nvSpPr>
      <dsp:spPr>
        <a:xfrm>
          <a:off x="3356577" y="2837255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3. Application Deployment</a:t>
          </a:r>
        </a:p>
      </dsp:txBody>
      <dsp:txXfrm>
        <a:off x="3536171" y="3016849"/>
        <a:ext cx="867155" cy="867155"/>
      </dsp:txXfrm>
    </dsp:sp>
    <dsp:sp modelId="{C22F28AB-53BC-D540-8365-DC798AC7D01A}">
      <dsp:nvSpPr>
        <dsp:cNvPr id="0" name=""/>
        <dsp:cNvSpPr/>
      </dsp:nvSpPr>
      <dsp:spPr>
        <a:xfrm rot="10800000">
          <a:off x="2893711" y="324348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991839" y="3326259"/>
        <a:ext cx="228964" cy="248335"/>
      </dsp:txXfrm>
    </dsp:sp>
    <dsp:sp modelId="{8D4B18F9-91CF-DF4B-9D8B-4E48A72F9534}">
      <dsp:nvSpPr>
        <dsp:cNvPr id="0" name=""/>
        <dsp:cNvSpPr/>
      </dsp:nvSpPr>
      <dsp:spPr>
        <a:xfrm>
          <a:off x="1513078" y="2837255"/>
          <a:ext cx="1226343" cy="1226343"/>
        </a:xfrm>
        <a:prstGeom prst="ellipse">
          <a:avLst/>
        </a:prstGeom>
        <a:solidFill>
          <a:srgbClr val="A2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4. Monitoring</a:t>
          </a:r>
        </a:p>
      </dsp:txBody>
      <dsp:txXfrm>
        <a:off x="1692672" y="3016849"/>
        <a:ext cx="867155" cy="867155"/>
      </dsp:txXfrm>
    </dsp:sp>
    <dsp:sp modelId="{F39B420E-1A7A-704F-B3B6-E58DAB8C2BAF}">
      <dsp:nvSpPr>
        <dsp:cNvPr id="0" name=""/>
        <dsp:cNvSpPr/>
      </dsp:nvSpPr>
      <dsp:spPr>
        <a:xfrm rot="15120000">
          <a:off x="1680728" y="237564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1744954" y="2505090"/>
        <a:ext cx="228964" cy="248335"/>
      </dsp:txXfrm>
    </dsp:sp>
    <dsp:sp modelId="{1224AA48-25BE-184C-8AE5-89B4FCFF3B20}">
      <dsp:nvSpPr>
        <dsp:cNvPr id="0" name=""/>
        <dsp:cNvSpPr/>
      </dsp:nvSpPr>
      <dsp:spPr>
        <a:xfrm>
          <a:off x="943405" y="1083982"/>
          <a:ext cx="1226343" cy="1226343"/>
        </a:xfrm>
        <a:prstGeom prst="ellipse">
          <a:avLst/>
        </a:prstGeom>
        <a:solidFill>
          <a:srgbClr val="31857F"/>
        </a:solidFill>
        <a:ln>
          <a:solidFill>
            <a:srgbClr val="31856E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5. Self-Adaptation</a:t>
          </a:r>
        </a:p>
      </dsp:txBody>
      <dsp:txXfrm>
        <a:off x="1122999" y="1263576"/>
        <a:ext cx="867155" cy="867155"/>
      </dsp:txXfrm>
    </dsp:sp>
    <dsp:sp modelId="{F7D04BC8-445E-DF44-A88F-2B660AD2FD01}">
      <dsp:nvSpPr>
        <dsp:cNvPr id="0" name=""/>
        <dsp:cNvSpPr/>
      </dsp:nvSpPr>
      <dsp:spPr>
        <a:xfrm rot="19440000">
          <a:off x="2131253" y="95385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2140623" y="1065476"/>
        <a:ext cx="228964" cy="2483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B07C1-4726-8D41-BC00-4C5F095A46E8}">
      <dsp:nvSpPr>
        <dsp:cNvPr id="0" name=""/>
        <dsp:cNvSpPr/>
      </dsp:nvSpPr>
      <dsp:spPr>
        <a:xfrm>
          <a:off x="2434828" y="401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1.Configuration Management</a:t>
          </a:r>
        </a:p>
      </dsp:txBody>
      <dsp:txXfrm>
        <a:off x="2614422" y="179995"/>
        <a:ext cx="867155" cy="867155"/>
      </dsp:txXfrm>
    </dsp:sp>
    <dsp:sp modelId="{CCABDB72-B010-B044-9BAA-8EE2B91DE723}">
      <dsp:nvSpPr>
        <dsp:cNvPr id="0" name=""/>
        <dsp:cNvSpPr/>
      </dsp:nvSpPr>
      <dsp:spPr>
        <a:xfrm rot="2160000">
          <a:off x="3622675" y="942976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3632045" y="996915"/>
        <a:ext cx="228964" cy="248335"/>
      </dsp:txXfrm>
    </dsp:sp>
    <dsp:sp modelId="{F71DC1AD-8E4B-7543-A90C-92E866FBB2E1}">
      <dsp:nvSpPr>
        <dsp:cNvPr id="0" name=""/>
        <dsp:cNvSpPr/>
      </dsp:nvSpPr>
      <dsp:spPr>
        <a:xfrm>
          <a:off x="3926250" y="1083982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2. Server Provisioning</a:t>
          </a:r>
        </a:p>
      </dsp:txBody>
      <dsp:txXfrm>
        <a:off x="4105844" y="1263576"/>
        <a:ext cx="867155" cy="867155"/>
      </dsp:txXfrm>
    </dsp:sp>
    <dsp:sp modelId="{D89F0B7F-41D1-0549-880E-E92D1E15918E}">
      <dsp:nvSpPr>
        <dsp:cNvPr id="0" name=""/>
        <dsp:cNvSpPr/>
      </dsp:nvSpPr>
      <dsp:spPr>
        <a:xfrm rot="6480000">
          <a:off x="4093900" y="235804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4158126" y="2394156"/>
        <a:ext cx="228964" cy="248335"/>
      </dsp:txXfrm>
    </dsp:sp>
    <dsp:sp modelId="{CCF81A23-7B37-BB4A-BB32-BD2D0E5639C6}">
      <dsp:nvSpPr>
        <dsp:cNvPr id="0" name=""/>
        <dsp:cNvSpPr/>
      </dsp:nvSpPr>
      <dsp:spPr>
        <a:xfrm>
          <a:off x="3356577" y="2837255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3. Application Deployment</a:t>
          </a:r>
        </a:p>
      </dsp:txBody>
      <dsp:txXfrm>
        <a:off x="3536171" y="3016849"/>
        <a:ext cx="867155" cy="867155"/>
      </dsp:txXfrm>
    </dsp:sp>
    <dsp:sp modelId="{C22F28AB-53BC-D540-8365-DC798AC7D01A}">
      <dsp:nvSpPr>
        <dsp:cNvPr id="0" name=""/>
        <dsp:cNvSpPr/>
      </dsp:nvSpPr>
      <dsp:spPr>
        <a:xfrm rot="10800000">
          <a:off x="2893711" y="324348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991839" y="3326259"/>
        <a:ext cx="228964" cy="248335"/>
      </dsp:txXfrm>
    </dsp:sp>
    <dsp:sp modelId="{8D4B18F9-91CF-DF4B-9D8B-4E48A72F9534}">
      <dsp:nvSpPr>
        <dsp:cNvPr id="0" name=""/>
        <dsp:cNvSpPr/>
      </dsp:nvSpPr>
      <dsp:spPr>
        <a:xfrm>
          <a:off x="1513078" y="2837255"/>
          <a:ext cx="1226343" cy="1226343"/>
        </a:xfrm>
        <a:prstGeom prst="ellipse">
          <a:avLst/>
        </a:prstGeom>
        <a:solidFill>
          <a:srgbClr val="A2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4. Monitoring</a:t>
          </a:r>
        </a:p>
      </dsp:txBody>
      <dsp:txXfrm>
        <a:off x="1692672" y="3016849"/>
        <a:ext cx="867155" cy="867155"/>
      </dsp:txXfrm>
    </dsp:sp>
    <dsp:sp modelId="{F39B420E-1A7A-704F-B3B6-E58DAB8C2BAF}">
      <dsp:nvSpPr>
        <dsp:cNvPr id="0" name=""/>
        <dsp:cNvSpPr/>
      </dsp:nvSpPr>
      <dsp:spPr>
        <a:xfrm rot="15120000">
          <a:off x="1680728" y="237564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1744954" y="2505090"/>
        <a:ext cx="228964" cy="248335"/>
      </dsp:txXfrm>
    </dsp:sp>
    <dsp:sp modelId="{1224AA48-25BE-184C-8AE5-89B4FCFF3B20}">
      <dsp:nvSpPr>
        <dsp:cNvPr id="0" name=""/>
        <dsp:cNvSpPr/>
      </dsp:nvSpPr>
      <dsp:spPr>
        <a:xfrm>
          <a:off x="943405" y="1083982"/>
          <a:ext cx="1226343" cy="1226343"/>
        </a:xfrm>
        <a:prstGeom prst="ellipse">
          <a:avLst/>
        </a:prstGeom>
        <a:solidFill>
          <a:srgbClr val="31857F"/>
        </a:solidFill>
        <a:ln>
          <a:solidFill>
            <a:srgbClr val="31856E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5. Self-Adaptation</a:t>
          </a:r>
        </a:p>
      </dsp:txBody>
      <dsp:txXfrm>
        <a:off x="1122999" y="1263576"/>
        <a:ext cx="867155" cy="867155"/>
      </dsp:txXfrm>
    </dsp:sp>
    <dsp:sp modelId="{F7D04BC8-445E-DF44-A88F-2B660AD2FD01}">
      <dsp:nvSpPr>
        <dsp:cNvPr id="0" name=""/>
        <dsp:cNvSpPr/>
      </dsp:nvSpPr>
      <dsp:spPr>
        <a:xfrm rot="19440000">
          <a:off x="2131253" y="95385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2140623" y="1065476"/>
        <a:ext cx="228964" cy="2483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B07C1-4726-8D41-BC00-4C5F095A46E8}">
      <dsp:nvSpPr>
        <dsp:cNvPr id="0" name=""/>
        <dsp:cNvSpPr/>
      </dsp:nvSpPr>
      <dsp:spPr>
        <a:xfrm>
          <a:off x="2434828" y="401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1.Configuration Management</a:t>
          </a:r>
        </a:p>
      </dsp:txBody>
      <dsp:txXfrm>
        <a:off x="2614422" y="179995"/>
        <a:ext cx="867155" cy="867155"/>
      </dsp:txXfrm>
    </dsp:sp>
    <dsp:sp modelId="{CCABDB72-B010-B044-9BAA-8EE2B91DE723}">
      <dsp:nvSpPr>
        <dsp:cNvPr id="0" name=""/>
        <dsp:cNvSpPr/>
      </dsp:nvSpPr>
      <dsp:spPr>
        <a:xfrm rot="2160000">
          <a:off x="3622675" y="942976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3632045" y="996915"/>
        <a:ext cx="228964" cy="248335"/>
      </dsp:txXfrm>
    </dsp:sp>
    <dsp:sp modelId="{F71DC1AD-8E4B-7543-A90C-92E866FBB2E1}">
      <dsp:nvSpPr>
        <dsp:cNvPr id="0" name=""/>
        <dsp:cNvSpPr/>
      </dsp:nvSpPr>
      <dsp:spPr>
        <a:xfrm>
          <a:off x="3926250" y="1083982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2. Server Provisioning</a:t>
          </a:r>
        </a:p>
      </dsp:txBody>
      <dsp:txXfrm>
        <a:off x="4105844" y="1263576"/>
        <a:ext cx="867155" cy="867155"/>
      </dsp:txXfrm>
    </dsp:sp>
    <dsp:sp modelId="{D89F0B7F-41D1-0549-880E-E92D1E15918E}">
      <dsp:nvSpPr>
        <dsp:cNvPr id="0" name=""/>
        <dsp:cNvSpPr/>
      </dsp:nvSpPr>
      <dsp:spPr>
        <a:xfrm rot="6480000">
          <a:off x="4093900" y="235804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4158126" y="2394156"/>
        <a:ext cx="228964" cy="248335"/>
      </dsp:txXfrm>
    </dsp:sp>
    <dsp:sp modelId="{CCF81A23-7B37-BB4A-BB32-BD2D0E5639C6}">
      <dsp:nvSpPr>
        <dsp:cNvPr id="0" name=""/>
        <dsp:cNvSpPr/>
      </dsp:nvSpPr>
      <dsp:spPr>
        <a:xfrm>
          <a:off x="3356577" y="2837255"/>
          <a:ext cx="1226343" cy="1226343"/>
        </a:xfrm>
        <a:prstGeom prst="ellipse">
          <a:avLst/>
        </a:prstGeom>
        <a:solidFill>
          <a:srgbClr val="7100B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3. Application Deployment</a:t>
          </a:r>
        </a:p>
      </dsp:txBody>
      <dsp:txXfrm>
        <a:off x="3536171" y="3016849"/>
        <a:ext cx="867155" cy="867155"/>
      </dsp:txXfrm>
    </dsp:sp>
    <dsp:sp modelId="{C22F28AB-53BC-D540-8365-DC798AC7D01A}">
      <dsp:nvSpPr>
        <dsp:cNvPr id="0" name=""/>
        <dsp:cNvSpPr/>
      </dsp:nvSpPr>
      <dsp:spPr>
        <a:xfrm rot="10800000">
          <a:off x="2893711" y="3243481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991839" y="3326259"/>
        <a:ext cx="228964" cy="248335"/>
      </dsp:txXfrm>
    </dsp:sp>
    <dsp:sp modelId="{8D4B18F9-91CF-DF4B-9D8B-4E48A72F9534}">
      <dsp:nvSpPr>
        <dsp:cNvPr id="0" name=""/>
        <dsp:cNvSpPr/>
      </dsp:nvSpPr>
      <dsp:spPr>
        <a:xfrm>
          <a:off x="1513078" y="2837255"/>
          <a:ext cx="1226343" cy="1226343"/>
        </a:xfrm>
        <a:prstGeom prst="ellipse">
          <a:avLst/>
        </a:prstGeom>
        <a:solidFill>
          <a:srgbClr val="A2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4. Monitoring</a:t>
          </a:r>
        </a:p>
      </dsp:txBody>
      <dsp:txXfrm>
        <a:off x="1692672" y="3016849"/>
        <a:ext cx="867155" cy="867155"/>
      </dsp:txXfrm>
    </dsp:sp>
    <dsp:sp modelId="{F39B420E-1A7A-704F-B3B6-E58DAB8C2BAF}">
      <dsp:nvSpPr>
        <dsp:cNvPr id="0" name=""/>
        <dsp:cNvSpPr/>
      </dsp:nvSpPr>
      <dsp:spPr>
        <a:xfrm rot="15120000">
          <a:off x="1680728" y="237564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1744954" y="2505090"/>
        <a:ext cx="228964" cy="248335"/>
      </dsp:txXfrm>
    </dsp:sp>
    <dsp:sp modelId="{1224AA48-25BE-184C-8AE5-89B4FCFF3B20}">
      <dsp:nvSpPr>
        <dsp:cNvPr id="0" name=""/>
        <dsp:cNvSpPr/>
      </dsp:nvSpPr>
      <dsp:spPr>
        <a:xfrm>
          <a:off x="943405" y="1083982"/>
          <a:ext cx="1226343" cy="1226343"/>
        </a:xfrm>
        <a:prstGeom prst="ellipse">
          <a:avLst/>
        </a:prstGeom>
        <a:solidFill>
          <a:srgbClr val="31857F"/>
        </a:solidFill>
        <a:ln>
          <a:solidFill>
            <a:srgbClr val="31856E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/>
            <a:t>5. Self-Adaptation</a:t>
          </a:r>
        </a:p>
      </dsp:txBody>
      <dsp:txXfrm>
        <a:off x="1122999" y="1263576"/>
        <a:ext cx="867155" cy="867155"/>
      </dsp:txXfrm>
    </dsp:sp>
    <dsp:sp modelId="{F7D04BC8-445E-DF44-A88F-2B660AD2FD01}">
      <dsp:nvSpPr>
        <dsp:cNvPr id="0" name=""/>
        <dsp:cNvSpPr/>
      </dsp:nvSpPr>
      <dsp:spPr>
        <a:xfrm rot="19440000">
          <a:off x="2131253" y="953859"/>
          <a:ext cx="327092" cy="4138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2140623" y="1065476"/>
        <a:ext cx="228964" cy="248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EFBDC-1B5D-7F47-99C9-A265DC0B05FC}" type="datetimeFigureOut">
              <a:rPr lang="en-IT" smtClean="0"/>
              <a:t>03/11/25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6B953-0534-7949-A8CA-7A14071619C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7823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asis-open/tosca-community-contributions/wiki/Known-TOSCA-Implementations" TargetMode="External"/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getcloudify.org</a:t>
            </a:r>
            <a:r>
              <a:rPr lang="en-US" dirty="0"/>
              <a:t>/</a:t>
            </a:r>
          </a:p>
          <a:p>
            <a:endParaRPr lang="en-US" dirty="0"/>
          </a:p>
          <a:p>
            <a:r>
              <a:rPr lang="en-US" dirty="0" err="1"/>
              <a:t>Cloudify</a:t>
            </a:r>
            <a:r>
              <a:rPr lang="en-US" dirty="0"/>
              <a:t> is a Cloud Application Orchestrator. It automates any process you need to perform with regard to your applications over any cloud. </a:t>
            </a:r>
            <a:r>
              <a:rPr lang="en-US" dirty="0" err="1"/>
              <a:t>Cloudify</a:t>
            </a:r>
            <a:r>
              <a:rPr lang="en-US" dirty="0"/>
              <a:t> provides:</a:t>
            </a:r>
          </a:p>
          <a:p>
            <a:r>
              <a:rPr lang="en-US" dirty="0"/>
              <a:t>Infrastructure Setup</a:t>
            </a:r>
          </a:p>
          <a:p>
            <a:r>
              <a:rPr lang="en-US" dirty="0"/>
              <a:t>Application Installation</a:t>
            </a:r>
          </a:p>
          <a:p>
            <a:r>
              <a:rPr lang="en-US" dirty="0"/>
              <a:t>Application Upgrades</a:t>
            </a:r>
          </a:p>
          <a:p>
            <a:r>
              <a:rPr lang="en-US" dirty="0"/>
              <a:t>Infrastructure Upgrades</a:t>
            </a:r>
          </a:p>
          <a:p>
            <a:r>
              <a:rPr lang="en-US" dirty="0"/>
              <a:t>Continuous Deployments</a:t>
            </a:r>
          </a:p>
          <a:p>
            <a:r>
              <a:rPr lang="en-US" dirty="0"/>
              <a:t>Auto-healing</a:t>
            </a:r>
          </a:p>
          <a:p>
            <a:r>
              <a:rPr lang="en-US" dirty="0"/>
              <a:t>Auto-scaling</a:t>
            </a:r>
          </a:p>
          <a:p>
            <a:r>
              <a:rPr lang="en-US" dirty="0" err="1"/>
              <a:t>Cloudify</a:t>
            </a:r>
            <a:r>
              <a:rPr lang="en-US" dirty="0"/>
              <a:t> can work on any environment: </a:t>
            </a:r>
            <a:r>
              <a:rPr lang="en-US" dirty="0" err="1"/>
              <a:t>IaaS</a:t>
            </a:r>
            <a:r>
              <a:rPr lang="en-US" dirty="0"/>
              <a:t>, virtualized or even non-virtualized.</a:t>
            </a:r>
          </a:p>
          <a:p>
            <a:r>
              <a:rPr lang="en-US" dirty="0" err="1"/>
              <a:t>Cloudify</a:t>
            </a:r>
            <a:r>
              <a:rPr lang="en-US" dirty="0"/>
              <a:t> executes automation processes using any tool you choose. From shell to Chef, Puppet, etc.</a:t>
            </a:r>
          </a:p>
          <a:p>
            <a:r>
              <a:rPr lang="en-US" dirty="0" err="1"/>
              <a:t>Cloudify</a:t>
            </a:r>
            <a:r>
              <a:rPr lang="en-US" dirty="0"/>
              <a:t> monitors your application with any monitoring tool you choose; installing it for you if you like and interfacing with your monitoring tools to get events and metrics into </a:t>
            </a:r>
            <a:r>
              <a:rPr lang="en-US" dirty="0" err="1"/>
              <a:t>Cloudify’s</a:t>
            </a:r>
            <a:r>
              <a:rPr lang="en-US" dirty="0"/>
              <a:t> Policy Engine.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087A-BC9F-44BD-AE0F-C38C37E8BE0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896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getcloudify.org</a:t>
            </a:r>
            <a:r>
              <a:rPr lang="en-US" dirty="0"/>
              <a:t>/guide/3.0/guide-</a:t>
            </a:r>
            <a:r>
              <a:rPr lang="en-US" dirty="0" err="1"/>
              <a:t>blueprint.html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087A-BC9F-44BD-AE0F-C38C37E8BE0D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338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Workflow_engine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087A-BC9F-44BD-AE0F-C38C37E8BE0D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866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Shape 1617"/>
          <p:cNvSpPr txBox="1">
            <a:spLocks noGrp="1"/>
          </p:cNvSpPr>
          <p:nvPr>
            <p:ph type="sldNum" idx="12"/>
          </p:nvPr>
        </p:nvSpPr>
        <p:spPr>
          <a:xfrm>
            <a:off x="3963753" y="8817916"/>
            <a:ext cx="3032335" cy="464185"/>
          </a:xfrm>
          <a:prstGeom prst="rect">
            <a:avLst/>
          </a:prstGeom>
          <a:noFill/>
          <a:ln>
            <a:noFill/>
          </a:ln>
        </p:spPr>
        <p:txBody>
          <a:bodyPr lIns="93016" tIns="46495" rIns="93016" bIns="46495" anchor="b" anchorCtr="0">
            <a:noAutofit/>
          </a:bodyPr>
          <a:lstStyle/>
          <a:p>
            <a:pPr>
              <a:buSzPct val="25000"/>
            </a:pPr>
            <a:fld id="{00000000-1234-1234-1234-123412341234}" type="slidenum"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>
                <a:buSzPct val="25000"/>
              </a:pPr>
              <a:t>44</a:t>
            </a:fld>
            <a:endParaRPr lang="d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Shape 1618"/>
          <p:cNvSpPr txBox="1"/>
          <p:nvPr/>
        </p:nvSpPr>
        <p:spPr>
          <a:xfrm>
            <a:off x="3963753" y="8817916"/>
            <a:ext cx="3027439" cy="459312"/>
          </a:xfrm>
          <a:prstGeom prst="rect">
            <a:avLst/>
          </a:prstGeom>
          <a:noFill/>
          <a:ln>
            <a:noFill/>
          </a:ln>
        </p:spPr>
        <p:txBody>
          <a:bodyPr lIns="91566" tIns="47614" rIns="91566" bIns="47614" anchor="b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d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SzPct val="25000"/>
              </a:pPr>
              <a:t>44</a:t>
            </a:fld>
            <a:endParaRPr lang="de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Shape 1619"/>
          <p:cNvSpPr txBox="1"/>
          <p:nvPr/>
        </p:nvSpPr>
        <p:spPr>
          <a:xfrm>
            <a:off x="3963754" y="8817917"/>
            <a:ext cx="3028968" cy="460834"/>
          </a:xfrm>
          <a:prstGeom prst="rect">
            <a:avLst/>
          </a:prstGeom>
          <a:noFill/>
          <a:ln>
            <a:noFill/>
          </a:ln>
        </p:spPr>
        <p:txBody>
          <a:bodyPr lIns="91566" tIns="47614" rIns="91566" bIns="47614" anchor="b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d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SzPct val="25000"/>
              </a:pPr>
              <a:t>44</a:t>
            </a:fld>
            <a:endParaRPr lang="de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Shape 1620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21" name="Shape 1621"/>
          <p:cNvSpPr txBox="1">
            <a:spLocks noGrp="1"/>
          </p:cNvSpPr>
          <p:nvPr>
            <p:ph type="body" idx="1"/>
          </p:nvPr>
        </p:nvSpPr>
        <p:spPr>
          <a:xfrm>
            <a:off x="699771" y="4361412"/>
            <a:ext cx="5593262" cy="4267822"/>
          </a:xfrm>
          <a:prstGeom prst="rect">
            <a:avLst/>
          </a:prstGeom>
          <a:noFill/>
          <a:ln>
            <a:noFill/>
          </a:ln>
        </p:spPr>
        <p:txBody>
          <a:bodyPr lIns="93016" tIns="46495" rIns="93016" bIns="46495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476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Shape 1617"/>
          <p:cNvSpPr txBox="1">
            <a:spLocks noGrp="1"/>
          </p:cNvSpPr>
          <p:nvPr>
            <p:ph type="sldNum" idx="12"/>
          </p:nvPr>
        </p:nvSpPr>
        <p:spPr>
          <a:xfrm>
            <a:off x="3963753" y="8817916"/>
            <a:ext cx="3032335" cy="464185"/>
          </a:xfrm>
          <a:prstGeom prst="rect">
            <a:avLst/>
          </a:prstGeom>
          <a:noFill/>
          <a:ln>
            <a:noFill/>
          </a:ln>
        </p:spPr>
        <p:txBody>
          <a:bodyPr lIns="93016" tIns="46495" rIns="93016" bIns="46495" anchor="b" anchorCtr="0">
            <a:noAutofit/>
          </a:bodyPr>
          <a:lstStyle/>
          <a:p>
            <a:pPr>
              <a:buSzPct val="25000"/>
            </a:pPr>
            <a:fld id="{00000000-1234-1234-1234-123412341234}" type="slidenum"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>
                <a:buSzPct val="25000"/>
              </a:pPr>
              <a:t>45</a:t>
            </a:fld>
            <a:endParaRPr lang="d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Shape 1618"/>
          <p:cNvSpPr txBox="1"/>
          <p:nvPr/>
        </p:nvSpPr>
        <p:spPr>
          <a:xfrm>
            <a:off x="3963753" y="8817916"/>
            <a:ext cx="3027439" cy="459312"/>
          </a:xfrm>
          <a:prstGeom prst="rect">
            <a:avLst/>
          </a:prstGeom>
          <a:noFill/>
          <a:ln>
            <a:noFill/>
          </a:ln>
        </p:spPr>
        <p:txBody>
          <a:bodyPr lIns="91566" tIns="47614" rIns="91566" bIns="47614" anchor="b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d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SzPct val="25000"/>
              </a:pPr>
              <a:t>45</a:t>
            </a:fld>
            <a:endParaRPr lang="de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Shape 1619"/>
          <p:cNvSpPr txBox="1"/>
          <p:nvPr/>
        </p:nvSpPr>
        <p:spPr>
          <a:xfrm>
            <a:off x="3963754" y="8817917"/>
            <a:ext cx="3028968" cy="460834"/>
          </a:xfrm>
          <a:prstGeom prst="rect">
            <a:avLst/>
          </a:prstGeom>
          <a:noFill/>
          <a:ln>
            <a:noFill/>
          </a:ln>
        </p:spPr>
        <p:txBody>
          <a:bodyPr lIns="91566" tIns="47614" rIns="91566" bIns="47614" anchor="b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d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SzPct val="25000"/>
              </a:pPr>
              <a:t>45</a:t>
            </a:fld>
            <a:endParaRPr lang="de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Shape 1620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21" name="Shape 1621"/>
          <p:cNvSpPr txBox="1">
            <a:spLocks noGrp="1"/>
          </p:cNvSpPr>
          <p:nvPr>
            <p:ph type="body" idx="1"/>
          </p:nvPr>
        </p:nvSpPr>
        <p:spPr>
          <a:xfrm>
            <a:off x="699771" y="4361412"/>
            <a:ext cx="5593262" cy="4267822"/>
          </a:xfrm>
          <a:prstGeom prst="rect">
            <a:avLst/>
          </a:prstGeom>
          <a:noFill/>
          <a:ln>
            <a:noFill/>
          </a:ln>
        </p:spPr>
        <p:txBody>
          <a:bodyPr lIns="93016" tIns="46495" rIns="93016" bIns="46495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https://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www.google.it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/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url?sa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t&amp;rct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j&amp;q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=&amp;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esrc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s&amp;source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web&amp;cd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=4&amp;ved=0ahUKEwiNn97NrejTAhWBqxoKHUPHB4MQFgg1MAM&amp;url=https%3A%2F%2Fwww.oasis-open.org%2Fcommittees%2Fdownload.php%2F56607%2F2015-09-28%2520TOSCA%2520Policy%2520modeling%2520for%2520Senlin%2520(with%2520Container%2520examples%2520using%2520Kubernetes).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pptx&amp;usg</a:t>
            </a: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=AFQjCNEy8JFMoMQorOuWRLxlb5f3Oe77ZQ&amp;sig2=2UX0tpYxFE-RJLJD99smlw&amp;cad=</a:t>
            </a:r>
            <a:r>
              <a:rPr lang="en-US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rja</a:t>
            </a:r>
            <a:endParaRPr lang="en-US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r>
              <a:rPr lang="it-IT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Senlin</a:t>
            </a:r>
            <a:r>
              <a:rPr lang="it-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it-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it-IT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r>
              <a:rPr lang="it-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service (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creates</a:t>
            </a:r>
            <a:r>
              <a:rPr lang="it-IT" dirty="0"/>
              <a:t> and </a:t>
            </a:r>
            <a:r>
              <a:rPr lang="it-IT" dirty="0" err="1"/>
              <a:t>operates</a:t>
            </a:r>
            <a:r>
              <a:rPr lang="it-IT" dirty="0"/>
              <a:t> clusters of </a:t>
            </a:r>
            <a:r>
              <a:rPr lang="it-IT" dirty="0" err="1"/>
              <a:t>homogeneous</a:t>
            </a:r>
            <a:r>
              <a:rPr lang="it-IT" dirty="0"/>
              <a:t> </a:t>
            </a:r>
            <a:r>
              <a:rPr lang="it-IT" dirty="0" err="1"/>
              <a:t>objects</a:t>
            </a:r>
            <a:r>
              <a:rPr lang="it-IT" dirty="0"/>
              <a:t> </a:t>
            </a:r>
            <a:r>
              <a:rPr lang="it-IT" dirty="0" err="1"/>
              <a:t>exposed</a:t>
            </a:r>
            <a:r>
              <a:rPr lang="it-IT" dirty="0"/>
              <a:t> by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OpenStack</a:t>
            </a:r>
            <a:r>
              <a:rPr lang="it-IT" dirty="0"/>
              <a:t> </a:t>
            </a:r>
            <a:r>
              <a:rPr lang="it-IT" dirty="0" err="1"/>
              <a:t>services</a:t>
            </a:r>
            <a:r>
              <a:rPr lang="it-IT" dirty="0"/>
              <a:t>.</a:t>
            </a:r>
            <a:r>
              <a:rPr lang="it-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for open-</a:t>
            </a:r>
            <a:r>
              <a:rPr lang="it-IT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lang="it-IT" baseline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baseline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4761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087A-BC9F-44BD-AE0F-C38C37E8BE0D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148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B36A-90A8-6840-9CFE-F61ED52CCA09}" type="slidenum">
              <a:rPr lang="it-IT" smtClean="0"/>
              <a:t>72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2028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https://github.com/oasis-open/tosca-community-contributions/wiki/Known-TOSCA-Implementations</a:t>
            </a:r>
            <a:r>
              <a:rPr lang="en-US" sz="1200" dirty="0"/>
              <a:t>  </a:t>
            </a: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B36A-90A8-6840-9CFE-F61ED52CCA09}" type="slidenum">
              <a:rPr lang="it-IT" smtClean="0"/>
              <a:t>73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40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Isomorphic, i.e., the structure and constructs are identical up to this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C6D6A0-4ACD-4D23-A9BC-0920A4858E25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06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Isomorphic, i.e., the structure and constructs are identical up to this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C6D6A0-4ACD-4D23-A9BC-0920A4858E25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32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EB36A-90A8-6840-9CFE-F61ED52CCA09}" type="slidenum">
              <a:rPr lang="it-IT" smtClean="0"/>
              <a:t>84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72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sd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5012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s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55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s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2388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3696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76519" y="524639"/>
            <a:ext cx="6168981" cy="23876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90152" cy="200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6654" y="5031348"/>
            <a:ext cx="3946247" cy="1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2623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000" y="1322464"/>
            <a:ext cx="7848000" cy="421231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9289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12509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85551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fslui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67036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504000" y="427200"/>
            <a:ext cx="7954851" cy="163624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04000" y="2112001"/>
            <a:ext cx="7970689" cy="122514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3692868"/>
            <a:ext cx="4633200" cy="54821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4138768"/>
            <a:ext cx="4633200" cy="584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0981" y="3910224"/>
            <a:ext cx="4258936" cy="211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6298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48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16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505E1EDF-8FC7-024D-8297-C6B179318C1A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2812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9812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2519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29000"/>
            <a:ext cx="64008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18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US" noProof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715963" y="6248400"/>
            <a:ext cx="7739062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Design&amp;SwArch</a:t>
            </a:r>
          </a:p>
        </p:txBody>
      </p:sp>
    </p:spTree>
    <p:extLst>
      <p:ext uri="{BB962C8B-B14F-4D97-AF65-F5344CB8AC3E}">
        <p14:creationId xmlns:p14="http://schemas.microsoft.com/office/powerpoint/2010/main" val="47008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>
          <a:xfrm>
            <a:off x="7010400" y="6491818"/>
            <a:ext cx="2133600" cy="366183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8F90437-3A3D-4475-A3EB-32DBC1A7FC4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38529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/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fbeelding 6"/>
          <p:cNvSpPr>
            <a:spLocks noGrp="1"/>
          </p:cNvSpPr>
          <p:nvPr>
            <p:ph type="pic" idx="21"/>
          </p:nvPr>
        </p:nvSpPr>
        <p:spPr>
          <a:xfrm>
            <a:off x="-149" y="-427315"/>
            <a:ext cx="9144162" cy="814396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GB"/>
              <a:t>Click icon to add picture</a:t>
            </a:r>
            <a:endParaRPr/>
          </a:p>
        </p:txBody>
      </p:sp>
      <p:sp>
        <p:nvSpPr>
          <p:cNvPr id="17" name="Titel 1"/>
          <p:cNvSpPr txBox="1">
            <a:spLocks noGrp="1"/>
          </p:cNvSpPr>
          <p:nvPr>
            <p:ph type="body" sz="quarter" idx="22"/>
          </p:nvPr>
        </p:nvSpPr>
        <p:spPr>
          <a:xfrm>
            <a:off x="306791" y="4393676"/>
            <a:ext cx="4625949" cy="2042474"/>
          </a:xfrm>
          <a:prstGeom prst="rect">
            <a:avLst/>
          </a:prstGeom>
        </p:spPr>
        <p:txBody>
          <a:bodyPr anchor="ctr"/>
          <a:lstStyle/>
          <a:p>
            <a:pPr marL="0" lvl="0" indent="0">
              <a:lnSpc>
                <a:spcPct val="100000"/>
              </a:lnSpc>
              <a:buSzTx/>
              <a:buFontTx/>
              <a:buNone/>
              <a:defRPr sz="3800">
                <a:solidFill>
                  <a:srgbClr val="FFFFFF"/>
                </a:solidFill>
                <a:latin typeface="GravurCondensed-Regular"/>
                <a:ea typeface="GravurCondensed-Regular"/>
                <a:cs typeface="GravurCondensed-Regular"/>
                <a:sym typeface="GravurCondensed-Regular"/>
              </a:defRPr>
            </a:pPr>
            <a:r>
              <a:rPr lang="en-GB"/>
              <a:t>Click to edit Master text styles</a:t>
            </a:r>
          </a:p>
          <a:p>
            <a:pPr marL="0" lvl="1" indent="0">
              <a:lnSpc>
                <a:spcPct val="100000"/>
              </a:lnSpc>
              <a:buSzTx/>
              <a:buFontTx/>
              <a:buNone/>
              <a:defRPr sz="3800">
                <a:solidFill>
                  <a:srgbClr val="FFFFFF"/>
                </a:solidFill>
                <a:latin typeface="GravurCondensed-Regular"/>
                <a:ea typeface="GravurCondensed-Regular"/>
                <a:cs typeface="GravurCondensed-Regular"/>
                <a:sym typeface="GravurCondensed-Regular"/>
              </a:defRPr>
            </a:pPr>
            <a:r>
              <a:rPr lang="en-GB"/>
              <a:t>Second level</a:t>
            </a:r>
          </a:p>
          <a:p>
            <a:pPr marL="0" lvl="2" indent="0">
              <a:lnSpc>
                <a:spcPct val="100000"/>
              </a:lnSpc>
              <a:buSzTx/>
              <a:buFontTx/>
              <a:buNone/>
              <a:defRPr sz="3800">
                <a:solidFill>
                  <a:srgbClr val="FFFFFF"/>
                </a:solidFill>
                <a:latin typeface="GravurCondensed-Regular"/>
                <a:ea typeface="GravurCondensed-Regular"/>
                <a:cs typeface="GravurCondensed-Regular"/>
                <a:sym typeface="GravurCondensed-Regular"/>
              </a:defRPr>
            </a:pPr>
            <a:r>
              <a:rPr lang="en-GB"/>
              <a:t>Third level</a:t>
            </a:r>
          </a:p>
        </p:txBody>
      </p:sp>
      <p:sp>
        <p:nvSpPr>
          <p:cNvPr id="19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97311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lk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717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504000" y="427200"/>
            <a:ext cx="7954851" cy="163624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04000" y="2112001"/>
            <a:ext cx="7970689" cy="122514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3692868"/>
            <a:ext cx="4633200" cy="54821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4138768"/>
            <a:ext cx="4633200" cy="584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0981" y="3910224"/>
            <a:ext cx="4258936" cy="211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27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nl-NL"/>
              <a:t>[</a:t>
            </a:r>
            <a:fld id="{53240C58-373C-43C1-ADD1-3E23A3B96371}" type="slidenum">
              <a:rPr lang="nl-NL" smtClean="0"/>
              <a:pPr/>
              <a:t>‹#›</a:t>
            </a:fld>
            <a:r>
              <a:rPr lang="nl-NL"/>
              <a:t>]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5082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48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16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nl-NL"/>
              <a:t>[</a:t>
            </a:r>
            <a:fld id="{53240C58-373C-43C1-ADD1-3E23A3B96371}" type="slidenum">
              <a:rPr lang="nl-NL" smtClean="0"/>
              <a:pPr/>
              <a:t>‹#›</a:t>
            </a:fld>
            <a:r>
              <a:rPr lang="nl-NL"/>
              <a:t>]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8457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3696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76519" y="524639"/>
            <a:ext cx="6168981" cy="2387600"/>
          </a:xfrm>
        </p:spPr>
        <p:txBody>
          <a:bodyPr anchor="t" anchorCtr="0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90152" cy="2001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6654" y="5031348"/>
            <a:ext cx="3946247" cy="1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13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nl-NL"/>
              <a:t>[</a:t>
            </a:r>
            <a:fld id="{53240C58-373C-43C1-ADD1-3E23A3B96371}" type="slidenum">
              <a:rPr lang="nl-NL" smtClean="0"/>
              <a:pPr/>
              <a:t>‹#›</a:t>
            </a:fld>
            <a:r>
              <a:rPr lang="nl-NL"/>
              <a:t>]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82726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nl-NL"/>
              <a:t>[</a:t>
            </a:r>
            <a:fld id="{53240C58-373C-43C1-ADD1-3E23A3B96371}" type="slidenum">
              <a:rPr lang="nl-NL" smtClean="0"/>
              <a:pPr/>
              <a:t>‹#›</a:t>
            </a:fld>
            <a:r>
              <a:rPr lang="nl-NL"/>
              <a:t>]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1090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fslui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273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lk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59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504000" y="427200"/>
            <a:ext cx="7954851" cy="163624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04000" y="2112001"/>
            <a:ext cx="7970689" cy="122514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3692868"/>
            <a:ext cx="7954962" cy="54821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4138768"/>
            <a:ext cx="7954962" cy="584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spreker</a:t>
            </a:r>
          </a:p>
        </p:txBody>
      </p:sp>
    </p:spTree>
    <p:extLst>
      <p:ext uri="{BB962C8B-B14F-4D97-AF65-F5344CB8AC3E}">
        <p14:creationId xmlns:p14="http://schemas.microsoft.com/office/powerpoint/2010/main" val="35736471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869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8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911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370749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7754" y="5031348"/>
            <a:ext cx="3946247" cy="19575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519" y="524639"/>
            <a:ext cx="6168981" cy="2387600"/>
          </a:xfrm>
        </p:spPr>
        <p:txBody>
          <a:bodyPr anchor="t" anchorCtr="0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90152" cy="2001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2633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680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9615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fslui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7651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Afslui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388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lk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2707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504000" y="427200"/>
            <a:ext cx="7954851" cy="163624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04000" y="2112001"/>
            <a:ext cx="7970689" cy="122514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3692868"/>
            <a:ext cx="7954962" cy="54821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4138768"/>
            <a:ext cx="7954962" cy="584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spreker</a:t>
            </a:r>
          </a:p>
        </p:txBody>
      </p:sp>
    </p:spTree>
    <p:extLst>
      <p:ext uri="{BB962C8B-B14F-4D97-AF65-F5344CB8AC3E}">
        <p14:creationId xmlns:p14="http://schemas.microsoft.com/office/powerpoint/2010/main" val="36348466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0614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48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16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88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3696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76519" y="524639"/>
            <a:ext cx="6168981" cy="2387600"/>
          </a:xfrm>
        </p:spPr>
        <p:txBody>
          <a:bodyPr anchor="t" anchorCtr="0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90152" cy="2001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6654" y="5031348"/>
            <a:ext cx="3946247" cy="1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884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53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8650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fslui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1395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lk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4833"/>
          <a:stretch/>
        </p:blipFill>
        <p:spPr>
          <a:xfrm>
            <a:off x="0" y="961622"/>
            <a:ext cx="9144000" cy="411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81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504000" y="427200"/>
            <a:ext cx="7954851" cy="163624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04000" y="2112001"/>
            <a:ext cx="7970689" cy="122514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3692868"/>
            <a:ext cx="7954962" cy="54821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4138768"/>
            <a:ext cx="7954962" cy="584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spreker</a:t>
            </a:r>
          </a:p>
        </p:txBody>
      </p:sp>
    </p:spTree>
    <p:extLst>
      <p:ext uri="{BB962C8B-B14F-4D97-AF65-F5344CB8AC3E}">
        <p14:creationId xmlns:p14="http://schemas.microsoft.com/office/powerpoint/2010/main" val="64240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1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48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16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761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1"/>
            <a:ext cx="9144000" cy="5340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476519" y="524639"/>
            <a:ext cx="6168981" cy="2387600"/>
          </a:xfrm>
        </p:spPr>
        <p:txBody>
          <a:bodyPr anchor="t" anchorCtr="0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90152" cy="2001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6654" y="5031348"/>
            <a:ext cx="3946247" cy="1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133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9832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4565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lko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4833"/>
          <a:stretch/>
        </p:blipFill>
        <p:spPr>
          <a:xfrm>
            <a:off x="0" y="961622"/>
            <a:ext cx="9144000" cy="411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470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504000" y="427200"/>
            <a:ext cx="7954851" cy="163624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/>
          </p:nvPr>
        </p:nvSpPr>
        <p:spPr>
          <a:xfrm>
            <a:off x="504000" y="2112001"/>
            <a:ext cx="7970689" cy="122514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3692868"/>
            <a:ext cx="7954962" cy="54821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4138768"/>
            <a:ext cx="7954962" cy="584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spreker</a:t>
            </a:r>
          </a:p>
        </p:txBody>
      </p:sp>
    </p:spTree>
    <p:extLst>
      <p:ext uri="{BB962C8B-B14F-4D97-AF65-F5344CB8AC3E}">
        <p14:creationId xmlns:p14="http://schemas.microsoft.com/office/powerpoint/2010/main" val="2299767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3576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48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16000" y="1324800"/>
            <a:ext cx="3780000" cy="42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5404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/>
          <p:cNvSpPr/>
          <p:nvPr/>
        </p:nvSpPr>
        <p:spPr>
          <a:xfrm>
            <a:off x="0" y="1"/>
            <a:ext cx="9144000" cy="5340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76519" y="524639"/>
            <a:ext cx="6168981" cy="2387600"/>
          </a:xfrm>
        </p:spPr>
        <p:txBody>
          <a:bodyPr anchor="t" anchorCtr="0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90152" cy="2001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17" name="Afbeelding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6654" y="5031348"/>
            <a:ext cx="3946247" cy="1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077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552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9.jpg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12.jpg"/><Relationship Id="rId5" Type="http://schemas.openxmlformats.org/officeDocument/2006/relationships/slideLayout" Target="../slideLayouts/slideLayout2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35.xml"/><Relationship Id="rId10" Type="http://schemas.openxmlformats.org/officeDocument/2006/relationships/image" Target="../media/image19.jpg"/><Relationship Id="rId4" Type="http://schemas.openxmlformats.org/officeDocument/2006/relationships/slideLayout" Target="../slideLayouts/slideLayout3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42.xml"/><Relationship Id="rId9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49.xml"/><Relationship Id="rId9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52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67" r:id="rId12"/>
    <p:sldLayoutId id="2147483768" r:id="rId1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000" y="1322464"/>
            <a:ext cx="7848000" cy="4212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53101"/>
            <a:ext cx="9144000" cy="1104900"/>
          </a:xfrm>
          <a:prstGeom prst="rect">
            <a:avLst/>
          </a:prstGeom>
        </p:spPr>
      </p:pic>
      <p:sp>
        <p:nvSpPr>
          <p:cNvPr id="7" name="Tijdelijke aanduiding voor dianummer 3"/>
          <p:cNvSpPr>
            <a:spLocks noGrp="1"/>
          </p:cNvSpPr>
          <p:nvPr>
            <p:ph type="sldNum" sz="quarter" idx="4"/>
          </p:nvPr>
        </p:nvSpPr>
        <p:spPr>
          <a:xfrm>
            <a:off x="8496001" y="5206420"/>
            <a:ext cx="435564" cy="52304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[</a:t>
            </a:r>
            <a:fld id="{53240C58-373C-43C1-ADD1-3E23A3B96371}" type="slidenum">
              <a:rPr lang="nl-NL" smtClean="0"/>
              <a:pPr/>
              <a:t>‹#›</a:t>
            </a:fld>
            <a:r>
              <a:rPr lang="nl-NL"/>
              <a:t>]</a:t>
            </a:r>
            <a:endParaRPr lang="nl-NL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564" y="5822276"/>
            <a:ext cx="1948437" cy="966547"/>
          </a:xfrm>
          <a:prstGeom prst="rect">
            <a:avLst/>
          </a:prstGeom>
        </p:spPr>
      </p:pic>
      <p:sp>
        <p:nvSpPr>
          <p:cNvPr id="10" name="Tekstvak 9"/>
          <p:cNvSpPr txBox="1"/>
          <p:nvPr/>
        </p:nvSpPr>
        <p:spPr>
          <a:xfrm>
            <a:off x="648001" y="6182439"/>
            <a:ext cx="75501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NL" sz="1100" b="0" dirty="0">
                <a:solidFill>
                  <a:schemeClr val="bg1"/>
                </a:solidFill>
              </a:rPr>
              <a:t>www.jads.nl</a:t>
            </a:r>
          </a:p>
        </p:txBody>
      </p:sp>
    </p:spTree>
    <p:extLst>
      <p:ext uri="{BB962C8B-B14F-4D97-AF65-F5344CB8AC3E}">
        <p14:creationId xmlns:p14="http://schemas.microsoft.com/office/powerpoint/2010/main" val="270971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000" y="1322464"/>
            <a:ext cx="7848000" cy="4212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53101"/>
            <a:ext cx="9144000" cy="1104900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564" y="5822276"/>
            <a:ext cx="1948437" cy="966547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0" y="5824478"/>
            <a:ext cx="1944000" cy="96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000" y="1322464"/>
            <a:ext cx="7848000" cy="4212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53101"/>
            <a:ext cx="9144000" cy="1104900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564" y="5822276"/>
            <a:ext cx="1948437" cy="966547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0" y="5824478"/>
            <a:ext cx="1944000" cy="96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5822275"/>
            <a:ext cx="9144000" cy="110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000" y="1322464"/>
            <a:ext cx="7848000" cy="4212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564" y="5822276"/>
            <a:ext cx="1948437" cy="966547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0" y="5824478"/>
            <a:ext cx="1944000" cy="96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6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5822275"/>
            <a:ext cx="9144000" cy="11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000" y="1322464"/>
            <a:ext cx="7848000" cy="4212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564" y="5822276"/>
            <a:ext cx="1948437" cy="966547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000" y="5824478"/>
            <a:ext cx="1944000" cy="96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2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#TYPE_YAML_STRING"/><Relationship Id="rId7" Type="http://schemas.openxmlformats.org/officeDocument/2006/relationships/hyperlink" Target="#DEFN_ELEMENT_PROPERTY_VALUE_ASSIGNMENT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#DEFN_ELEMENT_PROPERTY_DEFN"/><Relationship Id="rId5" Type="http://schemas.openxmlformats.org/officeDocument/2006/relationships/hyperlink" Target="#DEFN_ELEMENT_DESCRIPTION"/><Relationship Id="rId4" Type="http://schemas.openxmlformats.org/officeDocument/2006/relationships/hyperlink" Target="#TYPE_TOSCA_VERSIO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git.openstack.org/cgit/stackforge/senlin/tree/examples/policies/WIP/scaling_out_policy_ceilometer.ya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#DEFN_TYPE_ARTIFACTS_ROOT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#DEFN_TYPE_ARTIFACTS_ROOT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asis-open/tosca-community-contributions/wiki/Known-TOSCA-Implementations" TargetMode="Externa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s.eclipse.org/proposals/cloud-application-management-framewor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000E-8CC2-9E1F-A711-B57DB1276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33500"/>
            <a:ext cx="9219304" cy="1143000"/>
          </a:xfrm>
        </p:spPr>
        <p:txBody>
          <a:bodyPr/>
          <a:lstStyle/>
          <a:p>
            <a:r>
              <a:rPr lang="en-GB" sz="3600" dirty="0"/>
              <a:t>Evolution &amp; Quality for Infrastructure-as-code: a focused look on TOSCA</a:t>
            </a:r>
            <a:endParaRPr lang="en-IT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07517-6DB0-1135-BEFF-DC1CEE5DE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522668"/>
            <a:ext cx="6400800" cy="914400"/>
          </a:xfrm>
        </p:spPr>
        <p:txBody>
          <a:bodyPr/>
          <a:lstStyle/>
          <a:p>
            <a:r>
              <a:rPr lang="en-IT" sz="3200" b="1" dirty="0"/>
              <a:t>D. A. Tamburri, Ph.D.</a:t>
            </a:r>
          </a:p>
        </p:txBody>
      </p:sp>
    </p:spTree>
    <p:extLst>
      <p:ext uri="{BB962C8B-B14F-4D97-AF65-F5344CB8AC3E}">
        <p14:creationId xmlns:p14="http://schemas.microsoft.com/office/powerpoint/2010/main" val="20206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2146A-EB8B-1FE6-2A74-C86008993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DEBD8-607B-3BC8-25A6-45D3A3740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79769-5540-2B51-7AF2-F1DB80AB2A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DAA4C-E963-1928-7833-2B453DB9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16" y="0"/>
            <a:ext cx="6881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50D60-38D3-0E32-D33C-3F58899F9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4523"/>
            <a:ext cx="7772400" cy="1143000"/>
          </a:xfrm>
        </p:spPr>
        <p:txBody>
          <a:bodyPr/>
          <a:lstStyle/>
          <a:p>
            <a:r>
              <a:rPr lang="en-IT" dirty="0"/>
              <a:t>This Friday: Project Presentation Pitches!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9F321-3706-022D-568F-93C908B24FC5}"/>
              </a:ext>
            </a:extLst>
          </p:cNvPr>
          <p:cNvSpPr txBox="1"/>
          <p:nvPr/>
        </p:nvSpPr>
        <p:spPr>
          <a:xfrm>
            <a:off x="505609" y="1635162"/>
            <a:ext cx="79525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T" sz="2800" dirty="0"/>
              <a:t>Shall we start at 10AM?</a:t>
            </a:r>
          </a:p>
          <a:p>
            <a:pPr marL="342900" indent="-342900">
              <a:buAutoNum type="arabicPeriod"/>
            </a:pPr>
            <a:endParaRPr lang="en-IT" sz="2800" dirty="0"/>
          </a:p>
          <a:p>
            <a:pPr marL="342900" indent="-342900">
              <a:buAutoNum type="arabicPeriod"/>
            </a:pPr>
            <a:r>
              <a:rPr lang="en-GB" sz="2800" dirty="0"/>
              <a:t>Y</a:t>
            </a:r>
            <a:r>
              <a:rPr lang="en-IT" sz="2800" dirty="0"/>
              <a:t>ou each (per team) have 15 mins + allow 5 mins for questions;</a:t>
            </a:r>
          </a:p>
          <a:p>
            <a:pPr marL="342900" indent="-342900">
              <a:buAutoNum type="arabicPeriod"/>
            </a:pPr>
            <a:endParaRPr lang="en-IT" sz="2800" dirty="0"/>
          </a:p>
          <a:p>
            <a:pPr marL="342900" indent="-342900">
              <a:buAutoNum type="arabicPeriod"/>
            </a:pPr>
            <a:r>
              <a:rPr lang="en-IT" sz="2800" dirty="0"/>
              <a:t>20 mins per team * 7 Teams </a:t>
            </a:r>
            <a:r>
              <a:rPr lang="en-IT" sz="2800" dirty="0">
                <a:sym typeface="Wingdings" pitchFamily="2" charset="2"/>
              </a:rPr>
              <a:t> 140 + 20 mins for breaks  160 mins!</a:t>
            </a:r>
            <a:endParaRPr lang="en-IT" sz="2800" dirty="0"/>
          </a:p>
        </p:txBody>
      </p:sp>
    </p:spTree>
    <p:extLst>
      <p:ext uri="{BB962C8B-B14F-4D97-AF65-F5344CB8AC3E}">
        <p14:creationId xmlns:p14="http://schemas.microsoft.com/office/powerpoint/2010/main" val="40256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353" y="2204864"/>
            <a:ext cx="4623079" cy="26169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processes and toolchain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588146" y="4869160"/>
            <a:ext cx="3368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Image by </a:t>
            </a:r>
            <a:r>
              <a:rPr lang="en-US" sz="1200" dirty="0" err="1"/>
              <a:t>Kharnagy</a:t>
            </a:r>
            <a:r>
              <a:rPr lang="en-US" sz="1200" dirty="0"/>
              <a:t> (Own work) [CC BY-SA 4.0 </a:t>
            </a:r>
            <a:br>
              <a:rPr lang="en-US" sz="1200" dirty="0"/>
            </a:br>
            <a:r>
              <a:rPr lang="en-US" sz="1200" dirty="0"/>
              <a:t>(http://</a:t>
            </a:r>
            <a:r>
              <a:rPr lang="en-US" sz="1200" dirty="0" err="1"/>
              <a:t>creativecommons.org</a:t>
            </a:r>
            <a:r>
              <a:rPr lang="en-US" sz="1200" dirty="0"/>
              <a:t>/licenses/by-</a:t>
            </a:r>
            <a:r>
              <a:rPr lang="en-US" sz="1200" dirty="0" err="1"/>
              <a:t>sa</a:t>
            </a:r>
            <a:r>
              <a:rPr lang="en-US" sz="1200" dirty="0"/>
              <a:t>/4.0)], </a:t>
            </a:r>
            <a:br>
              <a:rPr lang="en-US" sz="1200" dirty="0"/>
            </a:br>
            <a:r>
              <a:rPr lang="en-US" sz="1200" dirty="0"/>
              <a:t>via Wikimedia 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112474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Continuous Architecting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1556792"/>
            <a:ext cx="3240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Def. </a:t>
            </a:r>
            <a:r>
              <a:rPr lang="en-CA" sz="1600" i="1" dirty="0"/>
              <a:t>“architect for test, build and deploy, take quality attributes into account, take advantage of feedback from runtime” [1]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179004" y="1484784"/>
            <a:ext cx="2520280" cy="9292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699284" y="1494076"/>
            <a:ext cx="1649172" cy="85858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4016" y="2943076"/>
            <a:ext cx="291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Continuous Integration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16024" y="3303116"/>
            <a:ext cx="237626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504" y="3303116"/>
            <a:ext cx="36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Def. </a:t>
            </a:r>
            <a:r>
              <a:rPr lang="en-CA" sz="1600" i="1" dirty="0"/>
              <a:t>“m</a:t>
            </a:r>
            <a:r>
              <a:rPr lang="en-CA" sz="1600" dirty="0"/>
              <a:t>erge all developer </a:t>
            </a:r>
            <a:br>
              <a:rPr lang="en-CA" sz="1600" dirty="0"/>
            </a:br>
            <a:r>
              <a:rPr lang="en-CA" sz="1600" dirty="0"/>
              <a:t>work-copies to a shared mainline frequently</a:t>
            </a:r>
            <a:r>
              <a:rPr lang="en-CA" sz="1600" i="1" dirty="0"/>
              <a:t>” [4]</a:t>
            </a:r>
          </a:p>
          <a:p>
            <a:r>
              <a:rPr lang="en-CA" sz="1600" b="1" i="1" dirty="0"/>
              <a:t>Examples. Apache Jenkins</a:t>
            </a:r>
            <a:r>
              <a:rPr lang="en-CA" sz="1600" i="1" dirty="0"/>
              <a:t>, </a:t>
            </a:r>
            <a:r>
              <a:rPr lang="en-CA" sz="1600" b="1" i="1" dirty="0"/>
              <a:t>Hudson,</a:t>
            </a:r>
            <a:r>
              <a:rPr lang="en-CA" sz="1600" i="1" dirty="0"/>
              <a:t> etc.</a:t>
            </a:r>
            <a:endParaRPr lang="en-CA" sz="1600" b="1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254511" y="465313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- Continuous Testing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26519" y="5013176"/>
            <a:ext cx="187220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503" y="5013176"/>
            <a:ext cx="36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Def. </a:t>
            </a:r>
            <a:r>
              <a:rPr lang="en-CA" sz="1600" i="1" dirty="0"/>
              <a:t>“run tests as part the build pipeline so that every check-in and deployment is validated” [3]</a:t>
            </a:r>
          </a:p>
          <a:p>
            <a:r>
              <a:rPr lang="en-CA" sz="1600" b="1" i="1" dirty="0"/>
              <a:t>Examples. </a:t>
            </a:r>
            <a:r>
              <a:rPr lang="en-CA" sz="1600" b="1" i="1" dirty="0" err="1"/>
              <a:t>Selenium+GitHub+LI-API</a:t>
            </a:r>
            <a:r>
              <a:rPr lang="en-CA" sz="1600" i="1" dirty="0"/>
              <a:t>, etc.</a:t>
            </a:r>
            <a:endParaRPr lang="en-CA" sz="1600" b="1" i="1" dirty="0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2198727" y="4305845"/>
            <a:ext cx="1852147" cy="716623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592288" y="3279332"/>
            <a:ext cx="1213038" cy="31633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592288" y="3303115"/>
            <a:ext cx="2917172" cy="791807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592288" y="2387072"/>
            <a:ext cx="3843813" cy="916042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699284" y="1484784"/>
            <a:ext cx="2810176" cy="669073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12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9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7" y="1268760"/>
            <a:ext cx="4623079" cy="26169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process and toolchain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4716016" y="2132856"/>
            <a:ext cx="4392488" cy="432048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9" name="Diagram 8"/>
          <p:cNvGraphicFramePr/>
          <p:nvPr/>
        </p:nvGraphicFramePr>
        <p:xfrm>
          <a:off x="3876600" y="224532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2555776" y="3573016"/>
            <a:ext cx="2160240" cy="2880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707904" y="1340768"/>
            <a:ext cx="5400600" cy="792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 rot="17339786">
            <a:off x="6717654" y="5530588"/>
            <a:ext cx="413891" cy="327092"/>
            <a:chOff x="1637328" y="2419049"/>
            <a:chExt cx="413891" cy="327092"/>
          </a:xfrm>
        </p:grpSpPr>
        <p:sp>
          <p:nvSpPr>
            <p:cNvPr id="16" name="Right Arrow 15"/>
            <p:cNvSpPr/>
            <p:nvPr/>
          </p:nvSpPr>
          <p:spPr>
            <a:xfrm rot="15120000">
              <a:off x="1680728" y="2375649"/>
              <a:ext cx="327092" cy="41389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T"/>
            </a:p>
          </p:txBody>
        </p:sp>
        <p:sp>
          <p:nvSpPr>
            <p:cNvPr id="17" name="Right Arrow 4"/>
            <p:cNvSpPr/>
            <p:nvPr/>
          </p:nvSpPr>
          <p:spPr>
            <a:xfrm rot="25920000">
              <a:off x="1744954" y="2505090"/>
              <a:ext cx="228964" cy="2483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8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81869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A966-282F-DA15-E7F9-F3FFA422C89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T" smtClean="0"/>
              <a:t>6</a:t>
            </a:fld>
            <a:endParaRPr lang="en-IT"/>
          </a:p>
        </p:txBody>
      </p:sp>
      <p:pic>
        <p:nvPicPr>
          <p:cNvPr id="5" name="Content Placeholder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9C22CC5-6C2C-6E97-9648-2D682A4D2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169"/>
            <a:ext cx="11909612" cy="502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290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A966-282F-DA15-E7F9-F3FFA422C89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T" smtClean="0"/>
              <a:t>7</a:t>
            </a:fld>
            <a:endParaRPr lang="en-IT"/>
          </a:p>
        </p:txBody>
      </p:sp>
      <p:pic>
        <p:nvPicPr>
          <p:cNvPr id="5" name="Content Placeholder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9C22CC5-6C2C-6E97-9648-2D682A4D2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169"/>
            <a:ext cx="11909612" cy="502482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8CBFB3-15CF-DD02-790D-7A95EA6DB46F}"/>
              </a:ext>
            </a:extLst>
          </p:cNvPr>
          <p:cNvSpPr/>
          <p:nvPr/>
        </p:nvSpPr>
        <p:spPr bwMode="auto">
          <a:xfrm>
            <a:off x="109728" y="5462014"/>
            <a:ext cx="3888712" cy="228600"/>
          </a:xfrm>
          <a:prstGeom prst="rect">
            <a:avLst/>
          </a:prstGeom>
          <a:solidFill>
            <a:schemeClr val="accent1">
              <a:alpha val="7151"/>
            </a:schemeClr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17947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6277E73-57AF-C98B-D295-3BCEC33BB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85800" y="1989385"/>
            <a:ext cx="7772400" cy="327927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41C0E-5F2D-591F-65A4-BE829EDF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8</a:t>
            </a:fld>
            <a:r>
              <a:rPr lang="it-IT"/>
              <a:t> -</a:t>
            </a:r>
            <a:endParaRPr lang="en-US"/>
          </a:p>
        </p:txBody>
      </p:sp>
      <p:pic>
        <p:nvPicPr>
          <p:cNvPr id="10" name="Picture 9" descr="A picture containing table&#10;&#10;Description automatically generated">
            <a:extLst>
              <a:ext uri="{FF2B5EF4-FFF2-40B4-BE49-F238E27FC236}">
                <a16:creationId xmlns:a16="http://schemas.microsoft.com/office/drawing/2014/main" id="{9D6C5BF6-3972-B0EF-733C-CD626C6A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99" y="1256698"/>
            <a:ext cx="4936891" cy="44105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CD7943-F0CF-31E8-C817-0CB03CD24DE9}"/>
              </a:ext>
            </a:extLst>
          </p:cNvPr>
          <p:cNvSpPr/>
          <p:nvPr/>
        </p:nvSpPr>
        <p:spPr bwMode="auto">
          <a:xfrm>
            <a:off x="85344" y="0"/>
            <a:ext cx="9058656" cy="115824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FC833D-A4C8-3CD9-9DA5-8671A0959CD3}"/>
              </a:ext>
            </a:extLst>
          </p:cNvPr>
          <p:cNvSpPr/>
          <p:nvPr/>
        </p:nvSpPr>
        <p:spPr bwMode="auto">
          <a:xfrm>
            <a:off x="36576" y="5815584"/>
            <a:ext cx="9058656" cy="521716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6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/>
              <a:t>What do we see here?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EE55C3-4391-EA79-A9A4-514482C58A85}"/>
              </a:ext>
            </a:extLst>
          </p:cNvPr>
          <p:cNvGrpSpPr/>
          <p:nvPr/>
        </p:nvGrpSpPr>
        <p:grpSpPr>
          <a:xfrm>
            <a:off x="-30464" y="0"/>
            <a:ext cx="9174463" cy="6849361"/>
            <a:chOff x="-30463" y="1326776"/>
            <a:chExt cx="8140700" cy="5522585"/>
          </a:xfrm>
        </p:grpSpPr>
        <p:pic>
          <p:nvPicPr>
            <p:cNvPr id="2" name="Picture 1" descr="RunningApps-eventsOpen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0463" y="1326776"/>
              <a:ext cx="8140700" cy="5522585"/>
            </a:xfrm>
            <a:prstGeom prst="rect">
              <a:avLst/>
            </a:prstGeom>
          </p:spPr>
        </p:pic>
        <p:sp>
          <p:nvSpPr>
            <p:cNvPr id="5" name="Line Callout 2 4"/>
            <p:cNvSpPr/>
            <p:nvPr/>
          </p:nvSpPr>
          <p:spPr>
            <a:xfrm>
              <a:off x="2567247" y="1844022"/>
              <a:ext cx="1268880" cy="455399"/>
            </a:xfrm>
            <a:prstGeom prst="borderCallout2">
              <a:avLst>
                <a:gd name="adj1" fmla="val 47865"/>
                <a:gd name="adj2" fmla="val -1537"/>
                <a:gd name="adj3" fmla="val 114308"/>
                <a:gd name="adj4" fmla="val -28759"/>
                <a:gd name="adj5" fmla="val 183526"/>
                <a:gd name="adj6" fmla="val -2872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Host</a:t>
              </a:r>
            </a:p>
          </p:txBody>
        </p:sp>
        <p:sp>
          <p:nvSpPr>
            <p:cNvPr id="6" name="Line Callout 2 5"/>
            <p:cNvSpPr/>
            <p:nvPr/>
          </p:nvSpPr>
          <p:spPr>
            <a:xfrm>
              <a:off x="1932807" y="4371322"/>
              <a:ext cx="1268880" cy="455399"/>
            </a:xfrm>
            <a:prstGeom prst="borderCallout2">
              <a:avLst>
                <a:gd name="adj1" fmla="val -5121"/>
                <a:gd name="adj2" fmla="val 51510"/>
                <a:gd name="adj3" fmla="val -69750"/>
                <a:gd name="adj4" fmla="val 22286"/>
                <a:gd name="adj5" fmla="val -167858"/>
                <a:gd name="adj6" fmla="val 243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Middleware</a:t>
              </a:r>
            </a:p>
          </p:txBody>
        </p:sp>
        <p:sp>
          <p:nvSpPr>
            <p:cNvPr id="7" name="Line Callout 2 6"/>
            <p:cNvSpPr/>
            <p:nvPr/>
          </p:nvSpPr>
          <p:spPr>
            <a:xfrm>
              <a:off x="5184007" y="2555222"/>
              <a:ext cx="1268880" cy="455399"/>
            </a:xfrm>
            <a:prstGeom prst="borderCallout2">
              <a:avLst>
                <a:gd name="adj1" fmla="val 53443"/>
                <a:gd name="adj2" fmla="val 465"/>
                <a:gd name="adj3" fmla="val 52956"/>
                <a:gd name="adj4" fmla="val -26757"/>
                <a:gd name="adj5" fmla="val 152850"/>
                <a:gd name="adj6" fmla="val -6275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App module</a:t>
              </a:r>
            </a:p>
          </p:txBody>
        </p:sp>
        <p:sp>
          <p:nvSpPr>
            <p:cNvPr id="8" name="Line Callout 2 7"/>
            <p:cNvSpPr/>
            <p:nvPr/>
          </p:nvSpPr>
          <p:spPr>
            <a:xfrm>
              <a:off x="4980807" y="5120622"/>
              <a:ext cx="1268880" cy="455399"/>
            </a:xfrm>
            <a:prstGeom prst="borderCallout2">
              <a:avLst>
                <a:gd name="adj1" fmla="val -5121"/>
                <a:gd name="adj2" fmla="val 51510"/>
                <a:gd name="adj3" fmla="val -92060"/>
                <a:gd name="adj4" fmla="val 52313"/>
                <a:gd name="adj5" fmla="val -234788"/>
                <a:gd name="adj6" fmla="val 42334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connection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69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focus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691680" y="3068960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5076056" y="3429000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8" name="Group 7"/>
          <p:cNvGrpSpPr/>
          <p:nvPr/>
        </p:nvGrpSpPr>
        <p:grpSpPr>
          <a:xfrm>
            <a:off x="1088380" y="2420888"/>
            <a:ext cx="6795988" cy="3588322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Schema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/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/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8427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large number of tools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0" y="4005064"/>
            <a:ext cx="8676456" cy="194421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0000"/>
                </a:schemeClr>
              </a:gs>
              <a:gs pos="80000">
                <a:schemeClr val="accent1">
                  <a:shade val="93000"/>
                  <a:satMod val="130000"/>
                  <a:alpha val="10000"/>
                </a:schemeClr>
              </a:gs>
              <a:gs pos="100000">
                <a:schemeClr val="accent1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077072"/>
            <a:ext cx="8460432" cy="178449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504" y="4077072"/>
            <a:ext cx="2016224" cy="1784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8" y="6109456"/>
            <a:ext cx="12827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29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large number of tools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6" name="Picture 5" descr="Screen Shot 2017-05-11 at 18.48.2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8343"/>
            <a:ext cx="9144000" cy="48489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160" y="4005064"/>
            <a:ext cx="8652296" cy="194421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0000"/>
                </a:schemeClr>
              </a:gs>
              <a:gs pos="80000">
                <a:schemeClr val="accent1">
                  <a:shade val="93000"/>
                  <a:satMod val="130000"/>
                  <a:alpha val="10000"/>
                </a:schemeClr>
              </a:gs>
              <a:gs pos="100000">
                <a:schemeClr val="accent1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4077072"/>
            <a:ext cx="8460432" cy="17844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03648" y="1700808"/>
            <a:ext cx="4464496" cy="108012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0000"/>
                </a:schemeClr>
              </a:gs>
              <a:gs pos="80000">
                <a:schemeClr val="accent1">
                  <a:shade val="93000"/>
                  <a:satMod val="130000"/>
                  <a:alpha val="10000"/>
                </a:schemeClr>
              </a:gs>
              <a:gs pos="100000">
                <a:schemeClr val="accent1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5868144" y="1700808"/>
            <a:ext cx="2808312" cy="2304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0" y="1700808"/>
            <a:ext cx="1403648" cy="2304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47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large number of tools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6" name="Picture 5" descr="Screen Shot 2017-05-11 at 18.48.2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8343"/>
            <a:ext cx="9144000" cy="484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86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common characteristic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1008112"/>
          </a:xfrm>
        </p:spPr>
        <p:txBody>
          <a:bodyPr/>
          <a:lstStyle/>
          <a:p>
            <a:r>
              <a:rPr lang="en-US" dirty="0"/>
              <a:t>Code! Example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1844824"/>
            <a:ext cx="71287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Consolas" charset="0"/>
                <a:cs typeface="Consolas" charset="0"/>
              </a:rPr>
              <a:t>To define what a web node should do [Chef]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{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“name”: “web”,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“description”: “Role used for the web tier”,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chef_type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”: “role”, 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json_class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”: “Chef::Role”,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run_list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”: [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                        “recipe[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timezone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]”,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                        “recipe[apt]”,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                        “recipe[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nginx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]”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                ],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default_attributes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”: {},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    “</a:t>
            </a:r>
            <a:r>
              <a:rPr lang="en-US" sz="2000" dirty="0" err="1">
                <a:latin typeface="Consolas" charset="0"/>
                <a:ea typeface="Consolas" charset="0"/>
                <a:cs typeface="Consolas" charset="0"/>
              </a:rPr>
              <a:t>override_attributes</a:t>
            </a: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”: {}</a:t>
            </a:r>
          </a:p>
          <a:p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2000" dirty="0">
              <a:effectLst/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2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common characteristic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1008112"/>
          </a:xfrm>
        </p:spPr>
        <p:txBody>
          <a:bodyPr/>
          <a:lstStyle/>
          <a:p>
            <a:r>
              <a:rPr lang="en-US" dirty="0"/>
              <a:t>Code! Example 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669322" y="1706199"/>
            <a:ext cx="7478329" cy="5078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lvl="0"/>
            <a:r>
              <a:rPr lang="en-US" sz="1600" b="1" dirty="0">
                <a:ea typeface="Consolas"/>
                <a:cs typeface="Consolas"/>
                <a:sym typeface="Consolas"/>
              </a:rPr>
              <a:t>To run a VM on OpenStack and to install a mongo shell on it [Terraform]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resource "openstack_compute_instance_v2" 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mongod_host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 {    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count = "3"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region = ""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name = 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mongod_host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image_name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"${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var.image_name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}"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flavor_name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"${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var.flavor_name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}"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key_pair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"tf-keypair-1"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security_groups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["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mongo_security_group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"]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network {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uuid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"${openstack_networking_network_v2.tf_network.id}"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...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provisioner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"remote-exec" {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scripts = [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"scripts/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install_mongo.sh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start_mongod.sh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]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9684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000" y="161982"/>
            <a:ext cx="7848000" cy="468301"/>
          </a:xfrm>
        </p:spPr>
        <p:txBody>
          <a:bodyPr/>
          <a:lstStyle/>
          <a:p>
            <a:r>
              <a:rPr lang="en-US" sz="4000" dirty="0"/>
              <a:t>From computation-specific machines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475304" y="5949280"/>
            <a:ext cx="6265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By Alessandro </a:t>
            </a:r>
            <a:r>
              <a:rPr lang="en-US" sz="1400" dirty="0" err="1"/>
              <a:t>Nassiri</a:t>
            </a:r>
            <a:r>
              <a:rPr lang="en-US" sz="1400" dirty="0"/>
              <a:t> - </a:t>
            </a:r>
            <a:r>
              <a:rPr lang="en-US" sz="1400" dirty="0" err="1"/>
              <a:t>Museo</a:t>
            </a:r>
            <a:r>
              <a:rPr lang="en-US" sz="1400" dirty="0"/>
              <a:t> </a:t>
            </a:r>
            <a:r>
              <a:rPr lang="en-US" sz="1400" dirty="0" err="1"/>
              <a:t>della</a:t>
            </a:r>
            <a:r>
              <a:rPr lang="en-US" sz="1400" dirty="0"/>
              <a:t> </a:t>
            </a:r>
            <a:r>
              <a:rPr lang="en-US" sz="1400" dirty="0" err="1"/>
              <a:t>Scienza</a:t>
            </a:r>
            <a:r>
              <a:rPr lang="en-US" sz="1400" dirty="0"/>
              <a:t> e </a:t>
            </a:r>
            <a:r>
              <a:rPr lang="en-US" sz="1400" dirty="0" err="1"/>
              <a:t>della</a:t>
            </a:r>
            <a:r>
              <a:rPr lang="en-US" sz="1400" dirty="0"/>
              <a:t> </a:t>
            </a:r>
            <a:r>
              <a:rPr lang="en-US" sz="1400" dirty="0" err="1"/>
              <a:t>Tecnologia</a:t>
            </a:r>
            <a:r>
              <a:rPr lang="en-US" sz="1400" dirty="0"/>
              <a:t> "Leonardo da Vinci", </a:t>
            </a:r>
            <a:br>
              <a:rPr lang="en-US" sz="1400" dirty="0"/>
            </a:br>
            <a:r>
              <a:rPr lang="en-US" sz="1400" dirty="0"/>
              <a:t>CC BY-SA 4.0, https://</a:t>
            </a:r>
            <a:r>
              <a:rPr lang="en-US" sz="1400" dirty="0" err="1"/>
              <a:t>commons.wikimedia.org</a:t>
            </a:r>
            <a:r>
              <a:rPr lang="en-US" sz="1400" dirty="0"/>
              <a:t>/w/</a:t>
            </a:r>
            <a:r>
              <a:rPr lang="en-US" sz="1400" dirty="0" err="1"/>
              <a:t>index.php?curid</a:t>
            </a:r>
            <a:r>
              <a:rPr lang="en-US" sz="1400" dirty="0"/>
              <a:t>=47910919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268208"/>
            <a:ext cx="4292704" cy="46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5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848872" cy="792088"/>
          </a:xfrm>
        </p:spPr>
        <p:txBody>
          <a:bodyPr/>
          <a:lstStyle/>
          <a:p>
            <a:r>
              <a:rPr lang="en-US" sz="4000" dirty="0"/>
              <a:t>To programmable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812360" cy="520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94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1440" y="14661"/>
            <a:ext cx="9235440" cy="468301"/>
          </a:xfrm>
        </p:spPr>
        <p:txBody>
          <a:bodyPr/>
          <a:lstStyle/>
          <a:p>
            <a:r>
              <a:rPr lang="en-US" sz="3600" dirty="0"/>
              <a:t>To programmable management of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5496" y="973003"/>
            <a:ext cx="747832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b="1" dirty="0">
                <a:ea typeface="Consolas"/>
                <a:cs typeface="Consolas"/>
                <a:sym typeface="Consolas"/>
              </a:rPr>
              <a:t>To run a VM on OpenStack and to install a mongo shell on it [Terraform]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resource "openstack_compute_instance_v2" 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mongod_host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 {    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count = "3"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region = ""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name = 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mongod_host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image_name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"${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var.image_name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}"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flavor_name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"${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var.flavor_name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}"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key_pair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"tf-keypair-1"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security_groups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["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mongo_security_group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"]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network {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uuid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= "${openstack_networking_network_v2.tf_network.id}"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...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provisioner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"remote-exec" {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scripts = [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"scripts/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install_mongo.sh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"</a:t>
            </a:r>
            <a:r>
              <a:rPr lang="en" sz="1600" dirty="0" err="1">
                <a:latin typeface="Consolas"/>
                <a:ea typeface="Consolas"/>
                <a:cs typeface="Consolas"/>
                <a:sym typeface="Consolas"/>
              </a:rPr>
              <a:t>start_mongod.sh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    ]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lvl="0"/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774660" y="5805064"/>
            <a:ext cx="4824536" cy="64807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Infrastructure </a:t>
            </a:r>
            <a:r>
              <a:rPr lang="en-US" dirty="0"/>
              <a:t>as a Code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355976" y="4869160"/>
            <a:ext cx="1008112" cy="10081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541947" y="4940968"/>
            <a:ext cx="1118285" cy="86409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0"/>
          <p:cNvSpPr txBox="1">
            <a:spLocks/>
          </p:cNvSpPr>
          <p:nvPr/>
        </p:nvSpPr>
        <p:spPr>
          <a:xfrm>
            <a:off x="4499992" y="4132252"/>
            <a:ext cx="4824536" cy="9529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32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8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4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rgbClr val="002060"/>
                </a:solidFill>
                <a:latin typeface="+mn-lt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urier New" pitchFamily="49" charset="0"/>
              <a:buNone/>
            </a:pPr>
            <a:r>
              <a:rPr lang="en-US" dirty="0"/>
              <a:t>Becomes another subject of this same lifecycle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409" y="1484784"/>
            <a:ext cx="4623079" cy="261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3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8000" y="55411"/>
            <a:ext cx="7848000" cy="468301"/>
          </a:xfrm>
        </p:spPr>
        <p:txBody>
          <a:bodyPr/>
          <a:lstStyle/>
          <a:p>
            <a:r>
              <a:rPr lang="en-CA" sz="3600" dirty="0"/>
              <a:t>Towards standard Infrastructure-as-Code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81" name="Rectangle 80"/>
          <p:cNvSpPr/>
          <p:nvPr/>
        </p:nvSpPr>
        <p:spPr>
          <a:xfrm>
            <a:off x="683568" y="3356992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Rectangle 81"/>
          <p:cNvSpPr/>
          <p:nvPr/>
        </p:nvSpPr>
        <p:spPr>
          <a:xfrm>
            <a:off x="35496" y="1484784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Rectangle 82"/>
          <p:cNvSpPr/>
          <p:nvPr/>
        </p:nvSpPr>
        <p:spPr>
          <a:xfrm>
            <a:off x="5220072" y="1412776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Rectangle 83"/>
          <p:cNvSpPr/>
          <p:nvPr/>
        </p:nvSpPr>
        <p:spPr>
          <a:xfrm>
            <a:off x="5076056" y="3429000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2" name="Group 91"/>
          <p:cNvGrpSpPr/>
          <p:nvPr/>
        </p:nvGrpSpPr>
        <p:grpSpPr>
          <a:xfrm>
            <a:off x="80268" y="2708920"/>
            <a:ext cx="6795988" cy="3588322"/>
            <a:chOff x="368300" y="2140689"/>
            <a:chExt cx="7294534" cy="3467936"/>
          </a:xfrm>
        </p:grpSpPr>
        <p:sp>
          <p:nvSpPr>
            <p:cNvPr id="93" name="TextBox 92"/>
            <p:cNvSpPr txBox="1"/>
            <p:nvPr/>
          </p:nvSpPr>
          <p:spPr>
            <a:xfrm>
              <a:off x="381001" y="22136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Infrastructure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68300" y="37376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Middleware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68300" y="51727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Application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Network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Apache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Tomcat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MySQL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Mod_proxy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WAR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Schema</a:t>
              </a:r>
            </a:p>
          </p:txBody>
        </p:sp>
        <p:cxnSp>
          <p:nvCxnSpPr>
            <p:cNvPr id="105" name="Straight Arrow Connector 104"/>
            <p:cNvCxnSpPr>
              <a:stCxn id="99" idx="0"/>
              <a:endCxn id="96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100" idx="0"/>
              <a:endCxn id="96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101" idx="0"/>
              <a:endCxn id="97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102" idx="0"/>
              <a:endCxn id="99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99" idx="3"/>
              <a:endCxn id="100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endCxn id="101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urved Connector 112"/>
            <p:cNvCxnSpPr>
              <a:stCxn id="96" idx="0"/>
              <a:endCxn id="98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urved Connector 113"/>
            <p:cNvCxnSpPr>
              <a:stCxn id="97" idx="0"/>
              <a:endCxn id="98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/>
          <p:cNvSpPr txBox="1"/>
          <p:nvPr/>
        </p:nvSpPr>
        <p:spPr>
          <a:xfrm>
            <a:off x="0" y="1124744"/>
            <a:ext cx="89289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0"/>
              <a:buChar char="è"/>
            </a:pPr>
            <a:r>
              <a:rPr lang="en-CA" sz="2000" b="1" dirty="0">
                <a:sym typeface="Wingdings"/>
              </a:rPr>
              <a:t>An Application Deployment Topology</a:t>
            </a:r>
            <a:r>
              <a:rPr lang="en-CA" sz="2000" dirty="0">
                <a:sym typeface="Wingdings"/>
              </a:rPr>
              <a:t>, i.e., “a graph of physical artefacts that need support for several lifecycle phases (e.g., procurement, installation, configuration, </a:t>
            </a:r>
            <a:r>
              <a:rPr lang="it-IT" sz="2000" dirty="0">
                <a:sym typeface="Wingdings"/>
              </a:rPr>
              <a:t>deployment, </a:t>
            </a:r>
            <a:r>
              <a:rPr lang="it-IT" sz="2000" dirty="0" err="1">
                <a:sym typeface="Wingdings"/>
              </a:rPr>
              <a:t>undeployment</a:t>
            </a:r>
            <a:r>
              <a:rPr lang="it-IT" sz="2000" dirty="0">
                <a:sym typeface="Wingdings"/>
              </a:rPr>
              <a:t>, </a:t>
            </a:r>
            <a:r>
              <a:rPr lang="it-IT" sz="2000" dirty="0" err="1">
                <a:sym typeface="Wingdings"/>
              </a:rPr>
              <a:t>teardown</a:t>
            </a:r>
            <a:r>
              <a:rPr lang="it-IT" sz="2000" dirty="0">
                <a:sym typeface="Wingdings"/>
              </a:rPr>
              <a:t>, etc.)” [6]</a:t>
            </a:r>
            <a:endParaRPr lang="en-CA" sz="2000" dirty="0"/>
          </a:p>
          <a:p>
            <a:endParaRPr lang="en-CA" sz="2000" b="1" dirty="0">
              <a:solidFill>
                <a:srgbClr val="FF0000"/>
              </a:solidFill>
            </a:endParaRPr>
          </a:p>
          <a:p>
            <a:endParaRPr lang="en-CA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854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8000" y="66979"/>
            <a:ext cx="7848000" cy="468301"/>
          </a:xfrm>
        </p:spPr>
        <p:txBody>
          <a:bodyPr/>
          <a:lstStyle/>
          <a:p>
            <a:r>
              <a:rPr lang="en-CA" sz="3600"/>
              <a:t>Towards standard Infrastructure-as-Code</a:t>
            </a:r>
            <a:endParaRPr lang="en-CA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81" name="Rectangle 80"/>
          <p:cNvSpPr/>
          <p:nvPr/>
        </p:nvSpPr>
        <p:spPr>
          <a:xfrm>
            <a:off x="683568" y="3356992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Rectangle 81"/>
          <p:cNvSpPr/>
          <p:nvPr/>
        </p:nvSpPr>
        <p:spPr>
          <a:xfrm>
            <a:off x="35496" y="1484784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Rectangle 82"/>
          <p:cNvSpPr/>
          <p:nvPr/>
        </p:nvSpPr>
        <p:spPr>
          <a:xfrm>
            <a:off x="5220072" y="1412776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Rectangle 83"/>
          <p:cNvSpPr/>
          <p:nvPr/>
        </p:nvSpPr>
        <p:spPr>
          <a:xfrm>
            <a:off x="5076056" y="3429000"/>
            <a:ext cx="2664296" cy="201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2" name="Group 91"/>
          <p:cNvGrpSpPr/>
          <p:nvPr/>
        </p:nvGrpSpPr>
        <p:grpSpPr>
          <a:xfrm>
            <a:off x="80268" y="2708920"/>
            <a:ext cx="6795988" cy="3588322"/>
            <a:chOff x="368300" y="2140689"/>
            <a:chExt cx="7294534" cy="3467936"/>
          </a:xfrm>
        </p:grpSpPr>
        <p:sp>
          <p:nvSpPr>
            <p:cNvPr id="93" name="TextBox 92"/>
            <p:cNvSpPr txBox="1"/>
            <p:nvPr/>
          </p:nvSpPr>
          <p:spPr>
            <a:xfrm>
              <a:off x="381001" y="22136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Infrastructure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68300" y="37376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Middleware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68300" y="5172716"/>
              <a:ext cx="1701800" cy="356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Application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Network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Apache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Tomcat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MySQL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Mod_proxy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WAR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Schema</a:t>
              </a:r>
            </a:p>
          </p:txBody>
        </p:sp>
        <p:cxnSp>
          <p:nvCxnSpPr>
            <p:cNvPr id="105" name="Straight Arrow Connector 104"/>
            <p:cNvCxnSpPr>
              <a:stCxn id="99" idx="0"/>
              <a:endCxn id="96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100" idx="0"/>
              <a:endCxn id="96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101" idx="0"/>
              <a:endCxn id="97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102" idx="0"/>
              <a:endCxn id="99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99" idx="3"/>
              <a:endCxn id="100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endCxn id="101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urved Connector 112"/>
            <p:cNvCxnSpPr>
              <a:stCxn id="96" idx="0"/>
              <a:endCxn id="98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urved Connector 113"/>
            <p:cNvCxnSpPr>
              <a:stCxn id="97" idx="0"/>
              <a:endCxn id="98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/>
          <p:cNvSpPr txBox="1"/>
          <p:nvPr/>
        </p:nvSpPr>
        <p:spPr>
          <a:xfrm>
            <a:off x="0" y="1124744"/>
            <a:ext cx="89289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0"/>
              <a:buChar char="è"/>
            </a:pPr>
            <a:r>
              <a:rPr lang="en-CA" sz="2000" b="1" dirty="0">
                <a:sym typeface="Wingdings"/>
              </a:rPr>
              <a:t>Infrastructure-as-code</a:t>
            </a:r>
            <a:r>
              <a:rPr lang="en-CA" sz="2000" dirty="0">
                <a:sym typeface="Wingdings"/>
              </a:rPr>
              <a:t>, i.e., “a blueprint detailing physical artefacts, all scripts for all lifecycle phases and all artefacts needed for deployment</a:t>
            </a:r>
            <a:r>
              <a:rPr lang="it-IT" sz="2000" dirty="0">
                <a:sym typeface="Wingdings"/>
              </a:rPr>
              <a:t>” [6]</a:t>
            </a:r>
            <a:endParaRPr lang="en-CA" sz="2000" dirty="0"/>
          </a:p>
          <a:p>
            <a:endParaRPr lang="en-CA" sz="2000" b="1" dirty="0">
              <a:solidFill>
                <a:srgbClr val="FF0000"/>
              </a:solidFill>
            </a:endParaRPr>
          </a:p>
          <a:p>
            <a:endParaRPr lang="en-CA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7504" y="2132856"/>
            <a:ext cx="6984776" cy="144016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0000"/>
                </a:schemeClr>
              </a:gs>
              <a:gs pos="80000">
                <a:schemeClr val="accent1">
                  <a:shade val="93000"/>
                  <a:satMod val="130000"/>
                  <a:alpha val="10000"/>
                </a:schemeClr>
              </a:gs>
              <a:gs pos="100000">
                <a:schemeClr val="accent1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/>
          <p:cNvSpPr txBox="1"/>
          <p:nvPr/>
        </p:nvSpPr>
        <p:spPr>
          <a:xfrm>
            <a:off x="7236296" y="2276872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err="1"/>
              <a:t>IasC</a:t>
            </a:r>
            <a:r>
              <a:rPr lang="en-CA" sz="2400" b="1" dirty="0"/>
              <a:t> </a:t>
            </a:r>
            <a:br>
              <a:rPr lang="en-CA" sz="2400" b="1" dirty="0"/>
            </a:br>
            <a:r>
              <a:rPr lang="en-CA" sz="2400" b="1" dirty="0"/>
              <a:t>Blueprint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504" y="4005064"/>
            <a:ext cx="6984776" cy="1080120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51000"/>
                  <a:satMod val="130000"/>
                  <a:alpha val="10000"/>
                </a:schemeClr>
              </a:gs>
              <a:gs pos="80000">
                <a:schemeClr val="accent3">
                  <a:shade val="93000"/>
                  <a:satMod val="130000"/>
                  <a:alpha val="10000"/>
                </a:schemeClr>
              </a:gs>
              <a:gs pos="100000">
                <a:schemeClr val="accent3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TextBox 35"/>
          <p:cNvSpPr txBox="1"/>
          <p:nvPr/>
        </p:nvSpPr>
        <p:spPr>
          <a:xfrm>
            <a:off x="7497840" y="4149080"/>
            <a:ext cx="16826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 err="1"/>
              <a:t>IasC</a:t>
            </a:r>
            <a:r>
              <a:rPr lang="en-CA" sz="1600" dirty="0"/>
              <a:t> Middleware</a:t>
            </a:r>
            <a:br>
              <a:rPr lang="en-CA" sz="1600" dirty="0"/>
            </a:br>
            <a:r>
              <a:rPr lang="en-CA" sz="1600" dirty="0"/>
              <a:t>Scripts (e.g., Chef,</a:t>
            </a:r>
            <a:br>
              <a:rPr lang="en-CA" sz="1600" dirty="0"/>
            </a:br>
            <a:r>
              <a:rPr lang="en-CA" sz="1600" dirty="0"/>
              <a:t>Puppet, etc.)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504" y="5517232"/>
            <a:ext cx="6984776" cy="936104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51000"/>
                  <a:satMod val="130000"/>
                  <a:alpha val="10000"/>
                </a:schemeClr>
              </a:gs>
              <a:gs pos="80000">
                <a:schemeClr val="accent4">
                  <a:shade val="93000"/>
                  <a:satMod val="130000"/>
                  <a:alpha val="10000"/>
                </a:schemeClr>
              </a:gs>
              <a:gs pos="100000">
                <a:schemeClr val="accent4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/>
          <p:cNvSpPr txBox="1"/>
          <p:nvPr/>
        </p:nvSpPr>
        <p:spPr>
          <a:xfrm>
            <a:off x="7740353" y="5508520"/>
            <a:ext cx="1403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Deploy artefacts (e.g., JARs, etc.)</a:t>
            </a:r>
          </a:p>
        </p:txBody>
      </p:sp>
      <p:sp>
        <p:nvSpPr>
          <p:cNvPr id="7" name="Up Arrow 6"/>
          <p:cNvSpPr/>
          <p:nvPr/>
        </p:nvSpPr>
        <p:spPr>
          <a:xfrm>
            <a:off x="7884368" y="3068960"/>
            <a:ext cx="288032" cy="108012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/>
          <p:cNvSpPr txBox="1"/>
          <p:nvPr/>
        </p:nvSpPr>
        <p:spPr>
          <a:xfrm>
            <a:off x="8028384" y="3454400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Referenced in</a:t>
            </a:r>
          </a:p>
        </p:txBody>
      </p:sp>
      <p:sp>
        <p:nvSpPr>
          <p:cNvPr id="9" name="Bent-Up Arrow 8"/>
          <p:cNvSpPr/>
          <p:nvPr/>
        </p:nvSpPr>
        <p:spPr>
          <a:xfrm flipH="1">
            <a:off x="7164288" y="3068960"/>
            <a:ext cx="576064" cy="2880320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TextBox 41"/>
          <p:cNvSpPr txBox="1"/>
          <p:nvPr/>
        </p:nvSpPr>
        <p:spPr>
          <a:xfrm>
            <a:off x="7308304" y="5085184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Included in</a:t>
            </a:r>
          </a:p>
        </p:txBody>
      </p:sp>
    </p:spTree>
    <p:extLst>
      <p:ext uri="{BB962C8B-B14F-4D97-AF65-F5344CB8AC3E}">
        <p14:creationId xmlns:p14="http://schemas.microsoft.com/office/powerpoint/2010/main" val="3581324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388424" cy="792088"/>
          </a:xfrm>
        </p:spPr>
        <p:txBody>
          <a:bodyPr/>
          <a:lstStyle/>
          <a:p>
            <a:r>
              <a:rPr lang="en-CA" dirty="0"/>
              <a:t>Where Does TOSCA fit into?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220" y="980728"/>
            <a:ext cx="784887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n-lt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Here’s What We’ve Seen there…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89871" y="1822761"/>
            <a:ext cx="5018633" cy="5062623"/>
          </a:xfrm>
        </p:spPr>
        <p:txBody>
          <a:bodyPr>
            <a:normAutofit/>
          </a:bodyPr>
          <a:lstStyle/>
          <a:p>
            <a:r>
              <a:rPr lang="en-US" sz="2800" dirty="0"/>
              <a:t>An application topology</a:t>
            </a:r>
          </a:p>
          <a:p>
            <a:r>
              <a:rPr lang="en-US" sz="2800" dirty="0"/>
              <a:t>3 layers</a:t>
            </a:r>
          </a:p>
          <a:p>
            <a:pPr lvl="1"/>
            <a:r>
              <a:rPr lang="en-US" sz="1800" dirty="0"/>
              <a:t>Infrastructure (Cloud or DC objects)</a:t>
            </a:r>
          </a:p>
          <a:p>
            <a:pPr lvl="1"/>
            <a:r>
              <a:rPr lang="en-US" sz="1800" dirty="0"/>
              <a:t>Platform or Middleware (App containers)</a:t>
            </a:r>
          </a:p>
          <a:p>
            <a:pPr lvl="1"/>
            <a:r>
              <a:rPr lang="en-US" sz="1800" dirty="0"/>
              <a:t>Application modules, schemas and configurations</a:t>
            </a:r>
          </a:p>
          <a:p>
            <a:r>
              <a:rPr lang="en-US" sz="2800" dirty="0"/>
              <a:t>Relationships between components:</a:t>
            </a:r>
          </a:p>
          <a:p>
            <a:pPr lvl="1"/>
            <a:r>
              <a:rPr lang="en-US" sz="1800" dirty="0"/>
              <a:t>What’s hosted on what or installed on what</a:t>
            </a:r>
          </a:p>
          <a:p>
            <a:pPr lvl="1"/>
            <a:r>
              <a:rPr lang="en-US" sz="1800" dirty="0"/>
              <a:t>What’s connected to what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2924944"/>
            <a:ext cx="2979564" cy="1716114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7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Schema</a:t>
              </a:r>
            </a:p>
          </p:txBody>
        </p:sp>
        <p:cxnSp>
          <p:nvCxnSpPr>
            <p:cNvPr id="21" name="Straight Arrow Connector 20"/>
            <p:cNvCxnSpPr>
              <a:stCxn id="15" idx="0"/>
              <a:endCxn id="12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0"/>
              <a:endCxn id="12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7" idx="0"/>
              <a:endCxn id="13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0"/>
              <a:endCxn id="15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16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2" idx="0"/>
              <a:endCxn id="14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13" idx="0"/>
              <a:endCxn id="14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/>
          <p:cNvCxnSpPr/>
          <p:nvPr/>
        </p:nvCxnSpPr>
        <p:spPr>
          <a:xfrm flipH="1">
            <a:off x="3419872" y="2132856"/>
            <a:ext cx="792088" cy="576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14" idx="3"/>
          </p:cNvCxnSpPr>
          <p:nvPr/>
        </p:nvCxnSpPr>
        <p:spPr>
          <a:xfrm flipH="1">
            <a:off x="3303092" y="2636912"/>
            <a:ext cx="836860" cy="3990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275856" y="2636912"/>
            <a:ext cx="864096" cy="11911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3275856" y="2636912"/>
            <a:ext cx="864096" cy="183918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1"/>
          </p:cNvCxnSpPr>
          <p:nvPr/>
        </p:nvCxnSpPr>
        <p:spPr>
          <a:xfrm flipH="1" flipV="1">
            <a:off x="3059832" y="4260077"/>
            <a:ext cx="1030039" cy="9399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7" idx="1"/>
          </p:cNvCxnSpPr>
          <p:nvPr/>
        </p:nvCxnSpPr>
        <p:spPr>
          <a:xfrm flipH="1" flipV="1">
            <a:off x="2483768" y="2852936"/>
            <a:ext cx="1606103" cy="15011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259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388424" cy="792088"/>
          </a:xfrm>
        </p:spPr>
        <p:txBody>
          <a:bodyPr/>
          <a:lstStyle/>
          <a:p>
            <a:r>
              <a:rPr lang="en-CA" dirty="0"/>
              <a:t>Where Does TOSCA fit into?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220" y="980728"/>
            <a:ext cx="784887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n-lt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Here’s What We’ve Seen there…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89871" y="1822761"/>
            <a:ext cx="5018633" cy="5062623"/>
          </a:xfrm>
        </p:spPr>
        <p:txBody>
          <a:bodyPr>
            <a:normAutofit/>
          </a:bodyPr>
          <a:lstStyle/>
          <a:p>
            <a:r>
              <a:rPr lang="en-US" sz="2800" dirty="0"/>
              <a:t>An application topology</a:t>
            </a:r>
          </a:p>
          <a:p>
            <a:r>
              <a:rPr lang="en-US" sz="2800" dirty="0"/>
              <a:t>3 layers</a:t>
            </a:r>
          </a:p>
          <a:p>
            <a:pPr lvl="1"/>
            <a:r>
              <a:rPr lang="en-US" sz="1800" dirty="0"/>
              <a:t>Infrastructure (Cloud or DC objects)</a:t>
            </a:r>
          </a:p>
          <a:p>
            <a:pPr lvl="1"/>
            <a:r>
              <a:rPr lang="en-US" sz="1800" dirty="0"/>
              <a:t>Platform or Middleware (App containers)</a:t>
            </a:r>
          </a:p>
          <a:p>
            <a:pPr lvl="1"/>
            <a:r>
              <a:rPr lang="en-US" sz="1800" dirty="0"/>
              <a:t>Application modules, schemas and configurations</a:t>
            </a:r>
          </a:p>
          <a:p>
            <a:r>
              <a:rPr lang="en-US" sz="2800" dirty="0"/>
              <a:t>Relationships between components:</a:t>
            </a:r>
          </a:p>
          <a:p>
            <a:pPr lvl="1"/>
            <a:r>
              <a:rPr lang="en-US" sz="1800" dirty="0"/>
              <a:t>What’s hosted on what or installed on what</a:t>
            </a:r>
          </a:p>
          <a:p>
            <a:pPr lvl="1"/>
            <a:r>
              <a:rPr lang="en-US" sz="1800" dirty="0"/>
              <a:t>What’s connected to what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2924944"/>
            <a:ext cx="2979564" cy="1716114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7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Schema</a:t>
              </a:r>
            </a:p>
          </p:txBody>
        </p:sp>
        <p:cxnSp>
          <p:nvCxnSpPr>
            <p:cNvPr id="21" name="Straight Arrow Connector 20"/>
            <p:cNvCxnSpPr>
              <a:stCxn id="15" idx="0"/>
              <a:endCxn id="12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0"/>
              <a:endCxn id="12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7" idx="0"/>
              <a:endCxn id="13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0"/>
              <a:endCxn id="15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16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2" idx="0"/>
              <a:endCxn id="14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13" idx="0"/>
              <a:endCxn id="14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/>
          <p:cNvCxnSpPr/>
          <p:nvPr/>
        </p:nvCxnSpPr>
        <p:spPr>
          <a:xfrm flipH="1">
            <a:off x="3419872" y="2132856"/>
            <a:ext cx="792088" cy="576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14" idx="3"/>
          </p:cNvCxnSpPr>
          <p:nvPr/>
        </p:nvCxnSpPr>
        <p:spPr>
          <a:xfrm flipH="1">
            <a:off x="3303092" y="2636912"/>
            <a:ext cx="836860" cy="3990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275856" y="2636912"/>
            <a:ext cx="864096" cy="11911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3275856" y="2636912"/>
            <a:ext cx="864096" cy="183918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1"/>
          </p:cNvCxnSpPr>
          <p:nvPr/>
        </p:nvCxnSpPr>
        <p:spPr>
          <a:xfrm flipH="1" flipV="1">
            <a:off x="3059832" y="4260077"/>
            <a:ext cx="1030039" cy="9399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7" idx="1"/>
          </p:cNvCxnSpPr>
          <p:nvPr/>
        </p:nvCxnSpPr>
        <p:spPr>
          <a:xfrm flipH="1" flipV="1">
            <a:off x="2483768" y="2852936"/>
            <a:ext cx="1606103" cy="15011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65100" y="5156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3200" y="5029200"/>
            <a:ext cx="40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TOSCA: “</a:t>
            </a:r>
            <a:r>
              <a:rPr lang="en-CA" b="1" dirty="0"/>
              <a:t>T</a:t>
            </a:r>
            <a:r>
              <a:rPr lang="en-CA" dirty="0"/>
              <a:t>opology and </a:t>
            </a:r>
            <a:r>
              <a:rPr lang="en-CA" b="1" dirty="0"/>
              <a:t>O</a:t>
            </a:r>
            <a:r>
              <a:rPr lang="en-CA" dirty="0"/>
              <a:t>rchestration </a:t>
            </a:r>
            <a:r>
              <a:rPr lang="en-CA" b="1" dirty="0"/>
              <a:t>S</a:t>
            </a:r>
            <a:r>
              <a:rPr lang="en-CA" dirty="0"/>
              <a:t>pecification for </a:t>
            </a:r>
            <a:r>
              <a:rPr lang="en-CA" b="1" dirty="0"/>
              <a:t>C</a:t>
            </a:r>
            <a:r>
              <a:rPr lang="en-CA" dirty="0"/>
              <a:t>loud </a:t>
            </a:r>
            <a:r>
              <a:rPr lang="en-CA" b="1" dirty="0"/>
              <a:t>A</a:t>
            </a:r>
            <a:r>
              <a:rPr lang="en-CA" dirty="0"/>
              <a:t>pplications”</a:t>
            </a:r>
          </a:p>
        </p:txBody>
      </p:sp>
    </p:spTree>
    <p:extLst>
      <p:ext uri="{BB962C8B-B14F-4D97-AF65-F5344CB8AC3E}">
        <p14:creationId xmlns:p14="http://schemas.microsoft.com/office/powerpoint/2010/main" val="843044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388424" cy="792088"/>
          </a:xfrm>
        </p:spPr>
        <p:txBody>
          <a:bodyPr/>
          <a:lstStyle/>
          <a:p>
            <a:r>
              <a:rPr lang="en-CA" dirty="0"/>
              <a:t>Where Does TOSCA fit into?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220" y="980728"/>
            <a:ext cx="784887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n-lt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Here’s What We’ve Seen there…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89871" y="1822761"/>
            <a:ext cx="5018633" cy="506262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An application topology</a:t>
            </a:r>
          </a:p>
          <a:p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3 layers</a:t>
            </a:r>
          </a:p>
          <a:p>
            <a:pPr lvl="1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Infrastructure (Cloud or DC objects)</a:t>
            </a:r>
          </a:p>
          <a:p>
            <a:pPr lvl="1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Platform or Middleware (App containers)</a:t>
            </a:r>
          </a:p>
          <a:p>
            <a:pPr lvl="1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Application modules, schemas and configurations</a:t>
            </a:r>
          </a:p>
          <a:p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Relationships between components:</a:t>
            </a:r>
          </a:p>
          <a:p>
            <a:pPr lvl="1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What’s hosted on what or installed on what</a:t>
            </a:r>
          </a:p>
          <a:p>
            <a:pPr lvl="1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What’s connected to what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2924944"/>
            <a:ext cx="2979564" cy="1716114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7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Schema</a:t>
              </a:r>
            </a:p>
          </p:txBody>
        </p:sp>
        <p:cxnSp>
          <p:nvCxnSpPr>
            <p:cNvPr id="21" name="Straight Arrow Connector 20"/>
            <p:cNvCxnSpPr>
              <a:stCxn id="15" idx="0"/>
              <a:endCxn id="12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0"/>
              <a:endCxn id="12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7" idx="0"/>
              <a:endCxn id="13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0"/>
              <a:endCxn id="15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16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2" idx="0"/>
              <a:endCxn id="14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13" idx="0"/>
              <a:endCxn id="14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/>
          <p:cNvCxnSpPr/>
          <p:nvPr/>
        </p:nvCxnSpPr>
        <p:spPr>
          <a:xfrm flipH="1">
            <a:off x="3419872" y="2132856"/>
            <a:ext cx="792088" cy="576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14" idx="3"/>
          </p:cNvCxnSpPr>
          <p:nvPr/>
        </p:nvCxnSpPr>
        <p:spPr>
          <a:xfrm flipH="1">
            <a:off x="3303092" y="2636912"/>
            <a:ext cx="836860" cy="3990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275856" y="2636912"/>
            <a:ext cx="864096" cy="11911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3275856" y="2636912"/>
            <a:ext cx="864096" cy="183918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1"/>
          </p:cNvCxnSpPr>
          <p:nvPr/>
        </p:nvCxnSpPr>
        <p:spPr>
          <a:xfrm flipH="1" flipV="1">
            <a:off x="3059832" y="4260077"/>
            <a:ext cx="1030039" cy="9399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7" idx="1"/>
          </p:cNvCxnSpPr>
          <p:nvPr/>
        </p:nvCxnSpPr>
        <p:spPr>
          <a:xfrm flipH="1" flipV="1">
            <a:off x="2483768" y="2852936"/>
            <a:ext cx="1606103" cy="15011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65100" y="5156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3200" y="5029200"/>
            <a:ext cx="40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TOSCA: “</a:t>
            </a:r>
            <a:r>
              <a:rPr lang="en-CA" b="1" dirty="0"/>
              <a:t>Topology</a:t>
            </a:r>
            <a:r>
              <a:rPr lang="en-CA" dirty="0"/>
              <a:t> </a:t>
            </a:r>
            <a:r>
              <a:rPr lang="en-CA" dirty="0">
                <a:solidFill>
                  <a:srgbClr val="BFBFBF"/>
                </a:solidFill>
              </a:rPr>
              <a:t>and </a:t>
            </a:r>
            <a:r>
              <a:rPr lang="en-CA" b="1" dirty="0">
                <a:solidFill>
                  <a:srgbClr val="BFBFBF"/>
                </a:solidFill>
              </a:rPr>
              <a:t>O</a:t>
            </a:r>
            <a:r>
              <a:rPr lang="en-CA" dirty="0">
                <a:solidFill>
                  <a:srgbClr val="BFBFBF"/>
                </a:solidFill>
              </a:rPr>
              <a:t>rchestration </a:t>
            </a:r>
            <a:r>
              <a:rPr lang="en-CA" b="1" dirty="0">
                <a:solidFill>
                  <a:srgbClr val="BFBFBF"/>
                </a:solidFill>
              </a:rPr>
              <a:t>S</a:t>
            </a:r>
            <a:r>
              <a:rPr lang="en-CA" dirty="0">
                <a:solidFill>
                  <a:srgbClr val="BFBFBF"/>
                </a:solidFill>
              </a:rPr>
              <a:t>pecification for </a:t>
            </a:r>
            <a:r>
              <a:rPr lang="en-CA" b="1" dirty="0">
                <a:solidFill>
                  <a:srgbClr val="BFBFBF"/>
                </a:solidFill>
              </a:rPr>
              <a:t>C</a:t>
            </a:r>
            <a:r>
              <a:rPr lang="en-CA" dirty="0">
                <a:solidFill>
                  <a:srgbClr val="BFBFBF"/>
                </a:solidFill>
              </a:rPr>
              <a:t>loud </a:t>
            </a:r>
            <a:r>
              <a:rPr lang="en-CA" b="1" dirty="0">
                <a:solidFill>
                  <a:srgbClr val="BFBFBF"/>
                </a:solidFill>
              </a:rPr>
              <a:t>A</a:t>
            </a:r>
            <a:r>
              <a:rPr lang="en-CA" dirty="0">
                <a:solidFill>
                  <a:srgbClr val="BFBFBF"/>
                </a:solidFill>
              </a:rPr>
              <a:t>pplications”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504" y="2060848"/>
            <a:ext cx="4320480" cy="295232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0000"/>
                </a:schemeClr>
              </a:gs>
              <a:gs pos="80000">
                <a:schemeClr val="accent1">
                  <a:shade val="93000"/>
                  <a:satMod val="130000"/>
                  <a:alpha val="10000"/>
                </a:schemeClr>
              </a:gs>
              <a:gs pos="100000">
                <a:schemeClr val="accent1">
                  <a:shade val="94000"/>
                  <a:satMod val="135000"/>
                  <a:alpha val="1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285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388424" cy="792088"/>
          </a:xfrm>
        </p:spPr>
        <p:txBody>
          <a:bodyPr/>
          <a:lstStyle/>
          <a:p>
            <a:r>
              <a:rPr lang="en-CA" dirty="0"/>
              <a:t>Where Does TOSCA fit into?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220" y="980728"/>
            <a:ext cx="784887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n-lt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Here’s What We’ve Seen there…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89871" y="1822761"/>
            <a:ext cx="5018633" cy="506262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BFBFBF"/>
                </a:solidFill>
              </a:rPr>
              <a:t>An application topology</a:t>
            </a:r>
          </a:p>
          <a:p>
            <a:r>
              <a:rPr lang="en-US" sz="2800" dirty="0">
                <a:solidFill>
                  <a:srgbClr val="BFBFBF"/>
                </a:solidFill>
              </a:rPr>
              <a:t>3 layers</a:t>
            </a:r>
          </a:p>
          <a:p>
            <a:pPr lvl="1"/>
            <a:r>
              <a:rPr lang="en-US" sz="1800" dirty="0">
                <a:solidFill>
                  <a:srgbClr val="BFBFBF"/>
                </a:solidFill>
              </a:rPr>
              <a:t>Infrastructure (Cloud or DC objects)</a:t>
            </a:r>
          </a:p>
          <a:p>
            <a:pPr lvl="1"/>
            <a:r>
              <a:rPr lang="en-US" sz="1800" dirty="0">
                <a:solidFill>
                  <a:srgbClr val="BFBFBF"/>
                </a:solidFill>
              </a:rPr>
              <a:t>Platform or Middleware (App containers)</a:t>
            </a:r>
          </a:p>
          <a:p>
            <a:pPr lvl="1"/>
            <a:r>
              <a:rPr lang="en-US" sz="1800" dirty="0">
                <a:solidFill>
                  <a:srgbClr val="BFBFBF"/>
                </a:solidFill>
              </a:rPr>
              <a:t>Application modules, schemas and configurations</a:t>
            </a:r>
          </a:p>
          <a:p>
            <a:r>
              <a:rPr lang="en-US" sz="2800" dirty="0">
                <a:solidFill>
                  <a:srgbClr val="BFBFBF"/>
                </a:solidFill>
              </a:rPr>
              <a:t>Relationships between components:</a:t>
            </a:r>
          </a:p>
          <a:p>
            <a:pPr lvl="1"/>
            <a:r>
              <a:rPr lang="en-US" sz="1800" dirty="0">
                <a:solidFill>
                  <a:srgbClr val="BFBFBF"/>
                </a:solidFill>
              </a:rPr>
              <a:t>What’s hosted on what or installed on what</a:t>
            </a:r>
          </a:p>
          <a:p>
            <a:pPr lvl="1"/>
            <a:r>
              <a:rPr lang="en-US" sz="1800" dirty="0">
                <a:solidFill>
                  <a:srgbClr val="BFBFBF"/>
                </a:solidFill>
              </a:rPr>
              <a:t>What’s connected to what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2924944"/>
            <a:ext cx="2979564" cy="1716114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7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Schema</a:t>
              </a:r>
            </a:p>
          </p:txBody>
        </p:sp>
        <p:cxnSp>
          <p:nvCxnSpPr>
            <p:cNvPr id="21" name="Straight Arrow Connector 20"/>
            <p:cNvCxnSpPr>
              <a:stCxn id="15" idx="0"/>
              <a:endCxn id="12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0"/>
              <a:endCxn id="12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7" idx="0"/>
              <a:endCxn id="13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0"/>
              <a:endCxn id="15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16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2" idx="0"/>
              <a:endCxn id="14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13" idx="0"/>
              <a:endCxn id="14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/>
          <p:cNvCxnSpPr/>
          <p:nvPr/>
        </p:nvCxnSpPr>
        <p:spPr>
          <a:xfrm flipH="1">
            <a:off x="3419872" y="2132856"/>
            <a:ext cx="792088" cy="576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14" idx="3"/>
          </p:cNvCxnSpPr>
          <p:nvPr/>
        </p:nvCxnSpPr>
        <p:spPr>
          <a:xfrm flipH="1">
            <a:off x="3303092" y="2636912"/>
            <a:ext cx="836860" cy="3990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275856" y="2636912"/>
            <a:ext cx="864096" cy="11911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3275856" y="2636912"/>
            <a:ext cx="864096" cy="183918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1"/>
          </p:cNvCxnSpPr>
          <p:nvPr/>
        </p:nvCxnSpPr>
        <p:spPr>
          <a:xfrm flipH="1" flipV="1">
            <a:off x="3059832" y="4260077"/>
            <a:ext cx="1030039" cy="9399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7" idx="1"/>
          </p:cNvCxnSpPr>
          <p:nvPr/>
        </p:nvCxnSpPr>
        <p:spPr>
          <a:xfrm flipH="1" flipV="1">
            <a:off x="2483768" y="2852936"/>
            <a:ext cx="1606103" cy="150113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65100" y="5156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3200" y="5029200"/>
            <a:ext cx="40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BFBFBF"/>
                </a:solidFill>
              </a:rPr>
              <a:t>TOSCA: “</a:t>
            </a:r>
            <a:r>
              <a:rPr lang="en-CA" b="1" dirty="0">
                <a:solidFill>
                  <a:srgbClr val="BFBFBF"/>
                </a:solidFill>
              </a:rPr>
              <a:t>T</a:t>
            </a:r>
            <a:r>
              <a:rPr lang="en-CA" dirty="0">
                <a:solidFill>
                  <a:srgbClr val="BFBFBF"/>
                </a:solidFill>
              </a:rPr>
              <a:t>opology and </a:t>
            </a:r>
            <a:r>
              <a:rPr lang="en-CA" b="1" dirty="0"/>
              <a:t>Orchestration</a:t>
            </a:r>
            <a:r>
              <a:rPr lang="en-CA" dirty="0"/>
              <a:t> </a:t>
            </a:r>
            <a:r>
              <a:rPr lang="en-CA" b="1" dirty="0">
                <a:solidFill>
                  <a:srgbClr val="BFBFBF"/>
                </a:solidFill>
              </a:rPr>
              <a:t>S</a:t>
            </a:r>
            <a:r>
              <a:rPr lang="en-CA" dirty="0">
                <a:solidFill>
                  <a:srgbClr val="BFBFBF"/>
                </a:solidFill>
              </a:rPr>
              <a:t>pecification for </a:t>
            </a:r>
            <a:r>
              <a:rPr lang="en-CA" b="1" dirty="0">
                <a:solidFill>
                  <a:srgbClr val="BFBFBF"/>
                </a:solidFill>
              </a:rPr>
              <a:t>C</a:t>
            </a:r>
            <a:r>
              <a:rPr lang="en-CA" dirty="0">
                <a:solidFill>
                  <a:srgbClr val="BFBFBF"/>
                </a:solidFill>
              </a:rPr>
              <a:t>loud </a:t>
            </a:r>
            <a:r>
              <a:rPr lang="en-CA" b="1" dirty="0">
                <a:solidFill>
                  <a:srgbClr val="BFBFBF"/>
                </a:solidFill>
              </a:rPr>
              <a:t>A</a:t>
            </a:r>
            <a:r>
              <a:rPr lang="en-CA" dirty="0">
                <a:solidFill>
                  <a:srgbClr val="BFBFBF"/>
                </a:solidFill>
              </a:rPr>
              <a:t>pplications”</a:t>
            </a:r>
          </a:p>
        </p:txBody>
      </p:sp>
    </p:spTree>
    <p:extLst>
      <p:ext uri="{BB962C8B-B14F-4D97-AF65-F5344CB8AC3E}">
        <p14:creationId xmlns:p14="http://schemas.microsoft.com/office/powerpoint/2010/main" val="1089159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388424" cy="792088"/>
          </a:xfrm>
        </p:spPr>
        <p:txBody>
          <a:bodyPr/>
          <a:lstStyle/>
          <a:p>
            <a:r>
              <a:rPr lang="en-CA" dirty="0"/>
              <a:t>Where Does TOSCA fit into?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220" y="980728"/>
            <a:ext cx="784887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n-lt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Here’s What We’ve Seen there…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2924944"/>
            <a:ext cx="2979564" cy="1716114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7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Schema</a:t>
              </a:r>
            </a:p>
          </p:txBody>
        </p:sp>
        <p:cxnSp>
          <p:nvCxnSpPr>
            <p:cNvPr id="21" name="Straight Arrow Connector 20"/>
            <p:cNvCxnSpPr>
              <a:stCxn id="15" idx="0"/>
              <a:endCxn id="12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0"/>
              <a:endCxn id="12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7" idx="0"/>
              <a:endCxn id="13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0"/>
              <a:endCxn id="15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16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2" idx="0"/>
              <a:endCxn id="14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13" idx="0"/>
              <a:endCxn id="14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165100" y="5156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3200" y="5029200"/>
            <a:ext cx="40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BFBFBF"/>
                </a:solidFill>
              </a:rPr>
              <a:t>TOSCA: “</a:t>
            </a:r>
            <a:r>
              <a:rPr lang="en-CA" b="1" dirty="0">
                <a:solidFill>
                  <a:srgbClr val="BFBFBF"/>
                </a:solidFill>
              </a:rPr>
              <a:t>T</a:t>
            </a:r>
            <a:r>
              <a:rPr lang="en-CA" dirty="0">
                <a:solidFill>
                  <a:srgbClr val="BFBFBF"/>
                </a:solidFill>
              </a:rPr>
              <a:t>opology and </a:t>
            </a:r>
            <a:r>
              <a:rPr lang="en-CA" b="1" dirty="0"/>
              <a:t>Orchestration</a:t>
            </a:r>
            <a:r>
              <a:rPr lang="en-CA" dirty="0"/>
              <a:t> </a:t>
            </a:r>
            <a:r>
              <a:rPr lang="en-CA" b="1" dirty="0">
                <a:solidFill>
                  <a:srgbClr val="BFBFBF"/>
                </a:solidFill>
              </a:rPr>
              <a:t>S</a:t>
            </a:r>
            <a:r>
              <a:rPr lang="en-CA" dirty="0">
                <a:solidFill>
                  <a:srgbClr val="BFBFBF"/>
                </a:solidFill>
              </a:rPr>
              <a:t>pecification for </a:t>
            </a:r>
            <a:r>
              <a:rPr lang="en-CA" b="1" dirty="0">
                <a:solidFill>
                  <a:srgbClr val="BFBFBF"/>
                </a:solidFill>
              </a:rPr>
              <a:t>C</a:t>
            </a:r>
            <a:r>
              <a:rPr lang="en-CA" dirty="0">
                <a:solidFill>
                  <a:srgbClr val="BFBFBF"/>
                </a:solidFill>
              </a:rPr>
              <a:t>loud </a:t>
            </a:r>
            <a:r>
              <a:rPr lang="en-CA" b="1" dirty="0">
                <a:solidFill>
                  <a:srgbClr val="BFBFBF"/>
                </a:solidFill>
              </a:rPr>
              <a:t>A</a:t>
            </a:r>
            <a:r>
              <a:rPr lang="en-CA" dirty="0">
                <a:solidFill>
                  <a:srgbClr val="BFBFBF"/>
                </a:solidFill>
              </a:rPr>
              <a:t>pplications”</a:t>
            </a:r>
          </a:p>
        </p:txBody>
      </p:sp>
      <p:graphicFrame>
        <p:nvGraphicFramePr>
          <p:cNvPr id="39" name="Diagram 38"/>
          <p:cNvGraphicFramePr/>
          <p:nvPr/>
        </p:nvGraphicFramePr>
        <p:xfrm>
          <a:off x="3876600" y="224532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4208" y="1484784"/>
            <a:ext cx="1793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Remember this?</a:t>
            </a:r>
          </a:p>
        </p:txBody>
      </p:sp>
      <p:cxnSp>
        <p:nvCxnSpPr>
          <p:cNvPr id="32" name="Straight Arrow Connector 31"/>
          <p:cNvCxnSpPr>
            <a:stCxn id="7" idx="2"/>
          </p:cNvCxnSpPr>
          <p:nvPr/>
        </p:nvCxnSpPr>
        <p:spPr>
          <a:xfrm flipH="1">
            <a:off x="7164288" y="1854116"/>
            <a:ext cx="176904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18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388424" cy="792088"/>
          </a:xfrm>
        </p:spPr>
        <p:txBody>
          <a:bodyPr/>
          <a:lstStyle/>
          <a:p>
            <a:r>
              <a:rPr lang="en-CA" dirty="0"/>
              <a:t>Where Does TOSCA fit into?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9220" y="980728"/>
            <a:ext cx="784887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n-lt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Here’s What We’ve Seen there…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2924944"/>
            <a:ext cx="2979564" cy="1716114"/>
            <a:chOff x="368300" y="2140689"/>
            <a:chExt cx="7294534" cy="3467936"/>
          </a:xfrm>
        </p:grpSpPr>
        <p:sp>
          <p:nvSpPr>
            <p:cNvPr id="9" name="TextBox 8"/>
            <p:cNvSpPr txBox="1"/>
            <p:nvPr/>
          </p:nvSpPr>
          <p:spPr>
            <a:xfrm>
              <a:off x="381001" y="2213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Infrastructure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300" y="3737616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Middleware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300" y="5172717"/>
              <a:ext cx="1701799" cy="37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Application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61044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40360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Host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84142" y="2147039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1044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Apache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0360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Tomcat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84142" y="37376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MySQL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61044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Mod_proxy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40360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WAR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84142" y="5172716"/>
              <a:ext cx="1178692" cy="4359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" dirty="0"/>
                <a:t>Schema</a:t>
              </a:r>
            </a:p>
          </p:txBody>
        </p:sp>
        <p:cxnSp>
          <p:nvCxnSpPr>
            <p:cNvPr id="21" name="Straight Arrow Connector 20"/>
            <p:cNvCxnSpPr>
              <a:stCxn id="15" idx="0"/>
              <a:endCxn id="12" idx="2"/>
            </p:cNvCxnSpPr>
            <p:nvPr/>
          </p:nvCxnSpPr>
          <p:spPr>
            <a:xfrm flipV="1">
              <a:off x="3150390" y="2582948"/>
              <a:ext cx="0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0"/>
              <a:endCxn id="12" idx="2"/>
            </p:cNvCxnSpPr>
            <p:nvPr/>
          </p:nvCxnSpPr>
          <p:spPr>
            <a:xfrm flipH="1" flipV="1">
              <a:off x="3150390" y="2582948"/>
              <a:ext cx="1879316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7" idx="0"/>
              <a:endCxn id="13" idx="2"/>
            </p:cNvCxnSpPr>
            <p:nvPr/>
          </p:nvCxnSpPr>
          <p:spPr>
            <a:xfrm flipH="1" flipV="1">
              <a:off x="5029706" y="2582948"/>
              <a:ext cx="2043782" cy="115466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0"/>
              <a:endCxn id="15" idx="2"/>
            </p:cNvCxnSpPr>
            <p:nvPr/>
          </p:nvCxnSpPr>
          <p:spPr>
            <a:xfrm flipV="1">
              <a:off x="3150390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052549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46078" y="4173525"/>
              <a:ext cx="0" cy="99919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16" idx="1"/>
            </p:cNvCxnSpPr>
            <p:nvPr/>
          </p:nvCxnSpPr>
          <p:spPr>
            <a:xfrm>
              <a:off x="3739736" y="3955571"/>
              <a:ext cx="70062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1"/>
            </p:cNvCxnSpPr>
            <p:nvPr/>
          </p:nvCxnSpPr>
          <p:spPr>
            <a:xfrm flipV="1">
              <a:off x="5619052" y="3955571"/>
              <a:ext cx="865090" cy="57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/>
            <p:cNvCxnSpPr>
              <a:stCxn id="12" idx="0"/>
              <a:endCxn id="14" idx="0"/>
            </p:cNvCxnSpPr>
            <p:nvPr/>
          </p:nvCxnSpPr>
          <p:spPr>
            <a:xfrm rot="5400000" flipH="1" flipV="1">
              <a:off x="5111939" y="185490"/>
              <a:ext cx="12700" cy="3923098"/>
            </a:xfrm>
            <a:prstGeom prst="curvedConnector3">
              <a:avLst>
                <a:gd name="adj1" fmla="val 3454622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13" idx="0"/>
              <a:endCxn id="14" idx="0"/>
            </p:cNvCxnSpPr>
            <p:nvPr/>
          </p:nvCxnSpPr>
          <p:spPr>
            <a:xfrm rot="5400000" flipH="1" flipV="1">
              <a:off x="6051597" y="1125148"/>
              <a:ext cx="12700" cy="204378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165100" y="5156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203200" y="5029200"/>
            <a:ext cx="400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BFBFBF"/>
                </a:solidFill>
              </a:rPr>
              <a:t>TOSCA: “</a:t>
            </a:r>
            <a:r>
              <a:rPr lang="en-CA" b="1" dirty="0">
                <a:solidFill>
                  <a:srgbClr val="BFBFBF"/>
                </a:solidFill>
              </a:rPr>
              <a:t>T</a:t>
            </a:r>
            <a:r>
              <a:rPr lang="en-CA" dirty="0">
                <a:solidFill>
                  <a:srgbClr val="BFBFBF"/>
                </a:solidFill>
              </a:rPr>
              <a:t>opology and </a:t>
            </a:r>
            <a:r>
              <a:rPr lang="en-CA" b="1" dirty="0"/>
              <a:t>Orchestration</a:t>
            </a:r>
            <a:r>
              <a:rPr lang="en-CA" dirty="0"/>
              <a:t> </a:t>
            </a:r>
            <a:r>
              <a:rPr lang="en-CA" b="1" dirty="0">
                <a:solidFill>
                  <a:srgbClr val="BFBFBF"/>
                </a:solidFill>
              </a:rPr>
              <a:t>S</a:t>
            </a:r>
            <a:r>
              <a:rPr lang="en-CA" dirty="0">
                <a:solidFill>
                  <a:srgbClr val="BFBFBF"/>
                </a:solidFill>
              </a:rPr>
              <a:t>pecification for </a:t>
            </a:r>
            <a:r>
              <a:rPr lang="en-CA" b="1" dirty="0">
                <a:solidFill>
                  <a:srgbClr val="BFBFBF"/>
                </a:solidFill>
              </a:rPr>
              <a:t>C</a:t>
            </a:r>
            <a:r>
              <a:rPr lang="en-CA" dirty="0">
                <a:solidFill>
                  <a:srgbClr val="BFBFBF"/>
                </a:solidFill>
              </a:rPr>
              <a:t>loud </a:t>
            </a:r>
            <a:r>
              <a:rPr lang="en-CA" b="1" dirty="0">
                <a:solidFill>
                  <a:srgbClr val="BFBFBF"/>
                </a:solidFill>
              </a:rPr>
              <a:t>A</a:t>
            </a:r>
            <a:r>
              <a:rPr lang="en-CA" dirty="0">
                <a:solidFill>
                  <a:srgbClr val="BFBFBF"/>
                </a:solidFill>
              </a:rPr>
              <a:t>pplications”</a:t>
            </a:r>
          </a:p>
        </p:txBody>
      </p:sp>
      <p:graphicFrame>
        <p:nvGraphicFramePr>
          <p:cNvPr id="39" name="Diagram 38"/>
          <p:cNvGraphicFramePr/>
          <p:nvPr/>
        </p:nvGraphicFramePr>
        <p:xfrm>
          <a:off x="3876600" y="224532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" name="Rectangle 34"/>
          <p:cNvSpPr/>
          <p:nvPr/>
        </p:nvSpPr>
        <p:spPr>
          <a:xfrm>
            <a:off x="4572000" y="2636912"/>
            <a:ext cx="1728192" cy="3888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Rectangle 40"/>
          <p:cNvSpPr/>
          <p:nvPr/>
        </p:nvSpPr>
        <p:spPr>
          <a:xfrm>
            <a:off x="5436096" y="4581128"/>
            <a:ext cx="1728192" cy="1872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Rectangle 41"/>
          <p:cNvSpPr/>
          <p:nvPr/>
        </p:nvSpPr>
        <p:spPr>
          <a:xfrm>
            <a:off x="4644008" y="3212976"/>
            <a:ext cx="1728192" cy="1872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/>
          <p:cNvSpPr/>
          <p:nvPr/>
        </p:nvSpPr>
        <p:spPr>
          <a:xfrm>
            <a:off x="6156176" y="2060848"/>
            <a:ext cx="2987824" cy="43204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21000"/>
                </a:schemeClr>
              </a:gs>
              <a:gs pos="80000">
                <a:schemeClr val="accent1">
                  <a:shade val="93000"/>
                  <a:satMod val="130000"/>
                  <a:alpha val="21000"/>
                </a:schemeClr>
              </a:gs>
              <a:gs pos="100000">
                <a:schemeClr val="accent1">
                  <a:shade val="94000"/>
                  <a:satMod val="135000"/>
                  <a:alpha val="2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TextBox 42"/>
          <p:cNvSpPr txBox="1"/>
          <p:nvPr/>
        </p:nvSpPr>
        <p:spPr>
          <a:xfrm>
            <a:off x="3635896" y="3501008"/>
            <a:ext cx="2364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Orchestration!</a:t>
            </a:r>
          </a:p>
        </p:txBody>
      </p:sp>
      <p:sp>
        <p:nvSpPr>
          <p:cNvPr id="44" name="Curved Right Arrow 43"/>
          <p:cNvSpPr/>
          <p:nvPr/>
        </p:nvSpPr>
        <p:spPr>
          <a:xfrm rot="14004248">
            <a:off x="3680221" y="3961926"/>
            <a:ext cx="576064" cy="1117688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5" name="Curved Right Arrow 44"/>
          <p:cNvSpPr/>
          <p:nvPr/>
        </p:nvSpPr>
        <p:spPr>
          <a:xfrm rot="14004248" flipH="1">
            <a:off x="5101550" y="2468806"/>
            <a:ext cx="685702" cy="1125925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0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a TOSCA Topology?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2674" y="1196752"/>
            <a:ext cx="4374125" cy="5219072"/>
          </a:xfrm>
        </p:spPr>
        <p:txBody>
          <a:bodyPr>
            <a:noAutofit/>
          </a:bodyPr>
          <a:lstStyle/>
          <a:p>
            <a:r>
              <a:rPr lang="en-US" sz="2400" dirty="0"/>
              <a:t>component in the topology are called </a:t>
            </a:r>
            <a:r>
              <a:rPr lang="en-US" sz="2400" dirty="0">
                <a:solidFill>
                  <a:srgbClr val="0000FF"/>
                </a:solidFill>
              </a:rPr>
              <a:t>Nodes</a:t>
            </a:r>
          </a:p>
          <a:p>
            <a:r>
              <a:rPr lang="en-US" sz="2400" dirty="0"/>
              <a:t>Each Node has a </a:t>
            </a:r>
            <a:r>
              <a:rPr lang="en-US" sz="2400" dirty="0">
                <a:solidFill>
                  <a:srgbClr val="0000FF"/>
                </a:solidFill>
              </a:rPr>
              <a:t>Type</a:t>
            </a:r>
            <a:r>
              <a:rPr lang="en-US" sz="2400" dirty="0"/>
              <a:t> (e.g. Host, BD, Web server). </a:t>
            </a:r>
          </a:p>
          <a:p>
            <a:pPr lvl="1"/>
            <a:r>
              <a:rPr lang="en-US" sz="1800" dirty="0"/>
              <a:t>The Type is abstract and hence portable</a:t>
            </a:r>
          </a:p>
          <a:p>
            <a:pPr lvl="1"/>
            <a:r>
              <a:rPr lang="en-US" sz="1800" dirty="0"/>
              <a:t>The Type defines </a:t>
            </a:r>
            <a:r>
              <a:rPr lang="en-US" sz="2000" dirty="0">
                <a:solidFill>
                  <a:srgbClr val="0000FF"/>
                </a:solidFill>
              </a:rPr>
              <a:t>Properties</a:t>
            </a:r>
            <a:r>
              <a:rPr lang="en-US" sz="1800" dirty="0"/>
              <a:t> and </a:t>
            </a:r>
            <a:r>
              <a:rPr lang="en-US" sz="2000" dirty="0">
                <a:solidFill>
                  <a:srgbClr val="0000FF"/>
                </a:solidFill>
              </a:rPr>
              <a:t>Interfaces</a:t>
            </a:r>
          </a:p>
          <a:p>
            <a:r>
              <a:rPr lang="en-US" sz="2400" dirty="0"/>
              <a:t>An</a:t>
            </a:r>
            <a:r>
              <a:rPr lang="en-US" sz="2000" dirty="0">
                <a:solidFill>
                  <a:srgbClr val="0000FF"/>
                </a:solidFill>
              </a:rPr>
              <a:t> Interface </a:t>
            </a:r>
            <a:r>
              <a:rPr lang="en-US" sz="2400" dirty="0"/>
              <a:t>is a set of hooks (named </a:t>
            </a:r>
            <a:r>
              <a:rPr lang="en-US" sz="2000" dirty="0">
                <a:solidFill>
                  <a:srgbClr val="0000FF"/>
                </a:solidFill>
              </a:rPr>
              <a:t>Operations</a:t>
            </a:r>
            <a:r>
              <a:rPr lang="en-US" sz="2400" dirty="0"/>
              <a:t>)</a:t>
            </a:r>
          </a:p>
          <a:p>
            <a:r>
              <a:rPr lang="en-US" sz="2400" dirty="0"/>
              <a:t>Nodes are connected to one another using </a:t>
            </a:r>
            <a:r>
              <a:rPr lang="en-US" sz="2400" dirty="0">
                <a:solidFill>
                  <a:srgbClr val="0000FF"/>
                </a:solidFill>
              </a:rPr>
              <a:t>Relationships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809"/>
          <a:stretch/>
        </p:blipFill>
        <p:spPr>
          <a:xfrm>
            <a:off x="98370" y="1628800"/>
            <a:ext cx="425760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32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TOSCA, </a:t>
            </a:r>
            <a:r>
              <a:rPr lang="en-CA" dirty="0" err="1"/>
              <a:t>IasC</a:t>
            </a:r>
            <a:r>
              <a:rPr lang="en-CA" dirty="0"/>
              <a:t>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28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809"/>
          <a:stretch/>
        </p:blipFill>
        <p:spPr>
          <a:xfrm>
            <a:off x="1866900" y="1498724"/>
            <a:ext cx="5410200" cy="46665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568" y="1052736"/>
            <a:ext cx="2787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TOSCA Service Template [7]</a:t>
            </a:r>
          </a:p>
        </p:txBody>
      </p:sp>
    </p:spTree>
    <p:extLst>
      <p:ext uri="{BB962C8B-B14F-4D97-AF65-F5344CB8AC3E}">
        <p14:creationId xmlns:p14="http://schemas.microsoft.com/office/powerpoint/2010/main" val="4003996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TOSCA Core Ingredients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3A2C5DB-42A7-480B-B57D-B0AA071F25FA}" type="slidenum">
              <a:rPr lang="en-GB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809"/>
          <a:stretch/>
        </p:blipFill>
        <p:spPr>
          <a:xfrm>
            <a:off x="1866900" y="1498724"/>
            <a:ext cx="5410200" cy="46665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568" y="1052736"/>
            <a:ext cx="3382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TOSCA Service Template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6016" y="1772816"/>
            <a:ext cx="2880320" cy="151216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51000"/>
                  <a:satMod val="130000"/>
                  <a:alpha val="0"/>
                </a:schemeClr>
              </a:gs>
              <a:gs pos="80000">
                <a:schemeClr val="accent2">
                  <a:shade val="93000"/>
                  <a:satMod val="130000"/>
                  <a:alpha val="0"/>
                </a:schemeClr>
              </a:gs>
              <a:gs pos="100000">
                <a:schemeClr val="accent2">
                  <a:shade val="94000"/>
                  <a:satMod val="135000"/>
                  <a:alpha val="0"/>
                </a:schemeClr>
              </a:gs>
            </a:gsLst>
            <a:lin ang="16200000" scaled="0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2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Type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a Cloud or Software type (e.g. Server or Apache)</a:t>
            </a:r>
          </a:p>
          <a:p>
            <a:r>
              <a:rPr lang="en-US" dirty="0"/>
              <a:t>Maps the type to the actual </a:t>
            </a:r>
            <a:r>
              <a:rPr lang="en-US" dirty="0" err="1"/>
              <a:t>impl</a:t>
            </a:r>
            <a:r>
              <a:rPr lang="en-US" dirty="0"/>
              <a:t>. of the lifecycle interface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4254500"/>
            <a:ext cx="7670800" cy="248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24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Type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properties as YAML maps</a:t>
            </a:r>
          </a:p>
          <a:p>
            <a:r>
              <a:rPr lang="en-US" dirty="0"/>
              <a:t>Might define capabilities (What it can provide to other nodes)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3771900"/>
            <a:ext cx="8115300" cy="30861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9235" y="5834770"/>
            <a:ext cx="4668551" cy="1023230"/>
          </a:xfrm>
          <a:prstGeom prst="round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68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Type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Might define requirements (what it needs from other nodes)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16" y="3037744"/>
            <a:ext cx="6921500" cy="37694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5352" y="5834770"/>
            <a:ext cx="2883514" cy="617799"/>
          </a:xfrm>
          <a:prstGeom prst="round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03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TOSCA Core Ingredients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3A2C5DB-42A7-480B-B57D-B0AA071F25FA}" type="slidenum">
              <a:rPr lang="en-GB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809"/>
          <a:stretch/>
        </p:blipFill>
        <p:spPr>
          <a:xfrm>
            <a:off x="1866900" y="1498724"/>
            <a:ext cx="5410200" cy="46665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3568" y="1052736"/>
            <a:ext cx="3382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TOSCA Service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16016" y="3140968"/>
            <a:ext cx="2880320" cy="151216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51000"/>
                  <a:satMod val="130000"/>
                  <a:alpha val="0"/>
                </a:schemeClr>
              </a:gs>
              <a:gs pos="80000">
                <a:schemeClr val="accent2">
                  <a:shade val="93000"/>
                  <a:satMod val="130000"/>
                  <a:alpha val="0"/>
                </a:schemeClr>
              </a:gs>
              <a:gs pos="100000">
                <a:schemeClr val="accent2">
                  <a:shade val="94000"/>
                  <a:satMod val="135000"/>
                  <a:alpha val="0"/>
                </a:schemeClr>
              </a:gs>
            </a:gsLst>
            <a:lin ang="16200000" scaled="0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82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16632"/>
            <a:ext cx="6192688" cy="792088"/>
          </a:xfrm>
        </p:spPr>
        <p:txBody>
          <a:bodyPr/>
          <a:lstStyle/>
          <a:p>
            <a:r>
              <a:rPr lang="en-US" dirty="0"/>
              <a:t>Relationship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916832"/>
            <a:ext cx="8712968" cy="4464496"/>
          </a:xfrm>
        </p:spPr>
        <p:txBody>
          <a:bodyPr/>
          <a:lstStyle/>
          <a:p>
            <a:r>
              <a:rPr lang="en-US" dirty="0"/>
              <a:t>Requirements and Capabilities are an implicit way to describe relationships</a:t>
            </a:r>
          </a:p>
          <a:p>
            <a:r>
              <a:rPr lang="en-US" dirty="0"/>
              <a:t>Usually you need the explicit way</a:t>
            </a:r>
          </a:p>
          <a:p>
            <a:pPr lvl="1"/>
            <a:r>
              <a:rPr lang="en-US" dirty="0"/>
              <a:t>You need hooks to configure the source or target node or both</a:t>
            </a:r>
          </a:p>
          <a:p>
            <a:r>
              <a:rPr lang="en-US" dirty="0"/>
              <a:t>So relationships have types and interfaces as well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37" y="125440"/>
            <a:ext cx="1433765" cy="143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46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basic relationship types are:</a:t>
            </a:r>
          </a:p>
          <a:p>
            <a:pPr lvl="1"/>
            <a:r>
              <a:rPr lang="en-US" b="1" dirty="0" err="1"/>
              <a:t>dependsOn</a:t>
            </a:r>
            <a:r>
              <a:rPr lang="en-US" dirty="0"/>
              <a:t> – abstract type and its sub types:</a:t>
            </a:r>
          </a:p>
          <a:p>
            <a:pPr lvl="1"/>
            <a:r>
              <a:rPr lang="en-US" b="1" dirty="0" err="1"/>
              <a:t>hostedOn</a:t>
            </a:r>
            <a:r>
              <a:rPr lang="en-US" dirty="0"/>
              <a:t> – a node is contained within another</a:t>
            </a:r>
          </a:p>
          <a:p>
            <a:pPr lvl="1"/>
            <a:r>
              <a:rPr lang="en-US" b="1" dirty="0" err="1"/>
              <a:t>connectsTo</a:t>
            </a:r>
            <a:r>
              <a:rPr lang="en-US" dirty="0"/>
              <a:t> – a  node has a connection configured to another</a:t>
            </a:r>
          </a:p>
          <a:p>
            <a:r>
              <a:rPr lang="en-US" dirty="0"/>
              <a:t>The basic interface is configure</a:t>
            </a:r>
          </a:p>
          <a:p>
            <a:pPr lvl="1"/>
            <a:r>
              <a:rPr lang="en-US" b="1" dirty="0" err="1"/>
              <a:t>preconfigure_source</a:t>
            </a:r>
            <a:r>
              <a:rPr lang="en-US" dirty="0"/>
              <a:t>, </a:t>
            </a:r>
            <a:r>
              <a:rPr lang="en-US" b="1" dirty="0" err="1"/>
              <a:t>preconfigure_target</a:t>
            </a:r>
            <a:endParaRPr lang="en-US" b="1" dirty="0"/>
          </a:p>
          <a:p>
            <a:pPr lvl="1"/>
            <a:r>
              <a:rPr lang="en-US" b="1" dirty="0" err="1"/>
              <a:t>postconfigure_source</a:t>
            </a:r>
            <a:r>
              <a:rPr lang="en-US" dirty="0"/>
              <a:t>, </a:t>
            </a:r>
            <a:r>
              <a:rPr lang="en-US" b="1" dirty="0" err="1"/>
              <a:t>postconfigure_target</a:t>
            </a:r>
            <a:endParaRPr lang="en-US" b="1" dirty="0"/>
          </a:p>
          <a:p>
            <a:pPr lvl="1"/>
            <a:r>
              <a:rPr lang="en-US" b="1" dirty="0" err="1"/>
              <a:t>add_target</a:t>
            </a:r>
            <a:r>
              <a:rPr lang="en-US" dirty="0"/>
              <a:t>, </a:t>
            </a:r>
            <a:r>
              <a:rPr lang="en-US" b="1" dirty="0" err="1"/>
              <a:t>remove_target</a:t>
            </a: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326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instance of a type (like Object to Class)</a:t>
            </a:r>
          </a:p>
          <a:p>
            <a:r>
              <a:rPr lang="en-US" dirty="0"/>
              <a:t>Has specific properties</a:t>
            </a:r>
          </a:p>
          <a:p>
            <a:r>
              <a:rPr lang="en-US" dirty="0"/>
              <a:t>Has artifacts:</a:t>
            </a:r>
          </a:p>
          <a:p>
            <a:pPr lvl="1"/>
            <a:r>
              <a:rPr lang="en-US" dirty="0"/>
              <a:t>What to install</a:t>
            </a:r>
          </a:p>
          <a:p>
            <a:pPr lvl="1"/>
            <a:r>
              <a:rPr lang="en-US" dirty="0"/>
              <a:t>How to install (mapped to interface hooks)</a:t>
            </a:r>
          </a:p>
          <a:p>
            <a:r>
              <a:rPr lang="en-US" dirty="0"/>
              <a:t>Has requirements and capabilities (or relationships)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81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Template (Examples)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524000"/>
            <a:ext cx="7848600" cy="260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394200"/>
            <a:ext cx="80137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38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Translated to TOSCA</a:t>
            </a:r>
          </a:p>
        </p:txBody>
      </p:sp>
      <p:pic>
        <p:nvPicPr>
          <p:cNvPr id="2" name="Picture 1" descr="RunningApps-eventsOpe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264830"/>
            <a:ext cx="8140700" cy="5522585"/>
          </a:xfrm>
          <a:prstGeom prst="rect">
            <a:avLst/>
          </a:prstGeom>
        </p:spPr>
      </p:pic>
      <p:sp>
        <p:nvSpPr>
          <p:cNvPr id="5" name="Line Callout 2 4"/>
          <p:cNvSpPr/>
          <p:nvPr/>
        </p:nvSpPr>
        <p:spPr>
          <a:xfrm>
            <a:off x="2915210" y="1782076"/>
            <a:ext cx="1268880" cy="455399"/>
          </a:xfrm>
          <a:prstGeom prst="borderCallout2">
            <a:avLst>
              <a:gd name="adj1" fmla="val 47865"/>
              <a:gd name="adj2" fmla="val -1537"/>
              <a:gd name="adj3" fmla="val 114308"/>
              <a:gd name="adj4" fmla="val -28759"/>
              <a:gd name="adj5" fmla="val 183526"/>
              <a:gd name="adj6" fmla="val -2872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</a:p>
        </p:txBody>
      </p:sp>
      <p:sp>
        <p:nvSpPr>
          <p:cNvPr id="6" name="Line Callout 2 5"/>
          <p:cNvSpPr/>
          <p:nvPr/>
        </p:nvSpPr>
        <p:spPr>
          <a:xfrm>
            <a:off x="2280770" y="4309376"/>
            <a:ext cx="1268880" cy="455399"/>
          </a:xfrm>
          <a:prstGeom prst="borderCallout2">
            <a:avLst>
              <a:gd name="adj1" fmla="val -5121"/>
              <a:gd name="adj2" fmla="val 51510"/>
              <a:gd name="adj3" fmla="val -69750"/>
              <a:gd name="adj4" fmla="val 22286"/>
              <a:gd name="adj5" fmla="val -167858"/>
              <a:gd name="adj6" fmla="val 2431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</a:p>
        </p:txBody>
      </p:sp>
      <p:sp>
        <p:nvSpPr>
          <p:cNvPr id="7" name="Line Callout 2 6"/>
          <p:cNvSpPr/>
          <p:nvPr/>
        </p:nvSpPr>
        <p:spPr>
          <a:xfrm>
            <a:off x="5531970" y="2493276"/>
            <a:ext cx="1268880" cy="455399"/>
          </a:xfrm>
          <a:prstGeom prst="borderCallout2">
            <a:avLst>
              <a:gd name="adj1" fmla="val 53443"/>
              <a:gd name="adj2" fmla="val 465"/>
              <a:gd name="adj3" fmla="val 52956"/>
              <a:gd name="adj4" fmla="val -26757"/>
              <a:gd name="adj5" fmla="val 152850"/>
              <a:gd name="adj6" fmla="val -627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</a:p>
        </p:txBody>
      </p:sp>
      <p:sp>
        <p:nvSpPr>
          <p:cNvPr id="8" name="Line Callout 2 7"/>
          <p:cNvSpPr/>
          <p:nvPr/>
        </p:nvSpPr>
        <p:spPr>
          <a:xfrm>
            <a:off x="5328770" y="5058676"/>
            <a:ext cx="2215030" cy="605524"/>
          </a:xfrm>
          <a:prstGeom prst="borderCallout2">
            <a:avLst>
              <a:gd name="adj1" fmla="val -5121"/>
              <a:gd name="adj2" fmla="val 51510"/>
              <a:gd name="adj3" fmla="val -81573"/>
              <a:gd name="adj4" fmla="val 28805"/>
              <a:gd name="adj5" fmla="val -173965"/>
              <a:gd name="adj6" fmla="val 2398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“</a:t>
            </a:r>
            <a:r>
              <a:rPr lang="en-US" sz="1600" dirty="0" err="1"/>
              <a:t>Connects_to</a:t>
            </a:r>
            <a:r>
              <a:rPr lang="en-US" sz="1600" dirty="0"/>
              <a:t>” relationship</a:t>
            </a:r>
          </a:p>
        </p:txBody>
      </p:sp>
      <p:sp>
        <p:nvSpPr>
          <p:cNvPr id="9" name="Line Callout 2 8"/>
          <p:cNvSpPr/>
          <p:nvPr/>
        </p:nvSpPr>
        <p:spPr>
          <a:xfrm>
            <a:off x="6700370" y="3560076"/>
            <a:ext cx="2215030" cy="605524"/>
          </a:xfrm>
          <a:prstGeom prst="borderCallout2">
            <a:avLst>
              <a:gd name="adj1" fmla="val 49410"/>
              <a:gd name="adj2" fmla="val -1812"/>
              <a:gd name="adj3" fmla="val 37976"/>
              <a:gd name="adj4" fmla="val -22224"/>
              <a:gd name="adj5" fmla="val -31345"/>
              <a:gd name="adj6" fmla="val -2990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“</a:t>
            </a:r>
            <a:r>
              <a:rPr lang="en-US" sz="1600" dirty="0" err="1"/>
              <a:t>Hosted_on</a:t>
            </a:r>
            <a:r>
              <a:rPr lang="en-US" sz="1600" dirty="0"/>
              <a:t>”</a:t>
            </a:r>
          </a:p>
          <a:p>
            <a:pPr algn="ctr"/>
            <a:r>
              <a:rPr lang="en-US" sz="1600" dirty="0"/>
              <a:t>relationship</a:t>
            </a:r>
          </a:p>
        </p:txBody>
      </p:sp>
    </p:spTree>
    <p:extLst>
      <p:ext uri="{BB962C8B-B14F-4D97-AF65-F5344CB8AC3E}">
        <p14:creationId xmlns:p14="http://schemas.microsoft.com/office/powerpoint/2010/main" val="1444748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CAB4-38F0-292A-837C-2C02F2B48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CE21F-51CB-CF4E-817E-225D996B8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62121" cy="69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31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33BC-AD63-8456-C707-3576FD79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5D120-D137-68C8-6FC6-2EA02A4B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38"/>
            <a:ext cx="9206038" cy="59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69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2E293-0851-048C-2D30-76033B6C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ABF68-4504-7EAE-83CA-7E608839D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967" y="0"/>
            <a:ext cx="9500190" cy="712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15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Imperative flow algorithm</a:t>
            </a:r>
          </a:p>
          <a:p>
            <a:r>
              <a:rPr lang="en-US" dirty="0"/>
              <a:t>Using a workflow engine</a:t>
            </a:r>
          </a:p>
          <a:p>
            <a:r>
              <a:rPr lang="en-US" dirty="0"/>
              <a:t>Timing the invocation of operations on different node</a:t>
            </a:r>
          </a:p>
          <a:p>
            <a:r>
              <a:rPr lang="en-US" b="1" dirty="0"/>
              <a:t>Examples?</a:t>
            </a:r>
            <a:r>
              <a:rPr lang="en-US" dirty="0"/>
              <a:t> Any BPMN specification!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But</a:t>
            </a:r>
            <a:r>
              <a:rPr lang="mr-IN" i="1" dirty="0"/>
              <a:t>…</a:t>
            </a:r>
            <a:r>
              <a:rPr lang="it-IT" i="1" dirty="0"/>
              <a:t> </a:t>
            </a:r>
            <a:r>
              <a:rPr lang="en-US" i="1" dirty="0"/>
              <a:t>Considered out of scope for the standard (but currently debated, two factions formed in the TOSCA TC)</a:t>
            </a:r>
          </a:p>
        </p:txBody>
      </p:sp>
    </p:spTree>
    <p:extLst>
      <p:ext uri="{BB962C8B-B14F-4D97-AF65-F5344CB8AC3E}">
        <p14:creationId xmlns:p14="http://schemas.microsoft.com/office/powerpoint/2010/main" val="4183425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Brings monitoring to the orchestration as input</a:t>
            </a:r>
          </a:p>
          <a:p>
            <a:r>
              <a:rPr lang="en-US" dirty="0"/>
              <a:t>Ongoing evaluation of Rules</a:t>
            </a:r>
          </a:p>
          <a:p>
            <a:r>
              <a:rPr lang="en-US" dirty="0"/>
              <a:t>Enforce SLA, Health, and anything else</a:t>
            </a:r>
          </a:p>
          <a:p>
            <a:r>
              <a:rPr lang="en-US" dirty="0"/>
              <a:t>Can invoke more processes</a:t>
            </a:r>
          </a:p>
          <a:p>
            <a:r>
              <a:rPr lang="en-US" b="1" dirty="0"/>
              <a:t>Standard Structure:</a:t>
            </a:r>
            <a:r>
              <a:rPr lang="en-US" dirty="0"/>
              <a:t> &lt;Event&gt;&lt;Condition&gt;&lt;Action&gt;</a:t>
            </a:r>
          </a:p>
          <a:p>
            <a:r>
              <a:rPr lang="en-US" b="1" dirty="0"/>
              <a:t>Standard Types:</a:t>
            </a:r>
          </a:p>
          <a:p>
            <a:pPr lvl="1"/>
            <a:r>
              <a:rPr lang="en-US" dirty="0"/>
              <a:t>Access-Control;</a:t>
            </a:r>
          </a:p>
          <a:p>
            <a:pPr lvl="1"/>
            <a:r>
              <a:rPr lang="en-US" dirty="0"/>
              <a:t>Placement;</a:t>
            </a:r>
          </a:p>
          <a:p>
            <a:pPr lvl="1"/>
            <a:r>
              <a:rPr lang="en-US" dirty="0" err="1"/>
              <a:t>QoS</a:t>
            </a:r>
            <a:r>
              <a:rPr lang="en-US" dirty="0"/>
              <a:t> (Quality) or (Continuity) </a:t>
            </a:r>
            <a:r>
              <a:rPr lang="en-US" dirty="0" err="1"/>
              <a:t>CoS</a:t>
            </a:r>
            <a:r>
              <a:rPr lang="en-US" dirty="0"/>
              <a:t>;</a:t>
            </a:r>
          </a:p>
          <a:p>
            <a:r>
              <a:rPr lang="en-US" b="1" dirty="0"/>
              <a:t>Example?</a:t>
            </a:r>
          </a:p>
        </p:txBody>
      </p:sp>
    </p:spTree>
    <p:extLst>
      <p:ext uri="{BB962C8B-B14F-4D97-AF65-F5344CB8AC3E}">
        <p14:creationId xmlns:p14="http://schemas.microsoft.com/office/powerpoint/2010/main" val="2363484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1920" y="553972"/>
            <a:ext cx="31324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Event Type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1921" y="923304"/>
            <a:ext cx="2902392" cy="9002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/>
                <a:cs typeface="Consolas"/>
              </a:rPr>
              <a:t>&lt;</a:t>
            </a:r>
            <a:r>
              <a:rPr lang="en-US" sz="1050" u="sng" dirty="0">
                <a:latin typeface="Consolas"/>
                <a:cs typeface="Consolas"/>
                <a:hlinkClick r:id="rId3" action="ppaction://hlinkfile"/>
              </a:rPr>
              <a:t>event_type_name</a:t>
            </a:r>
            <a:r>
              <a:rPr lang="en-US" sz="1050" dirty="0">
                <a:latin typeface="Consolas"/>
                <a:cs typeface="Consolas"/>
              </a:rPr>
              <a:t>&gt;:</a:t>
            </a:r>
          </a:p>
          <a:p>
            <a:r>
              <a:rPr lang="en-US" sz="1050" dirty="0">
                <a:latin typeface="Consolas"/>
                <a:cs typeface="Consolas"/>
              </a:rPr>
              <a:t>  derived_from: &lt;</a:t>
            </a:r>
            <a:r>
              <a:rPr lang="en-US" sz="1050" u="sng" dirty="0" err="1">
                <a:solidFill>
                  <a:srgbClr val="0000FF"/>
                </a:solidFill>
                <a:latin typeface="Consolas"/>
                <a:cs typeface="Consolas"/>
              </a:rPr>
              <a:t>parent_event_type</a:t>
            </a:r>
            <a:r>
              <a:rPr lang="en-US" sz="1050" dirty="0">
                <a:latin typeface="Consolas"/>
                <a:cs typeface="Consolas"/>
              </a:rPr>
              <a:t>&gt;</a:t>
            </a:r>
          </a:p>
          <a:p>
            <a:r>
              <a:rPr lang="en-US" sz="1050" dirty="0">
                <a:latin typeface="Consolas"/>
                <a:cs typeface="Consolas"/>
              </a:rPr>
              <a:t>  version: &lt;</a:t>
            </a:r>
            <a:r>
              <a:rPr lang="en-US" sz="1050" u="sng" dirty="0">
                <a:latin typeface="Consolas"/>
                <a:cs typeface="Consolas"/>
                <a:hlinkClick r:id="rId4" action="ppaction://hlinkfile"/>
              </a:rPr>
              <a:t>version_number</a:t>
            </a:r>
            <a:r>
              <a:rPr lang="en-US" sz="1050" dirty="0">
                <a:latin typeface="Consolas"/>
                <a:cs typeface="Consolas"/>
              </a:rPr>
              <a:t>&gt;</a:t>
            </a:r>
          </a:p>
          <a:p>
            <a:r>
              <a:rPr lang="en-US" sz="1050" dirty="0">
                <a:latin typeface="Consolas"/>
                <a:cs typeface="Consolas"/>
              </a:rPr>
              <a:t>  description: &lt;</a:t>
            </a:r>
            <a:r>
              <a:rPr lang="en-US" sz="1050" u="sng" dirty="0">
                <a:latin typeface="Consolas"/>
                <a:cs typeface="Consolas"/>
                <a:hlinkClick r:id="rId5" action="ppaction://hlinkfile"/>
              </a:rPr>
              <a:t>policy_description</a:t>
            </a:r>
            <a:r>
              <a:rPr lang="en-US" sz="1050" dirty="0">
                <a:latin typeface="Consolas"/>
                <a:cs typeface="Consolas"/>
              </a:rPr>
              <a:t>&gt;</a:t>
            </a:r>
          </a:p>
          <a:p>
            <a:r>
              <a:rPr lang="en-US" sz="1050" dirty="0">
                <a:latin typeface="Consolas"/>
                <a:cs typeface="Consolas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3459" y="372518"/>
            <a:ext cx="31324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Policy 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459" y="796892"/>
            <a:ext cx="4572008" cy="57477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/>
                <a:cs typeface="Consolas"/>
              </a:rPr>
              <a:t>&lt;</a:t>
            </a:r>
            <a:r>
              <a:rPr lang="en-US" sz="1050" u="sng" dirty="0">
                <a:latin typeface="Consolas"/>
                <a:cs typeface="Consolas"/>
                <a:hlinkClick r:id="rId3" action="ppaction://hlinkfile"/>
              </a:rPr>
              <a:t>policy_name</a:t>
            </a:r>
            <a:r>
              <a:rPr lang="en-US" sz="1050" dirty="0">
                <a:latin typeface="Consolas"/>
                <a:cs typeface="Consolas"/>
              </a:rPr>
              <a:t>&gt;:</a:t>
            </a:r>
          </a:p>
          <a:p>
            <a:r>
              <a:rPr lang="en-US" sz="1050" dirty="0">
                <a:latin typeface="Consolas"/>
                <a:cs typeface="Consolas"/>
              </a:rPr>
              <a:t>  type: &lt;</a:t>
            </a:r>
            <a:r>
              <a:rPr lang="en-US" sz="1050" u="sng" dirty="0">
                <a:latin typeface="Consolas"/>
                <a:cs typeface="Consolas"/>
                <a:hlinkClick r:id="rId3" action="ppaction://hlinkfile"/>
              </a:rPr>
              <a:t>policy_type_name</a:t>
            </a:r>
            <a:r>
              <a:rPr lang="en-US" sz="1050" dirty="0">
                <a:latin typeface="Consolas"/>
                <a:cs typeface="Consolas"/>
              </a:rPr>
              <a:t>&gt;</a:t>
            </a:r>
          </a:p>
          <a:p>
            <a:r>
              <a:rPr lang="en-US" sz="1050" dirty="0">
                <a:latin typeface="Consolas"/>
                <a:cs typeface="Consolas"/>
              </a:rPr>
              <a:t>  description: &lt;</a:t>
            </a:r>
            <a:r>
              <a:rPr lang="en-US" sz="1050" u="sng" dirty="0">
                <a:latin typeface="Consolas"/>
                <a:cs typeface="Consolas"/>
                <a:hlinkClick r:id="rId5" action="ppaction://hlinkfile"/>
              </a:rPr>
              <a:t>policy_description</a:t>
            </a:r>
            <a:r>
              <a:rPr lang="en-US" sz="1050" dirty="0">
                <a:latin typeface="Consolas"/>
                <a:cs typeface="Consolas"/>
              </a:rPr>
              <a:t>&gt;</a:t>
            </a:r>
          </a:p>
          <a:p>
            <a:r>
              <a:rPr lang="en-US" sz="1050" dirty="0">
                <a:latin typeface="Consolas"/>
                <a:cs typeface="Consolas"/>
              </a:rPr>
              <a:t>  properties:      &lt;</a:t>
            </a:r>
            <a:r>
              <a:rPr lang="en-US" sz="1050" u="sng" dirty="0">
                <a:latin typeface="Consolas"/>
                <a:cs typeface="Consolas"/>
                <a:hlinkClick r:id="rId6" action="ppaction://hlinkfile"/>
              </a:rPr>
              <a:t>property_definitions</a:t>
            </a:r>
            <a:r>
              <a:rPr lang="en-US" sz="1050" dirty="0">
                <a:latin typeface="Consolas"/>
                <a:cs typeface="Consolas"/>
              </a:rPr>
              <a:t>&gt; </a:t>
            </a:r>
          </a:p>
          <a:p>
            <a:r>
              <a:rPr lang="en-US" sz="1050" dirty="0">
                <a:latin typeface="Consolas"/>
                <a:cs typeface="Consolas"/>
              </a:rPr>
              <a:t>  </a:t>
            </a:r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# allowed targets for policy association</a:t>
            </a:r>
          </a:p>
          <a:p>
            <a:r>
              <a:rPr lang="en-US" sz="1050" dirty="0">
                <a:latin typeface="Consolas"/>
                <a:cs typeface="Consolas"/>
              </a:rPr>
              <a:t>  targets: [ &lt;</a:t>
            </a:r>
            <a:r>
              <a:rPr lang="en-US" sz="1050" dirty="0" err="1">
                <a:latin typeface="Consolas"/>
                <a:cs typeface="Consolas"/>
              </a:rPr>
              <a:t>list_of_valid_target_templates</a:t>
            </a:r>
            <a:r>
              <a:rPr lang="en-US" sz="1050" dirty="0">
                <a:latin typeface="Consolas"/>
                <a:cs typeface="Consolas"/>
              </a:rPr>
              <a:t>&gt; ]  </a:t>
            </a:r>
            <a:r>
              <a:rPr lang="en-US" sz="1050" dirty="0">
                <a:solidFill>
                  <a:srgbClr val="FF6600"/>
                </a:solidFill>
                <a:latin typeface="Consolas"/>
                <a:cs typeface="Consolas"/>
              </a:rPr>
              <a:t>*    </a:t>
            </a:r>
          </a:p>
          <a:p>
            <a:r>
              <a:rPr lang="en-US" sz="1050" dirty="0">
                <a:solidFill>
                  <a:srgbClr val="FF6600"/>
                </a:solidFill>
                <a:latin typeface="Consolas"/>
                <a:cs typeface="Consolas"/>
              </a:rPr>
              <a:t>  </a:t>
            </a:r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triggers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&lt;trigger_symbolic_name_1&gt;: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event: 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event_type_name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</a:p>
          <a:p>
            <a:r>
              <a:rPr lang="en-US" sz="1050" dirty="0">
                <a:solidFill>
                  <a:srgbClr val="660066"/>
                </a:solidFill>
                <a:latin typeface="Consolas"/>
                <a:cs typeface="Consolas"/>
              </a:rPr>
              <a:t>        # TODO: Allow a TOSCA node filter here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</a:t>
            </a:r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# required node (resource) to monitor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</a:t>
            </a:r>
            <a:r>
              <a:rPr lang="en-US" sz="1050" b="1" dirty="0">
                <a:solidFill>
                  <a:schemeClr val="accent4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1050" b="1" dirty="0" err="1">
                <a:solidFill>
                  <a:schemeClr val="accent4">
                    <a:lumMod val="75000"/>
                  </a:schemeClr>
                </a:solidFill>
                <a:latin typeface="Consolas"/>
                <a:cs typeface="Consolas"/>
              </a:rPr>
              <a:t>target_filter</a:t>
            </a:r>
            <a:r>
              <a:rPr lang="en-US" sz="1050" b="1" dirty="0">
                <a:solidFill>
                  <a:schemeClr val="accent4">
                    <a:lumMod val="75000"/>
                  </a:schemeClr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node: 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node_template_name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 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node_type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  <a:endParaRPr lang="en-US" sz="1050" dirty="0">
              <a:solidFill>
                <a:srgbClr val="660066"/>
              </a:solidFill>
              <a:latin typeface="Consolas"/>
              <a:cs typeface="Consolas"/>
            </a:endParaRP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  # Used to reference another node related to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  # the node above via a relationship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requirement: 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requirement_name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</a:t>
            </a:r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# optional capability within node to monitor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capability: 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capability_name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</a:t>
            </a:r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# required clause that compares an attribute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# with the identified node or capability 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# for some condition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condition: 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constraint_clause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 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action: 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  # </a:t>
            </a:r>
            <a:r>
              <a:rPr lang="en-US" sz="1050" dirty="0">
                <a:solidFill>
                  <a:srgbClr val="660066"/>
                </a:solidFill>
                <a:latin typeface="Consolas"/>
                <a:cs typeface="Consolas"/>
              </a:rPr>
              <a:t>a) Define new TOSCA normative strategies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  # </a:t>
            </a:r>
            <a:r>
              <a:rPr lang="en-US" sz="1050" dirty="0">
                <a:solidFill>
                  <a:srgbClr val="660066"/>
                </a:solidFill>
                <a:latin typeface="Consolas"/>
                <a:cs typeface="Consolas"/>
              </a:rPr>
              <a:t>per-policy type and use here OR</a:t>
            </a: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         # b) allow domain-specific names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&lt;</a:t>
            </a:r>
            <a:r>
              <a:rPr lang="en-US" sz="1050" b="1" dirty="0" err="1">
                <a:solidFill>
                  <a:srgbClr val="FF0000"/>
                </a:solidFill>
                <a:latin typeface="Consolas"/>
                <a:cs typeface="Consolas"/>
              </a:rPr>
              <a:t>operation_name</a:t>
            </a:r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&gt;: # (no lifecycle)</a:t>
            </a:r>
          </a:p>
          <a:p>
            <a:r>
              <a:rPr lang="en-US" sz="1050" dirty="0">
                <a:solidFill>
                  <a:srgbClr val="660066"/>
                </a:solidFill>
                <a:latin typeface="Consolas"/>
                <a:cs typeface="Consolas"/>
              </a:rPr>
              <a:t>             # TBD: Do we care about validation of types?</a:t>
            </a:r>
          </a:p>
          <a:p>
            <a:r>
              <a:rPr lang="en-US" sz="1050" dirty="0">
                <a:solidFill>
                  <a:srgbClr val="660066"/>
                </a:solidFill>
                <a:latin typeface="Consolas"/>
                <a:cs typeface="Consolas"/>
              </a:rPr>
              <a:t>             # If so, we should use a TOSCA Lifecycle type </a:t>
            </a:r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 description: &lt;optional description&gt;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 inputs: &lt;</a:t>
            </a:r>
            <a:r>
              <a:rPr lang="en-US" sz="1050" dirty="0"/>
              <a:t>list of </a:t>
            </a:r>
            <a:r>
              <a:rPr lang="en-US" sz="1050" u="sng" dirty="0">
                <a:hlinkClick r:id="rId7" action="ppaction://hlinkfile"/>
              </a:rPr>
              <a:t>property assignments</a:t>
            </a:r>
            <a:r>
              <a:rPr lang="en-US" sz="1050" dirty="0"/>
              <a:t> &gt;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 implementation: &lt;script&gt; | &lt;</a:t>
            </a:r>
            <a:r>
              <a:rPr lang="en-US" sz="1050" b="1" dirty="0" err="1">
                <a:solidFill>
                  <a:srgbClr val="FF0000"/>
                </a:solidFill>
                <a:latin typeface="Consolas"/>
                <a:cs typeface="Consolas"/>
              </a:rPr>
              <a:t>service_name</a:t>
            </a:r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  <a:endParaRPr lang="en-US" sz="1050" dirty="0"/>
          </a:p>
          <a:p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    &lt;trigger_symbolic_name_2&gt;:</a:t>
            </a:r>
          </a:p>
          <a:p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    ...</a:t>
            </a:r>
          </a:p>
          <a:p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    &lt;</a:t>
            </a:r>
            <a:r>
              <a:rPr lang="en-US" sz="1050" dirty="0" err="1">
                <a:solidFill>
                  <a:srgbClr val="FF0000"/>
                </a:solidFill>
                <a:latin typeface="Consolas"/>
                <a:cs typeface="Consolas"/>
              </a:rPr>
              <a:t>trigger_symbolic_name_n</a:t>
            </a:r>
            <a:r>
              <a:rPr lang="en-US" sz="1050" dirty="0">
                <a:solidFill>
                  <a:srgbClr val="FF0000"/>
                </a:solidFill>
                <a:latin typeface="Consolas"/>
                <a:cs typeface="Consolas"/>
              </a:rPr>
              <a:t>&gt;: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3073391" y="1876571"/>
            <a:ext cx="1253063" cy="532597"/>
          </a:xfrm>
          <a:prstGeom prst="borderCallout1">
            <a:avLst>
              <a:gd name="adj1" fmla="val 49492"/>
              <a:gd name="adj2" fmla="val 104697"/>
              <a:gd name="adj3" fmla="val 115481"/>
              <a:gd name="adj4" fmla="val 157767"/>
            </a:avLst>
          </a:prstGeom>
          <a:ln>
            <a:tailEnd type="oval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Event</a:t>
            </a:r>
          </a:p>
          <a:p>
            <a:pPr algn="ctr"/>
            <a:r>
              <a:rPr lang="en-US" sz="1000" dirty="0"/>
              <a:t>name of a normative</a:t>
            </a:r>
          </a:p>
          <a:p>
            <a:pPr algn="ctr"/>
            <a:r>
              <a:rPr lang="en-US" sz="1000" dirty="0"/>
              <a:t>TOSCA Event Type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3073391" y="2573867"/>
            <a:ext cx="1253063" cy="1337733"/>
          </a:xfrm>
          <a:prstGeom prst="borderCallout1">
            <a:avLst>
              <a:gd name="adj1" fmla="val 49492"/>
              <a:gd name="adj2" fmla="val 104697"/>
              <a:gd name="adj3" fmla="val 151739"/>
              <a:gd name="adj4" fmla="val 158553"/>
            </a:avLst>
          </a:prstGeom>
          <a:ln>
            <a:tailEnd type="oval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Condition</a:t>
            </a:r>
          </a:p>
          <a:p>
            <a:pPr algn="ctr"/>
            <a:r>
              <a:rPr lang="en-US" sz="1100" dirty="0"/>
              <a:t>described as a constraint of an attribute of the node (or capability) identified by the filter.</a:t>
            </a:r>
            <a:endParaRPr lang="en-US" sz="1100" b="1" dirty="0"/>
          </a:p>
        </p:txBody>
      </p:sp>
      <p:sp>
        <p:nvSpPr>
          <p:cNvPr id="17" name="Line Callout 1 16"/>
          <p:cNvSpPr/>
          <p:nvPr/>
        </p:nvSpPr>
        <p:spPr>
          <a:xfrm>
            <a:off x="2853258" y="4055533"/>
            <a:ext cx="1532464" cy="2108200"/>
          </a:xfrm>
          <a:prstGeom prst="borderCallout1">
            <a:avLst>
              <a:gd name="adj1" fmla="val 49492"/>
              <a:gd name="adj2" fmla="val 104697"/>
              <a:gd name="adj3" fmla="val 80962"/>
              <a:gd name="adj4" fmla="val 159721"/>
            </a:avLst>
          </a:prstGeom>
          <a:ln>
            <a:tailEnd type="oval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Action</a:t>
            </a:r>
          </a:p>
          <a:p>
            <a:pPr marL="169863" indent="-111125"/>
            <a:r>
              <a:rPr lang="en-US" sz="1100" dirty="0"/>
              <a:t>Describes either: </a:t>
            </a:r>
          </a:p>
          <a:p>
            <a:pPr marL="169863" indent="-111125">
              <a:buAutoNum type="alphaLcParenR"/>
            </a:pPr>
            <a:r>
              <a:rPr lang="en-US" sz="1100" dirty="0"/>
              <a:t>a well-known strategy</a:t>
            </a:r>
          </a:p>
          <a:p>
            <a:pPr marL="169863" indent="-111125">
              <a:buAutoNum type="alphaLcParenR"/>
            </a:pPr>
            <a:r>
              <a:rPr lang="en-US" sz="1100" dirty="0"/>
              <a:t>an implementation artifact (e.g., scripts, service) to invoke</a:t>
            </a:r>
          </a:p>
          <a:p>
            <a:pPr marL="169863" indent="-111125"/>
            <a:endParaRPr lang="en-US" sz="1100" i="1" dirty="0"/>
          </a:p>
          <a:p>
            <a:pPr marL="169863" indent="-111125"/>
            <a:r>
              <a:rPr lang="en-US" sz="1100" i="1" dirty="0"/>
              <a:t>with optional property definitions as </a:t>
            </a:r>
            <a:r>
              <a:rPr lang="en-US" sz="1100" b="1" i="1" dirty="0"/>
              <a:t>inputs</a:t>
            </a:r>
            <a:r>
              <a:rPr lang="en-US" sz="1100" i="1" dirty="0"/>
              <a:t> (to either choice)</a:t>
            </a:r>
          </a:p>
          <a:p>
            <a:pPr marL="169863" indent="-111125">
              <a:buAutoNum type="alphaLcParenR"/>
            </a:pP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21921" y="70571"/>
            <a:ext cx="851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TOSCA Policy Example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– Entities that compose Policy (Event, Condition, Action) model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975820"/>
      </p:ext>
    </p:extLst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19043" y="1483637"/>
            <a:ext cx="31324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TOSCA Policy 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3710" y="1852969"/>
            <a:ext cx="4590223" cy="42934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my_scaling_policy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type: </a:t>
            </a:r>
            <a:r>
              <a:rPr 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tosca.policies.scaling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  <a:cs typeface="Consolas"/>
            </a:endParaRPr>
          </a:p>
          <a:p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properties:  # normative TOSCA properties for scaling</a:t>
            </a:r>
          </a:p>
          <a:p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</a:t>
            </a:r>
            <a:r>
              <a:rPr lang="en-US" sz="1050" dirty="0">
                <a:latin typeface="Consolas"/>
                <a:cs typeface="Consolas"/>
              </a:rPr>
              <a:t> </a:t>
            </a:r>
            <a:r>
              <a:rPr lang="en-US" sz="1050" dirty="0" err="1">
                <a:latin typeface="Consolas"/>
                <a:cs typeface="Consolas"/>
              </a:rPr>
              <a:t>min_instances</a:t>
            </a:r>
            <a:r>
              <a:rPr lang="en-US" sz="1050" dirty="0">
                <a:latin typeface="Consolas"/>
                <a:cs typeface="Consolas"/>
              </a:rPr>
              <a:t>: 1</a:t>
            </a:r>
          </a:p>
          <a:p>
            <a:r>
              <a:rPr lang="en-US" sz="1050" dirty="0">
                <a:latin typeface="Consolas"/>
                <a:cs typeface="Consolas"/>
              </a:rPr>
              <a:t>    </a:t>
            </a:r>
            <a:r>
              <a:rPr lang="en-US" sz="1050" dirty="0" err="1">
                <a:latin typeface="Consolas"/>
                <a:cs typeface="Consolas"/>
              </a:rPr>
              <a:t>max_instances</a:t>
            </a:r>
            <a:r>
              <a:rPr lang="en-US" sz="1050" dirty="0">
                <a:latin typeface="Consolas"/>
                <a:cs typeface="Consolas"/>
              </a:rPr>
              <a:t>: 10</a:t>
            </a:r>
          </a:p>
          <a:p>
            <a:r>
              <a:rPr lang="en-US" sz="1050" dirty="0">
                <a:latin typeface="Consolas"/>
                <a:cs typeface="Consolas"/>
              </a:rPr>
              <a:t>    </a:t>
            </a:r>
            <a:r>
              <a:rPr lang="en-US" sz="1050" dirty="0" err="1">
                <a:latin typeface="Consolas"/>
                <a:cs typeface="Consolas"/>
              </a:rPr>
              <a:t>default_instances</a:t>
            </a:r>
            <a:r>
              <a:rPr lang="en-US" sz="1050" dirty="0">
                <a:latin typeface="Consolas"/>
                <a:cs typeface="Consolas"/>
              </a:rPr>
              <a:t>: 3</a:t>
            </a:r>
          </a:p>
          <a:p>
            <a:r>
              <a:rPr lang="en-US" sz="1050" dirty="0">
                <a:latin typeface="Consolas"/>
                <a:cs typeface="Consolas"/>
              </a:rPr>
              <a:t>    increment: 1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  <a:cs typeface="Consolas"/>
            </a:endParaRPr>
          </a:p>
          <a:p>
            <a:r>
              <a:rPr lang="en-US" sz="10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cs typeface="Consolas"/>
              </a:rPr>
              <a:t># target the policy at the “Pod”</a:t>
            </a:r>
          </a:p>
          <a:p>
            <a:pPr lvl="0"/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targets: [</a:t>
            </a:r>
            <a:r>
              <a:rPr lang="en-US" sz="1050" b="1" i="1" noProof="1">
                <a:solidFill>
                  <a:schemeClr val="accent6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redis-master-pod</a:t>
            </a:r>
            <a:r>
              <a:rPr lang="en-US" sz="1050" i="1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] </a:t>
            </a:r>
          </a:p>
          <a:p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triggers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</a:t>
            </a:r>
            <a:r>
              <a:rPr lang="en-US" sz="1050" i="1" dirty="0" err="1">
                <a:solidFill>
                  <a:srgbClr val="FF0000"/>
                </a:solidFill>
                <a:latin typeface="Consolas"/>
                <a:cs typeface="Consolas"/>
              </a:rPr>
              <a:t>resize_compute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  </a:t>
            </a:r>
            <a:r>
              <a:rPr lang="en-US" sz="1050" i="1" dirty="0">
                <a:solidFill>
                  <a:srgbClr val="7F7F7F"/>
                </a:solidFill>
                <a:latin typeface="Consolas"/>
                <a:cs typeface="Consolas"/>
              </a:rPr>
              <a:t># symbolic name</a:t>
            </a: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    event: </a:t>
            </a:r>
            <a:r>
              <a:rPr lang="en-US" sz="1050" i="1" dirty="0" err="1">
                <a:solidFill>
                  <a:srgbClr val="FF0000"/>
                </a:solidFill>
                <a:latin typeface="Consolas"/>
                <a:cs typeface="Consolas"/>
              </a:rPr>
              <a:t>tosca.events.resource.utilization</a:t>
            </a:r>
            <a:endParaRPr lang="en-US" sz="1050" i="1" dirty="0">
              <a:solidFill>
                <a:srgbClr val="FF0000"/>
              </a:solidFill>
              <a:latin typeface="Consolas"/>
              <a:cs typeface="Consolas"/>
            </a:endParaRP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    </a:t>
            </a:r>
            <a:r>
              <a:rPr lang="en-US" sz="10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target_</a:t>
            </a:r>
            <a:r>
              <a:rPr lang="en-US" sz="1050" b="1" dirty="0" err="1">
                <a:solidFill>
                  <a:srgbClr val="604A7B"/>
                </a:solidFill>
                <a:latin typeface="Consolas"/>
                <a:cs typeface="Consolas"/>
              </a:rPr>
              <a:t>filter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</a:t>
            </a: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      </a:t>
            </a:r>
            <a:r>
              <a:rPr lang="en-US" sz="1050" b="1" dirty="0">
                <a:solidFill>
                  <a:schemeClr val="accent4">
                    <a:lumMod val="75000"/>
                  </a:schemeClr>
                </a:solidFill>
                <a:latin typeface="Consolas"/>
                <a:cs typeface="Consolas"/>
              </a:rPr>
              <a:t>node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 </a:t>
            </a:r>
            <a:r>
              <a:rPr lang="en-US" sz="1050" b="1" i="1" noProof="1">
                <a:solidFill>
                  <a:srgbClr val="E46C0A"/>
                </a:solidFill>
                <a:ea typeface="Calibri"/>
                <a:cs typeface="Calibri"/>
                <a:sym typeface="Calibri"/>
              </a:rPr>
              <a:t>master-container</a:t>
            </a: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      </a:t>
            </a:r>
            <a:r>
              <a:rPr lang="en-US" sz="1050" b="1" dirty="0">
                <a:solidFill>
                  <a:srgbClr val="604A7B"/>
                </a:solidFill>
                <a:latin typeface="Consolas"/>
                <a:cs typeface="Consolas"/>
              </a:rPr>
              <a:t>requirement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 </a:t>
            </a:r>
            <a:r>
              <a:rPr lang="en-US" sz="1050" b="1" dirty="0">
                <a:solidFill>
                  <a:srgbClr val="E46C0A"/>
                </a:solidFill>
              </a:rPr>
              <a:t>host </a:t>
            </a:r>
            <a:endParaRPr lang="en-US" sz="1050" b="1" dirty="0">
              <a:solidFill>
                <a:srgbClr val="E46C0A"/>
              </a:solidFill>
              <a:latin typeface="Consolas"/>
              <a:cs typeface="Consolas"/>
            </a:endParaRP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      </a:t>
            </a:r>
            <a:r>
              <a:rPr lang="en-US" sz="1050" b="1" dirty="0">
                <a:solidFill>
                  <a:srgbClr val="604A7B"/>
                </a:solidFill>
                <a:latin typeface="Consolas"/>
                <a:cs typeface="Consolas"/>
              </a:rPr>
              <a:t>capability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 </a:t>
            </a:r>
            <a:r>
              <a:rPr lang="en-US" sz="1050" b="1" dirty="0">
                <a:solidFill>
                  <a:srgbClr val="E46C0A"/>
                </a:solidFill>
                <a:latin typeface="Consolas"/>
                <a:cs typeface="Consolas"/>
              </a:rPr>
              <a:t>Container</a:t>
            </a: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       </a:t>
            </a:r>
            <a:r>
              <a:rPr lang="en-US" sz="1050" b="1" dirty="0">
                <a:solidFill>
                  <a:srgbClr val="604A7B"/>
                </a:solidFill>
                <a:latin typeface="Consolas"/>
                <a:cs typeface="Consolas"/>
              </a:rPr>
              <a:t>condition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 </a:t>
            </a: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utilization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greater_than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1050" b="1" dirty="0">
                <a:solidFill>
                  <a:srgbClr val="660066"/>
                </a:solidFill>
                <a:latin typeface="Consolas"/>
                <a:cs typeface="Consolas"/>
              </a:rPr>
              <a:t>80%                      </a:t>
            </a:r>
          </a:p>
          <a:p>
            <a:r>
              <a:rPr lang="en-US" sz="1050" b="1" dirty="0">
                <a:solidFill>
                  <a:srgbClr val="660066"/>
                </a:solidFill>
                <a:latin typeface="Consolas"/>
                <a:cs typeface="Consolas"/>
              </a:rPr>
              <a:t>        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action: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</a:t>
            </a:r>
            <a:r>
              <a:rPr lang="en-US" sz="1050" b="1" i="1" dirty="0">
                <a:solidFill>
                  <a:srgbClr val="7F7F7F"/>
                </a:solidFill>
                <a:latin typeface="Consolas"/>
                <a:cs typeface="Consolas"/>
              </a:rPr>
              <a:t># map to </a:t>
            </a:r>
            <a:r>
              <a:rPr lang="en-US" sz="1050" i="1" dirty="0">
                <a:solidFill>
                  <a:srgbClr val="7F7F7F"/>
                </a:solidFill>
              </a:rPr>
              <a:t>SENLIN::ACTION::RESIZE</a:t>
            </a:r>
            <a:endParaRPr lang="en-US" sz="1050" b="1" i="1" dirty="0">
              <a:solidFill>
                <a:srgbClr val="7F7F7F"/>
              </a:solidFill>
              <a:latin typeface="Consolas"/>
              <a:cs typeface="Consolas"/>
            </a:endParaRP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</a:t>
            </a:r>
            <a:r>
              <a:rPr lang="en-US" sz="1050" b="1" dirty="0" err="1">
                <a:solidFill>
                  <a:srgbClr val="FF0000"/>
                </a:solidFill>
                <a:latin typeface="Consolas"/>
                <a:cs typeface="Consolas"/>
              </a:rPr>
              <a:t>scaleup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:</a:t>
            </a:r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 </a:t>
            </a:r>
            <a:r>
              <a:rPr lang="en-US" sz="1050" i="1" dirty="0">
                <a:solidFill>
                  <a:srgbClr val="7F7F7F"/>
                </a:solidFill>
                <a:latin typeface="Consolas"/>
                <a:cs typeface="Consolas"/>
              </a:rPr>
              <a:t># logical operation name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inputs:  </a:t>
            </a:r>
            <a:r>
              <a:rPr lang="en-US" sz="1050" i="1" dirty="0">
                <a:solidFill>
                  <a:srgbClr val="7F7F7F"/>
                </a:solidFill>
                <a:latin typeface="Consolas"/>
                <a:cs typeface="Consolas"/>
              </a:rPr>
              <a:t># optional inputs parameters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  number: 1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  strategy: BEST_EFFORT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Implementation: &lt;script&gt; | &lt;</a:t>
            </a:r>
            <a:r>
              <a:rPr lang="en-US" sz="1050" b="1" dirty="0" err="1">
                <a:solidFill>
                  <a:srgbClr val="FF0000"/>
                </a:solidFill>
                <a:latin typeface="Consolas"/>
                <a:cs typeface="Consolas"/>
              </a:rPr>
              <a:t>service_name</a:t>
            </a:r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</a:p>
          <a:p>
            <a:r>
              <a:rPr lang="en-US" sz="1050" b="1" dirty="0">
                <a:solidFill>
                  <a:srgbClr val="FF0000"/>
                </a:solidFill>
                <a:latin typeface="Consolas"/>
                <a:cs typeface="Consolas"/>
              </a:rPr>
              <a:t>              </a:t>
            </a:r>
          </a:p>
          <a:p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  <a:cs typeface="Consolas"/>
              </a:rPr>
              <a:t>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233" y="95970"/>
            <a:ext cx="851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 Senlin “</a:t>
            </a:r>
            <a:r>
              <a:rPr lang="en-US" dirty="0">
                <a:hlinkClick r:id="rId3"/>
              </a:rPr>
              <a:t>scaling_out_policy_ceilometer.yaml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”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Line Callout 1 18"/>
          <p:cNvSpPr/>
          <p:nvPr/>
        </p:nvSpPr>
        <p:spPr>
          <a:xfrm>
            <a:off x="4888852" y="1105289"/>
            <a:ext cx="1990963" cy="696729"/>
          </a:xfrm>
          <a:prstGeom prst="borderCallout1">
            <a:avLst>
              <a:gd name="adj1" fmla="val 79497"/>
              <a:gd name="adj2" fmla="val -3265"/>
              <a:gd name="adj3" fmla="val 307130"/>
              <a:gd name="adj4" fmla="val -43497"/>
            </a:avLst>
          </a:prstGeom>
          <a:ln>
            <a:tailEnd type="oval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Target is a </a:t>
            </a:r>
          </a:p>
          <a:p>
            <a:pPr algn="ctr"/>
            <a:r>
              <a:rPr lang="en-US" sz="1200" b="1" dirty="0"/>
              <a:t>Kubernetes Pod </a:t>
            </a:r>
            <a:r>
              <a:rPr lang="en-US" sz="1100" dirty="0"/>
              <a:t>of the</a:t>
            </a:r>
          </a:p>
          <a:p>
            <a:pPr algn="ctr"/>
            <a:r>
              <a:rPr lang="en-US" sz="1100" dirty="0" err="1"/>
              <a:t>tosca.groups.placement</a:t>
            </a:r>
            <a:r>
              <a:rPr lang="en-US" sz="1100" dirty="0"/>
              <a:t> type</a:t>
            </a:r>
          </a:p>
        </p:txBody>
      </p:sp>
      <p:sp>
        <p:nvSpPr>
          <p:cNvPr id="20" name="Line Callout 1 19"/>
          <p:cNvSpPr/>
          <p:nvPr/>
        </p:nvSpPr>
        <p:spPr>
          <a:xfrm>
            <a:off x="7289790" y="4912452"/>
            <a:ext cx="1464743" cy="716893"/>
          </a:xfrm>
          <a:prstGeom prst="borderCallout1">
            <a:avLst>
              <a:gd name="adj1" fmla="val 43133"/>
              <a:gd name="adj2" fmla="val -12871"/>
              <a:gd name="adj3" fmla="val -45159"/>
              <a:gd name="adj4" fmla="val -120627"/>
            </a:avLst>
          </a:prstGeom>
          <a:ln>
            <a:tailEnd type="oval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TODO:</a:t>
            </a:r>
          </a:p>
          <a:p>
            <a:pPr algn="ctr"/>
            <a:r>
              <a:rPr lang="en-US" sz="1200" b="1" dirty="0"/>
              <a:t>Need a % data type</a:t>
            </a:r>
          </a:p>
          <a:p>
            <a:pPr algn="ctr"/>
            <a:r>
              <a:rPr lang="en-US" sz="1200" b="1" dirty="0"/>
              <a:t>for TOSCA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348386" y="611200"/>
            <a:ext cx="3802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noProof="1">
                <a:solidFill>
                  <a:schemeClr val="accent6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using the Kubernetes “redis” example</a:t>
            </a:r>
            <a:endParaRPr lang="en-US" dirty="0"/>
          </a:p>
        </p:txBody>
      </p:sp>
      <p:sp>
        <p:nvSpPr>
          <p:cNvPr id="23" name="Line Callout 1 22"/>
          <p:cNvSpPr/>
          <p:nvPr/>
        </p:nvSpPr>
        <p:spPr>
          <a:xfrm>
            <a:off x="6185808" y="1877138"/>
            <a:ext cx="1990963" cy="823729"/>
          </a:xfrm>
          <a:prstGeom prst="borderCallout1">
            <a:avLst>
              <a:gd name="adj1" fmla="val 76425"/>
              <a:gd name="adj2" fmla="val -6241"/>
              <a:gd name="adj3" fmla="val 210692"/>
              <a:gd name="adj4" fmla="val -63696"/>
            </a:avLst>
          </a:prstGeom>
          <a:ln>
            <a:tailEnd type="oval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TOSCA normative event type (name) </a:t>
            </a:r>
            <a:r>
              <a:rPr lang="en-US" sz="1100" dirty="0"/>
              <a:t>that would map to</a:t>
            </a:r>
          </a:p>
          <a:p>
            <a:pPr algn="ctr"/>
            <a:r>
              <a:rPr lang="en-US" sz="1100" dirty="0"/>
              <a:t>domain-specific names (e.g., OpenStack Ceilometer)</a:t>
            </a:r>
            <a:endParaRPr lang="en-US" sz="1050" dirty="0"/>
          </a:p>
        </p:txBody>
      </p:sp>
      <p:sp>
        <p:nvSpPr>
          <p:cNvPr id="25" name="Line Callout 1 24"/>
          <p:cNvSpPr/>
          <p:nvPr/>
        </p:nvSpPr>
        <p:spPr>
          <a:xfrm>
            <a:off x="138400" y="1728550"/>
            <a:ext cx="1574810" cy="1751984"/>
          </a:xfrm>
          <a:prstGeom prst="borderCallout1">
            <a:avLst>
              <a:gd name="adj1" fmla="val 79454"/>
              <a:gd name="adj2" fmla="val 104078"/>
              <a:gd name="adj3" fmla="val 97497"/>
              <a:gd name="adj4" fmla="val 122186"/>
            </a:avLst>
          </a:prstGeom>
          <a:ln>
            <a:tailEnd type="oval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Symbolic name </a:t>
            </a:r>
          </a:p>
          <a:p>
            <a:pPr algn="ctr"/>
            <a:r>
              <a:rPr lang="en-US" sz="1200" b="1" dirty="0"/>
              <a:t>for the trigger</a:t>
            </a:r>
          </a:p>
          <a:p>
            <a:pPr algn="ctr"/>
            <a:r>
              <a:rPr lang="en-US" sz="1200" i="1" dirty="0"/>
              <a:t>(could be used to reference an externalized version; however, this would violate a </a:t>
            </a:r>
          </a:p>
          <a:p>
            <a:pPr algn="ctr"/>
            <a:r>
              <a:rPr lang="en-US" sz="1200" i="1" dirty="0"/>
              <a:t>Policy’s integrity as a</a:t>
            </a:r>
          </a:p>
          <a:p>
            <a:pPr algn="ctr"/>
            <a:r>
              <a:rPr lang="en-US" sz="1200" i="1" dirty="0"/>
              <a:t>“Security document”</a:t>
            </a:r>
            <a:endParaRPr lang="en-US" sz="1100" i="1" dirty="0"/>
          </a:p>
        </p:txBody>
      </p:sp>
      <p:sp>
        <p:nvSpPr>
          <p:cNvPr id="26" name="Line Callout 1 25"/>
          <p:cNvSpPr/>
          <p:nvPr/>
        </p:nvSpPr>
        <p:spPr>
          <a:xfrm>
            <a:off x="6102370" y="3096335"/>
            <a:ext cx="2870200" cy="1262765"/>
          </a:xfrm>
          <a:prstGeom prst="borderCallout1">
            <a:avLst>
              <a:gd name="adj1" fmla="val 62150"/>
              <a:gd name="adj2" fmla="val -2091"/>
              <a:gd name="adj3" fmla="val 89055"/>
              <a:gd name="adj4" fmla="val -69236"/>
            </a:avLst>
          </a:prstGeom>
          <a:ln>
            <a:tailEnd type="oval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Find the attribute via the topology: </a:t>
            </a:r>
          </a:p>
          <a:p>
            <a:pPr marL="287338" indent="-168275">
              <a:buAutoNum type="alphaLcParenR"/>
            </a:pPr>
            <a:r>
              <a:rPr lang="en-US" sz="1100" dirty="0"/>
              <a:t>Navigate to node (directly or via the requirement name) and optionally the Capability name</a:t>
            </a:r>
          </a:p>
          <a:p>
            <a:pPr marL="287338" indent="-168275">
              <a:buAutoNum type="alphaLcParenR"/>
            </a:pPr>
            <a:r>
              <a:rPr lang="en-US" sz="1100" dirty="0"/>
              <a:t>The condition to map &amp; register with the target monitoring service (e.g., Ceilometer)</a:t>
            </a:r>
            <a:endParaRPr lang="en-US" sz="1050" dirty="0"/>
          </a:p>
        </p:txBody>
      </p:sp>
      <p:sp>
        <p:nvSpPr>
          <p:cNvPr id="27" name="Line Callout 1 26"/>
          <p:cNvSpPr/>
          <p:nvPr/>
        </p:nvSpPr>
        <p:spPr>
          <a:xfrm>
            <a:off x="138400" y="4161019"/>
            <a:ext cx="1982500" cy="1468326"/>
          </a:xfrm>
          <a:prstGeom prst="borderCallout1">
            <a:avLst>
              <a:gd name="adj1" fmla="val -6019"/>
              <a:gd name="adj2" fmla="val 76006"/>
              <a:gd name="adj3" fmla="val -15257"/>
              <a:gd name="adj4" fmla="val 118231"/>
            </a:avLst>
          </a:prstGeom>
          <a:ln>
            <a:tailEnd type="oval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/>
              <a:t>Describe NODE to attach an alarm | alert | event to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i.e.,  Using the “node”, “</a:t>
            </a:r>
            <a:r>
              <a:rPr lang="en-US" sz="1200" dirty="0" err="1"/>
              <a:t>req</a:t>
            </a:r>
            <a:r>
              <a:rPr lang="en-US" sz="1200" dirty="0"/>
              <a:t>”,  “cap” and “condition” keys would expressed as a descriptive “filter”</a:t>
            </a:r>
          </a:p>
        </p:txBody>
      </p:sp>
      <p:sp>
        <p:nvSpPr>
          <p:cNvPr id="28" name="Line Callout 1 27"/>
          <p:cNvSpPr/>
          <p:nvPr/>
        </p:nvSpPr>
        <p:spPr>
          <a:xfrm>
            <a:off x="5571893" y="5790585"/>
            <a:ext cx="2310235" cy="949495"/>
          </a:xfrm>
          <a:prstGeom prst="borderCallout1">
            <a:avLst>
              <a:gd name="adj1" fmla="val -10685"/>
              <a:gd name="adj2" fmla="val 15872"/>
              <a:gd name="adj3" fmla="val -81756"/>
              <a:gd name="adj4" fmla="val -62831"/>
            </a:avLst>
          </a:prstGeom>
          <a:ln>
            <a:tailEnd type="oval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i="1" dirty="0"/>
              <a:t>Note: we combined the Senlin</a:t>
            </a:r>
          </a:p>
          <a:p>
            <a:pPr algn="ctr"/>
            <a:r>
              <a:rPr lang="en-US" sz="1200" i="1" dirty="0"/>
              <a:t>“Action” of </a:t>
            </a:r>
            <a:r>
              <a:rPr lang="en-US" sz="1200" b="1" i="1" dirty="0">
                <a:solidFill>
                  <a:srgbClr val="FF0000"/>
                </a:solidFill>
              </a:rPr>
              <a:t>SENLIN:ACTION:RESIZE</a:t>
            </a:r>
          </a:p>
          <a:p>
            <a:pPr algn="ctr"/>
            <a:r>
              <a:rPr lang="en-US" sz="1200" i="1" dirty="0"/>
              <a:t>with the strategy: </a:t>
            </a:r>
            <a:r>
              <a:rPr lang="en-US" sz="1200" b="1" i="1" dirty="0">
                <a:solidFill>
                  <a:srgbClr val="FF0000"/>
                </a:solidFill>
              </a:rPr>
              <a:t>BEST_EFFORT </a:t>
            </a:r>
            <a:r>
              <a:rPr lang="en-US" sz="1200" i="1" dirty="0"/>
              <a:t>to have one name</a:t>
            </a:r>
            <a:endParaRPr lang="en-US" sz="1050" i="1" dirty="0"/>
          </a:p>
        </p:txBody>
      </p:sp>
      <p:sp>
        <p:nvSpPr>
          <p:cNvPr id="29" name="Line Callout 1 28"/>
          <p:cNvSpPr/>
          <p:nvPr/>
        </p:nvSpPr>
        <p:spPr>
          <a:xfrm>
            <a:off x="762001" y="5984870"/>
            <a:ext cx="1358900" cy="695495"/>
          </a:xfrm>
          <a:prstGeom prst="borderCallout1">
            <a:avLst>
              <a:gd name="adj1" fmla="val 13358"/>
              <a:gd name="adj2" fmla="val 111833"/>
              <a:gd name="adj3" fmla="val -102407"/>
              <a:gd name="adj4" fmla="val 149750"/>
            </a:avLst>
          </a:prstGeom>
          <a:ln>
            <a:tailEnd type="oval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i="1" dirty="0"/>
              <a:t>List optional  input </a:t>
            </a:r>
            <a:r>
              <a:rPr lang="en-US" sz="1200" i="1" dirty="0" err="1"/>
              <a:t>parms</a:t>
            </a:r>
            <a:r>
              <a:rPr lang="en-US" sz="1200" i="1" dirty="0"/>
              <a:t>. here</a:t>
            </a:r>
            <a:endParaRPr lang="en-US" sz="1050" i="1" dirty="0"/>
          </a:p>
        </p:txBody>
      </p:sp>
      <p:sp>
        <p:nvSpPr>
          <p:cNvPr id="2" name="TextBox 1"/>
          <p:cNvSpPr txBox="1"/>
          <p:nvPr/>
        </p:nvSpPr>
        <p:spPr>
          <a:xfrm>
            <a:off x="3416300" y="6515100"/>
            <a:ext cx="194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noProof="1">
                <a:solidFill>
                  <a:schemeClr val="accent6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*more info online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39935577"/>
      </p:ext>
    </p:extLst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6249" y="1124743"/>
            <a:ext cx="4811538" cy="5268781"/>
          </a:xfrm>
        </p:spPr>
        <p:txBody>
          <a:bodyPr>
            <a:normAutofit/>
          </a:bodyPr>
          <a:lstStyle/>
          <a:p>
            <a:r>
              <a:rPr lang="en-US" sz="3600" dirty="0"/>
              <a:t>TOSCA Template contains:</a:t>
            </a:r>
          </a:p>
          <a:p>
            <a:pPr lvl="1"/>
            <a:r>
              <a:rPr lang="en-US" dirty="0"/>
              <a:t>Application Topology</a:t>
            </a:r>
          </a:p>
          <a:p>
            <a:pPr lvl="2"/>
            <a:r>
              <a:rPr lang="en-US" dirty="0"/>
              <a:t>Nodes</a:t>
            </a:r>
          </a:p>
          <a:p>
            <a:pPr lvl="3"/>
            <a:r>
              <a:rPr lang="en-US" dirty="0"/>
              <a:t>Interfaces</a:t>
            </a:r>
          </a:p>
          <a:p>
            <a:pPr lvl="3"/>
            <a:r>
              <a:rPr lang="en-US" dirty="0"/>
              <a:t>Properties</a:t>
            </a:r>
          </a:p>
          <a:p>
            <a:pPr lvl="3"/>
            <a:r>
              <a:rPr lang="en-US" dirty="0"/>
              <a:t>Artifacts (Plugins in Cloudify)</a:t>
            </a:r>
          </a:p>
          <a:p>
            <a:pPr lvl="2"/>
            <a:r>
              <a:rPr lang="en-US" dirty="0"/>
              <a:t>Relationships</a:t>
            </a:r>
          </a:p>
          <a:p>
            <a:pPr lvl="3"/>
            <a:r>
              <a:rPr lang="en-US" dirty="0"/>
              <a:t>Interfaces</a:t>
            </a:r>
          </a:p>
          <a:p>
            <a:pPr lvl="1"/>
            <a:r>
              <a:rPr lang="en-US" dirty="0"/>
              <a:t>Workflows</a:t>
            </a:r>
          </a:p>
          <a:p>
            <a:pPr lvl="1"/>
            <a:r>
              <a:rPr lang="en-US" dirty="0"/>
              <a:t>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-96751584"/>
            <a:ext cx="4572000" cy="866540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900" dirty="0" err="1"/>
              <a:t>tosca.nodes.Root</a:t>
            </a:r>
            <a:r>
              <a:rPr lang="en-CA" sz="900" dirty="0"/>
              <a:t>:</a:t>
            </a:r>
          </a:p>
          <a:p>
            <a:r>
              <a:rPr lang="en-CA" sz="900" dirty="0"/>
              <a:t>  description: &gt; </a:t>
            </a:r>
          </a:p>
          <a:p>
            <a:r>
              <a:rPr lang="en-CA" sz="900" dirty="0"/>
              <a:t>    The TOSCA Node Type all other TOSCA base Node Types derive from.</a:t>
            </a:r>
          </a:p>
          <a:p>
            <a:r>
              <a:rPr lang="en-CA" sz="900" dirty="0"/>
              <a:t>  attributes: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tosca_id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tosca_name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state: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feature: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tosca.capabilities.Node</a:t>
            </a:r>
            <a:endParaRPr lang="en-CA" sz="900" dirty="0"/>
          </a:p>
          <a:p>
            <a:r>
              <a:rPr lang="en-CA" sz="900" dirty="0"/>
              <a:t>  requirements:</a:t>
            </a:r>
          </a:p>
          <a:p>
            <a:r>
              <a:rPr lang="en-CA" sz="900" dirty="0"/>
              <a:t>    - dependency: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tosca.capabilities.Node</a:t>
            </a:r>
            <a:endParaRPr lang="en-CA" sz="900" dirty="0"/>
          </a:p>
          <a:p>
            <a:r>
              <a:rPr lang="en-CA" sz="900" dirty="0"/>
              <a:t>        node: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      relationship: </a:t>
            </a:r>
            <a:r>
              <a:rPr lang="en-CA" sz="900" dirty="0" err="1"/>
              <a:t>tosca.relationships.DependsOn</a:t>
            </a:r>
            <a:endParaRPr lang="en-CA" sz="900" dirty="0"/>
          </a:p>
          <a:p>
            <a:r>
              <a:rPr lang="en-CA" sz="900" dirty="0"/>
              <a:t>        occurrences: [ 0, UNBOUNDED ]</a:t>
            </a:r>
          </a:p>
          <a:p>
            <a:r>
              <a:rPr lang="en-CA" sz="900" dirty="0"/>
              <a:t>  interfaces: </a:t>
            </a:r>
          </a:p>
          <a:p>
            <a:r>
              <a:rPr lang="en-CA" sz="900" dirty="0"/>
              <a:t>    Standard: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tosca.interfaces.node.lifecycle.Standard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/>
              <a:t>tosca.nodes.Compute: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attributes: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public_address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primary public IP address assigned by the cloud provider that applications</a:t>
            </a:r>
          </a:p>
          <a:p>
            <a:r>
              <a:rPr lang="en-CA" sz="900" dirty="0"/>
              <a:t>        may use to access the Compute node.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private_address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primary private IP address assigned by the cloud provider that applications</a:t>
            </a:r>
          </a:p>
          <a:p>
            <a:r>
              <a:rPr lang="en-CA" sz="900" dirty="0"/>
              <a:t>        may use to access the Compute node.</a:t>
            </a:r>
          </a:p>
          <a:p>
            <a:r>
              <a:rPr lang="en-CA" sz="900" dirty="0"/>
              <a:t>    networks:</a:t>
            </a:r>
          </a:p>
          <a:p>
            <a:r>
              <a:rPr lang="en-CA" sz="900" dirty="0"/>
              <a:t>      type: map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tosca.datatypes.network.NetworkInfo</a:t>
            </a:r>
            <a:endParaRPr lang="en-CA" sz="900" dirty="0"/>
          </a:p>
          <a:p>
            <a:r>
              <a:rPr lang="en-CA" sz="900" dirty="0"/>
              <a:t>    ports:</a:t>
            </a:r>
          </a:p>
          <a:p>
            <a:r>
              <a:rPr lang="en-CA" sz="900" dirty="0"/>
              <a:t>      type: map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tosca.datatypes.network.PortInfo</a:t>
            </a:r>
            <a:endParaRPr lang="en-CA" sz="900" dirty="0"/>
          </a:p>
          <a:p>
            <a:r>
              <a:rPr lang="en-CA" sz="900" dirty="0"/>
              <a:t>  requirements:</a:t>
            </a:r>
          </a:p>
          <a:p>
            <a:r>
              <a:rPr lang="en-CA" sz="900" dirty="0"/>
              <a:t>    - </a:t>
            </a:r>
            <a:r>
              <a:rPr lang="en-CA" sz="900" dirty="0" err="1"/>
              <a:t>local_storage</a:t>
            </a:r>
            <a:r>
              <a:rPr lang="en-CA" sz="900" dirty="0"/>
              <a:t>: 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tosca.capabilities.Attachment</a:t>
            </a:r>
            <a:endParaRPr lang="en-CA" sz="900" dirty="0"/>
          </a:p>
          <a:p>
            <a:r>
              <a:rPr lang="en-CA" sz="900" dirty="0"/>
              <a:t>        node: </a:t>
            </a:r>
            <a:r>
              <a:rPr lang="en-CA" sz="900" dirty="0" err="1"/>
              <a:t>tosca.nodes.BlockStorage</a:t>
            </a:r>
            <a:endParaRPr lang="en-CA" sz="900" dirty="0"/>
          </a:p>
          <a:p>
            <a:r>
              <a:rPr lang="en-CA" sz="900" dirty="0"/>
              <a:t>        relationship: </a:t>
            </a:r>
            <a:r>
              <a:rPr lang="en-CA" sz="900" dirty="0" err="1"/>
              <a:t>tosca.relationships.AttachTo</a:t>
            </a:r>
            <a:endParaRPr lang="en-CA" sz="900" dirty="0"/>
          </a:p>
          <a:p>
            <a:r>
              <a:rPr lang="en-CA" sz="900" dirty="0"/>
              <a:t>        occurrences: [0, UNBOUNDED]</a:t>
            </a:r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 host: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tosca.capabilities.Container</a:t>
            </a:r>
            <a:endParaRPr lang="en-CA" sz="900" dirty="0"/>
          </a:p>
          <a:p>
            <a:r>
              <a:rPr lang="en-CA" sz="900" dirty="0"/>
              <a:t>     binding: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tosca.capabilities.network.Bindable</a:t>
            </a:r>
            <a:endParaRPr lang="en-CA" sz="900" dirty="0"/>
          </a:p>
          <a:p>
            <a:r>
              <a:rPr lang="en-CA" sz="900" dirty="0"/>
              <a:t>     </a:t>
            </a:r>
            <a:r>
              <a:rPr lang="en-CA" sz="900" dirty="0" err="1"/>
              <a:t>os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tosca.capabilities.OperatingSystem</a:t>
            </a:r>
            <a:endParaRPr lang="en-CA" sz="900" dirty="0"/>
          </a:p>
          <a:p>
            <a:r>
              <a:rPr lang="en-CA" sz="900" dirty="0"/>
              <a:t>     scalable:</a:t>
            </a:r>
          </a:p>
          <a:p>
            <a:r>
              <a:rPr lang="en-CA" sz="900" dirty="0"/>
              <a:t>       type: </a:t>
            </a:r>
            <a:r>
              <a:rPr lang="en-CA" sz="900" dirty="0" err="1"/>
              <a:t>tosca.capabilities.Scalable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tosca.nodes.SoftwareComponent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# domain-specific software component version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component_version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version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requirements:</a:t>
            </a:r>
          </a:p>
          <a:p>
            <a:r>
              <a:rPr lang="en-CA" sz="900" dirty="0"/>
              <a:t>    - host: 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tosca.capabilities.Container</a:t>
            </a:r>
            <a:endParaRPr lang="en-CA" sz="900" dirty="0"/>
          </a:p>
          <a:p>
            <a:r>
              <a:rPr lang="en-CA" sz="900" dirty="0"/>
              <a:t>        node: tosca.nodes.Compute</a:t>
            </a:r>
          </a:p>
          <a:p>
            <a:r>
              <a:rPr lang="en-CA" sz="900" dirty="0"/>
              <a:t>        relationship: </a:t>
            </a:r>
            <a:r>
              <a:rPr lang="en-CA" sz="900" dirty="0" err="1"/>
              <a:t>tosca.relationships.HostedOn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tosca.nodes.DBMS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tosca.nodes.SoftwareComponent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port: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port the DBMS service will listen to for data and requests.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root_password</a:t>
            </a:r>
            <a:r>
              <a:rPr lang="en-CA" sz="900" dirty="0"/>
              <a:t>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root password for the DBMS service.</a:t>
            </a:r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host: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tosca.capabilities.Container</a:t>
            </a:r>
            <a:endParaRPr lang="en-CA" sz="900" dirty="0"/>
          </a:p>
          <a:p>
            <a:r>
              <a:rPr lang="en-CA" sz="900" dirty="0"/>
              <a:t>      </a:t>
            </a:r>
            <a:r>
              <a:rPr lang="en-CA" sz="900" dirty="0" err="1"/>
              <a:t>valid_source_types</a:t>
            </a:r>
            <a:r>
              <a:rPr lang="en-CA" sz="900" dirty="0"/>
              <a:t>: [</a:t>
            </a:r>
            <a:r>
              <a:rPr lang="en-CA" sz="900" dirty="0" err="1"/>
              <a:t>tosca.nodes.Database</a:t>
            </a:r>
            <a:r>
              <a:rPr lang="en-CA" sz="900" dirty="0"/>
              <a:t>]</a:t>
            </a:r>
          </a:p>
          <a:p>
            <a:endParaRPr lang="en-CA" sz="900" dirty="0"/>
          </a:p>
          <a:p>
            <a:r>
              <a:rPr lang="en-CA" sz="900" dirty="0" err="1"/>
              <a:t>tosca.nodes.Database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user: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User account name for DB administration</a:t>
            </a:r>
          </a:p>
          <a:p>
            <a:r>
              <a:rPr lang="en-CA" sz="900" dirty="0"/>
              <a:t>    name: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name of the database.</a:t>
            </a:r>
          </a:p>
          <a:p>
            <a:r>
              <a:rPr lang="en-CA" sz="900" dirty="0"/>
              <a:t>    password: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password for the DB user account</a:t>
            </a:r>
          </a:p>
          <a:p>
            <a:r>
              <a:rPr lang="en-CA" sz="900" dirty="0"/>
              <a:t>  requirements:</a:t>
            </a:r>
          </a:p>
          <a:p>
            <a:r>
              <a:rPr lang="en-CA" sz="900" dirty="0"/>
              <a:t>    - host: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tosca.capabilities.Container</a:t>
            </a:r>
            <a:endParaRPr lang="en-CA" sz="900" dirty="0"/>
          </a:p>
          <a:p>
            <a:r>
              <a:rPr lang="en-CA" sz="900" dirty="0"/>
              <a:t>        node: </a:t>
            </a:r>
            <a:r>
              <a:rPr lang="en-CA" sz="900" dirty="0" err="1"/>
              <a:t>tosca.nodes.DBMS</a:t>
            </a:r>
            <a:endParaRPr lang="en-CA" sz="900" dirty="0"/>
          </a:p>
          <a:p>
            <a:r>
              <a:rPr lang="en-CA" sz="900" dirty="0"/>
              <a:t>        relationship: </a:t>
            </a:r>
            <a:r>
              <a:rPr lang="en-CA" sz="900" dirty="0" err="1"/>
              <a:t>tosca.relationships.HostedOn</a:t>
            </a:r>
            <a:endParaRPr lang="en-CA" sz="900" dirty="0"/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database_endpoint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tosca.capabilities.DatabaseEndpoint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tosca.nodes.WebServer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tosca.nodes.SoftwareComponent</a:t>
            </a:r>
            <a:endParaRPr lang="en-CA" sz="900" dirty="0"/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data_endpoint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tosca.capabilities.Endpoint</a:t>
            </a:r>
            <a:endParaRPr lang="en-CA" sz="900" dirty="0"/>
          </a:p>
          <a:p>
            <a:r>
              <a:rPr lang="en-CA" sz="900" dirty="0"/>
              <a:t>    </a:t>
            </a:r>
            <a:r>
              <a:rPr lang="en-CA" sz="900" dirty="0" err="1"/>
              <a:t>admin_endpoint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tosca.capabilities.Endpoint.Admin</a:t>
            </a:r>
            <a:endParaRPr lang="en-CA" sz="900" dirty="0"/>
          </a:p>
          <a:p>
            <a:r>
              <a:rPr lang="en-CA" sz="900" dirty="0"/>
              <a:t>    host: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tosca.capabilities.Container</a:t>
            </a:r>
            <a:endParaRPr lang="en-CA" sz="900" dirty="0"/>
          </a:p>
          <a:p>
            <a:r>
              <a:rPr lang="en-CA" sz="900" dirty="0"/>
              <a:t>      </a:t>
            </a:r>
            <a:r>
              <a:rPr lang="en-CA" sz="900" dirty="0" err="1"/>
              <a:t>valid_source_types</a:t>
            </a:r>
            <a:r>
              <a:rPr lang="en-CA" sz="900" dirty="0"/>
              <a:t>: [</a:t>
            </a:r>
            <a:r>
              <a:rPr lang="en-CA" sz="900" dirty="0" err="1"/>
              <a:t>tosca.nodes.WebApplication</a:t>
            </a:r>
            <a:r>
              <a:rPr lang="en-CA" sz="900" dirty="0"/>
              <a:t>]</a:t>
            </a:r>
          </a:p>
          <a:p>
            <a:endParaRPr lang="en-CA" sz="900" dirty="0"/>
          </a:p>
          <a:p>
            <a:r>
              <a:rPr lang="en-CA" sz="900" dirty="0" err="1"/>
              <a:t>tosca.nodes.WebApplication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context_root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requirements:</a:t>
            </a:r>
          </a:p>
          <a:p>
            <a:r>
              <a:rPr lang="en-CA" sz="900" dirty="0"/>
              <a:t>    - host: 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tosca.capabilities.Container</a:t>
            </a:r>
            <a:endParaRPr lang="en-CA" sz="900" dirty="0"/>
          </a:p>
          <a:p>
            <a:r>
              <a:rPr lang="en-CA" sz="900" dirty="0"/>
              <a:t>        node: </a:t>
            </a:r>
            <a:r>
              <a:rPr lang="en-CA" sz="900" dirty="0" err="1"/>
              <a:t>tosca.nodes.WebServer</a:t>
            </a:r>
            <a:endParaRPr lang="en-CA" sz="900" dirty="0"/>
          </a:p>
          <a:p>
            <a:r>
              <a:rPr lang="en-CA" sz="900" dirty="0"/>
              <a:t>        relationship: </a:t>
            </a:r>
            <a:r>
              <a:rPr lang="en-CA" sz="900" dirty="0" err="1"/>
              <a:t>tosca.relationships.HostedOn</a:t>
            </a:r>
            <a:endParaRPr lang="en-CA" sz="900" dirty="0"/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app_endpoint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tosca.capabilities.Endpoint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tosca.nodes.BlockStorage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size: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greater_or_equal</a:t>
            </a:r>
            <a:r>
              <a:rPr lang="en-CA" sz="900" dirty="0"/>
              <a:t>: 1 MB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volume_id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snapshot_id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attributes: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volume_id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attachment: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tosca.capabilities.Attachment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tosca.nodes.network.Network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description: &gt;</a:t>
            </a:r>
          </a:p>
          <a:p>
            <a:r>
              <a:rPr lang="en-CA" sz="900" dirty="0"/>
              <a:t>    The TOSCA Network node represents a simple, logical network service.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ip_version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default: 4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valid_values</a:t>
            </a:r>
            <a:r>
              <a:rPr lang="en-CA" sz="900" dirty="0"/>
              <a:t>: [ 4, 6 ]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IP version of the requested network. Valid values are 4 for ipv4</a:t>
            </a:r>
          </a:p>
          <a:p>
            <a:r>
              <a:rPr lang="en-CA" sz="900" dirty="0"/>
              <a:t>        or 6 for ipv6.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cidr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</a:t>
            </a:r>
            <a:r>
              <a:rPr lang="en-CA" sz="900" dirty="0" err="1"/>
              <a:t>cidr</a:t>
            </a:r>
            <a:r>
              <a:rPr lang="en-CA" sz="900" dirty="0"/>
              <a:t> block of the requested network.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start_ip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 The IP address to be used as the start of a pool of addresses within</a:t>
            </a:r>
          </a:p>
          <a:p>
            <a:r>
              <a:rPr lang="en-CA" sz="900" dirty="0"/>
              <a:t>         the full IP range derived from the </a:t>
            </a:r>
            <a:r>
              <a:rPr lang="en-CA" sz="900" dirty="0" err="1"/>
              <a:t>cidr</a:t>
            </a:r>
            <a:r>
              <a:rPr lang="en-CA" sz="900" dirty="0"/>
              <a:t> block.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end_ip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  The IP address to be used as the end of a pool of addresses within</a:t>
            </a:r>
          </a:p>
          <a:p>
            <a:r>
              <a:rPr lang="en-CA" sz="900" dirty="0"/>
              <a:t>          the full IP range derived from the </a:t>
            </a:r>
            <a:r>
              <a:rPr lang="en-CA" sz="900" dirty="0" err="1"/>
              <a:t>cidr</a:t>
            </a:r>
            <a:r>
              <a:rPr lang="en-CA" sz="900" dirty="0"/>
              <a:t> block.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gateway_ip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 The gateway IP address.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network_name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 An identifier that represents an existing Network instance in the</a:t>
            </a:r>
          </a:p>
          <a:p>
            <a:r>
              <a:rPr lang="en-CA" sz="900" dirty="0"/>
              <a:t>         underlying cloud infrastructure or can be used as the name of the</a:t>
            </a:r>
          </a:p>
          <a:p>
            <a:r>
              <a:rPr lang="en-CA" sz="900" dirty="0"/>
              <a:t>         newly created network. If </a:t>
            </a:r>
            <a:r>
              <a:rPr lang="en-CA" sz="900" dirty="0" err="1"/>
              <a:t>network_name</a:t>
            </a:r>
            <a:r>
              <a:rPr lang="en-CA" sz="900" dirty="0"/>
              <a:t> is provided and no other</a:t>
            </a:r>
          </a:p>
          <a:p>
            <a:r>
              <a:rPr lang="en-CA" sz="900" dirty="0"/>
              <a:t>         properties are provided (with exception of </a:t>
            </a:r>
            <a:r>
              <a:rPr lang="en-CA" sz="900" dirty="0" err="1"/>
              <a:t>network_id</a:t>
            </a:r>
            <a:r>
              <a:rPr lang="en-CA" sz="900" dirty="0"/>
              <a:t>), then an</a:t>
            </a:r>
          </a:p>
          <a:p>
            <a:r>
              <a:rPr lang="en-CA" sz="900" dirty="0"/>
              <a:t>         existing network instance will be used. If </a:t>
            </a:r>
            <a:r>
              <a:rPr lang="en-CA" sz="900" dirty="0" err="1"/>
              <a:t>network_name</a:t>
            </a:r>
            <a:r>
              <a:rPr lang="en-CA" sz="900" dirty="0"/>
              <a:t> is provided</a:t>
            </a:r>
          </a:p>
          <a:p>
            <a:r>
              <a:rPr lang="en-CA" sz="900" dirty="0"/>
              <a:t>         alongside with more properties then a new network with this name will</a:t>
            </a:r>
          </a:p>
          <a:p>
            <a:r>
              <a:rPr lang="en-CA" sz="900" dirty="0"/>
              <a:t>         be created.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network_id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 An identifier that represents an existing Network instance in the</a:t>
            </a:r>
          </a:p>
          <a:p>
            <a:r>
              <a:rPr lang="en-CA" sz="900" dirty="0"/>
              <a:t>         underlying cloud infrastructure. This property is mutually exclusive</a:t>
            </a:r>
          </a:p>
          <a:p>
            <a:r>
              <a:rPr lang="en-CA" sz="900" dirty="0"/>
              <a:t>         with all other properties except </a:t>
            </a:r>
            <a:r>
              <a:rPr lang="en-CA" sz="900" dirty="0" err="1"/>
              <a:t>network_name</a:t>
            </a:r>
            <a:r>
              <a:rPr lang="en-CA" sz="900" dirty="0"/>
              <a:t>. This can be used alone</a:t>
            </a:r>
          </a:p>
          <a:p>
            <a:r>
              <a:rPr lang="en-CA" sz="900" dirty="0"/>
              <a:t>         or together with </a:t>
            </a:r>
            <a:r>
              <a:rPr lang="en-CA" sz="900" dirty="0" err="1"/>
              <a:t>network_name</a:t>
            </a:r>
            <a:r>
              <a:rPr lang="en-CA" sz="900" dirty="0"/>
              <a:t> to identify an existing network.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segmentation_id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 A segmentation identifier in the underlying cloud infrastructure.</a:t>
            </a:r>
          </a:p>
          <a:p>
            <a:r>
              <a:rPr lang="en-CA" sz="900" dirty="0"/>
              <a:t>         E.g. VLAN ID, GRE tunnel ID, etc..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dhcp_enabled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boolean</a:t>
            </a:r>
            <a:endParaRPr lang="en-CA" sz="900" dirty="0"/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default: true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Indicates should DHCP service be enabled on the network or not.</a:t>
            </a:r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link: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tosca.capabilities.network.Linkable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tosca.nodes.network.Port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description: &gt;</a:t>
            </a:r>
          </a:p>
          <a:p>
            <a:r>
              <a:rPr lang="en-CA" sz="900" dirty="0"/>
              <a:t>    The TOSCA Port node represents a logical entity that associates between</a:t>
            </a:r>
          </a:p>
          <a:p>
            <a:r>
              <a:rPr lang="en-CA" sz="900" dirty="0"/>
              <a:t>    Compute and Network normative types. The Port node type effectively</a:t>
            </a:r>
          </a:p>
          <a:p>
            <a:r>
              <a:rPr lang="en-CA" sz="900" dirty="0"/>
              <a:t>    represents a single virtual NIC on the Compute node instance.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ip_address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Allow the user to set a static IP.</a:t>
            </a:r>
          </a:p>
          <a:p>
            <a:r>
              <a:rPr lang="en-CA" sz="900" dirty="0"/>
              <a:t>    order: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default: 0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greater_or_equal</a:t>
            </a:r>
            <a:r>
              <a:rPr lang="en-CA" sz="900" dirty="0"/>
              <a:t>: 0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order of the NIC on the compute instance (e.g. eth2).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is_default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boolean</a:t>
            </a:r>
            <a:endParaRPr lang="en-CA" sz="900" dirty="0"/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default: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If </a:t>
            </a:r>
            <a:r>
              <a:rPr lang="en-CA" sz="900" dirty="0" err="1"/>
              <a:t>is_default</a:t>
            </a:r>
            <a:r>
              <a:rPr lang="en-CA" sz="900" dirty="0"/>
              <a:t>=true this port will be used for the default gateway</a:t>
            </a:r>
          </a:p>
          <a:p>
            <a:r>
              <a:rPr lang="en-CA" sz="900" dirty="0"/>
              <a:t>        route. Only one port that is associated to single compute node can</a:t>
            </a:r>
          </a:p>
          <a:p>
            <a:r>
              <a:rPr lang="en-CA" sz="900" dirty="0"/>
              <a:t>        set as </a:t>
            </a:r>
            <a:r>
              <a:rPr lang="en-CA" sz="900" dirty="0" err="1"/>
              <a:t>is_default</a:t>
            </a:r>
            <a:r>
              <a:rPr lang="en-CA" sz="900" dirty="0"/>
              <a:t>=true.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ip_range_start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Defines the starting IP of a range to be allocated for the compute</a:t>
            </a:r>
          </a:p>
          <a:p>
            <a:r>
              <a:rPr lang="en-CA" sz="900" dirty="0"/>
              <a:t>        instances that are associated with this Port.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ip_range_end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Defines the ending IP of a range to be allocated for the compute</a:t>
            </a:r>
          </a:p>
          <a:p>
            <a:r>
              <a:rPr lang="en-CA" sz="900" dirty="0"/>
              <a:t>        instances that are associated with this Port.</a:t>
            </a:r>
          </a:p>
          <a:p>
            <a:r>
              <a:rPr lang="en-CA" sz="900" dirty="0"/>
              <a:t>  attributes: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ip_address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requirements:</a:t>
            </a:r>
          </a:p>
          <a:p>
            <a:r>
              <a:rPr lang="en-CA" sz="900" dirty="0"/>
              <a:t>    - binding: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tosca.capabilities.network.Bindable</a:t>
            </a:r>
            <a:endParaRPr lang="en-CA" sz="900" dirty="0"/>
          </a:p>
          <a:p>
            <a:r>
              <a:rPr lang="en-CA" sz="900" dirty="0"/>
              <a:t>        description: &gt;</a:t>
            </a:r>
          </a:p>
          <a:p>
            <a:r>
              <a:rPr lang="en-CA" sz="900" dirty="0"/>
              <a:t>          Binding requirement expresses the relationship between Port and</a:t>
            </a:r>
          </a:p>
          <a:p>
            <a:r>
              <a:rPr lang="en-CA" sz="900" dirty="0"/>
              <a:t>          Compute nodes. </a:t>
            </a:r>
            <a:r>
              <a:rPr lang="en-CA" sz="900" dirty="0" err="1"/>
              <a:t>Effectevely</a:t>
            </a:r>
            <a:r>
              <a:rPr lang="en-CA" sz="900" dirty="0"/>
              <a:t> it indicates that the Port will be</a:t>
            </a:r>
          </a:p>
          <a:p>
            <a:r>
              <a:rPr lang="en-CA" sz="900" dirty="0"/>
              <a:t>          attached to specific Compute node instance</a:t>
            </a:r>
          </a:p>
          <a:p>
            <a:r>
              <a:rPr lang="en-CA" sz="900" dirty="0"/>
              <a:t>    - link:</a:t>
            </a:r>
          </a:p>
          <a:p>
            <a:r>
              <a:rPr lang="en-CA" sz="900" dirty="0"/>
              <a:t>        capability: </a:t>
            </a:r>
            <a:r>
              <a:rPr lang="en-CA" sz="900" dirty="0" err="1"/>
              <a:t>tosca.capabilities.network.Linkable</a:t>
            </a:r>
            <a:endParaRPr lang="en-CA" sz="900" dirty="0"/>
          </a:p>
          <a:p>
            <a:r>
              <a:rPr lang="en-CA" sz="900" dirty="0"/>
              <a:t>        description: &gt;</a:t>
            </a:r>
          </a:p>
          <a:p>
            <a:r>
              <a:rPr lang="en-CA" sz="900" dirty="0"/>
              <a:t>          Link requirement expresses the relationship between Port and Network</a:t>
            </a:r>
          </a:p>
          <a:p>
            <a:r>
              <a:rPr lang="en-CA" sz="900" dirty="0"/>
              <a:t>          nodes. It indicates which network this port will connect to.</a:t>
            </a:r>
          </a:p>
          <a:p>
            <a:endParaRPr lang="en-CA" sz="900" dirty="0"/>
          </a:p>
          <a:p>
            <a:r>
              <a:rPr lang="en-CA" sz="900" dirty="0" err="1"/>
              <a:t>tosca.nodes.ObjectStorage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tosca.nodes.Root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store_name</a:t>
            </a:r>
            <a:r>
              <a:rPr lang="en-CA" sz="900" dirty="0"/>
              <a:t>: </a:t>
            </a:r>
          </a:p>
          <a:p>
            <a:r>
              <a:rPr lang="en-CA" sz="900" dirty="0"/>
              <a:t> 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store_size</a:t>
            </a:r>
            <a:r>
              <a:rPr lang="en-CA" sz="900" dirty="0"/>
              <a:t>: </a:t>
            </a:r>
          </a:p>
          <a:p>
            <a:r>
              <a:rPr lang="en-CA" sz="900" dirty="0"/>
              <a:t>       type: scalar-</a:t>
            </a:r>
            <a:r>
              <a:rPr lang="en-CA" sz="900" dirty="0" err="1"/>
              <a:t>unit.size</a:t>
            </a:r>
            <a:endParaRPr lang="en-CA" sz="900" dirty="0"/>
          </a:p>
          <a:p>
            <a:r>
              <a:rPr lang="en-CA" sz="900" dirty="0"/>
              <a:t>       constraints:</a:t>
            </a:r>
          </a:p>
          <a:p>
            <a:r>
              <a:rPr lang="en-CA" sz="900" dirty="0"/>
              <a:t>         - </a:t>
            </a:r>
            <a:r>
              <a:rPr lang="en-CA" sz="900" dirty="0" err="1"/>
              <a:t>greater_or_equal</a:t>
            </a:r>
            <a:r>
              <a:rPr lang="en-CA" sz="900" dirty="0"/>
              <a:t>: 0 GB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store_maxsize</a:t>
            </a:r>
            <a:r>
              <a:rPr lang="en-CA" sz="900" dirty="0"/>
              <a:t>:</a:t>
            </a:r>
          </a:p>
          <a:p>
            <a:r>
              <a:rPr lang="en-CA" sz="900" dirty="0"/>
              <a:t>       type: scalar-</a:t>
            </a:r>
            <a:r>
              <a:rPr lang="en-CA" sz="900" dirty="0" err="1"/>
              <a:t>unit.size</a:t>
            </a:r>
            <a:endParaRPr lang="en-CA" sz="900" dirty="0"/>
          </a:p>
          <a:p>
            <a:r>
              <a:rPr lang="en-CA" sz="900" dirty="0"/>
              <a:t>       constraints:</a:t>
            </a:r>
          </a:p>
          <a:p>
            <a:r>
              <a:rPr lang="en-CA" sz="900" dirty="0"/>
              <a:t>         - </a:t>
            </a:r>
            <a:r>
              <a:rPr lang="en-CA" sz="900" dirty="0" err="1"/>
              <a:t>greater_or_equal</a:t>
            </a:r>
            <a:r>
              <a:rPr lang="en-CA" sz="900" dirty="0"/>
              <a:t>: 0 GB</a:t>
            </a:r>
          </a:p>
          <a:p>
            <a:r>
              <a:rPr lang="en-CA" sz="900" dirty="0"/>
              <a:t>  capabilities: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storage_endpoint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tosca.capabilities.Endpoint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/>
              <a:t># Relationship Type.</a:t>
            </a:r>
          </a:p>
          <a:p>
            <a:r>
              <a:rPr lang="en-CA" sz="900" dirty="0"/>
              <a:t># A Relationship Type is a reusable entity that defines the type of one</a:t>
            </a:r>
          </a:p>
          <a:p>
            <a:r>
              <a:rPr lang="en-CA" sz="900" dirty="0"/>
              <a:t># or more relationships between Node Types or Node Templates.</a:t>
            </a:r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 err="1"/>
              <a:t>tosca.relationships.Root</a:t>
            </a:r>
            <a:r>
              <a:rPr lang="en-CA" sz="900" dirty="0"/>
              <a:t>:</a:t>
            </a:r>
          </a:p>
          <a:p>
            <a:r>
              <a:rPr lang="en-CA" sz="900" dirty="0"/>
              <a:t>  description: &gt; </a:t>
            </a:r>
          </a:p>
          <a:p>
            <a:r>
              <a:rPr lang="en-CA" sz="900" dirty="0"/>
              <a:t>    The TOSCA root Relationship Type all other TOSCA base Relationship Types derive from.</a:t>
            </a:r>
          </a:p>
          <a:p>
            <a:r>
              <a:rPr lang="en-CA" sz="900" dirty="0"/>
              <a:t>  attributes: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tosca_id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tosca_name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interfaces:</a:t>
            </a:r>
          </a:p>
          <a:p>
            <a:r>
              <a:rPr lang="en-CA" sz="900" dirty="0"/>
              <a:t>    Configure: 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tosca.interfaces.relationship.Configure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tosca.relationships.DependsOn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tosca.relationships.Root</a:t>
            </a:r>
            <a:endParaRPr lang="en-CA" sz="900" dirty="0"/>
          </a:p>
          <a:p>
            <a:r>
              <a:rPr lang="en-CA" sz="900" dirty="0"/>
              <a:t>  </a:t>
            </a:r>
            <a:r>
              <a:rPr lang="en-CA" sz="900" dirty="0" err="1"/>
              <a:t>valid_target_types</a:t>
            </a:r>
            <a:r>
              <a:rPr lang="en-CA" sz="900" dirty="0"/>
              <a:t>: [ </a:t>
            </a:r>
            <a:r>
              <a:rPr lang="en-CA" sz="900" dirty="0" err="1"/>
              <a:t>tosca.capabilities.Node</a:t>
            </a:r>
            <a:r>
              <a:rPr lang="en-CA" sz="900" dirty="0"/>
              <a:t> ]</a:t>
            </a:r>
          </a:p>
          <a:p>
            <a:endParaRPr lang="en-CA" sz="900" dirty="0"/>
          </a:p>
          <a:p>
            <a:r>
              <a:rPr lang="en-CA" sz="900" dirty="0" err="1"/>
              <a:t>tosca.relationships.HostedOn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tosca.relationships.Root</a:t>
            </a:r>
            <a:endParaRPr lang="en-CA" sz="900" dirty="0"/>
          </a:p>
          <a:p>
            <a:r>
              <a:rPr lang="en-CA" sz="900" dirty="0"/>
              <a:t>  </a:t>
            </a:r>
            <a:r>
              <a:rPr lang="en-CA" sz="900" dirty="0" err="1"/>
              <a:t>valid_target_types</a:t>
            </a:r>
            <a:r>
              <a:rPr lang="en-CA" sz="900" dirty="0"/>
              <a:t>: [ </a:t>
            </a:r>
            <a:r>
              <a:rPr lang="en-CA" sz="900" dirty="0" err="1"/>
              <a:t>tosca.capabilities.Container</a:t>
            </a:r>
            <a:r>
              <a:rPr lang="en-CA" sz="900" dirty="0"/>
              <a:t> ]</a:t>
            </a:r>
          </a:p>
          <a:p>
            <a:endParaRPr lang="en-CA" sz="900" dirty="0"/>
          </a:p>
          <a:p>
            <a:r>
              <a:rPr lang="en-CA" sz="900" dirty="0" err="1"/>
              <a:t>tosca.relationships.ConnectsTo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tosca.relationships.Root</a:t>
            </a:r>
            <a:endParaRPr lang="en-CA" sz="900" dirty="0"/>
          </a:p>
          <a:p>
            <a:r>
              <a:rPr lang="en-CA" sz="900" dirty="0"/>
              <a:t>  </a:t>
            </a:r>
            <a:r>
              <a:rPr lang="en-CA" sz="900" dirty="0" err="1"/>
              <a:t>valid_target_types</a:t>
            </a:r>
            <a:r>
              <a:rPr lang="en-CA" sz="900" dirty="0"/>
              <a:t>: [ </a:t>
            </a:r>
            <a:r>
              <a:rPr lang="en-CA" sz="900" dirty="0" err="1"/>
              <a:t>tosca.capabilities.Endpoint</a:t>
            </a:r>
            <a:r>
              <a:rPr lang="en-CA" sz="900" dirty="0"/>
              <a:t> ]</a:t>
            </a:r>
          </a:p>
          <a:p>
            <a:endParaRPr lang="en-CA" sz="900" dirty="0"/>
          </a:p>
          <a:p>
            <a:r>
              <a:rPr lang="en-CA" sz="900" dirty="0" err="1"/>
              <a:t>tosca.relationships.AttachTo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tosca.relationships.Root</a:t>
            </a:r>
            <a:endParaRPr lang="en-CA" sz="900" dirty="0"/>
          </a:p>
          <a:p>
            <a:r>
              <a:rPr lang="en-CA" sz="900" dirty="0"/>
              <a:t>  </a:t>
            </a:r>
            <a:r>
              <a:rPr lang="en-CA" sz="900" dirty="0" err="1"/>
              <a:t>valid_target_types</a:t>
            </a:r>
            <a:r>
              <a:rPr lang="en-CA" sz="900" dirty="0"/>
              <a:t>: [ </a:t>
            </a:r>
            <a:r>
              <a:rPr lang="en-CA" sz="900" dirty="0" err="1"/>
              <a:t>tosca.capabilities.Attachment</a:t>
            </a:r>
            <a:r>
              <a:rPr lang="en-CA" sz="900" dirty="0"/>
              <a:t> ]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location: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min_length</a:t>
            </a:r>
            <a:r>
              <a:rPr lang="en-CA" sz="900" dirty="0"/>
              <a:t>: 1</a:t>
            </a:r>
          </a:p>
          <a:p>
            <a:r>
              <a:rPr lang="en-CA" sz="900" dirty="0"/>
              <a:t>    device: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endParaRPr lang="en-CA" sz="900" dirty="0"/>
          </a:p>
          <a:p>
            <a:r>
              <a:rPr lang="en-CA" sz="900" dirty="0" err="1"/>
              <a:t>tosca.relationships.network.LinksTo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tosca.relationships.DependsOn</a:t>
            </a:r>
            <a:endParaRPr lang="en-CA" sz="900" dirty="0"/>
          </a:p>
          <a:p>
            <a:r>
              <a:rPr lang="en-CA" sz="900" dirty="0"/>
              <a:t>  </a:t>
            </a:r>
            <a:r>
              <a:rPr lang="en-CA" sz="900" dirty="0" err="1"/>
              <a:t>valid_target_types</a:t>
            </a:r>
            <a:r>
              <a:rPr lang="en-CA" sz="900" dirty="0"/>
              <a:t>: [ </a:t>
            </a:r>
            <a:r>
              <a:rPr lang="en-CA" sz="900" dirty="0" err="1"/>
              <a:t>tosca.capabilities.network.Linkable</a:t>
            </a:r>
            <a:r>
              <a:rPr lang="en-CA" sz="900" dirty="0"/>
              <a:t> ]</a:t>
            </a:r>
          </a:p>
          <a:p>
            <a:endParaRPr lang="en-CA" sz="900" dirty="0"/>
          </a:p>
          <a:p>
            <a:r>
              <a:rPr lang="en-CA" sz="900" dirty="0" err="1"/>
              <a:t>tosca.relationships.network.BindsTo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tosca.relationships.DependsOn</a:t>
            </a:r>
            <a:endParaRPr lang="en-CA" sz="900" dirty="0"/>
          </a:p>
          <a:p>
            <a:r>
              <a:rPr lang="en-CA" sz="900" dirty="0"/>
              <a:t>  </a:t>
            </a:r>
            <a:r>
              <a:rPr lang="en-CA" sz="900" dirty="0" err="1"/>
              <a:t>valid_target_types</a:t>
            </a:r>
            <a:r>
              <a:rPr lang="en-CA" sz="900" dirty="0"/>
              <a:t>: [ </a:t>
            </a:r>
            <a:r>
              <a:rPr lang="en-CA" sz="900" dirty="0" err="1"/>
              <a:t>tosca.capabilities.network.Bindable</a:t>
            </a:r>
            <a:r>
              <a:rPr lang="en-CA" sz="900" dirty="0"/>
              <a:t> ]</a:t>
            </a:r>
          </a:p>
          <a:p>
            <a:endParaRPr lang="en-CA" sz="900" dirty="0"/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/>
              <a:t># Capability Type.</a:t>
            </a:r>
          </a:p>
          <a:p>
            <a:r>
              <a:rPr lang="en-CA" sz="900" dirty="0"/>
              <a:t># A Capability Type is a reusable entity that describes a kind of</a:t>
            </a:r>
          </a:p>
          <a:p>
            <a:r>
              <a:rPr lang="en-CA" sz="900" dirty="0"/>
              <a:t># capability that a Node Type can declare to expose.</a:t>
            </a:r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 err="1"/>
              <a:t>tosca.capabilities.Root</a:t>
            </a:r>
            <a:r>
              <a:rPr lang="en-CA" sz="900" dirty="0"/>
              <a:t>:</a:t>
            </a:r>
          </a:p>
          <a:p>
            <a:r>
              <a:rPr lang="en-CA" sz="900" dirty="0"/>
              <a:t>  description: &gt;</a:t>
            </a:r>
          </a:p>
          <a:p>
            <a:r>
              <a:rPr lang="en-CA" sz="900" dirty="0"/>
              <a:t>    The TOSCA root Capability Type all other TOSCA base Capability Types derive from.</a:t>
            </a:r>
          </a:p>
          <a:p>
            <a:endParaRPr lang="en-CA" sz="900" dirty="0"/>
          </a:p>
          <a:p>
            <a:r>
              <a:rPr lang="en-CA" sz="900" dirty="0" err="1"/>
              <a:t>tosca.capabilities.Node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tosca.capabilities.Container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num_cpus: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greater_or_equal</a:t>
            </a:r>
            <a:r>
              <a:rPr lang="en-CA" sz="900" dirty="0"/>
              <a:t>: 1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Number of (actual or virtual) CPUs associated with the Compute node.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cpu_frequency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scalar-</a:t>
            </a:r>
            <a:r>
              <a:rPr lang="en-CA" sz="900" dirty="0" err="1"/>
              <a:t>unit.frequency</a:t>
            </a:r>
            <a:endParaRPr lang="en-CA" sz="900" dirty="0"/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greater_or_equal</a:t>
            </a:r>
            <a:r>
              <a:rPr lang="en-CA" sz="900" dirty="0"/>
              <a:t>: 0.1 GHz</a:t>
            </a:r>
          </a:p>
          <a:p>
            <a:r>
              <a:rPr lang="en-CA" sz="900" dirty="0"/>
              <a:t>    disk_size: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scalar-</a:t>
            </a:r>
            <a:r>
              <a:rPr lang="en-CA" sz="900" dirty="0" err="1"/>
              <a:t>unit.size</a:t>
            </a:r>
            <a:endParaRPr lang="en-CA" sz="900" dirty="0"/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greater_or_equal</a:t>
            </a:r>
            <a:r>
              <a:rPr lang="en-CA" sz="900" dirty="0"/>
              <a:t>: 0 MB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Size of the local disk, available to applications running on the</a:t>
            </a:r>
          </a:p>
          <a:p>
            <a:r>
              <a:rPr lang="en-CA" sz="900" dirty="0"/>
              <a:t>        Compute node.</a:t>
            </a:r>
          </a:p>
          <a:p>
            <a:r>
              <a:rPr lang="en-CA" sz="900" dirty="0"/>
              <a:t>    mem_size: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scalar-</a:t>
            </a:r>
            <a:r>
              <a:rPr lang="en-CA" sz="900" dirty="0" err="1"/>
              <a:t>unit.size</a:t>
            </a:r>
            <a:endParaRPr lang="en-CA" sz="900" dirty="0"/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greater_or_equal</a:t>
            </a:r>
            <a:r>
              <a:rPr lang="en-CA" sz="900" dirty="0"/>
              <a:t>: 0 MB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Size of memory, available to applications running on the Compute node.</a:t>
            </a:r>
          </a:p>
          <a:p>
            <a:endParaRPr lang="en-CA" sz="900" dirty="0"/>
          </a:p>
          <a:p>
            <a:r>
              <a:rPr lang="en-CA" sz="900" dirty="0" err="1"/>
              <a:t>tosca.capabilities.Endpoint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protocol: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default: </a:t>
            </a:r>
            <a:r>
              <a:rPr lang="en-CA" sz="900" dirty="0" err="1"/>
              <a:t>tcp</a:t>
            </a:r>
            <a:endParaRPr lang="en-CA" sz="900" dirty="0"/>
          </a:p>
          <a:p>
            <a:r>
              <a:rPr lang="en-CA" sz="900" dirty="0"/>
              <a:t>    port: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PortDef</a:t>
            </a:r>
            <a:endParaRPr lang="en-CA" sz="900" dirty="0"/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secure:</a:t>
            </a:r>
          </a:p>
          <a:p>
            <a:r>
              <a:rPr lang="en-CA" sz="900" dirty="0"/>
              <a:t>      type: </a:t>
            </a:r>
            <a:r>
              <a:rPr lang="en-CA" sz="900" dirty="0" err="1"/>
              <a:t>boolean</a:t>
            </a:r>
            <a:endParaRPr lang="en-CA" sz="900" dirty="0"/>
          </a:p>
          <a:p>
            <a:r>
              <a:rPr lang="en-CA" sz="900" dirty="0"/>
              <a:t>      default: false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url_path</a:t>
            </a:r>
            <a:r>
              <a:rPr lang="en-CA" sz="900" dirty="0"/>
              <a:t>: 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port_name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network_name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false </a:t>
            </a:r>
          </a:p>
          <a:p>
            <a:r>
              <a:rPr lang="en-CA" sz="900" dirty="0"/>
              <a:t>    initiator: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default: source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valid_values</a:t>
            </a:r>
            <a:r>
              <a:rPr lang="en-CA" sz="900" dirty="0"/>
              <a:t>: [ source, target, peer ]</a:t>
            </a:r>
          </a:p>
          <a:p>
            <a:r>
              <a:rPr lang="en-CA" sz="900" dirty="0"/>
              <a:t>    ports:</a:t>
            </a:r>
          </a:p>
          <a:p>
            <a:r>
              <a:rPr lang="en-CA" sz="900" dirty="0"/>
              <a:t>      type: map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min_length</a:t>
            </a:r>
            <a:r>
              <a:rPr lang="en-CA" sz="900" dirty="0"/>
              <a:t>: 1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tosca.datatypes.network.PortSpec</a:t>
            </a:r>
            <a:endParaRPr lang="en-CA" sz="900" dirty="0"/>
          </a:p>
          <a:p>
            <a:r>
              <a:rPr lang="en-CA" sz="900" dirty="0"/>
              <a:t>  attributes: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public_address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private_address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endParaRPr lang="en-CA" sz="900" dirty="0"/>
          </a:p>
          <a:p>
            <a:r>
              <a:rPr lang="en-CA" sz="900" dirty="0" err="1"/>
              <a:t>tosca.capabilities.Endpoint.Admin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tosca.capabilities.Endpoint</a:t>
            </a:r>
            <a:endParaRPr lang="en-CA" sz="900" dirty="0"/>
          </a:p>
          <a:p>
            <a:r>
              <a:rPr lang="en-CA" sz="900" dirty="0"/>
              <a:t>  # Change Endpoint secure indicator to true from its default of false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secure: </a:t>
            </a:r>
          </a:p>
          <a:p>
            <a:r>
              <a:rPr lang="en-CA" sz="900" dirty="0"/>
              <a:t>      default: true</a:t>
            </a:r>
          </a:p>
          <a:p>
            <a:endParaRPr lang="en-CA" sz="900" dirty="0"/>
          </a:p>
          <a:p>
            <a:r>
              <a:rPr lang="en-CA" sz="900" dirty="0" err="1"/>
              <a:t>tosca.capabilities.Endpoint.Database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tosca.capabilities.Endpoint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tosca.capabilities.Attachment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tosca.capabilities.network.Linkable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r>
              <a:rPr lang="en-CA" sz="900" dirty="0"/>
              <a:t>  description: &gt;</a:t>
            </a:r>
          </a:p>
          <a:p>
            <a:r>
              <a:rPr lang="en-CA" sz="900" dirty="0"/>
              <a:t>    A node type that includes the Linkable capability indicates that it can</a:t>
            </a:r>
          </a:p>
          <a:p>
            <a:r>
              <a:rPr lang="en-CA" sz="900" dirty="0"/>
              <a:t>    be pointed by </a:t>
            </a:r>
            <a:r>
              <a:rPr lang="en-CA" sz="900" dirty="0" err="1"/>
              <a:t>tosca.relationships.network.LinksTo</a:t>
            </a:r>
            <a:r>
              <a:rPr lang="en-CA" sz="900" dirty="0"/>
              <a:t> relationship type, which</a:t>
            </a:r>
          </a:p>
          <a:p>
            <a:r>
              <a:rPr lang="en-CA" sz="900" dirty="0"/>
              <a:t>    represents an association relationship between Port and Network node types.</a:t>
            </a:r>
          </a:p>
          <a:p>
            <a:endParaRPr lang="en-CA" sz="900" dirty="0"/>
          </a:p>
          <a:p>
            <a:r>
              <a:rPr lang="en-CA" sz="900" dirty="0" err="1"/>
              <a:t>tosca.capabilities.network.Bindable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r>
              <a:rPr lang="en-CA" sz="900" dirty="0"/>
              <a:t>  description: &gt;</a:t>
            </a:r>
          </a:p>
          <a:p>
            <a:r>
              <a:rPr lang="en-CA" sz="900" dirty="0"/>
              <a:t>    A node type that includes the </a:t>
            </a:r>
            <a:r>
              <a:rPr lang="en-CA" sz="900" dirty="0" err="1"/>
              <a:t>Bindable</a:t>
            </a:r>
            <a:r>
              <a:rPr lang="en-CA" sz="900" dirty="0"/>
              <a:t> capability indicates that it can</a:t>
            </a:r>
          </a:p>
          <a:p>
            <a:r>
              <a:rPr lang="en-CA" sz="900" dirty="0"/>
              <a:t>    be pointed by </a:t>
            </a:r>
            <a:r>
              <a:rPr lang="en-CA" sz="900" dirty="0" err="1"/>
              <a:t>tosca.relationships.network.BindsTo</a:t>
            </a:r>
            <a:r>
              <a:rPr lang="en-CA" sz="900" dirty="0"/>
              <a:t> relationship type, which</a:t>
            </a:r>
          </a:p>
          <a:p>
            <a:r>
              <a:rPr lang="en-CA" sz="900" dirty="0"/>
              <a:t>    represents a network association relationship between Port and Compute node</a:t>
            </a:r>
          </a:p>
          <a:p>
            <a:r>
              <a:rPr lang="en-CA" sz="900" dirty="0"/>
              <a:t>    types.</a:t>
            </a:r>
          </a:p>
          <a:p>
            <a:endParaRPr lang="en-CA" sz="900" dirty="0"/>
          </a:p>
          <a:p>
            <a:r>
              <a:rPr lang="en-CA" sz="900" dirty="0" err="1"/>
              <a:t>tosca.capabilities.OperatingSystem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architecture: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default: x86_64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host Operating System (OS) architecture.</a:t>
            </a:r>
          </a:p>
          <a:p>
            <a:r>
              <a:rPr lang="en-CA" sz="900" dirty="0"/>
              <a:t>    type: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host Operating System (OS) type.</a:t>
            </a:r>
          </a:p>
          <a:p>
            <a:r>
              <a:rPr lang="en-CA" sz="900" dirty="0"/>
              <a:t>    distribution: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host Operating System (OS) distribution. Examples of valid values</a:t>
            </a:r>
          </a:p>
          <a:p>
            <a:r>
              <a:rPr lang="en-CA" sz="900" dirty="0"/>
              <a:t>        for an “type” of “Linux” would include:</a:t>
            </a:r>
          </a:p>
          <a:p>
            <a:r>
              <a:rPr lang="en-CA" sz="900" dirty="0"/>
              <a:t>        </a:t>
            </a:r>
            <a:r>
              <a:rPr lang="en-CA" sz="900" dirty="0" err="1"/>
              <a:t>debian</a:t>
            </a:r>
            <a:r>
              <a:rPr lang="en-CA" sz="900" dirty="0"/>
              <a:t>, fedora, </a:t>
            </a:r>
            <a:r>
              <a:rPr lang="en-CA" sz="900" dirty="0" err="1"/>
              <a:t>rhel</a:t>
            </a:r>
            <a:r>
              <a:rPr lang="en-CA" sz="900" dirty="0"/>
              <a:t> and </a:t>
            </a:r>
            <a:r>
              <a:rPr lang="en-CA" sz="900" dirty="0" err="1"/>
              <a:t>ubuntu</a:t>
            </a:r>
            <a:r>
              <a:rPr lang="en-CA" sz="900" dirty="0"/>
              <a:t>.</a:t>
            </a:r>
          </a:p>
          <a:p>
            <a:r>
              <a:rPr lang="en-CA" sz="900" dirty="0"/>
              <a:t>    version: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host Operating System version.</a:t>
            </a:r>
          </a:p>
          <a:p>
            <a:endParaRPr lang="en-CA" sz="900" dirty="0"/>
          </a:p>
          <a:p>
            <a:r>
              <a:rPr lang="en-CA" sz="900" dirty="0" err="1"/>
              <a:t>tosca.capabilities.Scalable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derived_from</a:t>
            </a:r>
            <a:r>
              <a:rPr lang="en-CA" sz="900" dirty="0"/>
              <a:t>: </a:t>
            </a:r>
            <a:r>
              <a:rPr lang="en-CA" sz="900" dirty="0" err="1"/>
              <a:t>tosca.capabilities.Root</a:t>
            </a:r>
            <a:endParaRPr lang="en-CA" sz="900" dirty="0"/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min_instances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default: 1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max_instances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default: 1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default_instances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required: false</a:t>
            </a:r>
          </a:p>
          <a:p>
            <a:r>
              <a:rPr lang="en-CA" sz="900" dirty="0"/>
              <a:t>      description: &gt;</a:t>
            </a:r>
          </a:p>
          <a:p>
            <a:r>
              <a:rPr lang="en-CA" sz="900" dirty="0"/>
              <a:t>        The value for this property MUST be in the range between the values</a:t>
            </a:r>
          </a:p>
          <a:p>
            <a:r>
              <a:rPr lang="en-CA" sz="900" dirty="0"/>
              <a:t>        set for </a:t>
            </a:r>
            <a:r>
              <a:rPr lang="en-CA" sz="900" dirty="0" err="1"/>
              <a:t>min_instances</a:t>
            </a:r>
            <a:r>
              <a:rPr lang="en-CA" sz="900" dirty="0"/>
              <a:t> and </a:t>
            </a:r>
            <a:r>
              <a:rPr lang="en-CA" sz="900" dirty="0" err="1"/>
              <a:t>max_instances</a:t>
            </a:r>
            <a:r>
              <a:rPr lang="en-CA" sz="900" dirty="0"/>
              <a:t> properties.</a:t>
            </a:r>
          </a:p>
          <a:p>
            <a:endParaRPr lang="en-CA" sz="900" dirty="0"/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/>
              <a:t> # Interfaces Type.</a:t>
            </a:r>
          </a:p>
          <a:p>
            <a:r>
              <a:rPr lang="en-CA" sz="900" dirty="0"/>
              <a:t> # The Interfaces element describes a list of one or more interface</a:t>
            </a:r>
          </a:p>
          <a:p>
            <a:r>
              <a:rPr lang="en-CA" sz="900" dirty="0"/>
              <a:t> # definitions for a </a:t>
            </a:r>
            <a:r>
              <a:rPr lang="en-CA" sz="900" dirty="0" err="1"/>
              <a:t>modelable</a:t>
            </a:r>
            <a:r>
              <a:rPr lang="en-CA" sz="900" dirty="0"/>
              <a:t> entity (e.g., a Node or Relationship Type)</a:t>
            </a:r>
          </a:p>
          <a:p>
            <a:r>
              <a:rPr lang="en-CA" sz="900" dirty="0"/>
              <a:t> # as defined within the TOSCA Simple Profile specification.</a:t>
            </a:r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 err="1"/>
              <a:t>tosca.interfaces.node.lifecycle.Standard</a:t>
            </a:r>
            <a:r>
              <a:rPr lang="en-CA" sz="900" dirty="0"/>
              <a:t>:</a:t>
            </a:r>
          </a:p>
          <a:p>
            <a:r>
              <a:rPr lang="en-CA" sz="900" dirty="0"/>
              <a:t>  create:</a:t>
            </a:r>
          </a:p>
          <a:p>
            <a:r>
              <a:rPr lang="en-CA" sz="900" dirty="0"/>
              <a:t>    description: Standard lifecycle create operation.</a:t>
            </a:r>
          </a:p>
          <a:p>
            <a:r>
              <a:rPr lang="en-CA" sz="900" dirty="0"/>
              <a:t>  configure:</a:t>
            </a:r>
          </a:p>
          <a:p>
            <a:r>
              <a:rPr lang="en-CA" sz="900" dirty="0"/>
              <a:t>    description: Standard lifecycle configure operation.</a:t>
            </a:r>
          </a:p>
          <a:p>
            <a:r>
              <a:rPr lang="en-CA" sz="900" dirty="0"/>
              <a:t>  start:</a:t>
            </a:r>
          </a:p>
          <a:p>
            <a:r>
              <a:rPr lang="en-CA" sz="900" dirty="0"/>
              <a:t>    description: Standard lifecycle start operation.</a:t>
            </a:r>
          </a:p>
          <a:p>
            <a:r>
              <a:rPr lang="en-CA" sz="900" dirty="0"/>
              <a:t>  stop:</a:t>
            </a:r>
          </a:p>
          <a:p>
            <a:r>
              <a:rPr lang="en-CA" sz="900" dirty="0"/>
              <a:t>    description: Standard lifecycle stop operation.</a:t>
            </a:r>
          </a:p>
          <a:p>
            <a:r>
              <a:rPr lang="en-CA" sz="900" dirty="0"/>
              <a:t>  delete:</a:t>
            </a:r>
          </a:p>
          <a:p>
            <a:r>
              <a:rPr lang="en-CA" sz="900" dirty="0"/>
              <a:t>    description: Standard lifecycle delete operation.</a:t>
            </a:r>
          </a:p>
          <a:p>
            <a:endParaRPr lang="en-CA" sz="900" dirty="0"/>
          </a:p>
          <a:p>
            <a:r>
              <a:rPr lang="en-CA" sz="900" dirty="0" err="1"/>
              <a:t>tosca.interfaces.relationship.Configure</a:t>
            </a:r>
            <a:r>
              <a:rPr lang="en-CA" sz="900" dirty="0"/>
              <a:t>:</a:t>
            </a:r>
          </a:p>
          <a:p>
            <a:r>
              <a:rPr lang="en-CA" sz="900" dirty="0"/>
              <a:t>  </a:t>
            </a:r>
            <a:r>
              <a:rPr lang="en-CA" sz="900" dirty="0" err="1"/>
              <a:t>pre_configure_source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pre-configure the source endpoint.</a:t>
            </a:r>
          </a:p>
          <a:p>
            <a:r>
              <a:rPr lang="en-CA" sz="900" dirty="0"/>
              <a:t>  </a:t>
            </a:r>
            <a:r>
              <a:rPr lang="en-CA" sz="900" dirty="0" err="1"/>
              <a:t>pre_configure_target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pre-configure the target endpoint.</a:t>
            </a:r>
          </a:p>
          <a:p>
            <a:r>
              <a:rPr lang="en-CA" sz="900" dirty="0"/>
              <a:t>  </a:t>
            </a:r>
            <a:r>
              <a:rPr lang="en-CA" sz="900" dirty="0" err="1"/>
              <a:t>post_configure_source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post-configure the source endpoint.</a:t>
            </a:r>
          </a:p>
          <a:p>
            <a:r>
              <a:rPr lang="en-CA" sz="900" dirty="0"/>
              <a:t>  </a:t>
            </a:r>
            <a:r>
              <a:rPr lang="en-CA" sz="900" dirty="0" err="1"/>
              <a:t>post_configure_target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post-configure the target endpoint.</a:t>
            </a:r>
          </a:p>
          <a:p>
            <a:r>
              <a:rPr lang="en-CA" sz="900" dirty="0"/>
              <a:t>  </a:t>
            </a:r>
            <a:r>
              <a:rPr lang="en-CA" sz="900" dirty="0" err="1"/>
              <a:t>add_target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add a target node.</a:t>
            </a:r>
          </a:p>
          <a:p>
            <a:r>
              <a:rPr lang="en-CA" sz="900" dirty="0"/>
              <a:t>  </a:t>
            </a:r>
            <a:r>
              <a:rPr lang="en-CA" sz="900" dirty="0" err="1"/>
              <a:t>remove_target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remove a target node.</a:t>
            </a:r>
          </a:p>
          <a:p>
            <a:r>
              <a:rPr lang="en-CA" sz="900" dirty="0"/>
              <a:t>  </a:t>
            </a:r>
            <a:r>
              <a:rPr lang="en-CA" sz="900" dirty="0" err="1"/>
              <a:t>add_source</a:t>
            </a:r>
            <a:r>
              <a:rPr lang="en-CA" sz="900" dirty="0"/>
              <a:t>: </a:t>
            </a:r>
          </a:p>
          <a:p>
            <a:r>
              <a:rPr lang="en-CA" sz="900" dirty="0"/>
              <a:t>    description: Operation to notify the target node of a source node which is now available via a relationship.</a:t>
            </a:r>
          </a:p>
          <a:p>
            <a:r>
              <a:rPr lang="en-CA" sz="900" dirty="0"/>
              <a:t>    description: </a:t>
            </a:r>
          </a:p>
          <a:p>
            <a:r>
              <a:rPr lang="en-CA" sz="900" dirty="0"/>
              <a:t>  </a:t>
            </a:r>
            <a:r>
              <a:rPr lang="en-CA" sz="900" dirty="0" err="1"/>
              <a:t>target_changed</a:t>
            </a:r>
            <a:r>
              <a:rPr lang="en-CA" sz="900" dirty="0"/>
              <a:t>:</a:t>
            </a:r>
          </a:p>
          <a:p>
            <a:r>
              <a:rPr lang="en-CA" sz="900" dirty="0"/>
              <a:t>    description: Operation to notify source some property or attribute of the target changed</a:t>
            </a:r>
          </a:p>
          <a:p>
            <a:endParaRPr lang="en-CA" sz="900" dirty="0"/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/>
              <a:t> # Data Type.</a:t>
            </a:r>
          </a:p>
          <a:p>
            <a:r>
              <a:rPr lang="en-CA" sz="900" dirty="0"/>
              <a:t> # A </a:t>
            </a:r>
            <a:r>
              <a:rPr lang="en-CA" sz="900" dirty="0" err="1"/>
              <a:t>Datatype</a:t>
            </a:r>
            <a:r>
              <a:rPr lang="en-CA" sz="900" dirty="0"/>
              <a:t> is a complex data type declaration which contains other</a:t>
            </a:r>
          </a:p>
          <a:p>
            <a:r>
              <a:rPr lang="en-CA" sz="900" dirty="0"/>
              <a:t> # complex or simple data types.</a:t>
            </a:r>
          </a:p>
          <a:p>
            <a:r>
              <a:rPr lang="en-CA" sz="900" dirty="0"/>
              <a:t>##########################################################################</a:t>
            </a:r>
          </a:p>
          <a:p>
            <a:r>
              <a:rPr lang="en-CA" sz="900" dirty="0" err="1"/>
              <a:t>tosca.datatypes.network.NetworkInfo</a:t>
            </a:r>
            <a:r>
              <a:rPr lang="en-CA" sz="900" dirty="0"/>
              <a:t>: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network_name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network_id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addresses:</a:t>
            </a:r>
          </a:p>
          <a:p>
            <a:r>
              <a:rPr lang="en-CA" sz="900" dirty="0"/>
              <a:t>      type: list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string</a:t>
            </a:r>
          </a:p>
          <a:p>
            <a:endParaRPr lang="en-CA" sz="900" dirty="0"/>
          </a:p>
          <a:p>
            <a:r>
              <a:rPr lang="en-CA" sz="900" dirty="0" err="1"/>
              <a:t>tosca.datatypes.network.PortInfo</a:t>
            </a:r>
            <a:r>
              <a:rPr lang="en-CA" sz="900" dirty="0"/>
              <a:t>: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port_name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port_id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network_id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mac_address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addresses:</a:t>
            </a:r>
          </a:p>
          <a:p>
            <a:r>
              <a:rPr lang="en-CA" sz="900" dirty="0"/>
              <a:t>      type: list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string</a:t>
            </a:r>
          </a:p>
          <a:p>
            <a:endParaRPr lang="en-CA" sz="900" dirty="0"/>
          </a:p>
          <a:p>
            <a:r>
              <a:rPr lang="en-CA" sz="900" dirty="0" err="1"/>
              <a:t>tosca.datatypes.network.PortDef</a:t>
            </a:r>
            <a:r>
              <a:rPr lang="en-CA" sz="900" dirty="0"/>
              <a:t>:</a:t>
            </a:r>
          </a:p>
          <a:p>
            <a:r>
              <a:rPr lang="en-CA" sz="900" dirty="0"/>
              <a:t>  type: integer</a:t>
            </a:r>
          </a:p>
          <a:p>
            <a:r>
              <a:rPr lang="en-CA" sz="900" dirty="0"/>
              <a:t>  constraints:</a:t>
            </a:r>
          </a:p>
          <a:p>
            <a:r>
              <a:rPr lang="en-CA" sz="900" dirty="0"/>
              <a:t>    - </a:t>
            </a:r>
            <a:r>
              <a:rPr lang="en-CA" sz="900" dirty="0" err="1"/>
              <a:t>in_range</a:t>
            </a:r>
            <a:r>
              <a:rPr lang="en-CA" sz="900" dirty="0"/>
              <a:t>: [ 1, 65535 ]</a:t>
            </a:r>
          </a:p>
          <a:p>
            <a:endParaRPr lang="en-CA" sz="900" dirty="0"/>
          </a:p>
          <a:p>
            <a:r>
              <a:rPr lang="en-CA" sz="900" dirty="0" err="1"/>
              <a:t>tosca.datatypes.network.PortSpec</a:t>
            </a:r>
            <a:r>
              <a:rPr lang="en-CA" sz="900" dirty="0"/>
              <a:t>: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protocol: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  required: true</a:t>
            </a:r>
          </a:p>
          <a:p>
            <a:r>
              <a:rPr lang="en-CA" sz="900" dirty="0"/>
              <a:t>      default: </a:t>
            </a:r>
            <a:r>
              <a:rPr lang="en-CA" sz="900" dirty="0" err="1"/>
              <a:t>tcp</a:t>
            </a:r>
            <a:endParaRPr lang="en-CA" sz="900" dirty="0"/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valid_values</a:t>
            </a:r>
            <a:r>
              <a:rPr lang="en-CA" sz="900" dirty="0"/>
              <a:t>: [ </a:t>
            </a:r>
            <a:r>
              <a:rPr lang="en-CA" sz="900" dirty="0" err="1"/>
              <a:t>udp</a:t>
            </a:r>
            <a:r>
              <a:rPr lang="en-CA" sz="900" dirty="0"/>
              <a:t>, </a:t>
            </a:r>
            <a:r>
              <a:rPr lang="en-CA" sz="900" dirty="0" err="1"/>
              <a:t>tcp</a:t>
            </a:r>
            <a:r>
              <a:rPr lang="en-CA" sz="900" dirty="0"/>
              <a:t>, </a:t>
            </a:r>
            <a:r>
              <a:rPr lang="en-CA" sz="900" dirty="0" err="1"/>
              <a:t>igmp</a:t>
            </a:r>
            <a:r>
              <a:rPr lang="en-CA" sz="900" dirty="0"/>
              <a:t> ]</a:t>
            </a:r>
          </a:p>
          <a:p>
            <a:r>
              <a:rPr lang="en-CA" sz="900" dirty="0"/>
              <a:t>    target:</a:t>
            </a:r>
          </a:p>
          <a:p>
            <a:r>
              <a:rPr lang="en-CA" sz="900" dirty="0"/>
              <a:t>      type: list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PortDef</a:t>
            </a:r>
            <a:endParaRPr lang="en-CA" sz="900" dirty="0"/>
          </a:p>
          <a:p>
            <a:r>
              <a:rPr lang="en-CA" sz="900" dirty="0"/>
              <a:t>    </a:t>
            </a:r>
            <a:r>
              <a:rPr lang="en-CA" sz="900" dirty="0" err="1"/>
              <a:t>target_range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range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in_range</a:t>
            </a:r>
            <a:r>
              <a:rPr lang="en-CA" sz="900" dirty="0"/>
              <a:t>: [ 1, 65535 ]</a:t>
            </a:r>
          </a:p>
          <a:p>
            <a:r>
              <a:rPr lang="en-CA" sz="900" dirty="0"/>
              <a:t>    source:</a:t>
            </a:r>
          </a:p>
          <a:p>
            <a:r>
              <a:rPr lang="en-CA" sz="900" dirty="0"/>
              <a:t>      type: list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</a:t>
            </a:r>
            <a:r>
              <a:rPr lang="en-CA" sz="900" dirty="0" err="1"/>
              <a:t>PortDef</a:t>
            </a:r>
            <a:endParaRPr lang="en-CA" sz="900" dirty="0"/>
          </a:p>
          <a:p>
            <a:r>
              <a:rPr lang="en-CA" sz="900" dirty="0"/>
              <a:t>    </a:t>
            </a:r>
            <a:r>
              <a:rPr lang="en-CA" sz="900" dirty="0" err="1"/>
              <a:t>source_range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range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in_range</a:t>
            </a:r>
            <a:r>
              <a:rPr lang="en-CA" sz="900" dirty="0"/>
              <a:t>: [ 1, 65535 ]</a:t>
            </a:r>
          </a:p>
          <a:p>
            <a:endParaRPr lang="en-CA" sz="900" dirty="0"/>
          </a:p>
          <a:p>
            <a:r>
              <a:rPr lang="en-CA" sz="900" dirty="0" err="1"/>
              <a:t>tosca.datatypes.network.Credential</a:t>
            </a:r>
            <a:r>
              <a:rPr lang="en-CA" sz="900" dirty="0"/>
              <a:t>:</a:t>
            </a:r>
          </a:p>
          <a:p>
            <a:r>
              <a:rPr lang="en-CA" sz="900" dirty="0"/>
              <a:t>  properties:</a:t>
            </a:r>
          </a:p>
          <a:p>
            <a:r>
              <a:rPr lang="en-CA" sz="900" dirty="0"/>
              <a:t>    protocol: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token_type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token:</a:t>
            </a:r>
          </a:p>
          <a:p>
            <a:r>
              <a:rPr lang="en-CA" sz="900" dirty="0"/>
              <a:t>      type: string</a:t>
            </a:r>
          </a:p>
          <a:p>
            <a:r>
              <a:rPr lang="en-CA" sz="900" dirty="0"/>
              <a:t>    keys:</a:t>
            </a:r>
          </a:p>
          <a:p>
            <a:r>
              <a:rPr lang="en-CA" sz="900" dirty="0"/>
              <a:t>      type: map</a:t>
            </a:r>
          </a:p>
          <a:p>
            <a:r>
              <a:rPr lang="en-CA" sz="900" dirty="0"/>
              <a:t>      </a:t>
            </a:r>
            <a:r>
              <a:rPr lang="en-CA" sz="900" dirty="0" err="1"/>
              <a:t>entry_schema</a:t>
            </a:r>
            <a:r>
              <a:rPr lang="en-CA" sz="900" dirty="0"/>
              <a:t>:</a:t>
            </a:r>
          </a:p>
          <a:p>
            <a:r>
              <a:rPr lang="en-CA" sz="900" dirty="0"/>
              <a:t>        type: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5400" y="1130300"/>
            <a:ext cx="4525392" cy="535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 err="1"/>
              <a:t>tosca_definitions_version</a:t>
            </a:r>
            <a:r>
              <a:rPr lang="en-CA" sz="900" dirty="0"/>
              <a:t>: tosca_simple_yaml_1_0_0</a:t>
            </a:r>
          </a:p>
          <a:p>
            <a:endParaRPr lang="en-CA" sz="900" dirty="0"/>
          </a:p>
          <a:p>
            <a:r>
              <a:rPr lang="en-CA" sz="900" dirty="0"/>
              <a:t>description: &gt;</a:t>
            </a:r>
          </a:p>
          <a:p>
            <a:r>
              <a:rPr lang="en-CA" sz="900" dirty="0"/>
              <a:t>  This TOSCA simple profile </a:t>
            </a:r>
            <a:r>
              <a:rPr lang="en-CA" sz="900" dirty="0" err="1"/>
              <a:t>deployes</a:t>
            </a:r>
            <a:r>
              <a:rPr lang="en-CA" sz="900" dirty="0"/>
              <a:t> </a:t>
            </a:r>
            <a:r>
              <a:rPr lang="en-CA" sz="900" dirty="0" err="1"/>
              <a:t>nodejs</a:t>
            </a:r>
            <a:r>
              <a:rPr lang="en-CA" sz="900" dirty="0"/>
              <a:t>, </a:t>
            </a:r>
            <a:r>
              <a:rPr lang="en-CA" sz="900" dirty="0" err="1"/>
              <a:t>mongodb</a:t>
            </a:r>
            <a:r>
              <a:rPr lang="en-CA" sz="900" dirty="0"/>
              <a:t>, </a:t>
            </a:r>
            <a:r>
              <a:rPr lang="en-CA" sz="900" dirty="0" err="1"/>
              <a:t>elasticsearch</a:t>
            </a:r>
            <a:r>
              <a:rPr lang="en-CA" sz="900" dirty="0"/>
              <a:t>, </a:t>
            </a:r>
            <a:r>
              <a:rPr lang="en-CA" sz="900" dirty="0" err="1"/>
              <a:t>logstash</a:t>
            </a:r>
            <a:r>
              <a:rPr lang="en-CA" sz="900" dirty="0"/>
              <a:t> and </a:t>
            </a:r>
            <a:r>
              <a:rPr lang="en-CA" sz="900" dirty="0" err="1"/>
              <a:t>kibana</a:t>
            </a:r>
            <a:r>
              <a:rPr lang="en-CA" sz="900" dirty="0"/>
              <a:t> each on a separate server</a:t>
            </a:r>
          </a:p>
          <a:p>
            <a:r>
              <a:rPr lang="en-CA" sz="900" dirty="0"/>
              <a:t>  with monitoring enabled for </a:t>
            </a:r>
            <a:r>
              <a:rPr lang="en-CA" sz="900" dirty="0" err="1"/>
              <a:t>nodejs</a:t>
            </a:r>
            <a:r>
              <a:rPr lang="en-CA" sz="900" dirty="0"/>
              <a:t> server where a sample </a:t>
            </a:r>
            <a:r>
              <a:rPr lang="en-CA" sz="900" dirty="0" err="1"/>
              <a:t>nodejs</a:t>
            </a:r>
            <a:r>
              <a:rPr lang="en-CA" sz="900" dirty="0"/>
              <a:t> application is running. The syslog and </a:t>
            </a:r>
            <a:r>
              <a:rPr lang="en-CA" sz="900" dirty="0" err="1"/>
              <a:t>collectd</a:t>
            </a:r>
            <a:r>
              <a:rPr lang="en-CA" sz="900" dirty="0"/>
              <a:t> are</a:t>
            </a:r>
          </a:p>
          <a:p>
            <a:r>
              <a:rPr lang="en-CA" sz="900" dirty="0"/>
              <a:t>  </a:t>
            </a:r>
            <a:r>
              <a:rPr lang="en-CA" sz="900" dirty="0" err="1"/>
              <a:t>insatlled</a:t>
            </a:r>
            <a:r>
              <a:rPr lang="en-CA" sz="900" dirty="0"/>
              <a:t> on a </a:t>
            </a:r>
            <a:r>
              <a:rPr lang="en-CA" sz="900" dirty="0" err="1"/>
              <a:t>nodejs</a:t>
            </a:r>
            <a:r>
              <a:rPr lang="en-CA" sz="900" dirty="0"/>
              <a:t> server.</a:t>
            </a:r>
          </a:p>
          <a:p>
            <a:endParaRPr lang="en-CA" sz="900" dirty="0"/>
          </a:p>
          <a:p>
            <a:r>
              <a:rPr lang="en-CA" sz="900" dirty="0"/>
              <a:t>imports:</a:t>
            </a:r>
          </a:p>
          <a:p>
            <a:r>
              <a:rPr lang="en-CA" sz="900" dirty="0"/>
              <a:t>  - </a:t>
            </a:r>
            <a:r>
              <a:rPr lang="en-CA" sz="900" dirty="0" err="1"/>
              <a:t>tosca_base_type_definition.yaml</a:t>
            </a:r>
            <a:endParaRPr lang="en-CA" sz="900" dirty="0"/>
          </a:p>
          <a:p>
            <a:r>
              <a:rPr lang="en-CA" sz="900" dirty="0"/>
              <a:t>  - </a:t>
            </a:r>
            <a:r>
              <a:rPr lang="en-CA" sz="900" dirty="0" err="1"/>
              <a:t>paypalpizzastore_nodejs_app.yaml</a:t>
            </a:r>
            <a:endParaRPr lang="en-CA" sz="900" dirty="0"/>
          </a:p>
          <a:p>
            <a:r>
              <a:rPr lang="en-CA" sz="900" dirty="0"/>
              <a:t>  - </a:t>
            </a:r>
            <a:r>
              <a:rPr lang="en-CA" sz="900" dirty="0" err="1"/>
              <a:t>elasticsearch.yaml</a:t>
            </a:r>
            <a:endParaRPr lang="en-CA" sz="900" dirty="0"/>
          </a:p>
          <a:p>
            <a:r>
              <a:rPr lang="en-CA" sz="900" dirty="0"/>
              <a:t>  - </a:t>
            </a:r>
            <a:r>
              <a:rPr lang="en-CA" sz="900" dirty="0" err="1"/>
              <a:t>logstash.yaml</a:t>
            </a:r>
            <a:endParaRPr lang="en-CA" sz="900" dirty="0"/>
          </a:p>
          <a:p>
            <a:r>
              <a:rPr lang="en-CA" sz="900" dirty="0"/>
              <a:t>  - </a:t>
            </a:r>
            <a:r>
              <a:rPr lang="en-CA" sz="900" dirty="0" err="1"/>
              <a:t>kibana.yaml</a:t>
            </a:r>
            <a:endParaRPr lang="en-CA" sz="900" dirty="0"/>
          </a:p>
          <a:p>
            <a:r>
              <a:rPr lang="en-CA" sz="900" dirty="0"/>
              <a:t>  - </a:t>
            </a:r>
            <a:r>
              <a:rPr lang="en-CA" sz="900" dirty="0" err="1"/>
              <a:t>collectd.yaml</a:t>
            </a:r>
            <a:endParaRPr lang="en-CA" sz="900" dirty="0"/>
          </a:p>
          <a:p>
            <a:r>
              <a:rPr lang="en-CA" sz="900" dirty="0"/>
              <a:t>  - </a:t>
            </a:r>
            <a:r>
              <a:rPr lang="en-CA" sz="900" dirty="0" err="1"/>
              <a:t>rsyslog.yaml</a:t>
            </a:r>
            <a:endParaRPr lang="en-CA" sz="900" dirty="0"/>
          </a:p>
          <a:p>
            <a:endParaRPr lang="en-CA" sz="900" dirty="0"/>
          </a:p>
          <a:p>
            <a:r>
              <a:rPr lang="en-CA" sz="900" dirty="0" err="1"/>
              <a:t>dsl_definitions</a:t>
            </a:r>
            <a:r>
              <a:rPr lang="en-CA" sz="900" dirty="0"/>
              <a:t>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host_capabilities</a:t>
            </a:r>
            <a:r>
              <a:rPr lang="en-CA" sz="900" dirty="0"/>
              <a:t>: &amp;</a:t>
            </a:r>
            <a:r>
              <a:rPr lang="en-CA" sz="900" dirty="0" err="1"/>
              <a:t>host_capabilities</a:t>
            </a:r>
            <a:endParaRPr lang="en-CA" sz="900" dirty="0"/>
          </a:p>
          <a:p>
            <a:r>
              <a:rPr lang="en-CA" sz="900" dirty="0"/>
              <a:t>      # container properties (</a:t>
            </a:r>
            <a:r>
              <a:rPr lang="en-CA" sz="900" dirty="0" err="1"/>
              <a:t>flavor</a:t>
            </a:r>
            <a:r>
              <a:rPr lang="en-CA" sz="900" dirty="0"/>
              <a:t>)</a:t>
            </a:r>
          </a:p>
          <a:p>
            <a:r>
              <a:rPr lang="en-CA" sz="900" dirty="0"/>
              <a:t>      disk_size: 10 GB</a:t>
            </a:r>
          </a:p>
          <a:p>
            <a:r>
              <a:rPr lang="en-CA" sz="900" dirty="0"/>
              <a:t>      num_cpus: { get_input: </a:t>
            </a:r>
            <a:r>
              <a:rPr lang="en-CA" sz="900" dirty="0" err="1"/>
              <a:t>my_cpus</a:t>
            </a:r>
            <a:r>
              <a:rPr lang="en-CA" sz="900" dirty="0"/>
              <a:t> }</a:t>
            </a:r>
          </a:p>
          <a:p>
            <a:r>
              <a:rPr lang="en-CA" sz="900" dirty="0"/>
              <a:t>      mem_size: 4096 MB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os_capabilities</a:t>
            </a:r>
            <a:r>
              <a:rPr lang="en-CA" sz="900" dirty="0"/>
              <a:t>: &amp;</a:t>
            </a:r>
            <a:r>
              <a:rPr lang="en-CA" sz="900" dirty="0" err="1"/>
              <a:t>os_capabilities</a:t>
            </a:r>
            <a:endParaRPr lang="en-CA" sz="900" dirty="0"/>
          </a:p>
          <a:p>
            <a:r>
              <a:rPr lang="en-CA" sz="900" dirty="0"/>
              <a:t>      architecture: x86_64</a:t>
            </a:r>
          </a:p>
          <a:p>
            <a:r>
              <a:rPr lang="en-CA" sz="900" dirty="0"/>
              <a:t>      type: Linux</a:t>
            </a:r>
          </a:p>
          <a:p>
            <a:r>
              <a:rPr lang="en-CA" sz="900" dirty="0"/>
              <a:t>      distribution: Ubuntu</a:t>
            </a:r>
          </a:p>
          <a:p>
            <a:r>
              <a:rPr lang="en-CA" sz="900" dirty="0"/>
              <a:t>      version: 14.04</a:t>
            </a:r>
          </a:p>
          <a:p>
            <a:endParaRPr lang="en-CA" sz="900" dirty="0"/>
          </a:p>
          <a:p>
            <a:r>
              <a:rPr lang="en-CA" sz="900" dirty="0" err="1"/>
              <a:t>topology_template</a:t>
            </a:r>
            <a:r>
              <a:rPr lang="en-CA" sz="900" dirty="0"/>
              <a:t>:</a:t>
            </a:r>
          </a:p>
          <a:p>
            <a:r>
              <a:rPr lang="en-CA" sz="900" dirty="0"/>
              <a:t>  inputs:</a:t>
            </a:r>
          </a:p>
          <a:p>
            <a:r>
              <a:rPr lang="en-CA" sz="900" dirty="0"/>
              <a:t>    </a:t>
            </a:r>
            <a:r>
              <a:rPr lang="en-CA" sz="900" dirty="0" err="1"/>
              <a:t>my_cpus</a:t>
            </a:r>
            <a:r>
              <a:rPr lang="en-CA" sz="900" dirty="0"/>
              <a:t>:</a:t>
            </a:r>
          </a:p>
          <a:p>
            <a:r>
              <a:rPr lang="en-CA" sz="900" dirty="0"/>
              <a:t>      type: integer</a:t>
            </a:r>
          </a:p>
          <a:p>
            <a:r>
              <a:rPr lang="en-CA" sz="900" dirty="0"/>
              <a:t>      description: Number of CPUs for the server.</a:t>
            </a:r>
          </a:p>
          <a:p>
            <a:r>
              <a:rPr lang="en-CA" sz="900" dirty="0"/>
              <a:t>      constraints:</a:t>
            </a:r>
          </a:p>
          <a:p>
            <a:r>
              <a:rPr lang="en-CA" sz="900" dirty="0"/>
              <a:t>        - </a:t>
            </a:r>
            <a:r>
              <a:rPr lang="en-CA" sz="900" dirty="0" err="1"/>
              <a:t>valid_values</a:t>
            </a:r>
            <a:r>
              <a:rPr lang="en-CA" sz="900" dirty="0"/>
              <a:t>: [ 1, 2, 4, 8 ]</a:t>
            </a:r>
          </a:p>
          <a:p>
            <a:r>
              <a:rPr lang="en-CA" sz="900" dirty="0"/>
              <a:t>  </a:t>
            </a:r>
            <a:r>
              <a:rPr lang="mr-IN" sz="900" dirty="0"/>
              <a:t>…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2009342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579" y="322729"/>
            <a:ext cx="8541572" cy="1398495"/>
          </a:xfrm>
        </p:spPr>
        <p:txBody>
          <a:bodyPr/>
          <a:lstStyle/>
          <a:p>
            <a:r>
              <a:rPr lang="en-CA" sz="3200" dirty="0"/>
              <a:t>TOSCA YAML </a:t>
            </a:r>
            <a:r>
              <a:rPr lang="en-CA" sz="3200" dirty="0" err="1"/>
              <a:t>IasC</a:t>
            </a:r>
            <a:r>
              <a:rPr lang="en-CA" sz="3200" dirty="0"/>
              <a:t> Maintenance &amp; Evolution Examples: Sample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7128" y="1839558"/>
            <a:ext cx="7258871" cy="3695223"/>
          </a:xfrm>
        </p:spPr>
        <p:txBody>
          <a:bodyPr/>
          <a:lstStyle/>
          <a:p>
            <a:r>
              <a:rPr lang="en-CA" sz="2800" dirty="0" err="1"/>
              <a:t>WordPress+MySQL</a:t>
            </a:r>
            <a:endParaRPr lang="en-CA" sz="2800" dirty="0"/>
          </a:p>
          <a:p>
            <a:r>
              <a:rPr lang="en-CA" sz="2800" dirty="0" err="1"/>
              <a:t>NodeJS</a:t>
            </a:r>
            <a:r>
              <a:rPr lang="en-CA" sz="2800" dirty="0"/>
              <a:t> </a:t>
            </a:r>
            <a:r>
              <a:rPr lang="en-CA" sz="2800" dirty="0" err="1"/>
              <a:t>App+MongoDB</a:t>
            </a:r>
            <a:endParaRPr lang="en-CA" sz="2800" dirty="0"/>
          </a:p>
          <a:p>
            <a:endParaRPr lang="en-CA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xfrm>
            <a:off x="8316416" y="6480720"/>
            <a:ext cx="792088" cy="4766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A2C5DB-42A7-480B-B57D-B0AA071F25FA}" type="slidenum">
              <a:rPr lang="en-GB" smtClean="0"/>
              <a:pPr/>
              <a:t>47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xfrm>
            <a:off x="0" y="6525344"/>
            <a:ext cx="224110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A6E7BC4-617A-E141-9114-911D157DA38E}" type="datetime1">
              <a:rPr lang="en-US" smtClean="0"/>
              <a:pPr/>
              <a:t>11/3/25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32385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4865" y="0"/>
            <a:ext cx="1752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WebServer-DBMS-1: </a:t>
            </a:r>
          </a:p>
          <a:p>
            <a:pPr algn="ctr"/>
            <a:r>
              <a:rPr lang="en-US" sz="1400" b="1" dirty="0"/>
              <a:t>WordPress - MySQL</a:t>
            </a:r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6200000" flipV="1">
            <a:off x="3251929" y="4931755"/>
            <a:ext cx="665546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6" name="Group 15"/>
          <p:cNvGrpSpPr/>
          <p:nvPr/>
        </p:nvGrpSpPr>
        <p:grpSpPr>
          <a:xfrm>
            <a:off x="1828800" y="2819400"/>
            <a:ext cx="1465028" cy="2286000"/>
            <a:chOff x="990600" y="1069127"/>
            <a:chExt cx="1465028" cy="2322533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990600" y="1069127"/>
              <a:ext cx="1465028" cy="232253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name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1382452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WebServer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1828800" y="3347590"/>
            <a:ext cx="125579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component_version:</a:t>
            </a:r>
            <a:endParaRPr lang="en-US" sz="900" i="1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admin_credential: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362201" y="4466260"/>
            <a:ext cx="1051495" cy="530040"/>
            <a:chOff x="1524001" y="3356160"/>
            <a:chExt cx="1051495" cy="530040"/>
          </a:xfrm>
        </p:grpSpPr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524001" y="3356160"/>
              <a:ext cx="1005905" cy="53004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683324" y="3550160"/>
              <a:ext cx="892172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Arial" charset="0"/>
                </a:rPr>
                <a:t>Container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67" idx="3"/>
            <a:endCxn id="35" idx="3"/>
          </p:cNvCxnSpPr>
          <p:nvPr/>
        </p:nvCxnSpPr>
        <p:spPr bwMode="auto">
          <a:xfrm flipV="1">
            <a:off x="3429000" y="5603872"/>
            <a:ext cx="326709" cy="613155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7" name="Group 16"/>
          <p:cNvGrpSpPr/>
          <p:nvPr/>
        </p:nvGrpSpPr>
        <p:grpSpPr>
          <a:xfrm>
            <a:off x="1830530" y="5261270"/>
            <a:ext cx="1463040" cy="1215730"/>
            <a:chOff x="916130" y="4904230"/>
            <a:chExt cx="1331868" cy="1156770"/>
          </a:xfrm>
        </p:grpSpPr>
        <p:sp>
          <p:nvSpPr>
            <p:cNvPr id="47" name="Web Server Tier"/>
            <p:cNvSpPr>
              <a:spLocks noChangeArrowheads="1"/>
            </p:cNvSpPr>
            <p:nvPr/>
          </p:nvSpPr>
          <p:spPr bwMode="auto">
            <a:xfrm>
              <a:off x="916130" y="4904230"/>
              <a:ext cx="1331867" cy="11567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server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16130" y="5196434"/>
              <a:ext cx="1331868" cy="23772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</p:grpSp>
      <p:sp>
        <p:nvSpPr>
          <p:cNvPr id="66" name="Web Server Tier"/>
          <p:cNvSpPr>
            <a:spLocks noChangeArrowheads="1"/>
          </p:cNvSpPr>
          <p:nvPr/>
        </p:nvSpPr>
        <p:spPr bwMode="auto">
          <a:xfrm>
            <a:off x="2399668" y="5867400"/>
            <a:ext cx="968436" cy="55063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2533930" y="6107299"/>
            <a:ext cx="89507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428999" y="5032669"/>
            <a:ext cx="685801" cy="647403"/>
            <a:chOff x="3124199" y="4457997"/>
            <a:chExt cx="685801" cy="647403"/>
          </a:xfrm>
        </p:grpSpPr>
        <p:sp>
          <p:nvSpPr>
            <p:cNvPr id="27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3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5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362200" y="3882730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2521524" y="4118740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78" name="Straight Connector 12"/>
          <p:cNvCxnSpPr>
            <a:cxnSpLocks noChangeShapeType="1"/>
            <a:stCxn id="91" idx="1"/>
            <a:endCxn id="85" idx="3"/>
          </p:cNvCxnSpPr>
          <p:nvPr/>
        </p:nvCxnSpPr>
        <p:spPr bwMode="auto">
          <a:xfrm rot="16200000" flipV="1">
            <a:off x="3233321" y="2576629"/>
            <a:ext cx="721254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9" name="Group 78"/>
          <p:cNvGrpSpPr/>
          <p:nvPr/>
        </p:nvGrpSpPr>
        <p:grpSpPr>
          <a:xfrm>
            <a:off x="1838046" y="838200"/>
            <a:ext cx="1465028" cy="1882639"/>
            <a:chOff x="990600" y="1069126"/>
            <a:chExt cx="1465028" cy="2852766"/>
          </a:xfrm>
        </p:grpSpPr>
        <p:sp>
          <p:nvSpPr>
            <p:cNvPr id="80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85276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wordpress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90600" y="1497915"/>
              <a:ext cx="1465028" cy="379472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WebApplication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1838046" y="1366391"/>
            <a:ext cx="93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context_root:</a:t>
            </a:r>
            <a:endParaRPr lang="en-US" sz="900" b="1" i="1" dirty="0">
              <a:solidFill>
                <a:srgbClr val="FF0000"/>
              </a:solidFill>
            </a:endParaRPr>
          </a:p>
        </p:txBody>
      </p:sp>
      <p:sp>
        <p:nvSpPr>
          <p:cNvPr id="84" name="Web Server Tier"/>
          <p:cNvSpPr>
            <a:spLocks noChangeArrowheads="1"/>
          </p:cNvSpPr>
          <p:nvPr/>
        </p:nvSpPr>
        <p:spPr bwMode="auto">
          <a:xfrm>
            <a:off x="2371447" y="1752759"/>
            <a:ext cx="1005905" cy="86056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85" name="Rectangle 14"/>
          <p:cNvSpPr>
            <a:spLocks noChangeArrowheads="1"/>
          </p:cNvSpPr>
          <p:nvPr/>
        </p:nvSpPr>
        <p:spPr bwMode="auto">
          <a:xfrm>
            <a:off x="2530770" y="2277280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86" name="Straight Connector 12"/>
          <p:cNvCxnSpPr>
            <a:cxnSpLocks noChangeShapeType="1"/>
            <a:stCxn id="50" idx="3"/>
            <a:endCxn id="92" idx="3"/>
          </p:cNvCxnSpPr>
          <p:nvPr/>
        </p:nvCxnSpPr>
        <p:spPr bwMode="auto">
          <a:xfrm flipV="1">
            <a:off x="3413695" y="3276600"/>
            <a:ext cx="351260" cy="951868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7" name="Group 86"/>
          <p:cNvGrpSpPr/>
          <p:nvPr/>
        </p:nvGrpSpPr>
        <p:grpSpPr>
          <a:xfrm>
            <a:off x="3438245" y="2705397"/>
            <a:ext cx="685801" cy="647403"/>
            <a:chOff x="3124199" y="4457997"/>
            <a:chExt cx="685801" cy="647403"/>
          </a:xfrm>
        </p:grpSpPr>
        <p:sp>
          <p:nvSpPr>
            <p:cNvPr id="88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90" name="Group 8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9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92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cxnSp>
        <p:nvCxnSpPr>
          <p:cNvPr id="98" name="Straight Connector 12"/>
          <p:cNvCxnSpPr>
            <a:cxnSpLocks noChangeShapeType="1"/>
            <a:stCxn id="116" idx="1"/>
            <a:endCxn id="105" idx="3"/>
          </p:cNvCxnSpPr>
          <p:nvPr/>
        </p:nvCxnSpPr>
        <p:spPr bwMode="auto">
          <a:xfrm rot="16200000" flipV="1">
            <a:off x="6486091" y="5314491"/>
            <a:ext cx="731931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99" name="Group 98"/>
          <p:cNvGrpSpPr/>
          <p:nvPr/>
        </p:nvGrpSpPr>
        <p:grpSpPr>
          <a:xfrm>
            <a:off x="5029200" y="3048000"/>
            <a:ext cx="1465028" cy="2368545"/>
            <a:chOff x="990600" y="1069127"/>
            <a:chExt cx="1465028" cy="2251546"/>
          </a:xfrm>
        </p:grpSpPr>
        <p:sp>
          <p:nvSpPr>
            <p:cNvPr id="100" name="Web Server Tier"/>
            <p:cNvSpPr>
              <a:spLocks noChangeArrowheads="1"/>
            </p:cNvSpPr>
            <p:nvPr/>
          </p:nvSpPr>
          <p:spPr bwMode="auto">
            <a:xfrm>
              <a:off x="990600" y="1069127"/>
              <a:ext cx="1465028" cy="225154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mysql_dbms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90600" y="1386813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DBMS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5029200" y="3599843"/>
            <a:ext cx="1225335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component_version</a:t>
            </a:r>
            <a:endParaRPr lang="en-US" sz="900" i="1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admin_credential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root_password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port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5629555" y="4815803"/>
            <a:ext cx="1051495" cy="530040"/>
            <a:chOff x="1524001" y="3356160"/>
            <a:chExt cx="1051495" cy="530040"/>
          </a:xfrm>
        </p:grpSpPr>
        <p:sp>
          <p:nvSpPr>
            <p:cNvPr id="104" name="Web Server Tier"/>
            <p:cNvSpPr>
              <a:spLocks noChangeArrowheads="1"/>
            </p:cNvSpPr>
            <p:nvPr/>
          </p:nvSpPr>
          <p:spPr bwMode="auto">
            <a:xfrm>
              <a:off x="1524001" y="3356160"/>
              <a:ext cx="1005905" cy="53004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105" name="Rectangle 14"/>
            <p:cNvSpPr>
              <a:spLocks noChangeArrowheads="1"/>
            </p:cNvSpPr>
            <p:nvPr/>
          </p:nvSpPr>
          <p:spPr bwMode="auto">
            <a:xfrm>
              <a:off x="1683324" y="3550160"/>
              <a:ext cx="892172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Arial" charset="0"/>
                </a:rPr>
                <a:t>Container</a:t>
              </a:r>
            </a:p>
          </p:txBody>
        </p:sp>
      </p:grpSp>
      <p:cxnSp>
        <p:nvCxnSpPr>
          <p:cNvPr id="106" name="Straight Connector 12"/>
          <p:cNvCxnSpPr>
            <a:cxnSpLocks noChangeShapeType="1"/>
            <a:stCxn id="67" idx="3"/>
            <a:endCxn id="117" idx="3"/>
          </p:cNvCxnSpPr>
          <p:nvPr/>
        </p:nvCxnSpPr>
        <p:spPr bwMode="auto">
          <a:xfrm flipV="1">
            <a:off x="3429000" y="6019800"/>
            <a:ext cx="3594063" cy="197227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2" name="Group 111"/>
          <p:cNvGrpSpPr/>
          <p:nvPr/>
        </p:nvGrpSpPr>
        <p:grpSpPr>
          <a:xfrm>
            <a:off x="6696353" y="5448597"/>
            <a:ext cx="685801" cy="647403"/>
            <a:chOff x="3124199" y="4457997"/>
            <a:chExt cx="685801" cy="647403"/>
          </a:xfrm>
        </p:grpSpPr>
        <p:sp>
          <p:nvSpPr>
            <p:cNvPr id="113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16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17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18" name="Web Server Tier"/>
          <p:cNvSpPr>
            <a:spLocks noChangeArrowheads="1"/>
          </p:cNvSpPr>
          <p:nvPr/>
        </p:nvSpPr>
        <p:spPr bwMode="auto">
          <a:xfrm>
            <a:off x="5629554" y="4232273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>
            <a:off x="5788878" y="4468283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0" name="Straight Connector 12"/>
          <p:cNvCxnSpPr>
            <a:cxnSpLocks noChangeShapeType="1"/>
            <a:stCxn id="132" idx="1"/>
            <a:endCxn id="126" idx="3"/>
          </p:cNvCxnSpPr>
          <p:nvPr/>
        </p:nvCxnSpPr>
        <p:spPr bwMode="auto">
          <a:xfrm rot="16200000" flipV="1">
            <a:off x="6179309" y="2671191"/>
            <a:ext cx="1509463" cy="196536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1" name="Group 120"/>
          <p:cNvGrpSpPr/>
          <p:nvPr/>
        </p:nvGrpSpPr>
        <p:grpSpPr>
          <a:xfrm>
            <a:off x="5029200" y="862160"/>
            <a:ext cx="1465028" cy="2073189"/>
            <a:chOff x="990600" y="1069126"/>
            <a:chExt cx="1465028" cy="2729346"/>
          </a:xfrm>
        </p:grpSpPr>
        <p:sp>
          <p:nvSpPr>
            <p:cNvPr id="122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72934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mysql_database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90600" y="1494683"/>
              <a:ext cx="1465028" cy="34316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Database</a:t>
              </a:r>
            </a:p>
          </p:txBody>
        </p:sp>
      </p:grpSp>
      <p:sp>
        <p:nvSpPr>
          <p:cNvPr id="124" name="Rectangle 123"/>
          <p:cNvSpPr/>
          <p:nvPr/>
        </p:nvSpPr>
        <p:spPr>
          <a:xfrm>
            <a:off x="5029200" y="1447800"/>
            <a:ext cx="750847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password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user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port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name</a:t>
            </a:r>
            <a:endParaRPr lang="en-US" sz="900" i="1" dirty="0"/>
          </a:p>
        </p:txBody>
      </p:sp>
      <p:sp>
        <p:nvSpPr>
          <p:cNvPr id="125" name="Web Server Tier"/>
          <p:cNvSpPr>
            <a:spLocks noChangeArrowheads="1"/>
          </p:cNvSpPr>
          <p:nvPr/>
        </p:nvSpPr>
        <p:spPr bwMode="auto">
          <a:xfrm>
            <a:off x="5775895" y="1676400"/>
            <a:ext cx="1005905" cy="52468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26" name="Rectangle 14"/>
          <p:cNvSpPr>
            <a:spLocks noChangeArrowheads="1"/>
          </p:cNvSpPr>
          <p:nvPr/>
        </p:nvSpPr>
        <p:spPr bwMode="auto">
          <a:xfrm>
            <a:off x="5943600" y="190499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7" name="Straight Connector 12"/>
          <p:cNvCxnSpPr>
            <a:cxnSpLocks noChangeShapeType="1"/>
            <a:stCxn id="119" idx="3"/>
            <a:endCxn id="133" idx="3"/>
          </p:cNvCxnSpPr>
          <p:nvPr/>
        </p:nvCxnSpPr>
        <p:spPr bwMode="auto">
          <a:xfrm flipV="1">
            <a:off x="6681049" y="3692528"/>
            <a:ext cx="351260" cy="885483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8" name="Group 127"/>
          <p:cNvGrpSpPr/>
          <p:nvPr/>
        </p:nvGrpSpPr>
        <p:grpSpPr>
          <a:xfrm>
            <a:off x="6705599" y="3121325"/>
            <a:ext cx="685801" cy="647403"/>
            <a:chOff x="3124199" y="4457997"/>
            <a:chExt cx="685801" cy="647403"/>
          </a:xfrm>
        </p:grpSpPr>
        <p:sp>
          <p:nvSpPr>
            <p:cNvPr id="129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31" name="Group 130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32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33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35" name="Web Server Tier"/>
          <p:cNvSpPr>
            <a:spLocks noChangeArrowheads="1"/>
          </p:cNvSpPr>
          <p:nvPr/>
        </p:nvSpPr>
        <p:spPr bwMode="auto">
          <a:xfrm>
            <a:off x="4892105" y="2365962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37" name="Web Server Tier"/>
          <p:cNvSpPr>
            <a:spLocks noChangeArrowheads="1"/>
          </p:cNvSpPr>
          <p:nvPr/>
        </p:nvSpPr>
        <p:spPr bwMode="auto">
          <a:xfrm>
            <a:off x="3717402" y="1295400"/>
            <a:ext cx="838200" cy="82905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3717402" y="1491550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ConnectsTo</a:t>
            </a:r>
          </a:p>
        </p:txBody>
      </p:sp>
      <p:cxnSp>
        <p:nvCxnSpPr>
          <p:cNvPr id="139" name="Straight Connector 12"/>
          <p:cNvCxnSpPr>
            <a:cxnSpLocks noChangeShapeType="1"/>
            <a:stCxn id="142" idx="1"/>
            <a:endCxn id="97" idx="3"/>
          </p:cNvCxnSpPr>
          <p:nvPr/>
        </p:nvCxnSpPr>
        <p:spPr bwMode="auto">
          <a:xfrm rot="10800000" flipV="1">
            <a:off x="3422943" y="1931787"/>
            <a:ext cx="582973" cy="18182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0" name="Straight Connector 12"/>
          <p:cNvCxnSpPr>
            <a:cxnSpLocks noChangeShapeType="1"/>
            <a:stCxn id="134" idx="1"/>
            <a:endCxn id="143" idx="3"/>
          </p:cNvCxnSpPr>
          <p:nvPr/>
        </p:nvCxnSpPr>
        <p:spPr bwMode="auto">
          <a:xfrm rot="10800000">
            <a:off x="4351435" y="1931788"/>
            <a:ext cx="447241" cy="77250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1" name="Group 140"/>
          <p:cNvGrpSpPr/>
          <p:nvPr/>
        </p:nvGrpSpPr>
        <p:grpSpPr>
          <a:xfrm flipH="1">
            <a:off x="4005915" y="1833678"/>
            <a:ext cx="345519" cy="196217"/>
            <a:chOff x="4398651" y="4729278"/>
            <a:chExt cx="361230" cy="196217"/>
          </a:xfrm>
        </p:grpSpPr>
        <p:sp>
          <p:nvSpPr>
            <p:cNvPr id="142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43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34" name="Rectangle 14"/>
          <p:cNvSpPr>
            <a:spLocks noChangeArrowheads="1"/>
          </p:cNvSpPr>
          <p:nvPr/>
        </p:nvSpPr>
        <p:spPr bwMode="auto">
          <a:xfrm>
            <a:off x="4798675" y="2594562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2530770" y="200387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674188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4857" y="0"/>
            <a:ext cx="1752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WebServer-DBMS-3: </a:t>
            </a:r>
          </a:p>
          <a:p>
            <a:pPr algn="ctr"/>
            <a:r>
              <a:rPr lang="en-US" sz="1400" b="1" dirty="0"/>
              <a:t>Nodejs - MongoDB</a:t>
            </a:r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6200000" flipV="1">
            <a:off x="3785329" y="4931755"/>
            <a:ext cx="665546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6" name="Group 15"/>
          <p:cNvGrpSpPr/>
          <p:nvPr/>
        </p:nvGrpSpPr>
        <p:grpSpPr>
          <a:xfrm>
            <a:off x="2362200" y="2819400"/>
            <a:ext cx="1465028" cy="2286000"/>
            <a:chOff x="990600" y="1069127"/>
            <a:chExt cx="1465028" cy="2322533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990600" y="1069127"/>
              <a:ext cx="1465028" cy="232253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nodejs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1382452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WebServer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2362200" y="3347590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 err="1">
                <a:solidFill>
                  <a:schemeClr val="tx2">
                    <a:lumMod val="50000"/>
                  </a:schemeClr>
                </a:solidFill>
              </a:rPr>
              <a:t>nodejs_sample_app</a:t>
            </a:r>
            <a:endParaRPr lang="en-US" sz="900" i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895601" y="4466260"/>
            <a:ext cx="1051495" cy="530040"/>
            <a:chOff x="1524001" y="3356160"/>
            <a:chExt cx="1051495" cy="530040"/>
          </a:xfrm>
        </p:grpSpPr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524001" y="3356160"/>
              <a:ext cx="1005905" cy="53004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683324" y="3550160"/>
              <a:ext cx="892172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Arial" charset="0"/>
                </a:rPr>
                <a:t>Container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67" idx="3"/>
            <a:endCxn id="35" idx="3"/>
          </p:cNvCxnSpPr>
          <p:nvPr/>
        </p:nvCxnSpPr>
        <p:spPr bwMode="auto">
          <a:xfrm flipV="1">
            <a:off x="3962400" y="5603872"/>
            <a:ext cx="326709" cy="613155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7" name="Group 16"/>
          <p:cNvGrpSpPr/>
          <p:nvPr/>
        </p:nvGrpSpPr>
        <p:grpSpPr>
          <a:xfrm>
            <a:off x="2363930" y="5261270"/>
            <a:ext cx="1463040" cy="1215730"/>
            <a:chOff x="916130" y="4904230"/>
            <a:chExt cx="1331868" cy="1156770"/>
          </a:xfrm>
        </p:grpSpPr>
        <p:sp>
          <p:nvSpPr>
            <p:cNvPr id="47" name="Web Server Tier"/>
            <p:cNvSpPr>
              <a:spLocks noChangeArrowheads="1"/>
            </p:cNvSpPr>
            <p:nvPr/>
          </p:nvSpPr>
          <p:spPr bwMode="auto">
            <a:xfrm>
              <a:off x="916130" y="4904230"/>
              <a:ext cx="1331867" cy="11567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app_server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16130" y="5196434"/>
              <a:ext cx="1331868" cy="23772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</p:grpSp>
      <p:sp>
        <p:nvSpPr>
          <p:cNvPr id="66" name="Web Server Tier"/>
          <p:cNvSpPr>
            <a:spLocks noChangeArrowheads="1"/>
          </p:cNvSpPr>
          <p:nvPr/>
        </p:nvSpPr>
        <p:spPr bwMode="auto">
          <a:xfrm>
            <a:off x="2933068" y="5867400"/>
            <a:ext cx="968436" cy="55063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3067330" y="6107299"/>
            <a:ext cx="89507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962399" y="5032669"/>
            <a:ext cx="685801" cy="647403"/>
            <a:chOff x="3124199" y="4457997"/>
            <a:chExt cx="685801" cy="647403"/>
          </a:xfrm>
        </p:grpSpPr>
        <p:sp>
          <p:nvSpPr>
            <p:cNvPr id="27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3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5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895600" y="3882730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3054924" y="4118740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78" name="Straight Connector 12"/>
          <p:cNvCxnSpPr>
            <a:cxnSpLocks noChangeShapeType="1"/>
            <a:stCxn id="91" idx="1"/>
            <a:endCxn id="85" idx="3"/>
          </p:cNvCxnSpPr>
          <p:nvPr/>
        </p:nvCxnSpPr>
        <p:spPr bwMode="auto">
          <a:xfrm rot="16200000" flipV="1">
            <a:off x="3766721" y="2576629"/>
            <a:ext cx="721254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9" name="Group 78"/>
          <p:cNvGrpSpPr/>
          <p:nvPr/>
        </p:nvGrpSpPr>
        <p:grpSpPr>
          <a:xfrm>
            <a:off x="2371446" y="838200"/>
            <a:ext cx="1465028" cy="1882639"/>
            <a:chOff x="990600" y="1069126"/>
            <a:chExt cx="1465028" cy="2852766"/>
          </a:xfrm>
        </p:grpSpPr>
        <p:sp>
          <p:nvSpPr>
            <p:cNvPr id="80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85276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paypal_sample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90600" y="1497915"/>
              <a:ext cx="1465028" cy="379472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WebApplication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2371446" y="1366391"/>
            <a:ext cx="93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context_root:</a:t>
            </a:r>
            <a:endParaRPr lang="en-US" sz="900" b="1" i="1" dirty="0">
              <a:solidFill>
                <a:srgbClr val="FF0000"/>
              </a:solidFill>
            </a:endParaRPr>
          </a:p>
        </p:txBody>
      </p:sp>
      <p:sp>
        <p:nvSpPr>
          <p:cNvPr id="84" name="Web Server Tier"/>
          <p:cNvSpPr>
            <a:spLocks noChangeArrowheads="1"/>
          </p:cNvSpPr>
          <p:nvPr/>
        </p:nvSpPr>
        <p:spPr bwMode="auto">
          <a:xfrm>
            <a:off x="2904847" y="1752759"/>
            <a:ext cx="1005905" cy="86056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85" name="Rectangle 14"/>
          <p:cNvSpPr>
            <a:spLocks noChangeArrowheads="1"/>
          </p:cNvSpPr>
          <p:nvPr/>
        </p:nvSpPr>
        <p:spPr bwMode="auto">
          <a:xfrm>
            <a:off x="3064170" y="2277280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86" name="Straight Connector 12"/>
          <p:cNvCxnSpPr>
            <a:cxnSpLocks noChangeShapeType="1"/>
            <a:stCxn id="50" idx="3"/>
            <a:endCxn id="92" idx="3"/>
          </p:cNvCxnSpPr>
          <p:nvPr/>
        </p:nvCxnSpPr>
        <p:spPr bwMode="auto">
          <a:xfrm flipV="1">
            <a:off x="3947095" y="3276600"/>
            <a:ext cx="351260" cy="951868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7" name="Group 86"/>
          <p:cNvGrpSpPr/>
          <p:nvPr/>
        </p:nvGrpSpPr>
        <p:grpSpPr>
          <a:xfrm>
            <a:off x="3971645" y="2705397"/>
            <a:ext cx="685801" cy="647403"/>
            <a:chOff x="3124199" y="4457997"/>
            <a:chExt cx="685801" cy="647403"/>
          </a:xfrm>
        </p:grpSpPr>
        <p:sp>
          <p:nvSpPr>
            <p:cNvPr id="88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90" name="Group 8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9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92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cxnSp>
        <p:nvCxnSpPr>
          <p:cNvPr id="98" name="Straight Connector 12"/>
          <p:cNvCxnSpPr>
            <a:cxnSpLocks noChangeShapeType="1"/>
            <a:stCxn id="116" idx="1"/>
            <a:endCxn id="105" idx="3"/>
          </p:cNvCxnSpPr>
          <p:nvPr/>
        </p:nvCxnSpPr>
        <p:spPr bwMode="auto">
          <a:xfrm rot="16200000" flipV="1">
            <a:off x="6941853" y="4969856"/>
            <a:ext cx="887207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99" name="Group 98"/>
          <p:cNvGrpSpPr/>
          <p:nvPr/>
        </p:nvGrpSpPr>
        <p:grpSpPr>
          <a:xfrm>
            <a:off x="5562600" y="3048001"/>
            <a:ext cx="1465028" cy="2113558"/>
            <a:chOff x="990600" y="1069128"/>
            <a:chExt cx="1465028" cy="2148798"/>
          </a:xfrm>
        </p:grpSpPr>
        <p:sp>
          <p:nvSpPr>
            <p:cNvPr id="100" name="Web Server Tier"/>
            <p:cNvSpPr>
              <a:spLocks noChangeArrowheads="1"/>
            </p:cNvSpPr>
            <p:nvPr/>
          </p:nvSpPr>
          <p:spPr bwMode="auto">
            <a:xfrm>
              <a:off x="990600" y="1069128"/>
              <a:ext cx="1465028" cy="214879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mongo_dbms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90600" y="1386813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DBMS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5562600" y="3599843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port</a:t>
            </a:r>
          </a:p>
        </p:txBody>
      </p:sp>
      <p:sp>
        <p:nvSpPr>
          <p:cNvPr id="104" name="Web Server Tier"/>
          <p:cNvSpPr>
            <a:spLocks noChangeArrowheads="1"/>
          </p:cNvSpPr>
          <p:nvPr/>
        </p:nvSpPr>
        <p:spPr bwMode="auto">
          <a:xfrm>
            <a:off x="6162955" y="4393530"/>
            <a:ext cx="1005905" cy="493776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>
            <a:off x="6322278" y="4587530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06" name="Straight Connector 12"/>
          <p:cNvCxnSpPr>
            <a:cxnSpLocks noChangeShapeType="1"/>
            <a:stCxn id="110" idx="3"/>
            <a:endCxn id="117" idx="3"/>
          </p:cNvCxnSpPr>
          <p:nvPr/>
        </p:nvCxnSpPr>
        <p:spPr bwMode="auto">
          <a:xfrm flipV="1">
            <a:off x="7162800" y="5752803"/>
            <a:ext cx="393663" cy="502027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2" name="Group 111"/>
          <p:cNvGrpSpPr/>
          <p:nvPr/>
        </p:nvGrpSpPr>
        <p:grpSpPr>
          <a:xfrm>
            <a:off x="7229753" y="5181600"/>
            <a:ext cx="685801" cy="647403"/>
            <a:chOff x="3124199" y="4457997"/>
            <a:chExt cx="685801" cy="647403"/>
          </a:xfrm>
        </p:grpSpPr>
        <p:sp>
          <p:nvSpPr>
            <p:cNvPr id="113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16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17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18" name="Web Server Tier"/>
          <p:cNvSpPr>
            <a:spLocks noChangeArrowheads="1"/>
          </p:cNvSpPr>
          <p:nvPr/>
        </p:nvSpPr>
        <p:spPr bwMode="auto">
          <a:xfrm>
            <a:off x="6162954" y="3810000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>
            <a:off x="6322278" y="4046010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0" name="Straight Connector 12"/>
          <p:cNvCxnSpPr>
            <a:cxnSpLocks noChangeShapeType="1"/>
            <a:stCxn id="132" idx="1"/>
            <a:endCxn id="126" idx="3"/>
          </p:cNvCxnSpPr>
          <p:nvPr/>
        </p:nvCxnSpPr>
        <p:spPr bwMode="auto">
          <a:xfrm rot="16200000" flipV="1">
            <a:off x="6712709" y="2671191"/>
            <a:ext cx="1509463" cy="196536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1" name="Group 120"/>
          <p:cNvGrpSpPr/>
          <p:nvPr/>
        </p:nvGrpSpPr>
        <p:grpSpPr>
          <a:xfrm>
            <a:off x="5562600" y="862160"/>
            <a:ext cx="1465028" cy="2073189"/>
            <a:chOff x="990600" y="1069126"/>
            <a:chExt cx="1465028" cy="2729346"/>
          </a:xfrm>
        </p:grpSpPr>
        <p:sp>
          <p:nvSpPr>
            <p:cNvPr id="122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72934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mongo_database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90600" y="1494683"/>
              <a:ext cx="1465028" cy="34316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Database</a:t>
              </a:r>
            </a:p>
          </p:txBody>
        </p:sp>
      </p:grpSp>
      <p:sp>
        <p:nvSpPr>
          <p:cNvPr id="124" name="Rectangle 123"/>
          <p:cNvSpPr/>
          <p:nvPr/>
        </p:nvSpPr>
        <p:spPr>
          <a:xfrm>
            <a:off x="5562600" y="1447800"/>
            <a:ext cx="750847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password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user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port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name</a:t>
            </a:r>
            <a:endParaRPr lang="en-US" sz="900" i="1" dirty="0"/>
          </a:p>
        </p:txBody>
      </p:sp>
      <p:sp>
        <p:nvSpPr>
          <p:cNvPr id="125" name="Web Server Tier"/>
          <p:cNvSpPr>
            <a:spLocks noChangeArrowheads="1"/>
          </p:cNvSpPr>
          <p:nvPr/>
        </p:nvSpPr>
        <p:spPr bwMode="auto">
          <a:xfrm>
            <a:off x="6309295" y="1676400"/>
            <a:ext cx="1005905" cy="52468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26" name="Rectangle 14"/>
          <p:cNvSpPr>
            <a:spLocks noChangeArrowheads="1"/>
          </p:cNvSpPr>
          <p:nvPr/>
        </p:nvSpPr>
        <p:spPr bwMode="auto">
          <a:xfrm>
            <a:off x="6477000" y="190499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7" name="Straight Connector 12"/>
          <p:cNvCxnSpPr>
            <a:cxnSpLocks noChangeShapeType="1"/>
            <a:stCxn id="119" idx="3"/>
            <a:endCxn id="133" idx="3"/>
          </p:cNvCxnSpPr>
          <p:nvPr/>
        </p:nvCxnSpPr>
        <p:spPr bwMode="auto">
          <a:xfrm flipV="1">
            <a:off x="7214449" y="3692528"/>
            <a:ext cx="351260" cy="463210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8" name="Group 127"/>
          <p:cNvGrpSpPr/>
          <p:nvPr/>
        </p:nvGrpSpPr>
        <p:grpSpPr>
          <a:xfrm>
            <a:off x="7238999" y="3121325"/>
            <a:ext cx="685801" cy="647403"/>
            <a:chOff x="3124199" y="4457997"/>
            <a:chExt cx="685801" cy="647403"/>
          </a:xfrm>
        </p:grpSpPr>
        <p:sp>
          <p:nvSpPr>
            <p:cNvPr id="129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31" name="Group 130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32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33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35" name="Web Server Tier"/>
          <p:cNvSpPr>
            <a:spLocks noChangeArrowheads="1"/>
          </p:cNvSpPr>
          <p:nvPr/>
        </p:nvSpPr>
        <p:spPr bwMode="auto">
          <a:xfrm>
            <a:off x="5425505" y="2365962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37" name="Web Server Tier"/>
          <p:cNvSpPr>
            <a:spLocks noChangeArrowheads="1"/>
          </p:cNvSpPr>
          <p:nvPr/>
        </p:nvSpPr>
        <p:spPr bwMode="auto">
          <a:xfrm>
            <a:off x="4250802" y="1295400"/>
            <a:ext cx="838200" cy="82905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4250802" y="1491550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ConnectsTo</a:t>
            </a:r>
          </a:p>
        </p:txBody>
      </p:sp>
      <p:cxnSp>
        <p:nvCxnSpPr>
          <p:cNvPr id="139" name="Straight Connector 12"/>
          <p:cNvCxnSpPr>
            <a:cxnSpLocks noChangeShapeType="1"/>
            <a:stCxn id="142" idx="1"/>
            <a:endCxn id="97" idx="3"/>
          </p:cNvCxnSpPr>
          <p:nvPr/>
        </p:nvCxnSpPr>
        <p:spPr bwMode="auto">
          <a:xfrm rot="10800000" flipV="1">
            <a:off x="3956343" y="1931787"/>
            <a:ext cx="582973" cy="18182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0" name="Straight Connector 12"/>
          <p:cNvCxnSpPr>
            <a:cxnSpLocks noChangeShapeType="1"/>
            <a:stCxn id="134" idx="1"/>
            <a:endCxn id="143" idx="3"/>
          </p:cNvCxnSpPr>
          <p:nvPr/>
        </p:nvCxnSpPr>
        <p:spPr bwMode="auto">
          <a:xfrm rot="10800000">
            <a:off x="4884835" y="1931788"/>
            <a:ext cx="447241" cy="77250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1" name="Group 140"/>
          <p:cNvGrpSpPr/>
          <p:nvPr/>
        </p:nvGrpSpPr>
        <p:grpSpPr>
          <a:xfrm flipH="1">
            <a:off x="4539315" y="1833678"/>
            <a:ext cx="345519" cy="196217"/>
            <a:chOff x="4398651" y="4729278"/>
            <a:chExt cx="361230" cy="196217"/>
          </a:xfrm>
        </p:grpSpPr>
        <p:sp>
          <p:nvSpPr>
            <p:cNvPr id="142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43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34" name="Rectangle 14"/>
          <p:cNvSpPr>
            <a:spLocks noChangeArrowheads="1"/>
          </p:cNvSpPr>
          <p:nvPr/>
        </p:nvSpPr>
        <p:spPr bwMode="auto">
          <a:xfrm>
            <a:off x="5332075" y="2594562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3064170" y="200387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83" name="Flowchart: Magnetic Disk 82"/>
          <p:cNvSpPr/>
          <p:nvPr/>
        </p:nvSpPr>
        <p:spPr>
          <a:xfrm>
            <a:off x="832616" y="787835"/>
            <a:ext cx="615184" cy="780810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GitHub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Repo.</a:t>
            </a:r>
          </a:p>
        </p:txBody>
      </p:sp>
      <p:cxnSp>
        <p:nvCxnSpPr>
          <p:cNvPr id="94" name="Straight Arrow Connector 93"/>
          <p:cNvCxnSpPr>
            <a:stCxn id="40" idx="1"/>
            <a:endCxn id="83" idx="3"/>
          </p:cNvCxnSpPr>
          <p:nvPr/>
        </p:nvCxnSpPr>
        <p:spPr>
          <a:xfrm flipH="1" flipV="1">
            <a:off x="1140208" y="1568645"/>
            <a:ext cx="1221992" cy="239375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owchart: Document 2"/>
          <p:cNvSpPr/>
          <p:nvPr/>
        </p:nvSpPr>
        <p:spPr>
          <a:xfrm>
            <a:off x="762000" y="2117334"/>
            <a:ext cx="1371600" cy="623179"/>
          </a:xfrm>
          <a:prstGeom prst="flowChart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rgbClr val="006600"/>
                </a:solidFill>
                <a:latin typeface="Calibri"/>
              </a:rPr>
              <a:t>Artifacts</a:t>
            </a:r>
            <a:r>
              <a:rPr lang="en-US" sz="1100" kern="0" dirty="0">
                <a:solidFill>
                  <a:srgbClr val="006600"/>
                </a:solidFill>
                <a:latin typeface="Calibri"/>
              </a:rPr>
              <a:t>:</a:t>
            </a:r>
            <a:endParaRPr lang="en-US" sz="1100" kern="0" dirty="0">
              <a:solidFill>
                <a:srgbClr val="006600"/>
              </a:solidFill>
              <a:latin typeface="Calibri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kern="0" dirty="0" err="1">
                <a:solidFill>
                  <a:srgbClr val="006600"/>
                </a:solidFill>
                <a:latin typeface="Calibri"/>
              </a:rPr>
              <a:t>nodejs_sample_app</a:t>
            </a:r>
            <a:endParaRPr lang="en-US" sz="1100" kern="0" dirty="0">
              <a:solidFill>
                <a:srgbClr val="006600"/>
              </a:solidFill>
              <a:latin typeface="Calibri"/>
              <a:cs typeface="+mn-cs"/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5564330" y="5299073"/>
            <a:ext cx="1463040" cy="1215730"/>
            <a:chOff x="916130" y="4904230"/>
            <a:chExt cx="1331868" cy="1156770"/>
          </a:xfrm>
        </p:grpSpPr>
        <p:sp>
          <p:nvSpPr>
            <p:cNvPr id="107" name="Web Server Tier"/>
            <p:cNvSpPr>
              <a:spLocks noChangeArrowheads="1"/>
            </p:cNvSpPr>
            <p:nvPr/>
          </p:nvSpPr>
          <p:spPr bwMode="auto">
            <a:xfrm>
              <a:off x="916130" y="4904230"/>
              <a:ext cx="1331867" cy="11567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mongo_server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916130" y="5196434"/>
              <a:ext cx="1331868" cy="23772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</p:grpSp>
      <p:sp>
        <p:nvSpPr>
          <p:cNvPr id="109" name="Web Server Tier"/>
          <p:cNvSpPr>
            <a:spLocks noChangeArrowheads="1"/>
          </p:cNvSpPr>
          <p:nvPr/>
        </p:nvSpPr>
        <p:spPr bwMode="auto">
          <a:xfrm>
            <a:off x="6133468" y="5905203"/>
            <a:ext cx="968436" cy="55063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6267730" y="6145102"/>
            <a:ext cx="89507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1096491036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9033" y="249010"/>
            <a:ext cx="5143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Block Storage 1: Using the normative AttachesTo Relationship Type</a:t>
            </a:r>
          </a:p>
        </p:txBody>
      </p:sp>
      <p:cxnSp>
        <p:nvCxnSpPr>
          <p:cNvPr id="29" name="Straight Connector 12"/>
          <p:cNvCxnSpPr>
            <a:cxnSpLocks noChangeShapeType="1"/>
            <a:stCxn id="5155" idx="1"/>
            <a:endCxn id="43" idx="3"/>
          </p:cNvCxnSpPr>
          <p:nvPr/>
        </p:nvCxnSpPr>
        <p:spPr bwMode="auto">
          <a:xfrm rot="10800000" flipV="1">
            <a:off x="3749666" y="4321666"/>
            <a:ext cx="822335" cy="612263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8" name="Web Server Tier"/>
          <p:cNvSpPr>
            <a:spLocks noChangeArrowheads="1"/>
          </p:cNvSpPr>
          <p:nvPr/>
        </p:nvSpPr>
        <p:spPr bwMode="auto">
          <a:xfrm>
            <a:off x="4267824" y="3720163"/>
            <a:ext cx="913775" cy="91440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00" i="1" dirty="0">
              <a:latin typeface="Arial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72000" y="4223558"/>
            <a:ext cx="350454" cy="196217"/>
            <a:chOff x="3035702" y="1219833"/>
            <a:chExt cx="350454" cy="196217"/>
          </a:xfrm>
        </p:grpSpPr>
        <p:sp>
          <p:nvSpPr>
            <p:cNvPr id="5155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152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409033" y="1807970"/>
            <a:ext cx="2340632" cy="3553297"/>
            <a:chOff x="646408" y="983407"/>
            <a:chExt cx="2340632" cy="3553297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646408" y="983407"/>
              <a:ext cx="1715792" cy="355329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my_server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6408" y="1372554"/>
              <a:ext cx="17157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6408" y="1752600"/>
              <a:ext cx="1137171" cy="8771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Attributes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private_address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public_address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networks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ports</a:t>
              </a:r>
            </a:p>
          </p:txBody>
        </p:sp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874586" y="3733800"/>
              <a:ext cx="1051560" cy="642057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981200" y="3999639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33" name="Web Server Tier"/>
            <p:cNvSpPr>
              <a:spLocks noChangeArrowheads="1"/>
            </p:cNvSpPr>
            <p:nvPr/>
          </p:nvSpPr>
          <p:spPr bwMode="auto">
            <a:xfrm>
              <a:off x="1865067" y="1787242"/>
              <a:ext cx="1061077" cy="1870358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1981200" y="20665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Container</a:t>
              </a:r>
            </a:p>
          </p:txBody>
        </p:sp>
        <p:sp>
          <p:nvSpPr>
            <p:cNvPr id="50" name="Rectangle 14"/>
            <p:cNvSpPr>
              <a:spLocks noChangeArrowheads="1"/>
            </p:cNvSpPr>
            <p:nvPr/>
          </p:nvSpPr>
          <p:spPr bwMode="auto">
            <a:xfrm>
              <a:off x="1981200" y="26761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Scalable</a:t>
              </a:r>
            </a:p>
          </p:txBody>
        </p:sp>
        <p:sp>
          <p:nvSpPr>
            <p:cNvPr id="51" name="Rectangle 14"/>
            <p:cNvSpPr>
              <a:spLocks noChangeArrowheads="1"/>
            </p:cNvSpPr>
            <p:nvPr/>
          </p:nvSpPr>
          <p:spPr bwMode="auto">
            <a:xfrm>
              <a:off x="1981200" y="29809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Bindable</a:t>
              </a:r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1981200" y="32857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Endpoint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54" idx="1"/>
            <a:endCxn id="5152" idx="3"/>
          </p:cNvCxnSpPr>
          <p:nvPr/>
        </p:nvCxnSpPr>
        <p:spPr bwMode="auto">
          <a:xfrm rot="10800000" flipV="1">
            <a:off x="4922454" y="3926928"/>
            <a:ext cx="792546" cy="39474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5715000" y="2746745"/>
            <a:ext cx="2133600" cy="2251635"/>
            <a:chOff x="4648200" y="1922182"/>
            <a:chExt cx="2133600" cy="2251635"/>
          </a:xfrm>
        </p:grpSpPr>
        <p:sp>
          <p:nvSpPr>
            <p:cNvPr id="77" name="Web Server Tier"/>
            <p:cNvSpPr>
              <a:spLocks noChangeArrowheads="1"/>
            </p:cNvSpPr>
            <p:nvPr/>
          </p:nvSpPr>
          <p:spPr bwMode="auto">
            <a:xfrm>
              <a:off x="5142208" y="1922182"/>
              <a:ext cx="1639592" cy="225163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142208" y="2311329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3" name="Web Server Tier"/>
            <p:cNvSpPr>
              <a:spLocks noChangeArrowheads="1"/>
            </p:cNvSpPr>
            <p:nvPr/>
          </p:nvSpPr>
          <p:spPr bwMode="auto">
            <a:xfrm>
              <a:off x="4730841" y="2766400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4648200" y="2992637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5000" y="2710464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2743825" y="3195907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>
                <a:latin typeface="Arial" charset="0"/>
              </a:rPr>
              <a:t>OperatingSystem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7200" y="3898075"/>
            <a:ext cx="914399" cy="224424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AttachesTo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48B84-D2EC-94ED-4993-6FE9C600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50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2814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76200"/>
            <a:ext cx="4758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Block Storage 2: Using a custom AttachesTo Relationship Type</a:t>
            </a:r>
          </a:p>
        </p:txBody>
      </p:sp>
      <p:cxnSp>
        <p:nvCxnSpPr>
          <p:cNvPr id="29" name="Straight Connector 12"/>
          <p:cNvCxnSpPr>
            <a:cxnSpLocks noChangeShapeType="1"/>
            <a:stCxn id="5155" idx="1"/>
            <a:endCxn id="43" idx="3"/>
          </p:cNvCxnSpPr>
          <p:nvPr/>
        </p:nvCxnSpPr>
        <p:spPr bwMode="auto">
          <a:xfrm rot="10800000" flipV="1">
            <a:off x="3276600" y="3811251"/>
            <a:ext cx="944946" cy="612263"/>
          </a:xfrm>
          <a:prstGeom prst="bentConnector3">
            <a:avLst>
              <a:gd name="adj1" fmla="val 75736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8" name="Web Server Tier"/>
          <p:cNvSpPr>
            <a:spLocks noChangeArrowheads="1"/>
          </p:cNvSpPr>
          <p:nvPr/>
        </p:nvSpPr>
        <p:spPr bwMode="auto">
          <a:xfrm>
            <a:off x="3680839" y="3100021"/>
            <a:ext cx="1472232" cy="1024128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36576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00" b="1" dirty="0">
              <a:latin typeface="Arial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221546" y="3713143"/>
            <a:ext cx="350454" cy="196217"/>
            <a:chOff x="3035702" y="1219833"/>
            <a:chExt cx="350454" cy="196217"/>
          </a:xfrm>
        </p:grpSpPr>
        <p:sp>
          <p:nvSpPr>
            <p:cNvPr id="5155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152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35968" y="1297555"/>
            <a:ext cx="2340632" cy="3553297"/>
            <a:chOff x="646408" y="983407"/>
            <a:chExt cx="2340632" cy="3553297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646408" y="983407"/>
              <a:ext cx="1715792" cy="355329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my_server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6408" y="1372554"/>
              <a:ext cx="17157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6408" y="1752600"/>
              <a:ext cx="1137171" cy="8771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Attributes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private_address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public_address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networks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ports</a:t>
              </a:r>
            </a:p>
          </p:txBody>
        </p:sp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874586" y="3733800"/>
              <a:ext cx="1051560" cy="642057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981200" y="3999639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33" name="Web Server Tier"/>
            <p:cNvSpPr>
              <a:spLocks noChangeArrowheads="1"/>
            </p:cNvSpPr>
            <p:nvPr/>
          </p:nvSpPr>
          <p:spPr bwMode="auto">
            <a:xfrm>
              <a:off x="1865067" y="1787242"/>
              <a:ext cx="1061077" cy="1870358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1981200" y="20665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Container</a:t>
              </a:r>
            </a:p>
          </p:txBody>
        </p:sp>
        <p:sp>
          <p:nvSpPr>
            <p:cNvPr id="50" name="Rectangle 14"/>
            <p:cNvSpPr>
              <a:spLocks noChangeArrowheads="1"/>
            </p:cNvSpPr>
            <p:nvPr/>
          </p:nvSpPr>
          <p:spPr bwMode="auto">
            <a:xfrm>
              <a:off x="1981200" y="26761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Scalable</a:t>
              </a:r>
            </a:p>
          </p:txBody>
        </p:sp>
        <p:sp>
          <p:nvSpPr>
            <p:cNvPr id="51" name="Rectangle 14"/>
            <p:cNvSpPr>
              <a:spLocks noChangeArrowheads="1"/>
            </p:cNvSpPr>
            <p:nvPr/>
          </p:nvSpPr>
          <p:spPr bwMode="auto">
            <a:xfrm>
              <a:off x="1981200" y="29809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Bindable</a:t>
              </a:r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1981200" y="32857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Endpoint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54" idx="1"/>
            <a:endCxn id="5152" idx="3"/>
          </p:cNvCxnSpPr>
          <p:nvPr/>
        </p:nvCxnSpPr>
        <p:spPr bwMode="auto">
          <a:xfrm rot="10800000" flipV="1">
            <a:off x="4572000" y="3416513"/>
            <a:ext cx="914400" cy="394740"/>
          </a:xfrm>
          <a:prstGeom prst="bentConnector3">
            <a:avLst>
              <a:gd name="adj1" fmla="val 24468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5486400" y="2236330"/>
            <a:ext cx="2133600" cy="2251635"/>
            <a:chOff x="4648200" y="1922182"/>
            <a:chExt cx="2133600" cy="2251635"/>
          </a:xfrm>
        </p:grpSpPr>
        <p:sp>
          <p:nvSpPr>
            <p:cNvPr id="77" name="Web Server Tier"/>
            <p:cNvSpPr>
              <a:spLocks noChangeArrowheads="1"/>
            </p:cNvSpPr>
            <p:nvPr/>
          </p:nvSpPr>
          <p:spPr bwMode="auto">
            <a:xfrm>
              <a:off x="5142208" y="1922182"/>
              <a:ext cx="1639592" cy="225163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142208" y="2311329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3" name="Web Server Tier"/>
            <p:cNvSpPr>
              <a:spLocks noChangeArrowheads="1"/>
            </p:cNvSpPr>
            <p:nvPr/>
          </p:nvSpPr>
          <p:spPr bwMode="auto">
            <a:xfrm>
              <a:off x="4730841" y="2766400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4648200" y="2992637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5000" y="2710464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2270760" y="2685492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>
                <a:latin typeface="Arial" charset="0"/>
              </a:rPr>
              <a:t>OperatingSystem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80839" y="3389459"/>
            <a:ext cx="1472232" cy="224424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MyCustomAttachesTo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CB085-1EB3-83AF-AEEE-5CA259F0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51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43580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0082" y="258437"/>
            <a:ext cx="5072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Block Storage 3: Using a Relationship Template of type AttachesTo</a:t>
            </a:r>
          </a:p>
        </p:txBody>
      </p:sp>
      <p:cxnSp>
        <p:nvCxnSpPr>
          <p:cNvPr id="29" name="Straight Connector 12"/>
          <p:cNvCxnSpPr>
            <a:cxnSpLocks noChangeShapeType="1"/>
            <a:endCxn id="43" idx="3"/>
          </p:cNvCxnSpPr>
          <p:nvPr/>
        </p:nvCxnSpPr>
        <p:spPr bwMode="auto">
          <a:xfrm rot="10800000" flipV="1">
            <a:off x="3276601" y="3811251"/>
            <a:ext cx="1007577" cy="612263"/>
          </a:xfrm>
          <a:prstGeom prst="bentConnector3">
            <a:avLst>
              <a:gd name="adj1" fmla="val 79929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1" name="Group 20"/>
          <p:cNvGrpSpPr/>
          <p:nvPr/>
        </p:nvGrpSpPr>
        <p:grpSpPr>
          <a:xfrm>
            <a:off x="935968" y="1297555"/>
            <a:ext cx="2340632" cy="3553297"/>
            <a:chOff x="646408" y="983407"/>
            <a:chExt cx="2340632" cy="3553297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646408" y="983407"/>
              <a:ext cx="1715792" cy="355329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my_server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6408" y="1372554"/>
              <a:ext cx="17157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46408" y="1752600"/>
              <a:ext cx="1137171" cy="8771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Attributes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private_address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public_address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networks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ports</a:t>
              </a:r>
            </a:p>
          </p:txBody>
        </p:sp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874586" y="3733800"/>
              <a:ext cx="1051560" cy="642057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981200" y="3999639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33" name="Web Server Tier"/>
            <p:cNvSpPr>
              <a:spLocks noChangeArrowheads="1"/>
            </p:cNvSpPr>
            <p:nvPr/>
          </p:nvSpPr>
          <p:spPr bwMode="auto">
            <a:xfrm>
              <a:off x="1865067" y="1787242"/>
              <a:ext cx="1061077" cy="1870358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1981200" y="20665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Container</a:t>
              </a:r>
            </a:p>
          </p:txBody>
        </p:sp>
        <p:sp>
          <p:nvSpPr>
            <p:cNvPr id="50" name="Rectangle 14"/>
            <p:cNvSpPr>
              <a:spLocks noChangeArrowheads="1"/>
            </p:cNvSpPr>
            <p:nvPr/>
          </p:nvSpPr>
          <p:spPr bwMode="auto">
            <a:xfrm>
              <a:off x="1981200" y="26761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Scalable</a:t>
              </a:r>
            </a:p>
          </p:txBody>
        </p:sp>
        <p:sp>
          <p:nvSpPr>
            <p:cNvPr id="51" name="Rectangle 14"/>
            <p:cNvSpPr>
              <a:spLocks noChangeArrowheads="1"/>
            </p:cNvSpPr>
            <p:nvPr/>
          </p:nvSpPr>
          <p:spPr bwMode="auto">
            <a:xfrm>
              <a:off x="1981200" y="29809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Bindable</a:t>
              </a:r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1981200" y="3285744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Endpoint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54" idx="1"/>
            <a:endCxn id="35" idx="3"/>
          </p:cNvCxnSpPr>
          <p:nvPr/>
        </p:nvCxnSpPr>
        <p:spPr bwMode="auto">
          <a:xfrm rot="10800000" flipV="1">
            <a:off x="4572000" y="3416513"/>
            <a:ext cx="914400" cy="394740"/>
          </a:xfrm>
          <a:prstGeom prst="bentConnector3">
            <a:avLst>
              <a:gd name="adj1" fmla="val 18085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5486400" y="2236330"/>
            <a:ext cx="2133600" cy="2251635"/>
            <a:chOff x="4648200" y="1922182"/>
            <a:chExt cx="2133600" cy="2251635"/>
          </a:xfrm>
        </p:grpSpPr>
        <p:sp>
          <p:nvSpPr>
            <p:cNvPr id="77" name="Web Server Tier"/>
            <p:cNvSpPr>
              <a:spLocks noChangeArrowheads="1"/>
            </p:cNvSpPr>
            <p:nvPr/>
          </p:nvSpPr>
          <p:spPr bwMode="auto">
            <a:xfrm>
              <a:off x="5142208" y="1922182"/>
              <a:ext cx="1639592" cy="225163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142208" y="2311329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3" name="Web Server Tier"/>
            <p:cNvSpPr>
              <a:spLocks noChangeArrowheads="1"/>
            </p:cNvSpPr>
            <p:nvPr/>
          </p:nvSpPr>
          <p:spPr bwMode="auto">
            <a:xfrm>
              <a:off x="4730841" y="2766400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4648200" y="2992637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5000" y="2710464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2270760" y="2685492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>
                <a:latin typeface="Arial" charset="0"/>
              </a:rPr>
              <a:t>OperatingSystem</a:t>
            </a:r>
          </a:p>
        </p:txBody>
      </p:sp>
      <p:sp>
        <p:nvSpPr>
          <p:cNvPr id="27" name="Web Server Tier"/>
          <p:cNvSpPr>
            <a:spLocks noChangeArrowheads="1"/>
          </p:cNvSpPr>
          <p:nvPr/>
        </p:nvSpPr>
        <p:spPr bwMode="auto">
          <a:xfrm>
            <a:off x="3680839" y="3100021"/>
            <a:ext cx="1472232" cy="1024128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1000" i="1" dirty="0">
                <a:latin typeface="Arial" charset="0"/>
              </a:rPr>
              <a:t>storage_attachment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4221546" y="3713143"/>
            <a:ext cx="350454" cy="196217"/>
            <a:chOff x="3035702" y="1219833"/>
            <a:chExt cx="350454" cy="196217"/>
          </a:xfrm>
        </p:grpSpPr>
        <p:sp>
          <p:nvSpPr>
            <p:cNvPr id="31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680839" y="3389459"/>
            <a:ext cx="1472232" cy="224424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AttachesTo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F58C2-36E2-226E-8A47-F877D6C0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4277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9143" y="76200"/>
            <a:ext cx="42237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Block Storage 4: </a:t>
            </a:r>
          </a:p>
          <a:p>
            <a:pPr algn="ctr"/>
            <a:r>
              <a:rPr lang="en-US" sz="1400" b="1" u="sng" dirty="0"/>
              <a:t>Single Block Storage shared by 2-Tier Application with </a:t>
            </a:r>
          </a:p>
          <a:p>
            <a:pPr algn="ctr"/>
            <a:r>
              <a:rPr lang="en-US" sz="1400" b="1" u="sng" dirty="0"/>
              <a:t>custom AttachesTo Type and implied relationships</a:t>
            </a:r>
            <a:endParaRPr lang="en-US" sz="1400" b="1" dirty="0"/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0800000">
            <a:off x="3276601" y="2966366"/>
            <a:ext cx="1222257" cy="59726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0" name="Web Server Tier"/>
          <p:cNvSpPr>
            <a:spLocks noChangeArrowheads="1"/>
          </p:cNvSpPr>
          <p:nvPr/>
        </p:nvSpPr>
        <p:spPr bwMode="auto">
          <a:xfrm>
            <a:off x="951208" y="990600"/>
            <a:ext cx="1715792" cy="23910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my_web_app_tier_1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1208" y="1379746"/>
            <a:ext cx="171579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968" y="1759792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34" name="Web Server Tier"/>
          <p:cNvSpPr>
            <a:spLocks noChangeArrowheads="1"/>
          </p:cNvSpPr>
          <p:nvPr/>
        </p:nvSpPr>
        <p:spPr bwMode="auto">
          <a:xfrm>
            <a:off x="2164146" y="2590799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2270760" y="2856638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Attachment</a:t>
            </a:r>
          </a:p>
        </p:txBody>
      </p: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154627" y="1826644"/>
            <a:ext cx="1061077" cy="65426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2270760" y="2066543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latin typeface="Arial" charset="0"/>
              </a:rPr>
              <a:t>…</a:t>
            </a:r>
          </a:p>
        </p:txBody>
      </p:sp>
      <p:cxnSp>
        <p:nvCxnSpPr>
          <p:cNvPr id="32" name="Straight Connector 12"/>
          <p:cNvCxnSpPr>
            <a:cxnSpLocks noChangeShapeType="1"/>
            <a:stCxn id="54" idx="1"/>
            <a:endCxn id="35" idx="3"/>
          </p:cNvCxnSpPr>
          <p:nvPr/>
        </p:nvCxnSpPr>
        <p:spPr bwMode="auto">
          <a:xfrm rot="10800000">
            <a:off x="4849312" y="3026094"/>
            <a:ext cx="1170489" cy="855455"/>
          </a:xfrm>
          <a:prstGeom prst="bentConnector3">
            <a:avLst>
              <a:gd name="adj1" fmla="val 18236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6019800" y="2701365"/>
            <a:ext cx="2133600" cy="1777081"/>
            <a:chOff x="4648200" y="1922182"/>
            <a:chExt cx="2133600" cy="1777081"/>
          </a:xfrm>
        </p:grpSpPr>
        <p:sp>
          <p:nvSpPr>
            <p:cNvPr id="77" name="Web Server Tier"/>
            <p:cNvSpPr>
              <a:spLocks noChangeArrowheads="1"/>
            </p:cNvSpPr>
            <p:nvPr/>
          </p:nvSpPr>
          <p:spPr bwMode="auto">
            <a:xfrm>
              <a:off x="5142208" y="1922182"/>
              <a:ext cx="1639592" cy="177708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142208" y="2311329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3" name="Web Server Tier"/>
            <p:cNvSpPr>
              <a:spLocks noChangeArrowheads="1"/>
            </p:cNvSpPr>
            <p:nvPr/>
          </p:nvSpPr>
          <p:spPr bwMode="auto">
            <a:xfrm>
              <a:off x="4730841" y="2766400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4648200" y="2992637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5000" y="2710464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27" name="Web Server Tier"/>
          <p:cNvSpPr>
            <a:spLocks noChangeArrowheads="1"/>
          </p:cNvSpPr>
          <p:nvPr/>
        </p:nvSpPr>
        <p:spPr bwMode="auto">
          <a:xfrm>
            <a:off x="3785568" y="1836948"/>
            <a:ext cx="1777032" cy="15003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00" i="1" dirty="0">
              <a:latin typeface="Arial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4498857" y="2927983"/>
            <a:ext cx="350454" cy="196217"/>
            <a:chOff x="3035702" y="1219833"/>
            <a:chExt cx="350454" cy="196217"/>
          </a:xfrm>
        </p:grpSpPr>
        <p:sp>
          <p:nvSpPr>
            <p:cNvPr id="31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785568" y="2083873"/>
            <a:ext cx="1777032" cy="20212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 err="1">
                <a:solidFill>
                  <a:schemeClr val="tx1"/>
                </a:solidFill>
                <a:latin typeface="Calibri"/>
              </a:rPr>
              <a:t>MyAttachesTo</a:t>
            </a:r>
            <a:endParaRPr lang="en-US" sz="1100" b="1" kern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7" name="Web Server Tier"/>
          <p:cNvSpPr>
            <a:spLocks noChangeArrowheads="1"/>
          </p:cNvSpPr>
          <p:nvPr/>
        </p:nvSpPr>
        <p:spPr bwMode="auto">
          <a:xfrm>
            <a:off x="935968" y="3657600"/>
            <a:ext cx="1715792" cy="2362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my_web_app_tier_2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5968" y="4046746"/>
            <a:ext cx="171579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5968" y="4426792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2164146" y="5225342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2270760" y="5491181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Attachment</a:t>
            </a:r>
          </a:p>
        </p:txBody>
      </p:sp>
      <p:sp>
        <p:nvSpPr>
          <p:cNvPr id="45" name="Web Server Tier"/>
          <p:cNvSpPr>
            <a:spLocks noChangeArrowheads="1"/>
          </p:cNvSpPr>
          <p:nvPr/>
        </p:nvSpPr>
        <p:spPr bwMode="auto">
          <a:xfrm>
            <a:off x="2154627" y="4493644"/>
            <a:ext cx="1061077" cy="61175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2270760" y="4724399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latin typeface="Arial" charset="0"/>
              </a:rPr>
              <a:t>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10000" y="2286000"/>
            <a:ext cx="174071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location: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     /</a:t>
            </a:r>
            <a:r>
              <a:rPr lang="en-US" sz="1000" dirty="0" err="1"/>
              <a:t>default_location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55" name="Web Server Tier"/>
          <p:cNvSpPr>
            <a:spLocks noChangeArrowheads="1"/>
          </p:cNvSpPr>
          <p:nvPr/>
        </p:nvSpPr>
        <p:spPr bwMode="auto">
          <a:xfrm>
            <a:off x="3733800" y="3886200"/>
            <a:ext cx="1828800" cy="15003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00" i="1" dirty="0">
              <a:latin typeface="Arial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733800" y="4135425"/>
            <a:ext cx="1828800" cy="207975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 err="1">
                <a:solidFill>
                  <a:schemeClr val="tx1"/>
                </a:solidFill>
                <a:latin typeface="Calibri"/>
              </a:rPr>
              <a:t>MyAttachesTo</a:t>
            </a:r>
            <a:endParaRPr lang="en-US" sz="1100" b="1" kern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758232" y="4343400"/>
            <a:ext cx="1792478" cy="569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location: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     /</a:t>
            </a:r>
            <a:r>
              <a:rPr lang="en-US" sz="1000" dirty="0" err="1"/>
              <a:t>some_other_data_location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</p:txBody>
      </p:sp>
      <p:cxnSp>
        <p:nvCxnSpPr>
          <p:cNvPr id="62" name="Straight Connector 12"/>
          <p:cNvCxnSpPr>
            <a:cxnSpLocks noChangeShapeType="1"/>
            <a:stCxn id="57" idx="1"/>
            <a:endCxn id="44" idx="3"/>
          </p:cNvCxnSpPr>
          <p:nvPr/>
        </p:nvCxnSpPr>
        <p:spPr bwMode="auto">
          <a:xfrm rot="10800000" flipV="1">
            <a:off x="3276601" y="5075343"/>
            <a:ext cx="1170489" cy="525565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56" name="Group 55"/>
          <p:cNvGrpSpPr/>
          <p:nvPr/>
        </p:nvGrpSpPr>
        <p:grpSpPr>
          <a:xfrm>
            <a:off x="4447089" y="4977235"/>
            <a:ext cx="350454" cy="196217"/>
            <a:chOff x="3035702" y="1219833"/>
            <a:chExt cx="350454" cy="196217"/>
          </a:xfrm>
        </p:grpSpPr>
        <p:sp>
          <p:nvSpPr>
            <p:cNvPr id="57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8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63" name="Straight Connector 12"/>
          <p:cNvCxnSpPr>
            <a:cxnSpLocks noChangeShapeType="1"/>
            <a:stCxn id="54" idx="1"/>
            <a:endCxn id="58" idx="3"/>
          </p:cNvCxnSpPr>
          <p:nvPr/>
        </p:nvCxnSpPr>
        <p:spPr bwMode="auto">
          <a:xfrm rot="10800000" flipV="1">
            <a:off x="4797544" y="3881547"/>
            <a:ext cx="1222257" cy="1193797"/>
          </a:xfrm>
          <a:prstGeom prst="bentConnector3">
            <a:avLst>
              <a:gd name="adj1" fmla="val 15471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64694-1738-7FC9-DA0C-4FC91996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53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84660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1277" y="76200"/>
            <a:ext cx="50195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Block Storage 5: </a:t>
            </a:r>
          </a:p>
          <a:p>
            <a:pPr algn="ctr"/>
            <a:r>
              <a:rPr lang="en-US" sz="1400" b="1" u="sng" dirty="0"/>
              <a:t>Single Block Storage shared by 2-Tier Application </a:t>
            </a:r>
          </a:p>
          <a:p>
            <a:pPr algn="ctr"/>
            <a:r>
              <a:rPr lang="en-US" sz="1400" b="1" u="sng" dirty="0"/>
              <a:t>with custom AttachesTo Type and explicit Relationship Templates</a:t>
            </a:r>
            <a:endParaRPr lang="en-US" sz="1400" b="1" dirty="0"/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0800000">
            <a:off x="3276601" y="2966366"/>
            <a:ext cx="1222257" cy="59726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0" name="Web Server Tier"/>
          <p:cNvSpPr>
            <a:spLocks noChangeArrowheads="1"/>
          </p:cNvSpPr>
          <p:nvPr/>
        </p:nvSpPr>
        <p:spPr bwMode="auto">
          <a:xfrm>
            <a:off x="951208" y="990600"/>
            <a:ext cx="1715792" cy="23910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my_web_app_tier_1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1208" y="1379746"/>
            <a:ext cx="171579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968" y="1759792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34" name="Web Server Tier"/>
          <p:cNvSpPr>
            <a:spLocks noChangeArrowheads="1"/>
          </p:cNvSpPr>
          <p:nvPr/>
        </p:nvSpPr>
        <p:spPr bwMode="auto">
          <a:xfrm>
            <a:off x="2164146" y="2590799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2270760" y="2856638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Attachment</a:t>
            </a:r>
          </a:p>
        </p:txBody>
      </p: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154627" y="1826644"/>
            <a:ext cx="1061077" cy="65426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2270760" y="2066543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latin typeface="Arial" charset="0"/>
              </a:rPr>
              <a:t>…</a:t>
            </a:r>
          </a:p>
        </p:txBody>
      </p:sp>
      <p:cxnSp>
        <p:nvCxnSpPr>
          <p:cNvPr id="32" name="Straight Connector 12"/>
          <p:cNvCxnSpPr>
            <a:cxnSpLocks noChangeShapeType="1"/>
            <a:stCxn id="54" idx="1"/>
            <a:endCxn id="35" idx="3"/>
          </p:cNvCxnSpPr>
          <p:nvPr/>
        </p:nvCxnSpPr>
        <p:spPr bwMode="auto">
          <a:xfrm rot="10800000">
            <a:off x="4849312" y="3026094"/>
            <a:ext cx="1170489" cy="855455"/>
          </a:xfrm>
          <a:prstGeom prst="bentConnector3">
            <a:avLst>
              <a:gd name="adj1" fmla="val 18236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6019800" y="2701365"/>
            <a:ext cx="2133600" cy="1777081"/>
            <a:chOff x="4648200" y="1922182"/>
            <a:chExt cx="2133600" cy="1777081"/>
          </a:xfrm>
        </p:grpSpPr>
        <p:sp>
          <p:nvSpPr>
            <p:cNvPr id="77" name="Web Server Tier"/>
            <p:cNvSpPr>
              <a:spLocks noChangeArrowheads="1"/>
            </p:cNvSpPr>
            <p:nvPr/>
          </p:nvSpPr>
          <p:spPr bwMode="auto">
            <a:xfrm>
              <a:off x="5142208" y="1922182"/>
              <a:ext cx="1639592" cy="177708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142208" y="2311329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3" name="Web Server Tier"/>
            <p:cNvSpPr>
              <a:spLocks noChangeArrowheads="1"/>
            </p:cNvSpPr>
            <p:nvPr/>
          </p:nvSpPr>
          <p:spPr bwMode="auto">
            <a:xfrm>
              <a:off x="4730841" y="2766400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4648200" y="2992637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5000" y="2710464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27" name="Web Server Tier"/>
          <p:cNvSpPr>
            <a:spLocks noChangeArrowheads="1"/>
          </p:cNvSpPr>
          <p:nvPr/>
        </p:nvSpPr>
        <p:spPr bwMode="auto">
          <a:xfrm>
            <a:off x="3785568" y="1759792"/>
            <a:ext cx="1777032" cy="1577456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sz="1050" dirty="0"/>
              <a:t>storage_attachesto_1</a:t>
            </a:r>
            <a:endParaRPr lang="en-US" altLang="en-US" sz="1050" i="1" dirty="0">
              <a:latin typeface="Arial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4498857" y="2927983"/>
            <a:ext cx="350454" cy="196217"/>
            <a:chOff x="3035702" y="1219833"/>
            <a:chExt cx="350454" cy="196217"/>
          </a:xfrm>
        </p:grpSpPr>
        <p:sp>
          <p:nvSpPr>
            <p:cNvPr id="31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785568" y="2083873"/>
            <a:ext cx="1777032" cy="20212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 err="1">
                <a:solidFill>
                  <a:schemeClr val="tx1"/>
                </a:solidFill>
                <a:latin typeface="Calibri"/>
              </a:rPr>
              <a:t>MyAttachesTo</a:t>
            </a:r>
            <a:endParaRPr lang="en-US" sz="1100" b="1" kern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7" name="Web Server Tier"/>
          <p:cNvSpPr>
            <a:spLocks noChangeArrowheads="1"/>
          </p:cNvSpPr>
          <p:nvPr/>
        </p:nvSpPr>
        <p:spPr bwMode="auto">
          <a:xfrm>
            <a:off x="935968" y="3657600"/>
            <a:ext cx="1715792" cy="2362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my_web_app_tier_2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5968" y="4046746"/>
            <a:ext cx="171579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5968" y="4426792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2164146" y="5225342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2270760" y="5491181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Attachment</a:t>
            </a:r>
          </a:p>
        </p:txBody>
      </p:sp>
      <p:sp>
        <p:nvSpPr>
          <p:cNvPr id="45" name="Web Server Tier"/>
          <p:cNvSpPr>
            <a:spLocks noChangeArrowheads="1"/>
          </p:cNvSpPr>
          <p:nvPr/>
        </p:nvSpPr>
        <p:spPr bwMode="auto">
          <a:xfrm>
            <a:off x="2154627" y="4493644"/>
            <a:ext cx="1061077" cy="61175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2270760" y="4724399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latin typeface="Arial" charset="0"/>
              </a:rPr>
              <a:t>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10000" y="2286000"/>
            <a:ext cx="1740710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location: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     /</a:t>
            </a:r>
            <a:r>
              <a:rPr lang="en-US" sz="1000" dirty="0" err="1"/>
              <a:t>my_data_location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55" name="Web Server Tier"/>
          <p:cNvSpPr>
            <a:spLocks noChangeArrowheads="1"/>
          </p:cNvSpPr>
          <p:nvPr/>
        </p:nvSpPr>
        <p:spPr bwMode="auto">
          <a:xfrm>
            <a:off x="3733800" y="3771821"/>
            <a:ext cx="1828800" cy="161468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1050" i="1" dirty="0">
                <a:latin typeface="Arial" charset="0"/>
              </a:rPr>
              <a:t>storage_attachesto_2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33800" y="4135425"/>
            <a:ext cx="1828800" cy="207975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 err="1">
                <a:solidFill>
                  <a:schemeClr val="tx1"/>
                </a:solidFill>
                <a:latin typeface="Calibri"/>
              </a:rPr>
              <a:t>MyAttachesTo</a:t>
            </a:r>
            <a:endParaRPr lang="en-US" sz="1100" b="1" kern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758232" y="4343400"/>
            <a:ext cx="1792478" cy="569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location: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     /</a:t>
            </a:r>
            <a:r>
              <a:rPr lang="en-US" sz="1000" dirty="0" err="1"/>
              <a:t>some_other_data_location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</p:txBody>
      </p:sp>
      <p:cxnSp>
        <p:nvCxnSpPr>
          <p:cNvPr id="62" name="Straight Connector 12"/>
          <p:cNvCxnSpPr>
            <a:cxnSpLocks noChangeShapeType="1"/>
            <a:stCxn id="57" idx="1"/>
            <a:endCxn id="44" idx="3"/>
          </p:cNvCxnSpPr>
          <p:nvPr/>
        </p:nvCxnSpPr>
        <p:spPr bwMode="auto">
          <a:xfrm rot="10800000" flipV="1">
            <a:off x="3276601" y="5075343"/>
            <a:ext cx="1170489" cy="525565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56" name="Group 55"/>
          <p:cNvGrpSpPr/>
          <p:nvPr/>
        </p:nvGrpSpPr>
        <p:grpSpPr>
          <a:xfrm>
            <a:off x="4447089" y="4977235"/>
            <a:ext cx="350454" cy="196217"/>
            <a:chOff x="3035702" y="1219833"/>
            <a:chExt cx="350454" cy="196217"/>
          </a:xfrm>
        </p:grpSpPr>
        <p:sp>
          <p:nvSpPr>
            <p:cNvPr id="57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8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63" name="Straight Connector 12"/>
          <p:cNvCxnSpPr>
            <a:cxnSpLocks noChangeShapeType="1"/>
            <a:stCxn id="54" idx="1"/>
            <a:endCxn id="58" idx="3"/>
          </p:cNvCxnSpPr>
          <p:nvPr/>
        </p:nvCxnSpPr>
        <p:spPr bwMode="auto">
          <a:xfrm rot="10800000" flipV="1">
            <a:off x="4797544" y="3881547"/>
            <a:ext cx="1222257" cy="1193797"/>
          </a:xfrm>
          <a:prstGeom prst="bentConnector3">
            <a:avLst>
              <a:gd name="adj1" fmla="val 15471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EF7E-59BA-F908-82D4-1994CA01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54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64962"/>
      </p:ext>
    </p:extLst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3431" y="76200"/>
            <a:ext cx="4035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Block Storage 6: </a:t>
            </a:r>
          </a:p>
          <a:p>
            <a:pPr algn="ctr"/>
            <a:r>
              <a:rPr lang="en-US" sz="1400" b="1" dirty="0"/>
              <a:t>Multiple Block Storage attached to different Servers</a:t>
            </a:r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0800000" flipV="1">
            <a:off x="3276601" y="2561700"/>
            <a:ext cx="1222257" cy="404666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0" name="Web Server Tier"/>
          <p:cNvSpPr>
            <a:spLocks noChangeArrowheads="1"/>
          </p:cNvSpPr>
          <p:nvPr/>
        </p:nvSpPr>
        <p:spPr bwMode="auto">
          <a:xfrm>
            <a:off x="951208" y="990600"/>
            <a:ext cx="1715792" cy="23910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1208" y="1379746"/>
            <a:ext cx="171579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968" y="1759792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34" name="Web Server Tier"/>
          <p:cNvSpPr>
            <a:spLocks noChangeArrowheads="1"/>
          </p:cNvSpPr>
          <p:nvPr/>
        </p:nvSpPr>
        <p:spPr bwMode="auto">
          <a:xfrm>
            <a:off x="2164146" y="2590799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2270760" y="2856638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Attachment</a:t>
            </a:r>
          </a:p>
        </p:txBody>
      </p: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154627" y="1826644"/>
            <a:ext cx="1061077" cy="65426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2270760" y="2066543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latin typeface="Arial" charset="0"/>
              </a:rPr>
              <a:t>…</a:t>
            </a:r>
          </a:p>
        </p:txBody>
      </p:sp>
      <p:cxnSp>
        <p:nvCxnSpPr>
          <p:cNvPr id="32" name="Straight Connector 12"/>
          <p:cNvCxnSpPr>
            <a:cxnSpLocks noChangeShapeType="1"/>
            <a:stCxn id="54" idx="1"/>
            <a:endCxn id="35" idx="3"/>
          </p:cNvCxnSpPr>
          <p:nvPr/>
        </p:nvCxnSpPr>
        <p:spPr bwMode="auto">
          <a:xfrm rot="10800000" flipV="1">
            <a:off x="4849312" y="2399331"/>
            <a:ext cx="1169749" cy="16237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6019060" y="1219148"/>
            <a:ext cx="2133600" cy="1777081"/>
            <a:chOff x="4648200" y="1922182"/>
            <a:chExt cx="2133600" cy="1777081"/>
          </a:xfrm>
        </p:grpSpPr>
        <p:sp>
          <p:nvSpPr>
            <p:cNvPr id="77" name="Web Server Tier"/>
            <p:cNvSpPr>
              <a:spLocks noChangeArrowheads="1"/>
            </p:cNvSpPr>
            <p:nvPr/>
          </p:nvSpPr>
          <p:spPr bwMode="auto">
            <a:xfrm>
              <a:off x="5142208" y="1922182"/>
              <a:ext cx="1639592" cy="177708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142208" y="2311329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3" name="Web Server Tier"/>
            <p:cNvSpPr>
              <a:spLocks noChangeArrowheads="1"/>
            </p:cNvSpPr>
            <p:nvPr/>
          </p:nvSpPr>
          <p:spPr bwMode="auto">
            <a:xfrm>
              <a:off x="4730841" y="2766400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4648200" y="2992637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5000" y="2710464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27" name="Web Server Tier"/>
          <p:cNvSpPr>
            <a:spLocks noChangeArrowheads="1"/>
          </p:cNvSpPr>
          <p:nvPr/>
        </p:nvSpPr>
        <p:spPr bwMode="auto">
          <a:xfrm>
            <a:off x="3785568" y="1295400"/>
            <a:ext cx="1777032" cy="1577456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4498857" y="2463591"/>
            <a:ext cx="350454" cy="196217"/>
            <a:chOff x="3035702" y="1219833"/>
            <a:chExt cx="350454" cy="196217"/>
          </a:xfrm>
        </p:grpSpPr>
        <p:sp>
          <p:nvSpPr>
            <p:cNvPr id="31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3785568" y="1619481"/>
            <a:ext cx="1777032" cy="20212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AttachesTo</a:t>
            </a:r>
          </a:p>
        </p:txBody>
      </p:sp>
      <p:sp>
        <p:nvSpPr>
          <p:cNvPr id="37" name="Web Server Tier"/>
          <p:cNvSpPr>
            <a:spLocks noChangeArrowheads="1"/>
          </p:cNvSpPr>
          <p:nvPr/>
        </p:nvSpPr>
        <p:spPr bwMode="auto">
          <a:xfrm>
            <a:off x="935968" y="3657600"/>
            <a:ext cx="1715792" cy="2362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5968" y="4046746"/>
            <a:ext cx="171579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5968" y="4426792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2164146" y="5225342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2270760" y="5484079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Attachment</a:t>
            </a:r>
          </a:p>
        </p:txBody>
      </p:sp>
      <p:sp>
        <p:nvSpPr>
          <p:cNvPr id="45" name="Web Server Tier"/>
          <p:cNvSpPr>
            <a:spLocks noChangeArrowheads="1"/>
          </p:cNvSpPr>
          <p:nvPr/>
        </p:nvSpPr>
        <p:spPr bwMode="auto">
          <a:xfrm>
            <a:off x="2154627" y="4493644"/>
            <a:ext cx="1061077" cy="61175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48" name="Rectangle 14"/>
          <p:cNvSpPr>
            <a:spLocks noChangeArrowheads="1"/>
          </p:cNvSpPr>
          <p:nvPr/>
        </p:nvSpPr>
        <p:spPr bwMode="auto">
          <a:xfrm>
            <a:off x="2270760" y="4724399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latin typeface="Arial" charset="0"/>
              </a:rPr>
              <a:t>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10000" y="1821608"/>
            <a:ext cx="17407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location: &lt;input&gt;</a:t>
            </a:r>
          </a:p>
        </p:txBody>
      </p:sp>
      <p:sp>
        <p:nvSpPr>
          <p:cNvPr id="55" name="Web Server Tier"/>
          <p:cNvSpPr>
            <a:spLocks noChangeArrowheads="1"/>
          </p:cNvSpPr>
          <p:nvPr/>
        </p:nvSpPr>
        <p:spPr bwMode="auto">
          <a:xfrm>
            <a:off x="3733800" y="3886200"/>
            <a:ext cx="1828800" cy="161468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733800" y="4249804"/>
            <a:ext cx="1828800" cy="207975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AttachesTo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58232" y="4457779"/>
            <a:ext cx="118526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location: &lt;input&gt;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</p:txBody>
      </p:sp>
      <p:cxnSp>
        <p:nvCxnSpPr>
          <p:cNvPr id="62" name="Straight Connector 12"/>
          <p:cNvCxnSpPr>
            <a:cxnSpLocks noChangeShapeType="1"/>
            <a:stCxn id="57" idx="1"/>
          </p:cNvCxnSpPr>
          <p:nvPr/>
        </p:nvCxnSpPr>
        <p:spPr bwMode="auto">
          <a:xfrm rot="10800000" flipV="1">
            <a:off x="3276603" y="5212807"/>
            <a:ext cx="1170487" cy="380999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56" name="Group 55"/>
          <p:cNvGrpSpPr/>
          <p:nvPr/>
        </p:nvGrpSpPr>
        <p:grpSpPr>
          <a:xfrm>
            <a:off x="4447089" y="5114699"/>
            <a:ext cx="350454" cy="196217"/>
            <a:chOff x="3035702" y="1219833"/>
            <a:chExt cx="350454" cy="196217"/>
          </a:xfrm>
        </p:grpSpPr>
        <p:sp>
          <p:nvSpPr>
            <p:cNvPr id="57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8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63" name="Straight Connector 12"/>
          <p:cNvCxnSpPr>
            <a:cxnSpLocks noChangeShapeType="1"/>
            <a:stCxn id="64" idx="1"/>
            <a:endCxn id="58" idx="3"/>
          </p:cNvCxnSpPr>
          <p:nvPr/>
        </p:nvCxnSpPr>
        <p:spPr bwMode="auto">
          <a:xfrm rot="10800000" flipV="1">
            <a:off x="4797544" y="5087209"/>
            <a:ext cx="1161297" cy="12560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58840" y="3886200"/>
            <a:ext cx="2133600" cy="1777081"/>
            <a:chOff x="5958840" y="4395119"/>
            <a:chExt cx="2133600" cy="1777081"/>
          </a:xfrm>
        </p:grpSpPr>
        <p:sp>
          <p:nvSpPr>
            <p:cNvPr id="47" name="Web Server Tier"/>
            <p:cNvSpPr>
              <a:spLocks noChangeArrowheads="1"/>
            </p:cNvSpPr>
            <p:nvPr/>
          </p:nvSpPr>
          <p:spPr bwMode="auto">
            <a:xfrm>
              <a:off x="6452848" y="4395119"/>
              <a:ext cx="1639592" cy="177708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i="1" dirty="0">
                  <a:solidFill>
                    <a:srgbClr val="000000"/>
                  </a:solidFill>
                </a:rPr>
                <a:t>my_storage2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452848" y="4784266"/>
              <a:ext cx="1639592" cy="3048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  <a:cs typeface="+mn-cs"/>
                </a:rPr>
                <a:t>BlockStorage</a:t>
              </a:r>
            </a:p>
          </p:txBody>
        </p:sp>
        <p:sp>
          <p:nvSpPr>
            <p:cNvPr id="52" name="Web Server Tier"/>
            <p:cNvSpPr>
              <a:spLocks noChangeArrowheads="1"/>
            </p:cNvSpPr>
            <p:nvPr/>
          </p:nvSpPr>
          <p:spPr bwMode="auto">
            <a:xfrm>
              <a:off x="6041481" y="5239337"/>
              <a:ext cx="984159" cy="586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Capabilities</a:t>
              </a:r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5958840" y="5486400"/>
              <a:ext cx="1005840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latin typeface="Arial" charset="0"/>
                </a:rPr>
                <a:t>Attachment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025640" y="5183401"/>
              <a:ext cx="931986" cy="7232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tx2">
                      <a:lumMod val="50000"/>
                    </a:schemeClr>
                  </a:solidFill>
                </a:rPr>
                <a:t>Properties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latin typeface="Calibri"/>
                  <a:ea typeface="Times New Roman"/>
                  <a:cs typeface="Calibri"/>
                </a:rPr>
                <a:t>size</a:t>
              </a:r>
              <a:endParaRPr lang="en-US" sz="1000" dirty="0">
                <a:latin typeface="Calibri"/>
                <a:ea typeface="Times New Roman"/>
                <a:cs typeface="Times New Roman"/>
              </a:endParaRP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volume_id</a:t>
              </a:r>
            </a:p>
            <a:p>
              <a:pPr marL="115888" indent="-115888" fontAlgn="auto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00" i="1" dirty="0">
                  <a:solidFill>
                    <a:schemeClr val="tx2">
                      <a:lumMod val="50000"/>
                    </a:schemeClr>
                  </a:solidFill>
                </a:rPr>
                <a:t>snapshot_id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24FC7-B9DA-ED48-D65B-AF327E54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55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36086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6751" y="76200"/>
            <a:ext cx="2728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ObjectStorage 1: </a:t>
            </a:r>
          </a:p>
          <a:p>
            <a:pPr algn="ctr"/>
            <a:r>
              <a:rPr lang="en-US" sz="1400" b="1" dirty="0"/>
              <a:t>Creating an Object Storage service</a:t>
            </a:r>
          </a:p>
        </p:txBody>
      </p:sp>
      <p:sp>
        <p:nvSpPr>
          <p:cNvPr id="77" name="Web Server Tier"/>
          <p:cNvSpPr>
            <a:spLocks noChangeArrowheads="1"/>
          </p:cNvSpPr>
          <p:nvPr/>
        </p:nvSpPr>
        <p:spPr bwMode="auto">
          <a:xfrm>
            <a:off x="3513754" y="1415466"/>
            <a:ext cx="1820245" cy="193733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1200" dirty="0" err="1"/>
              <a:t>obj_store_server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13755" y="1828800"/>
            <a:ext cx="1820244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Object</a:t>
            </a:r>
            <a:r>
              <a:rPr lang="en-US" sz="1100" b="1" kern="0" dirty="0">
                <a:solidFill>
                  <a:schemeClr val="tx1"/>
                </a:solidFill>
                <a:latin typeface="Calibri"/>
                <a:cs typeface="+mn-cs"/>
              </a:rPr>
              <a:t>Storage</a:t>
            </a:r>
          </a:p>
        </p:txBody>
      </p:sp>
      <p:sp>
        <p:nvSpPr>
          <p:cNvPr id="53" name="Web Server Tier"/>
          <p:cNvSpPr>
            <a:spLocks noChangeArrowheads="1"/>
          </p:cNvSpPr>
          <p:nvPr/>
        </p:nvSpPr>
        <p:spPr bwMode="auto">
          <a:xfrm>
            <a:off x="3130641" y="2362200"/>
            <a:ext cx="984159" cy="5864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3048000" y="2588437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Endpoint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53549" y="2209800"/>
            <a:ext cx="1180451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name: &lt;input&gt;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size: &lt;input&gt;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 err="1">
                <a:latin typeface="Calibri"/>
                <a:ea typeface="Times New Roman"/>
                <a:cs typeface="Calibri"/>
              </a:rPr>
              <a:t>maxsize</a:t>
            </a:r>
            <a:r>
              <a:rPr lang="en-US" sz="1000" dirty="0">
                <a:latin typeface="Calibri"/>
                <a:ea typeface="Times New Roman"/>
                <a:cs typeface="Calibri"/>
              </a:rPr>
              <a:t>: &lt;input&gt;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36896-B42C-A2E6-2E37-10374BC6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56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50825"/>
      </p:ext>
    </p:extLst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Web Server Tier"/>
          <p:cNvSpPr>
            <a:spLocks noChangeArrowheads="1"/>
          </p:cNvSpPr>
          <p:nvPr/>
        </p:nvSpPr>
        <p:spPr bwMode="auto">
          <a:xfrm>
            <a:off x="6765402" y="2743200"/>
            <a:ext cx="1578632" cy="2743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 err="1">
                <a:solidFill>
                  <a:srgbClr val="000000"/>
                </a:solidFill>
              </a:rPr>
              <a:t>my_network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5402" y="3132345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Network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23018" y="76200"/>
            <a:ext cx="2616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Network 1: </a:t>
            </a:r>
          </a:p>
          <a:p>
            <a:pPr algn="ctr"/>
            <a:r>
              <a:rPr lang="en-US" sz="1400" b="1" dirty="0"/>
              <a:t>Server bound to a new network</a:t>
            </a:r>
          </a:p>
        </p:txBody>
      </p:sp>
      <p:sp>
        <p:nvSpPr>
          <p:cNvPr id="10" name="Web Server Tier"/>
          <p:cNvSpPr>
            <a:spLocks noChangeArrowheads="1"/>
          </p:cNvSpPr>
          <p:nvPr/>
        </p:nvSpPr>
        <p:spPr bwMode="auto">
          <a:xfrm>
            <a:off x="724034" y="1342723"/>
            <a:ext cx="1578632" cy="234473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034" y="1731869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863" y="2057399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13" name="Web Server Tier"/>
          <p:cNvSpPr>
            <a:spLocks noChangeArrowheads="1"/>
          </p:cNvSpPr>
          <p:nvPr/>
        </p:nvSpPr>
        <p:spPr bwMode="auto">
          <a:xfrm>
            <a:off x="1333634" y="2863142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8" name="Web Server Tier"/>
          <p:cNvSpPr>
            <a:spLocks noChangeArrowheads="1"/>
          </p:cNvSpPr>
          <p:nvPr/>
        </p:nvSpPr>
        <p:spPr bwMode="auto">
          <a:xfrm>
            <a:off x="2629034" y="2704238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29034" y="2900388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9" name="Straight Connector 12"/>
          <p:cNvCxnSpPr>
            <a:cxnSpLocks noChangeShapeType="1"/>
            <a:stCxn id="26" idx="3"/>
            <a:endCxn id="14" idx="3"/>
          </p:cNvCxnSpPr>
          <p:nvPr/>
        </p:nvCxnSpPr>
        <p:spPr bwMode="auto">
          <a:xfrm rot="10800000">
            <a:off x="2476634" y="3238710"/>
            <a:ext cx="381000" cy="140879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" name="Web Server Tier"/>
          <p:cNvSpPr>
            <a:spLocks noChangeArrowheads="1"/>
          </p:cNvSpPr>
          <p:nvPr/>
        </p:nvSpPr>
        <p:spPr bwMode="auto">
          <a:xfrm>
            <a:off x="3839322" y="2285999"/>
            <a:ext cx="1324934" cy="21004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 err="1">
                <a:solidFill>
                  <a:srgbClr val="000000"/>
                </a:solidFill>
              </a:rPr>
              <a:t>my_port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839322" y="2664992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3772034" y="3125301"/>
            <a:ext cx="1468422" cy="99901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cxnSp>
        <p:nvCxnSpPr>
          <p:cNvPr id="17" name="Straight Connector 12"/>
          <p:cNvCxnSpPr>
            <a:cxnSpLocks noChangeShapeType="1"/>
            <a:stCxn id="43" idx="1"/>
            <a:endCxn id="25" idx="1"/>
          </p:cNvCxnSpPr>
          <p:nvPr/>
        </p:nvCxnSpPr>
        <p:spPr bwMode="auto">
          <a:xfrm rot="10800000">
            <a:off x="3218864" y="3379588"/>
            <a:ext cx="476970" cy="115505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695834" y="3379587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sp>
        <p:nvSpPr>
          <p:cNvPr id="46" name="Web Server Tier"/>
          <p:cNvSpPr>
            <a:spLocks noChangeArrowheads="1"/>
          </p:cNvSpPr>
          <p:nvPr/>
        </p:nvSpPr>
        <p:spPr bwMode="auto">
          <a:xfrm>
            <a:off x="6673357" y="4724400"/>
            <a:ext cx="1061077" cy="64282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cxnSp>
        <p:nvCxnSpPr>
          <p:cNvPr id="51" name="Straight Connector 12"/>
          <p:cNvCxnSpPr>
            <a:cxnSpLocks noChangeShapeType="1"/>
            <a:stCxn id="35" idx="1"/>
            <a:endCxn id="50" idx="3"/>
          </p:cNvCxnSpPr>
          <p:nvPr/>
        </p:nvCxnSpPr>
        <p:spPr bwMode="auto">
          <a:xfrm rot="10800000">
            <a:off x="5296035" y="3838484"/>
            <a:ext cx="462481" cy="15070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55" name="Straight Connector 12"/>
          <p:cNvCxnSpPr>
            <a:cxnSpLocks noChangeShapeType="1"/>
            <a:stCxn id="47" idx="1"/>
            <a:endCxn id="36" idx="3"/>
          </p:cNvCxnSpPr>
          <p:nvPr/>
        </p:nvCxnSpPr>
        <p:spPr bwMode="auto">
          <a:xfrm rot="10800000">
            <a:off x="6104034" y="3989188"/>
            <a:ext cx="487400" cy="112014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7" name="Web Server Tier"/>
          <p:cNvSpPr>
            <a:spLocks noChangeArrowheads="1"/>
          </p:cNvSpPr>
          <p:nvPr/>
        </p:nvSpPr>
        <p:spPr bwMode="auto">
          <a:xfrm>
            <a:off x="5470002" y="335279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70002" y="354894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6772" y="3487734"/>
            <a:ext cx="1701428" cy="1184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Times New Roman"/>
              </a:rPr>
              <a:t>network_name: </a:t>
            </a:r>
            <a:r>
              <a:rPr lang="en-US" sz="1000" dirty="0">
                <a:solidFill>
                  <a:srgbClr val="FF0000"/>
                </a:solidFill>
                <a:latin typeface="Calibri"/>
                <a:ea typeface="Times New Roman"/>
                <a:cs typeface="Times New Roman"/>
              </a:rPr>
              <a:t>&lt;input&gt;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u="sng" dirty="0" err="1"/>
              <a:t>ip_version</a:t>
            </a:r>
            <a:r>
              <a:rPr lang="en-US" sz="1000" u="sng" dirty="0"/>
              <a:t>: </a:t>
            </a:r>
            <a:r>
              <a:rPr lang="en-US" sz="1000" u="sng" dirty="0">
                <a:solidFill>
                  <a:srgbClr val="FF0000"/>
                </a:solidFill>
              </a:rPr>
              <a:t>4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u="sng" dirty="0"/>
              <a:t>cidr: </a:t>
            </a:r>
            <a:r>
              <a:rPr lang="en-US" sz="1000" u="sng" dirty="0">
                <a:solidFill>
                  <a:srgbClr val="FF0000"/>
                </a:solidFill>
              </a:rPr>
              <a:t>'192.168.0.0/24‘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u="sng" dirty="0" err="1"/>
              <a:t>start_ip</a:t>
            </a:r>
            <a:r>
              <a:rPr lang="en-US" sz="1000" u="sng" dirty="0"/>
              <a:t>: </a:t>
            </a:r>
            <a:r>
              <a:rPr lang="en-US" sz="1000" u="sng" dirty="0">
                <a:solidFill>
                  <a:srgbClr val="FF0000"/>
                </a:solidFill>
              </a:rPr>
              <a:t>'192.168.0.50‘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u="sng" dirty="0" err="1"/>
              <a:t>end_ip</a:t>
            </a:r>
            <a:r>
              <a:rPr lang="en-US" sz="1000" u="sng" dirty="0"/>
              <a:t>: </a:t>
            </a:r>
            <a:r>
              <a:rPr lang="en-US" sz="1000" u="sng" dirty="0">
                <a:solidFill>
                  <a:srgbClr val="FF0000"/>
                </a:solidFill>
              </a:rPr>
              <a:t>'192.168.0.200‘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u="sng" dirty="0" err="1"/>
              <a:t>gateway_ip</a:t>
            </a:r>
            <a:r>
              <a:rPr lang="en-US" sz="1000" u="sng" dirty="0"/>
              <a:t>: </a:t>
            </a:r>
            <a:r>
              <a:rPr lang="en-US" sz="1000" u="sng" dirty="0">
                <a:solidFill>
                  <a:srgbClr val="FF0000"/>
                </a:solidFill>
              </a:rPr>
              <a:t>'192.168.0.1'</a:t>
            </a:r>
            <a:endParaRPr lang="en-US" sz="1000" b="1" dirty="0">
              <a:solidFill>
                <a:srgbClr val="FF0000"/>
              </a:solidFill>
              <a:latin typeface="Calibri"/>
              <a:ea typeface="Times New Roman"/>
              <a:cs typeface="Times New Roman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6591434" y="5004643"/>
            <a:ext cx="1014566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343400" y="3733799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470794" y="3128981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5758515" y="3891077"/>
            <a:ext cx="345519" cy="196217"/>
            <a:chOff x="4398651" y="4729278"/>
            <a:chExt cx="361230" cy="196217"/>
          </a:xfrm>
        </p:grpSpPr>
        <p:sp>
          <p:nvSpPr>
            <p:cNvPr id="35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6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857634" y="3281478"/>
            <a:ext cx="361230" cy="196217"/>
            <a:chOff x="3280083" y="3357678"/>
            <a:chExt cx="361230" cy="196217"/>
          </a:xfrm>
        </p:grpSpPr>
        <p:sp>
          <p:nvSpPr>
            <p:cNvPr id="25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6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452E0C-BAC4-F8D2-157F-C2202F12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57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25150"/>
      </p:ext>
    </p:extLst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Web Server Tier"/>
          <p:cNvSpPr>
            <a:spLocks noChangeArrowheads="1"/>
          </p:cNvSpPr>
          <p:nvPr/>
        </p:nvSpPr>
        <p:spPr bwMode="auto">
          <a:xfrm>
            <a:off x="6765402" y="2743200"/>
            <a:ext cx="1578632" cy="2209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 err="1">
                <a:solidFill>
                  <a:srgbClr val="000000"/>
                </a:solidFill>
              </a:rPr>
              <a:t>my_network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5402" y="3132345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Network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89615" y="76200"/>
            <a:ext cx="2882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Network 2: </a:t>
            </a:r>
          </a:p>
          <a:p>
            <a:pPr algn="ctr"/>
            <a:r>
              <a:rPr lang="en-US" sz="1400" b="1" dirty="0"/>
              <a:t>Server bound to an existing network</a:t>
            </a:r>
          </a:p>
        </p:txBody>
      </p:sp>
      <p:sp>
        <p:nvSpPr>
          <p:cNvPr id="10" name="Web Server Tier"/>
          <p:cNvSpPr>
            <a:spLocks noChangeArrowheads="1"/>
          </p:cNvSpPr>
          <p:nvPr/>
        </p:nvSpPr>
        <p:spPr bwMode="auto">
          <a:xfrm>
            <a:off x="724034" y="1342723"/>
            <a:ext cx="1578632" cy="234473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034" y="1731869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863" y="2057399"/>
            <a:ext cx="1137171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Calibri"/>
              </a:rPr>
              <a:t>private_address</a:t>
            </a:r>
            <a:endParaRPr lang="en-US" sz="1000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public_address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networks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>
                <a:solidFill>
                  <a:schemeClr val="tx2">
                    <a:lumMod val="50000"/>
                  </a:schemeClr>
                </a:solidFill>
              </a:rPr>
              <a:t>ports</a:t>
            </a:r>
          </a:p>
        </p:txBody>
      </p:sp>
      <p:sp>
        <p:nvSpPr>
          <p:cNvPr id="13" name="Web Server Tier"/>
          <p:cNvSpPr>
            <a:spLocks noChangeArrowheads="1"/>
          </p:cNvSpPr>
          <p:nvPr/>
        </p:nvSpPr>
        <p:spPr bwMode="auto">
          <a:xfrm>
            <a:off x="1333634" y="2863142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8" name="Web Server Tier"/>
          <p:cNvSpPr>
            <a:spLocks noChangeArrowheads="1"/>
          </p:cNvSpPr>
          <p:nvPr/>
        </p:nvSpPr>
        <p:spPr bwMode="auto">
          <a:xfrm>
            <a:off x="2629034" y="2704238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29034" y="2900388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9" name="Straight Connector 12"/>
          <p:cNvCxnSpPr>
            <a:cxnSpLocks noChangeShapeType="1"/>
            <a:stCxn id="26" idx="3"/>
            <a:endCxn id="14" idx="3"/>
          </p:cNvCxnSpPr>
          <p:nvPr/>
        </p:nvCxnSpPr>
        <p:spPr bwMode="auto">
          <a:xfrm rot="10800000">
            <a:off x="2476634" y="3238710"/>
            <a:ext cx="381000" cy="140879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" name="Web Server Tier"/>
          <p:cNvSpPr>
            <a:spLocks noChangeArrowheads="1"/>
          </p:cNvSpPr>
          <p:nvPr/>
        </p:nvSpPr>
        <p:spPr bwMode="auto">
          <a:xfrm>
            <a:off x="3839322" y="2285999"/>
            <a:ext cx="1324934" cy="21004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 err="1">
                <a:solidFill>
                  <a:srgbClr val="000000"/>
                </a:solidFill>
              </a:rPr>
              <a:t>my_port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839322" y="2664992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3772034" y="3125301"/>
            <a:ext cx="1468422" cy="99901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cxnSp>
        <p:nvCxnSpPr>
          <p:cNvPr id="17" name="Straight Connector 12"/>
          <p:cNvCxnSpPr>
            <a:cxnSpLocks noChangeShapeType="1"/>
            <a:stCxn id="43" idx="1"/>
            <a:endCxn id="25" idx="1"/>
          </p:cNvCxnSpPr>
          <p:nvPr/>
        </p:nvCxnSpPr>
        <p:spPr bwMode="auto">
          <a:xfrm rot="10800000">
            <a:off x="3218864" y="3379588"/>
            <a:ext cx="476970" cy="115505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695834" y="3379587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sp>
        <p:nvSpPr>
          <p:cNvPr id="46" name="Web Server Tier"/>
          <p:cNvSpPr>
            <a:spLocks noChangeArrowheads="1"/>
          </p:cNvSpPr>
          <p:nvPr/>
        </p:nvSpPr>
        <p:spPr bwMode="auto">
          <a:xfrm>
            <a:off x="6673357" y="4114799"/>
            <a:ext cx="1061077" cy="64282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cxnSp>
        <p:nvCxnSpPr>
          <p:cNvPr id="51" name="Straight Connector 12"/>
          <p:cNvCxnSpPr>
            <a:cxnSpLocks noChangeShapeType="1"/>
            <a:stCxn id="35" idx="1"/>
            <a:endCxn id="50" idx="3"/>
          </p:cNvCxnSpPr>
          <p:nvPr/>
        </p:nvCxnSpPr>
        <p:spPr bwMode="auto">
          <a:xfrm rot="10800000">
            <a:off x="5296035" y="3838484"/>
            <a:ext cx="462481" cy="15070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55" name="Straight Connector 12"/>
          <p:cNvCxnSpPr>
            <a:cxnSpLocks noChangeShapeType="1"/>
            <a:stCxn id="47" idx="1"/>
            <a:endCxn id="36" idx="3"/>
          </p:cNvCxnSpPr>
          <p:nvPr/>
        </p:nvCxnSpPr>
        <p:spPr bwMode="auto">
          <a:xfrm rot="10800000">
            <a:off x="6104034" y="3989187"/>
            <a:ext cx="487400" cy="51054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7" name="Web Server Tier"/>
          <p:cNvSpPr>
            <a:spLocks noChangeArrowheads="1"/>
          </p:cNvSpPr>
          <p:nvPr/>
        </p:nvSpPr>
        <p:spPr bwMode="auto">
          <a:xfrm>
            <a:off x="5470002" y="335279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70002" y="354894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20034" y="3487734"/>
            <a:ext cx="156196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Times New Roman"/>
              </a:rPr>
              <a:t>network_name: </a:t>
            </a:r>
            <a:r>
              <a:rPr lang="en-US" sz="1000" b="1" dirty="0">
                <a:solidFill>
                  <a:srgbClr val="FF0000"/>
                </a:solidFill>
                <a:latin typeface="Calibri"/>
                <a:ea typeface="Times New Roman"/>
                <a:cs typeface="Times New Roman"/>
              </a:rPr>
              <a:t>&lt;input&gt;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470794" y="3128981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857634" y="3281478"/>
            <a:ext cx="361230" cy="196217"/>
            <a:chOff x="3280083" y="3357678"/>
            <a:chExt cx="361230" cy="196217"/>
          </a:xfrm>
        </p:grpSpPr>
        <p:sp>
          <p:nvSpPr>
            <p:cNvPr id="25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6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343400" y="3733799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6591434" y="4395042"/>
            <a:ext cx="1014566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5758515" y="3891077"/>
            <a:ext cx="345519" cy="196217"/>
            <a:chOff x="4398651" y="4729278"/>
            <a:chExt cx="361230" cy="196217"/>
          </a:xfrm>
        </p:grpSpPr>
        <p:sp>
          <p:nvSpPr>
            <p:cNvPr id="35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6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94484-D984-991C-2729-5145BB1B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58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81099"/>
      </p:ext>
    </p:extLst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Web Server Tier"/>
          <p:cNvSpPr>
            <a:spLocks noChangeArrowheads="1"/>
          </p:cNvSpPr>
          <p:nvPr/>
        </p:nvSpPr>
        <p:spPr bwMode="auto">
          <a:xfrm>
            <a:off x="5470002" y="278043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70002" y="297658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sp>
        <p:nvSpPr>
          <p:cNvPr id="59" name="Web Server Tier"/>
          <p:cNvSpPr>
            <a:spLocks noChangeArrowheads="1"/>
          </p:cNvSpPr>
          <p:nvPr/>
        </p:nvSpPr>
        <p:spPr bwMode="auto">
          <a:xfrm>
            <a:off x="6841602" y="2286000"/>
            <a:ext cx="1578632" cy="2209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 err="1">
                <a:solidFill>
                  <a:srgbClr val="000000"/>
                </a:solidFill>
              </a:rPr>
              <a:t>my_network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841602" y="2675145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Network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03501" y="76200"/>
            <a:ext cx="3055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Network 3: </a:t>
            </a:r>
          </a:p>
          <a:p>
            <a:pPr algn="ctr"/>
            <a:r>
              <a:rPr lang="en-US" sz="1400" b="1" dirty="0"/>
              <a:t>Two servers bound to a single network</a:t>
            </a:r>
          </a:p>
        </p:txBody>
      </p:sp>
      <p:sp>
        <p:nvSpPr>
          <p:cNvPr id="10" name="Web Server Tier"/>
          <p:cNvSpPr>
            <a:spLocks noChangeArrowheads="1"/>
          </p:cNvSpPr>
          <p:nvPr/>
        </p:nvSpPr>
        <p:spPr bwMode="auto">
          <a:xfrm>
            <a:off x="724034" y="1371600"/>
            <a:ext cx="1578632" cy="20193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034" y="1752600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13" name="Web Server Tier"/>
          <p:cNvSpPr>
            <a:spLocks noChangeArrowheads="1"/>
          </p:cNvSpPr>
          <p:nvPr/>
        </p:nvSpPr>
        <p:spPr bwMode="auto">
          <a:xfrm>
            <a:off x="1333634" y="2634543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8" name="Web Server Tier"/>
          <p:cNvSpPr>
            <a:spLocks noChangeArrowheads="1"/>
          </p:cNvSpPr>
          <p:nvPr/>
        </p:nvSpPr>
        <p:spPr bwMode="auto">
          <a:xfrm>
            <a:off x="2590800" y="224703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590800" y="244318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9" name="Straight Connector 12"/>
          <p:cNvCxnSpPr>
            <a:cxnSpLocks noChangeShapeType="1"/>
            <a:stCxn id="26" idx="3"/>
            <a:endCxn id="14" idx="3"/>
          </p:cNvCxnSpPr>
          <p:nvPr/>
        </p:nvCxnSpPr>
        <p:spPr bwMode="auto">
          <a:xfrm rot="10800000" flipV="1">
            <a:off x="2476634" y="2922388"/>
            <a:ext cx="342766" cy="8772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" name="Web Server Tier"/>
          <p:cNvSpPr>
            <a:spLocks noChangeArrowheads="1"/>
          </p:cNvSpPr>
          <p:nvPr/>
        </p:nvSpPr>
        <p:spPr bwMode="auto">
          <a:xfrm>
            <a:off x="3801088" y="1480924"/>
            <a:ext cx="1324934" cy="196510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 err="1">
                <a:solidFill>
                  <a:srgbClr val="000000"/>
                </a:solidFill>
              </a:rPr>
              <a:t>my_port</a:t>
            </a:r>
            <a:endParaRPr lang="en-US" altLang="en-US" sz="1200" i="1" dirty="0">
              <a:solidFill>
                <a:srgbClr val="0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801088" y="1859917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3733800" y="2320226"/>
            <a:ext cx="1468422" cy="936893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cxnSp>
        <p:nvCxnSpPr>
          <p:cNvPr id="17" name="Straight Connector 12"/>
          <p:cNvCxnSpPr>
            <a:cxnSpLocks noChangeShapeType="1"/>
            <a:stCxn id="43" idx="1"/>
            <a:endCxn id="25" idx="1"/>
          </p:cNvCxnSpPr>
          <p:nvPr/>
        </p:nvCxnSpPr>
        <p:spPr bwMode="auto">
          <a:xfrm rot="10800000" flipV="1">
            <a:off x="3180630" y="2690016"/>
            <a:ext cx="476970" cy="23237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657600" y="2574512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sp>
        <p:nvSpPr>
          <p:cNvPr id="46" name="Web Server Tier"/>
          <p:cNvSpPr>
            <a:spLocks noChangeArrowheads="1"/>
          </p:cNvSpPr>
          <p:nvPr/>
        </p:nvSpPr>
        <p:spPr bwMode="auto">
          <a:xfrm>
            <a:off x="6749557" y="3657599"/>
            <a:ext cx="1061077" cy="64282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cxnSp>
        <p:nvCxnSpPr>
          <p:cNvPr id="51" name="Straight Connector 12"/>
          <p:cNvCxnSpPr>
            <a:cxnSpLocks noChangeShapeType="1"/>
            <a:stCxn id="35" idx="1"/>
            <a:endCxn id="50" idx="3"/>
          </p:cNvCxnSpPr>
          <p:nvPr/>
        </p:nvCxnSpPr>
        <p:spPr bwMode="auto">
          <a:xfrm rot="10800000">
            <a:off x="5257801" y="3033410"/>
            <a:ext cx="500715" cy="383417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55" name="Straight Connector 12"/>
          <p:cNvCxnSpPr>
            <a:cxnSpLocks noChangeShapeType="1"/>
            <a:stCxn id="47" idx="1"/>
            <a:endCxn id="36" idx="3"/>
          </p:cNvCxnSpPr>
          <p:nvPr/>
        </p:nvCxnSpPr>
        <p:spPr bwMode="auto">
          <a:xfrm rot="10800000">
            <a:off x="6104034" y="3416827"/>
            <a:ext cx="563600" cy="62570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8" name="Rectangle 67"/>
          <p:cNvSpPr/>
          <p:nvPr/>
        </p:nvSpPr>
        <p:spPr>
          <a:xfrm>
            <a:off x="6896234" y="3030534"/>
            <a:ext cx="1571584" cy="569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/>
                <a:ea typeface="Times New Roman"/>
                <a:cs typeface="Times New Roman"/>
              </a:rPr>
              <a:t>network_name: </a:t>
            </a:r>
            <a:r>
              <a:rPr lang="en-US" sz="1000" b="1" dirty="0">
                <a:solidFill>
                  <a:srgbClr val="FF0000"/>
                </a:solidFill>
                <a:latin typeface="Calibri"/>
                <a:ea typeface="Times New Roman"/>
                <a:cs typeface="Times New Roman"/>
              </a:rPr>
              <a:t>&lt;input&gt;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470794" y="2900382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819400" y="2824279"/>
            <a:ext cx="361230" cy="196217"/>
            <a:chOff x="3280083" y="3357678"/>
            <a:chExt cx="361230" cy="196217"/>
          </a:xfrm>
        </p:grpSpPr>
        <p:sp>
          <p:nvSpPr>
            <p:cNvPr id="25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6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305166" y="2928724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5758515" y="3318717"/>
            <a:ext cx="345519" cy="196217"/>
            <a:chOff x="4398651" y="4729278"/>
            <a:chExt cx="361230" cy="196217"/>
          </a:xfrm>
        </p:grpSpPr>
        <p:sp>
          <p:nvSpPr>
            <p:cNvPr id="35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6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32" name="Web Server Tier"/>
          <p:cNvSpPr>
            <a:spLocks noChangeArrowheads="1"/>
          </p:cNvSpPr>
          <p:nvPr/>
        </p:nvSpPr>
        <p:spPr bwMode="auto">
          <a:xfrm>
            <a:off x="762000" y="3843124"/>
            <a:ext cx="1578632" cy="19480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000" y="4191000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37" name="Web Server Tier"/>
          <p:cNvSpPr>
            <a:spLocks noChangeArrowheads="1"/>
          </p:cNvSpPr>
          <p:nvPr/>
        </p:nvSpPr>
        <p:spPr bwMode="auto">
          <a:xfrm>
            <a:off x="1371600" y="5029200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40" name="Web Server Tier"/>
          <p:cNvSpPr>
            <a:spLocks noChangeArrowheads="1"/>
          </p:cNvSpPr>
          <p:nvPr/>
        </p:nvSpPr>
        <p:spPr bwMode="auto">
          <a:xfrm>
            <a:off x="2667000" y="4466031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667000" y="4662181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44" name="Straight Connector 12"/>
          <p:cNvCxnSpPr>
            <a:cxnSpLocks noChangeShapeType="1"/>
            <a:stCxn id="52" idx="3"/>
            <a:endCxn id="45" idx="3"/>
          </p:cNvCxnSpPr>
          <p:nvPr/>
        </p:nvCxnSpPr>
        <p:spPr bwMode="auto">
          <a:xfrm rot="10800000" flipV="1">
            <a:off x="2514600" y="5141381"/>
            <a:ext cx="381000" cy="263386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1508760" y="5295039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895600" y="5043271"/>
            <a:ext cx="361230" cy="196217"/>
            <a:chOff x="3280083" y="3357678"/>
            <a:chExt cx="361230" cy="196217"/>
          </a:xfrm>
        </p:grpSpPr>
        <p:sp>
          <p:nvSpPr>
            <p:cNvPr id="49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2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53" name="Web Server Tier"/>
          <p:cNvSpPr>
            <a:spLocks noChangeArrowheads="1"/>
          </p:cNvSpPr>
          <p:nvPr/>
        </p:nvSpPr>
        <p:spPr bwMode="auto">
          <a:xfrm>
            <a:off x="3877288" y="3843124"/>
            <a:ext cx="1324934" cy="19480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my_port2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77288" y="4222117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56" name="Web Server Tier"/>
          <p:cNvSpPr>
            <a:spLocks noChangeArrowheads="1"/>
          </p:cNvSpPr>
          <p:nvPr/>
        </p:nvSpPr>
        <p:spPr bwMode="auto">
          <a:xfrm>
            <a:off x="3810000" y="4682427"/>
            <a:ext cx="1468422" cy="956374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cxnSp>
        <p:nvCxnSpPr>
          <p:cNvPr id="60" name="Straight Connector 12"/>
          <p:cNvCxnSpPr>
            <a:cxnSpLocks noChangeShapeType="1"/>
            <a:stCxn id="62" idx="1"/>
            <a:endCxn id="49" idx="1"/>
          </p:cNvCxnSpPr>
          <p:nvPr/>
        </p:nvCxnSpPr>
        <p:spPr bwMode="auto">
          <a:xfrm rot="10800000" flipV="1">
            <a:off x="3256830" y="5052216"/>
            <a:ext cx="476970" cy="89163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3733800" y="4936712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cxnSp>
        <p:nvCxnSpPr>
          <p:cNvPr id="63" name="Straight Connector 12"/>
          <p:cNvCxnSpPr>
            <a:cxnSpLocks noChangeShapeType="1"/>
            <a:stCxn id="70" idx="1"/>
            <a:endCxn id="67" idx="3"/>
          </p:cNvCxnSpPr>
          <p:nvPr/>
        </p:nvCxnSpPr>
        <p:spPr bwMode="auto">
          <a:xfrm rot="10800000" flipV="1">
            <a:off x="5334001" y="5146777"/>
            <a:ext cx="462481" cy="24883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64" name="Straight Connector 12"/>
          <p:cNvCxnSpPr>
            <a:cxnSpLocks noChangeShapeType="1"/>
            <a:stCxn id="47" idx="1"/>
            <a:endCxn id="71" idx="3"/>
          </p:cNvCxnSpPr>
          <p:nvPr/>
        </p:nvCxnSpPr>
        <p:spPr bwMode="auto">
          <a:xfrm rot="10800000" flipV="1">
            <a:off x="6142000" y="4042527"/>
            <a:ext cx="525634" cy="110425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5" name="Web Server Tier"/>
          <p:cNvSpPr>
            <a:spLocks noChangeArrowheads="1"/>
          </p:cNvSpPr>
          <p:nvPr/>
        </p:nvSpPr>
        <p:spPr bwMode="auto">
          <a:xfrm>
            <a:off x="5507968" y="4510391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507968" y="4706541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4381366" y="5290924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grpSp>
        <p:nvGrpSpPr>
          <p:cNvPr id="69" name="Group 68"/>
          <p:cNvGrpSpPr/>
          <p:nvPr/>
        </p:nvGrpSpPr>
        <p:grpSpPr>
          <a:xfrm flipH="1">
            <a:off x="5796481" y="5048669"/>
            <a:ext cx="345519" cy="196217"/>
            <a:chOff x="4398651" y="4729278"/>
            <a:chExt cx="361230" cy="196217"/>
          </a:xfrm>
        </p:grpSpPr>
        <p:sp>
          <p:nvSpPr>
            <p:cNvPr id="70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71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6667634" y="3937842"/>
            <a:ext cx="1014566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9863" y="2057399"/>
            <a:ext cx="7809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Calibri"/>
              </a:rPr>
              <a:t>…</a:t>
            </a:r>
            <a:endParaRPr lang="en-US" sz="1000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3017" y="4537502"/>
            <a:ext cx="7809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Calibri"/>
              </a:rPr>
              <a:t>…</a:t>
            </a:r>
            <a:endParaRPr lang="en-US" sz="1000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2B458-36EF-5C18-64AD-4B6424B8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59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96252"/>
      </p:ext>
    </p:extLst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Web Server Tier"/>
          <p:cNvSpPr>
            <a:spLocks noChangeArrowheads="1"/>
          </p:cNvSpPr>
          <p:nvPr/>
        </p:nvSpPr>
        <p:spPr bwMode="auto">
          <a:xfrm>
            <a:off x="5470002" y="201843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70002" y="221458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03501" y="76200"/>
            <a:ext cx="3055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Network 3: </a:t>
            </a:r>
          </a:p>
          <a:p>
            <a:pPr algn="ctr"/>
            <a:r>
              <a:rPr lang="en-US" sz="1400" b="1" dirty="0"/>
              <a:t>Two servers bound to a single network</a:t>
            </a:r>
          </a:p>
        </p:txBody>
      </p:sp>
      <p:sp>
        <p:nvSpPr>
          <p:cNvPr id="10" name="Web Server Tier"/>
          <p:cNvSpPr>
            <a:spLocks noChangeArrowheads="1"/>
          </p:cNvSpPr>
          <p:nvPr/>
        </p:nvSpPr>
        <p:spPr bwMode="auto">
          <a:xfrm>
            <a:off x="381000" y="1905000"/>
            <a:ext cx="1578632" cy="20193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2286000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Compute</a:t>
            </a:r>
          </a:p>
        </p:txBody>
      </p:sp>
      <p:sp>
        <p:nvSpPr>
          <p:cNvPr id="13" name="Web Server Tier"/>
          <p:cNvSpPr>
            <a:spLocks noChangeArrowheads="1"/>
          </p:cNvSpPr>
          <p:nvPr/>
        </p:nvSpPr>
        <p:spPr bwMode="auto">
          <a:xfrm>
            <a:off x="990600" y="3167943"/>
            <a:ext cx="1051560" cy="642057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8" name="Web Server Tier"/>
          <p:cNvSpPr>
            <a:spLocks noChangeArrowheads="1"/>
          </p:cNvSpPr>
          <p:nvPr/>
        </p:nvSpPr>
        <p:spPr bwMode="auto">
          <a:xfrm>
            <a:off x="2590800" y="224703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590800" y="244318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9" name="Straight Connector 12"/>
          <p:cNvCxnSpPr>
            <a:cxnSpLocks noChangeShapeType="1"/>
            <a:stCxn id="26" idx="3"/>
            <a:endCxn id="14" idx="3"/>
          </p:cNvCxnSpPr>
          <p:nvPr/>
        </p:nvCxnSpPr>
        <p:spPr bwMode="auto">
          <a:xfrm rot="10800000" flipV="1">
            <a:off x="2133600" y="2922388"/>
            <a:ext cx="685800" cy="62112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" name="Web Server Tier"/>
          <p:cNvSpPr>
            <a:spLocks noChangeArrowheads="1"/>
          </p:cNvSpPr>
          <p:nvPr/>
        </p:nvSpPr>
        <p:spPr bwMode="auto">
          <a:xfrm>
            <a:off x="3801088" y="1185117"/>
            <a:ext cx="1324934" cy="171947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my_port1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01088" y="1530986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3733800" y="1913993"/>
            <a:ext cx="1468422" cy="87061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cxnSp>
        <p:nvCxnSpPr>
          <p:cNvPr id="17" name="Straight Connector 12"/>
          <p:cNvCxnSpPr>
            <a:cxnSpLocks noChangeShapeType="1"/>
            <a:stCxn id="43" idx="1"/>
            <a:endCxn id="25" idx="1"/>
          </p:cNvCxnSpPr>
          <p:nvPr/>
        </p:nvCxnSpPr>
        <p:spPr bwMode="auto">
          <a:xfrm rot="10800000" flipV="1">
            <a:off x="3180630" y="2258098"/>
            <a:ext cx="476970" cy="66429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657600" y="2142593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cxnSp>
        <p:nvCxnSpPr>
          <p:cNvPr id="51" name="Straight Connector 12"/>
          <p:cNvCxnSpPr>
            <a:cxnSpLocks noChangeShapeType="1"/>
            <a:stCxn id="35" idx="1"/>
            <a:endCxn id="50" idx="3"/>
          </p:cNvCxnSpPr>
          <p:nvPr/>
        </p:nvCxnSpPr>
        <p:spPr bwMode="auto">
          <a:xfrm rot="10800000">
            <a:off x="5257801" y="2552078"/>
            <a:ext cx="500715" cy="102748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55" name="Straight Connector 12"/>
          <p:cNvCxnSpPr>
            <a:cxnSpLocks noChangeShapeType="1"/>
            <a:stCxn id="124" idx="1"/>
            <a:endCxn id="36" idx="3"/>
          </p:cNvCxnSpPr>
          <p:nvPr/>
        </p:nvCxnSpPr>
        <p:spPr bwMode="auto">
          <a:xfrm rot="10800000" flipV="1">
            <a:off x="6104034" y="2528231"/>
            <a:ext cx="525366" cy="126595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" name="Group 7"/>
          <p:cNvGrpSpPr/>
          <p:nvPr/>
        </p:nvGrpSpPr>
        <p:grpSpPr>
          <a:xfrm>
            <a:off x="2819400" y="2824279"/>
            <a:ext cx="361230" cy="196217"/>
            <a:chOff x="3280083" y="3357678"/>
            <a:chExt cx="361230" cy="196217"/>
          </a:xfrm>
        </p:grpSpPr>
        <p:sp>
          <p:nvSpPr>
            <p:cNvPr id="25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26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305166" y="2447393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5758515" y="2556717"/>
            <a:ext cx="345519" cy="196217"/>
            <a:chOff x="4398651" y="4729278"/>
            <a:chExt cx="361230" cy="196217"/>
          </a:xfrm>
        </p:grpSpPr>
        <p:sp>
          <p:nvSpPr>
            <p:cNvPr id="35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36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53" name="Web Server Tier"/>
          <p:cNvSpPr>
            <a:spLocks noChangeArrowheads="1"/>
          </p:cNvSpPr>
          <p:nvPr/>
        </p:nvSpPr>
        <p:spPr bwMode="auto">
          <a:xfrm>
            <a:off x="3801088" y="3056993"/>
            <a:ext cx="1324934" cy="168539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my_port2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1088" y="3402862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56" name="Web Server Tier"/>
          <p:cNvSpPr>
            <a:spLocks noChangeArrowheads="1"/>
          </p:cNvSpPr>
          <p:nvPr/>
        </p:nvSpPr>
        <p:spPr bwMode="auto">
          <a:xfrm>
            <a:off x="3733800" y="3785869"/>
            <a:ext cx="1468422" cy="87142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3657600" y="4014469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cxnSp>
        <p:nvCxnSpPr>
          <p:cNvPr id="63" name="Straight Connector 12"/>
          <p:cNvCxnSpPr>
            <a:cxnSpLocks noChangeShapeType="1"/>
            <a:stCxn id="70" idx="1"/>
            <a:endCxn id="67" idx="3"/>
          </p:cNvCxnSpPr>
          <p:nvPr/>
        </p:nvCxnSpPr>
        <p:spPr bwMode="auto">
          <a:xfrm rot="10800000">
            <a:off x="5257801" y="4423955"/>
            <a:ext cx="538681" cy="25589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64" name="Straight Connector 12"/>
          <p:cNvCxnSpPr>
            <a:cxnSpLocks noChangeShapeType="1"/>
            <a:stCxn id="119" idx="1"/>
            <a:endCxn id="71" idx="3"/>
          </p:cNvCxnSpPr>
          <p:nvPr/>
        </p:nvCxnSpPr>
        <p:spPr bwMode="auto">
          <a:xfrm rot="10800000" flipV="1">
            <a:off x="6142000" y="4399148"/>
            <a:ext cx="487400" cy="50395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5" name="Web Server Tier"/>
          <p:cNvSpPr>
            <a:spLocks noChangeArrowheads="1"/>
          </p:cNvSpPr>
          <p:nvPr/>
        </p:nvSpPr>
        <p:spPr bwMode="auto">
          <a:xfrm>
            <a:off x="5507968" y="3813156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507968" y="4009306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4305166" y="4319269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grpSp>
        <p:nvGrpSpPr>
          <p:cNvPr id="69" name="Group 68"/>
          <p:cNvGrpSpPr/>
          <p:nvPr/>
        </p:nvGrpSpPr>
        <p:grpSpPr>
          <a:xfrm flipH="1">
            <a:off x="5796481" y="4351434"/>
            <a:ext cx="345519" cy="196217"/>
            <a:chOff x="4398651" y="4729278"/>
            <a:chExt cx="361230" cy="196217"/>
          </a:xfrm>
        </p:grpSpPr>
        <p:sp>
          <p:nvSpPr>
            <p:cNvPr id="70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71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72" name="Rectangle 71"/>
          <p:cNvSpPr/>
          <p:nvPr/>
        </p:nvSpPr>
        <p:spPr>
          <a:xfrm>
            <a:off x="386829" y="2590799"/>
            <a:ext cx="7809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Attributes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Calibri"/>
              </a:rPr>
              <a:t>…</a:t>
            </a:r>
            <a:endParaRPr lang="en-US" sz="1000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78" name="Straight Connector 12"/>
          <p:cNvCxnSpPr>
            <a:cxnSpLocks noChangeShapeType="1"/>
            <a:stCxn id="84" idx="1"/>
            <a:endCxn id="114" idx="3"/>
          </p:cNvCxnSpPr>
          <p:nvPr/>
        </p:nvCxnSpPr>
        <p:spPr bwMode="auto">
          <a:xfrm rot="10800000" flipV="1">
            <a:off x="5257800" y="6088703"/>
            <a:ext cx="570592" cy="18818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9" name="Straight Connector 12"/>
          <p:cNvCxnSpPr>
            <a:cxnSpLocks noChangeShapeType="1"/>
            <a:stCxn id="95" idx="1"/>
            <a:endCxn id="85" idx="3"/>
          </p:cNvCxnSpPr>
          <p:nvPr/>
        </p:nvCxnSpPr>
        <p:spPr bwMode="auto">
          <a:xfrm rot="10800000">
            <a:off x="6173912" y="6088706"/>
            <a:ext cx="455489" cy="173327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80" name="Web Server Tier"/>
          <p:cNvSpPr>
            <a:spLocks noChangeArrowheads="1"/>
          </p:cNvSpPr>
          <p:nvPr/>
        </p:nvSpPr>
        <p:spPr bwMode="auto">
          <a:xfrm>
            <a:off x="5539879" y="5452317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539879" y="5648467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LinksTo</a:t>
            </a:r>
          </a:p>
        </p:txBody>
      </p:sp>
      <p:grpSp>
        <p:nvGrpSpPr>
          <p:cNvPr id="83" name="Group 82"/>
          <p:cNvGrpSpPr/>
          <p:nvPr/>
        </p:nvGrpSpPr>
        <p:grpSpPr>
          <a:xfrm flipH="1">
            <a:off x="5828392" y="5990595"/>
            <a:ext cx="345519" cy="196217"/>
            <a:chOff x="4398651" y="4729278"/>
            <a:chExt cx="361230" cy="196217"/>
          </a:xfrm>
        </p:grpSpPr>
        <p:sp>
          <p:nvSpPr>
            <p:cNvPr id="84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85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91" name="Web Server Tier"/>
          <p:cNvSpPr>
            <a:spLocks noChangeArrowheads="1"/>
          </p:cNvSpPr>
          <p:nvPr/>
        </p:nvSpPr>
        <p:spPr bwMode="auto">
          <a:xfrm>
            <a:off x="6803368" y="4876800"/>
            <a:ext cx="1578632" cy="171851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my_network3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03368" y="5189745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Network</a:t>
            </a:r>
          </a:p>
        </p:txBody>
      </p:sp>
      <p:sp>
        <p:nvSpPr>
          <p:cNvPr id="93" name="Web Server Tier"/>
          <p:cNvSpPr>
            <a:spLocks noChangeArrowheads="1"/>
          </p:cNvSpPr>
          <p:nvPr/>
        </p:nvSpPr>
        <p:spPr bwMode="auto">
          <a:xfrm>
            <a:off x="6711323" y="5952495"/>
            <a:ext cx="1061077" cy="49042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0" y="5494019"/>
            <a:ext cx="79220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>
            <a:off x="6629400" y="6157347"/>
            <a:ext cx="1014566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96" name="Web Server Tier"/>
          <p:cNvSpPr>
            <a:spLocks noChangeArrowheads="1"/>
          </p:cNvSpPr>
          <p:nvPr/>
        </p:nvSpPr>
        <p:spPr bwMode="auto">
          <a:xfrm>
            <a:off x="2590800" y="346623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2590800" y="366238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98" name="Straight Connector 12"/>
          <p:cNvCxnSpPr>
            <a:cxnSpLocks noChangeShapeType="1"/>
            <a:stCxn id="102" idx="3"/>
            <a:endCxn id="14" idx="2"/>
          </p:cNvCxnSpPr>
          <p:nvPr/>
        </p:nvCxnSpPr>
        <p:spPr bwMode="auto">
          <a:xfrm rot="10800000">
            <a:off x="1630680" y="3653239"/>
            <a:ext cx="1188720" cy="488351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9" name="Straight Connector 12"/>
          <p:cNvCxnSpPr>
            <a:cxnSpLocks noChangeShapeType="1"/>
            <a:stCxn id="62" idx="1"/>
            <a:endCxn id="101" idx="1"/>
          </p:cNvCxnSpPr>
          <p:nvPr/>
        </p:nvCxnSpPr>
        <p:spPr bwMode="auto">
          <a:xfrm rot="10800000" flipV="1">
            <a:off x="3180630" y="4129974"/>
            <a:ext cx="476970" cy="11614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00" name="Group 99"/>
          <p:cNvGrpSpPr/>
          <p:nvPr/>
        </p:nvGrpSpPr>
        <p:grpSpPr>
          <a:xfrm>
            <a:off x="2819400" y="4043479"/>
            <a:ext cx="361230" cy="196217"/>
            <a:chOff x="3280083" y="3357678"/>
            <a:chExt cx="361230" cy="196217"/>
          </a:xfrm>
        </p:grpSpPr>
        <p:sp>
          <p:nvSpPr>
            <p:cNvPr id="101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02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03" name="Web Server Tier"/>
          <p:cNvSpPr>
            <a:spLocks noChangeArrowheads="1"/>
          </p:cNvSpPr>
          <p:nvPr/>
        </p:nvSpPr>
        <p:spPr bwMode="auto">
          <a:xfrm>
            <a:off x="2598287" y="4914039"/>
            <a:ext cx="838200" cy="953361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2598287" y="5110189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BindsTo</a:t>
            </a:r>
          </a:p>
        </p:txBody>
      </p:sp>
      <p:cxnSp>
        <p:nvCxnSpPr>
          <p:cNvPr id="105" name="Straight Connector 12"/>
          <p:cNvCxnSpPr>
            <a:cxnSpLocks noChangeShapeType="1"/>
            <a:stCxn id="109" idx="3"/>
            <a:endCxn id="14" idx="2"/>
          </p:cNvCxnSpPr>
          <p:nvPr/>
        </p:nvCxnSpPr>
        <p:spPr bwMode="auto">
          <a:xfrm rot="10800000">
            <a:off x="1630681" y="3653239"/>
            <a:ext cx="1196207" cy="1936151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6" name="Straight Connector 12"/>
          <p:cNvCxnSpPr>
            <a:cxnSpLocks noChangeShapeType="1"/>
            <a:stCxn id="113" idx="1"/>
            <a:endCxn id="108" idx="1"/>
          </p:cNvCxnSpPr>
          <p:nvPr/>
        </p:nvCxnSpPr>
        <p:spPr bwMode="auto">
          <a:xfrm rot="10800000">
            <a:off x="3188118" y="5589389"/>
            <a:ext cx="469483" cy="393517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07" name="Group 106"/>
          <p:cNvGrpSpPr/>
          <p:nvPr/>
        </p:nvGrpSpPr>
        <p:grpSpPr>
          <a:xfrm>
            <a:off x="2826887" y="5491279"/>
            <a:ext cx="361230" cy="196217"/>
            <a:chOff x="3280083" y="3357678"/>
            <a:chExt cx="361230" cy="196217"/>
          </a:xfrm>
        </p:grpSpPr>
        <p:sp>
          <p:nvSpPr>
            <p:cNvPr id="108" name="Pentagon 13"/>
            <p:cNvSpPr>
              <a:spLocks noChangeArrowheads="1"/>
            </p:cNvSpPr>
            <p:nvPr/>
          </p:nvSpPr>
          <p:spPr bwMode="auto">
            <a:xfrm flipH="1">
              <a:off x="3380318" y="33576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09" name="Chevron 18"/>
            <p:cNvSpPr>
              <a:spLocks noChangeArrowheads="1"/>
            </p:cNvSpPr>
            <p:nvPr/>
          </p:nvSpPr>
          <p:spPr bwMode="auto">
            <a:xfrm flipH="1">
              <a:off x="3280083" y="33576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10" name="Web Server Tier"/>
          <p:cNvSpPr>
            <a:spLocks noChangeArrowheads="1"/>
          </p:cNvSpPr>
          <p:nvPr/>
        </p:nvSpPr>
        <p:spPr bwMode="auto">
          <a:xfrm>
            <a:off x="3801088" y="4909924"/>
            <a:ext cx="1324934" cy="168539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my_port3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01088" y="5255793"/>
            <a:ext cx="1324934" cy="306807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Port</a:t>
            </a:r>
          </a:p>
        </p:txBody>
      </p:sp>
      <p:sp>
        <p:nvSpPr>
          <p:cNvPr id="112" name="Web Server Tier"/>
          <p:cNvSpPr>
            <a:spLocks noChangeArrowheads="1"/>
          </p:cNvSpPr>
          <p:nvPr/>
        </p:nvSpPr>
        <p:spPr bwMode="auto">
          <a:xfrm>
            <a:off x="3733800" y="5638800"/>
            <a:ext cx="1468422" cy="87142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3657600" y="5867400"/>
            <a:ext cx="920728" cy="23101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sp>
        <p:nvSpPr>
          <p:cNvPr id="114" name="Rectangle 14"/>
          <p:cNvSpPr>
            <a:spLocks noChangeArrowheads="1"/>
          </p:cNvSpPr>
          <p:nvPr/>
        </p:nvSpPr>
        <p:spPr bwMode="auto">
          <a:xfrm>
            <a:off x="4305166" y="6172200"/>
            <a:ext cx="952634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115" name="Web Server Tier"/>
          <p:cNvSpPr>
            <a:spLocks noChangeArrowheads="1"/>
          </p:cNvSpPr>
          <p:nvPr/>
        </p:nvSpPr>
        <p:spPr bwMode="auto">
          <a:xfrm>
            <a:off x="6803368" y="3013917"/>
            <a:ext cx="1578632" cy="171851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my_network2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03368" y="3326862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Network</a:t>
            </a:r>
          </a:p>
        </p:txBody>
      </p:sp>
      <p:sp>
        <p:nvSpPr>
          <p:cNvPr id="117" name="Web Server Tier"/>
          <p:cNvSpPr>
            <a:spLocks noChangeArrowheads="1"/>
          </p:cNvSpPr>
          <p:nvPr/>
        </p:nvSpPr>
        <p:spPr bwMode="auto">
          <a:xfrm>
            <a:off x="6711323" y="4089612"/>
            <a:ext cx="1061077" cy="49042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58000" y="3631136"/>
            <a:ext cx="79220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>
            <a:off x="6629400" y="4294464"/>
            <a:ext cx="1014566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120" name="Web Server Tier"/>
          <p:cNvSpPr>
            <a:spLocks noChangeArrowheads="1"/>
          </p:cNvSpPr>
          <p:nvPr/>
        </p:nvSpPr>
        <p:spPr bwMode="auto">
          <a:xfrm>
            <a:off x="6803368" y="1143000"/>
            <a:ext cx="1578632" cy="171851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my_network1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03368" y="1455945"/>
            <a:ext cx="1578632" cy="304800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Network</a:t>
            </a:r>
          </a:p>
        </p:txBody>
      </p:sp>
      <p:sp>
        <p:nvSpPr>
          <p:cNvPr id="122" name="Web Server Tier"/>
          <p:cNvSpPr>
            <a:spLocks noChangeArrowheads="1"/>
          </p:cNvSpPr>
          <p:nvPr/>
        </p:nvSpPr>
        <p:spPr bwMode="auto">
          <a:xfrm>
            <a:off x="6711323" y="2218695"/>
            <a:ext cx="1061077" cy="49042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58000" y="1760219"/>
            <a:ext cx="79220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latin typeface="Calibri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24" name="Rectangle 14"/>
          <p:cNvSpPr>
            <a:spLocks noChangeArrowheads="1"/>
          </p:cNvSpPr>
          <p:nvPr/>
        </p:nvSpPr>
        <p:spPr bwMode="auto">
          <a:xfrm>
            <a:off x="6629400" y="2423547"/>
            <a:ext cx="1014566" cy="209370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Linkable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127760" y="3433782"/>
            <a:ext cx="100584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Bindable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08EF28-6A3D-9B59-7C46-38FFB35E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60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84811"/>
      </p:ext>
    </p:extLst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4865" y="0"/>
            <a:ext cx="1752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WebServer-DBMS-1: </a:t>
            </a:r>
          </a:p>
          <a:p>
            <a:pPr algn="ctr"/>
            <a:r>
              <a:rPr lang="en-US" sz="1400" b="1" dirty="0"/>
              <a:t>WordPress - MySQL</a:t>
            </a:r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6200000" flipV="1">
            <a:off x="3251929" y="4931755"/>
            <a:ext cx="665546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6" name="Group 15"/>
          <p:cNvGrpSpPr/>
          <p:nvPr/>
        </p:nvGrpSpPr>
        <p:grpSpPr>
          <a:xfrm>
            <a:off x="1828800" y="2819400"/>
            <a:ext cx="1465028" cy="2286000"/>
            <a:chOff x="990600" y="1069127"/>
            <a:chExt cx="1465028" cy="2322533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990600" y="1069127"/>
              <a:ext cx="1465028" cy="232253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name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1382452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WebServer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1828800" y="3347590"/>
            <a:ext cx="125579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component_version:</a:t>
            </a:r>
            <a:endParaRPr lang="en-US" sz="900" i="1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admin_credential: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362201" y="4466260"/>
            <a:ext cx="1051495" cy="530040"/>
            <a:chOff x="1524001" y="3356160"/>
            <a:chExt cx="1051495" cy="530040"/>
          </a:xfrm>
        </p:grpSpPr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524001" y="3356160"/>
              <a:ext cx="1005905" cy="53004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683324" y="3550160"/>
              <a:ext cx="892172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Arial" charset="0"/>
                </a:rPr>
                <a:t>Container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67" idx="3"/>
            <a:endCxn id="35" idx="3"/>
          </p:cNvCxnSpPr>
          <p:nvPr/>
        </p:nvCxnSpPr>
        <p:spPr bwMode="auto">
          <a:xfrm flipV="1">
            <a:off x="3429000" y="5603872"/>
            <a:ext cx="326709" cy="613155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7" name="Group 16"/>
          <p:cNvGrpSpPr/>
          <p:nvPr/>
        </p:nvGrpSpPr>
        <p:grpSpPr>
          <a:xfrm>
            <a:off x="1830530" y="5261270"/>
            <a:ext cx="1463040" cy="1215730"/>
            <a:chOff x="916130" y="4904230"/>
            <a:chExt cx="1331868" cy="1156770"/>
          </a:xfrm>
        </p:grpSpPr>
        <p:sp>
          <p:nvSpPr>
            <p:cNvPr id="47" name="Web Server Tier"/>
            <p:cNvSpPr>
              <a:spLocks noChangeArrowheads="1"/>
            </p:cNvSpPr>
            <p:nvPr/>
          </p:nvSpPr>
          <p:spPr bwMode="auto">
            <a:xfrm>
              <a:off x="916130" y="4904230"/>
              <a:ext cx="1331867" cy="11567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server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16130" y="5196434"/>
              <a:ext cx="1331868" cy="23772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</p:grpSp>
      <p:sp>
        <p:nvSpPr>
          <p:cNvPr id="66" name="Web Server Tier"/>
          <p:cNvSpPr>
            <a:spLocks noChangeArrowheads="1"/>
          </p:cNvSpPr>
          <p:nvPr/>
        </p:nvSpPr>
        <p:spPr bwMode="auto">
          <a:xfrm>
            <a:off x="2399668" y="5867400"/>
            <a:ext cx="968436" cy="55063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2533930" y="6107299"/>
            <a:ext cx="89507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428999" y="5032669"/>
            <a:ext cx="685801" cy="647403"/>
            <a:chOff x="3124199" y="4457997"/>
            <a:chExt cx="685801" cy="647403"/>
          </a:xfrm>
        </p:grpSpPr>
        <p:sp>
          <p:nvSpPr>
            <p:cNvPr id="27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3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5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362200" y="3882730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2521524" y="4118740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78" name="Straight Connector 12"/>
          <p:cNvCxnSpPr>
            <a:cxnSpLocks noChangeShapeType="1"/>
            <a:stCxn id="91" idx="1"/>
            <a:endCxn id="85" idx="3"/>
          </p:cNvCxnSpPr>
          <p:nvPr/>
        </p:nvCxnSpPr>
        <p:spPr bwMode="auto">
          <a:xfrm rot="16200000" flipV="1">
            <a:off x="3233321" y="2576629"/>
            <a:ext cx="721254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9" name="Group 78"/>
          <p:cNvGrpSpPr/>
          <p:nvPr/>
        </p:nvGrpSpPr>
        <p:grpSpPr>
          <a:xfrm>
            <a:off x="1838046" y="838200"/>
            <a:ext cx="1465028" cy="1882639"/>
            <a:chOff x="990600" y="1069126"/>
            <a:chExt cx="1465028" cy="2852766"/>
          </a:xfrm>
        </p:grpSpPr>
        <p:sp>
          <p:nvSpPr>
            <p:cNvPr id="80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85276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wordpress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90600" y="1497915"/>
              <a:ext cx="1465028" cy="379472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WebApplication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1838046" y="1366391"/>
            <a:ext cx="93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context_root:</a:t>
            </a:r>
            <a:endParaRPr lang="en-US" sz="900" b="1" i="1" dirty="0">
              <a:solidFill>
                <a:srgbClr val="FF0000"/>
              </a:solidFill>
            </a:endParaRPr>
          </a:p>
        </p:txBody>
      </p:sp>
      <p:sp>
        <p:nvSpPr>
          <p:cNvPr id="84" name="Web Server Tier"/>
          <p:cNvSpPr>
            <a:spLocks noChangeArrowheads="1"/>
          </p:cNvSpPr>
          <p:nvPr/>
        </p:nvSpPr>
        <p:spPr bwMode="auto">
          <a:xfrm>
            <a:off x="2371447" y="1752759"/>
            <a:ext cx="1005905" cy="86056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85" name="Rectangle 14"/>
          <p:cNvSpPr>
            <a:spLocks noChangeArrowheads="1"/>
          </p:cNvSpPr>
          <p:nvPr/>
        </p:nvSpPr>
        <p:spPr bwMode="auto">
          <a:xfrm>
            <a:off x="2530770" y="2277280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86" name="Straight Connector 12"/>
          <p:cNvCxnSpPr>
            <a:cxnSpLocks noChangeShapeType="1"/>
            <a:stCxn id="50" idx="3"/>
            <a:endCxn id="92" idx="3"/>
          </p:cNvCxnSpPr>
          <p:nvPr/>
        </p:nvCxnSpPr>
        <p:spPr bwMode="auto">
          <a:xfrm flipV="1">
            <a:off x="3413695" y="3276600"/>
            <a:ext cx="351260" cy="951868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7" name="Group 86"/>
          <p:cNvGrpSpPr/>
          <p:nvPr/>
        </p:nvGrpSpPr>
        <p:grpSpPr>
          <a:xfrm>
            <a:off x="3438245" y="2705397"/>
            <a:ext cx="685801" cy="647403"/>
            <a:chOff x="3124199" y="4457997"/>
            <a:chExt cx="685801" cy="647403"/>
          </a:xfrm>
        </p:grpSpPr>
        <p:sp>
          <p:nvSpPr>
            <p:cNvPr id="88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90" name="Group 8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9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92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cxnSp>
        <p:nvCxnSpPr>
          <p:cNvPr id="98" name="Straight Connector 12"/>
          <p:cNvCxnSpPr>
            <a:cxnSpLocks noChangeShapeType="1"/>
            <a:stCxn id="116" idx="1"/>
            <a:endCxn id="105" idx="3"/>
          </p:cNvCxnSpPr>
          <p:nvPr/>
        </p:nvCxnSpPr>
        <p:spPr bwMode="auto">
          <a:xfrm rot="16200000" flipV="1">
            <a:off x="6486091" y="5314491"/>
            <a:ext cx="731931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99" name="Group 98"/>
          <p:cNvGrpSpPr/>
          <p:nvPr/>
        </p:nvGrpSpPr>
        <p:grpSpPr>
          <a:xfrm>
            <a:off x="5029200" y="3048000"/>
            <a:ext cx="1465028" cy="2368545"/>
            <a:chOff x="990600" y="1069127"/>
            <a:chExt cx="1465028" cy="2251546"/>
          </a:xfrm>
        </p:grpSpPr>
        <p:sp>
          <p:nvSpPr>
            <p:cNvPr id="100" name="Web Server Tier"/>
            <p:cNvSpPr>
              <a:spLocks noChangeArrowheads="1"/>
            </p:cNvSpPr>
            <p:nvPr/>
          </p:nvSpPr>
          <p:spPr bwMode="auto">
            <a:xfrm>
              <a:off x="990600" y="1069127"/>
              <a:ext cx="1465028" cy="225154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>
                  <a:solidFill>
                    <a:srgbClr val="000000"/>
                  </a:solidFill>
                </a:rPr>
                <a:t>mysql_dbms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90600" y="1386813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DBMS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5029200" y="3599843"/>
            <a:ext cx="1225335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component_version</a:t>
            </a:r>
            <a:endParaRPr lang="en-US" sz="900" i="1" dirty="0">
              <a:latin typeface="Calibri"/>
              <a:ea typeface="Times New Roman"/>
              <a:cs typeface="Times New Roman"/>
            </a:endParaRP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admin_credential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root_password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port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5629555" y="4815803"/>
            <a:ext cx="1051495" cy="530040"/>
            <a:chOff x="1524001" y="3356160"/>
            <a:chExt cx="1051495" cy="530040"/>
          </a:xfrm>
        </p:grpSpPr>
        <p:sp>
          <p:nvSpPr>
            <p:cNvPr id="104" name="Web Server Tier"/>
            <p:cNvSpPr>
              <a:spLocks noChangeArrowheads="1"/>
            </p:cNvSpPr>
            <p:nvPr/>
          </p:nvSpPr>
          <p:spPr bwMode="auto">
            <a:xfrm>
              <a:off x="1524001" y="3356160"/>
              <a:ext cx="1005905" cy="53004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105" name="Rectangle 14"/>
            <p:cNvSpPr>
              <a:spLocks noChangeArrowheads="1"/>
            </p:cNvSpPr>
            <p:nvPr/>
          </p:nvSpPr>
          <p:spPr bwMode="auto">
            <a:xfrm>
              <a:off x="1683324" y="3550160"/>
              <a:ext cx="892172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Arial" charset="0"/>
                </a:rPr>
                <a:t>Container</a:t>
              </a:r>
            </a:p>
          </p:txBody>
        </p:sp>
      </p:grpSp>
      <p:cxnSp>
        <p:nvCxnSpPr>
          <p:cNvPr id="106" name="Straight Connector 12"/>
          <p:cNvCxnSpPr>
            <a:cxnSpLocks noChangeShapeType="1"/>
            <a:stCxn id="67" idx="3"/>
            <a:endCxn id="117" idx="3"/>
          </p:cNvCxnSpPr>
          <p:nvPr/>
        </p:nvCxnSpPr>
        <p:spPr bwMode="auto">
          <a:xfrm flipV="1">
            <a:off x="3429000" y="6019800"/>
            <a:ext cx="3594063" cy="197227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2" name="Group 111"/>
          <p:cNvGrpSpPr/>
          <p:nvPr/>
        </p:nvGrpSpPr>
        <p:grpSpPr>
          <a:xfrm>
            <a:off x="6696353" y="5448597"/>
            <a:ext cx="685801" cy="647403"/>
            <a:chOff x="3124199" y="4457997"/>
            <a:chExt cx="685801" cy="647403"/>
          </a:xfrm>
        </p:grpSpPr>
        <p:sp>
          <p:nvSpPr>
            <p:cNvPr id="113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16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17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18" name="Web Server Tier"/>
          <p:cNvSpPr>
            <a:spLocks noChangeArrowheads="1"/>
          </p:cNvSpPr>
          <p:nvPr/>
        </p:nvSpPr>
        <p:spPr bwMode="auto">
          <a:xfrm>
            <a:off x="5629554" y="4232273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>
            <a:off x="5788878" y="4468283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0" name="Straight Connector 12"/>
          <p:cNvCxnSpPr>
            <a:cxnSpLocks noChangeShapeType="1"/>
            <a:stCxn id="132" idx="1"/>
            <a:endCxn id="126" idx="3"/>
          </p:cNvCxnSpPr>
          <p:nvPr/>
        </p:nvCxnSpPr>
        <p:spPr bwMode="auto">
          <a:xfrm rot="16200000" flipV="1">
            <a:off x="6179309" y="2671191"/>
            <a:ext cx="1509463" cy="196536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1" name="Group 120"/>
          <p:cNvGrpSpPr/>
          <p:nvPr/>
        </p:nvGrpSpPr>
        <p:grpSpPr>
          <a:xfrm>
            <a:off x="5029200" y="862160"/>
            <a:ext cx="1465028" cy="2073189"/>
            <a:chOff x="990600" y="1069126"/>
            <a:chExt cx="1465028" cy="2729346"/>
          </a:xfrm>
        </p:grpSpPr>
        <p:sp>
          <p:nvSpPr>
            <p:cNvPr id="122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72934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mysql_database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90600" y="1494683"/>
              <a:ext cx="1465028" cy="34316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Database</a:t>
              </a:r>
            </a:p>
          </p:txBody>
        </p:sp>
      </p:grpSp>
      <p:sp>
        <p:nvSpPr>
          <p:cNvPr id="124" name="Rectangle 123"/>
          <p:cNvSpPr/>
          <p:nvPr/>
        </p:nvSpPr>
        <p:spPr>
          <a:xfrm>
            <a:off x="5029200" y="1447800"/>
            <a:ext cx="750847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password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user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port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name</a:t>
            </a:r>
            <a:endParaRPr lang="en-US" sz="900" i="1" dirty="0"/>
          </a:p>
        </p:txBody>
      </p:sp>
      <p:sp>
        <p:nvSpPr>
          <p:cNvPr id="125" name="Web Server Tier"/>
          <p:cNvSpPr>
            <a:spLocks noChangeArrowheads="1"/>
          </p:cNvSpPr>
          <p:nvPr/>
        </p:nvSpPr>
        <p:spPr bwMode="auto">
          <a:xfrm>
            <a:off x="5775895" y="1676400"/>
            <a:ext cx="1005905" cy="52468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26" name="Rectangle 14"/>
          <p:cNvSpPr>
            <a:spLocks noChangeArrowheads="1"/>
          </p:cNvSpPr>
          <p:nvPr/>
        </p:nvSpPr>
        <p:spPr bwMode="auto">
          <a:xfrm>
            <a:off x="5943600" y="190499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7" name="Straight Connector 12"/>
          <p:cNvCxnSpPr>
            <a:cxnSpLocks noChangeShapeType="1"/>
            <a:stCxn id="119" idx="3"/>
            <a:endCxn id="133" idx="3"/>
          </p:cNvCxnSpPr>
          <p:nvPr/>
        </p:nvCxnSpPr>
        <p:spPr bwMode="auto">
          <a:xfrm flipV="1">
            <a:off x="6681049" y="3692528"/>
            <a:ext cx="351260" cy="885483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8" name="Group 127"/>
          <p:cNvGrpSpPr/>
          <p:nvPr/>
        </p:nvGrpSpPr>
        <p:grpSpPr>
          <a:xfrm>
            <a:off x="6705599" y="3121325"/>
            <a:ext cx="685801" cy="647403"/>
            <a:chOff x="3124199" y="4457997"/>
            <a:chExt cx="685801" cy="647403"/>
          </a:xfrm>
        </p:grpSpPr>
        <p:sp>
          <p:nvSpPr>
            <p:cNvPr id="129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31" name="Group 130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32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33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35" name="Web Server Tier"/>
          <p:cNvSpPr>
            <a:spLocks noChangeArrowheads="1"/>
          </p:cNvSpPr>
          <p:nvPr/>
        </p:nvSpPr>
        <p:spPr bwMode="auto">
          <a:xfrm>
            <a:off x="4892105" y="2365962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37" name="Web Server Tier"/>
          <p:cNvSpPr>
            <a:spLocks noChangeArrowheads="1"/>
          </p:cNvSpPr>
          <p:nvPr/>
        </p:nvSpPr>
        <p:spPr bwMode="auto">
          <a:xfrm>
            <a:off x="3717402" y="1295400"/>
            <a:ext cx="838200" cy="82905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3717402" y="1491550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ConnectsTo</a:t>
            </a:r>
          </a:p>
        </p:txBody>
      </p:sp>
      <p:cxnSp>
        <p:nvCxnSpPr>
          <p:cNvPr id="139" name="Straight Connector 12"/>
          <p:cNvCxnSpPr>
            <a:cxnSpLocks noChangeShapeType="1"/>
            <a:stCxn id="142" idx="1"/>
            <a:endCxn id="97" idx="3"/>
          </p:cNvCxnSpPr>
          <p:nvPr/>
        </p:nvCxnSpPr>
        <p:spPr bwMode="auto">
          <a:xfrm rot="10800000" flipV="1">
            <a:off x="3422943" y="1931787"/>
            <a:ext cx="582973" cy="18182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0" name="Straight Connector 12"/>
          <p:cNvCxnSpPr>
            <a:cxnSpLocks noChangeShapeType="1"/>
            <a:stCxn id="134" idx="1"/>
            <a:endCxn id="143" idx="3"/>
          </p:cNvCxnSpPr>
          <p:nvPr/>
        </p:nvCxnSpPr>
        <p:spPr bwMode="auto">
          <a:xfrm rot="10800000">
            <a:off x="4351435" y="1931788"/>
            <a:ext cx="447241" cy="77250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1" name="Group 140"/>
          <p:cNvGrpSpPr/>
          <p:nvPr/>
        </p:nvGrpSpPr>
        <p:grpSpPr>
          <a:xfrm flipH="1">
            <a:off x="4005915" y="1833678"/>
            <a:ext cx="345519" cy="196217"/>
            <a:chOff x="4398651" y="4729278"/>
            <a:chExt cx="361230" cy="196217"/>
          </a:xfrm>
        </p:grpSpPr>
        <p:sp>
          <p:nvSpPr>
            <p:cNvPr id="142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43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34" name="Rectangle 14"/>
          <p:cNvSpPr>
            <a:spLocks noChangeArrowheads="1"/>
          </p:cNvSpPr>
          <p:nvPr/>
        </p:nvSpPr>
        <p:spPr bwMode="auto">
          <a:xfrm>
            <a:off x="4798675" y="2594562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2530770" y="200387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BF2E09-CCED-9AF6-B11D-CDFDA47D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61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6948"/>
      </p:ext>
    </p:extLst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4857" y="0"/>
            <a:ext cx="1752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WebServer-DBMS-3: </a:t>
            </a:r>
          </a:p>
          <a:p>
            <a:pPr algn="ctr"/>
            <a:r>
              <a:rPr lang="en-US" sz="1400" b="1" dirty="0"/>
              <a:t>Nodejs - MongoDB</a:t>
            </a:r>
          </a:p>
        </p:txBody>
      </p:sp>
      <p:cxnSp>
        <p:nvCxnSpPr>
          <p:cNvPr id="29" name="Straight Connector 12"/>
          <p:cNvCxnSpPr>
            <a:cxnSpLocks noChangeShapeType="1"/>
            <a:stCxn id="31" idx="1"/>
            <a:endCxn id="43" idx="3"/>
          </p:cNvCxnSpPr>
          <p:nvPr/>
        </p:nvCxnSpPr>
        <p:spPr bwMode="auto">
          <a:xfrm rot="16200000" flipV="1">
            <a:off x="3785329" y="4931755"/>
            <a:ext cx="665546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6" name="Group 15"/>
          <p:cNvGrpSpPr/>
          <p:nvPr/>
        </p:nvGrpSpPr>
        <p:grpSpPr>
          <a:xfrm>
            <a:off x="2362200" y="2819400"/>
            <a:ext cx="1465028" cy="2286000"/>
            <a:chOff x="990600" y="1069127"/>
            <a:chExt cx="1465028" cy="2322533"/>
          </a:xfrm>
        </p:grpSpPr>
        <p:sp>
          <p:nvSpPr>
            <p:cNvPr id="40" name="Web Server Tier"/>
            <p:cNvSpPr>
              <a:spLocks noChangeArrowheads="1"/>
            </p:cNvSpPr>
            <p:nvPr/>
          </p:nvSpPr>
          <p:spPr bwMode="auto">
            <a:xfrm>
              <a:off x="990600" y="1069127"/>
              <a:ext cx="1465028" cy="232253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nodejs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1382452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WebServer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2362200" y="3347590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 err="1">
                <a:solidFill>
                  <a:schemeClr val="tx2">
                    <a:lumMod val="50000"/>
                  </a:schemeClr>
                </a:solidFill>
              </a:rPr>
              <a:t>nodejs_sample_app</a:t>
            </a:r>
            <a:endParaRPr lang="en-US" sz="900" i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895601" y="4466260"/>
            <a:ext cx="1051495" cy="530040"/>
            <a:chOff x="1524001" y="3356160"/>
            <a:chExt cx="1051495" cy="530040"/>
          </a:xfrm>
        </p:grpSpPr>
        <p:sp>
          <p:nvSpPr>
            <p:cNvPr id="34" name="Web Server Tier"/>
            <p:cNvSpPr>
              <a:spLocks noChangeArrowheads="1"/>
            </p:cNvSpPr>
            <p:nvPr/>
          </p:nvSpPr>
          <p:spPr bwMode="auto">
            <a:xfrm>
              <a:off x="1524001" y="3356160"/>
              <a:ext cx="1005905" cy="53004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t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900" b="1" dirty="0">
                  <a:latin typeface="Arial" charset="0"/>
                </a:rPr>
                <a:t>Requirements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683324" y="3550160"/>
              <a:ext cx="892172" cy="219456"/>
            </a:xfrm>
            <a:prstGeom prst="rect">
              <a:avLst/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none" lIns="0" rIns="0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>
                  <a:latin typeface="Arial" charset="0"/>
                </a:rPr>
                <a:t>Container</a:t>
              </a:r>
            </a:p>
          </p:txBody>
        </p:sp>
      </p:grpSp>
      <p:cxnSp>
        <p:nvCxnSpPr>
          <p:cNvPr id="32" name="Straight Connector 12"/>
          <p:cNvCxnSpPr>
            <a:cxnSpLocks noChangeShapeType="1"/>
            <a:stCxn id="67" idx="3"/>
            <a:endCxn id="35" idx="3"/>
          </p:cNvCxnSpPr>
          <p:nvPr/>
        </p:nvCxnSpPr>
        <p:spPr bwMode="auto">
          <a:xfrm flipV="1">
            <a:off x="3962400" y="5603872"/>
            <a:ext cx="326709" cy="613155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7" name="Group 16"/>
          <p:cNvGrpSpPr/>
          <p:nvPr/>
        </p:nvGrpSpPr>
        <p:grpSpPr>
          <a:xfrm>
            <a:off x="2363930" y="5261270"/>
            <a:ext cx="1463040" cy="1215730"/>
            <a:chOff x="916130" y="4904230"/>
            <a:chExt cx="1331868" cy="1156770"/>
          </a:xfrm>
        </p:grpSpPr>
        <p:sp>
          <p:nvSpPr>
            <p:cNvPr id="47" name="Web Server Tier"/>
            <p:cNvSpPr>
              <a:spLocks noChangeArrowheads="1"/>
            </p:cNvSpPr>
            <p:nvPr/>
          </p:nvSpPr>
          <p:spPr bwMode="auto">
            <a:xfrm>
              <a:off x="916130" y="4904230"/>
              <a:ext cx="1331867" cy="11567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app_server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16130" y="5196434"/>
              <a:ext cx="1331868" cy="23772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</p:grpSp>
      <p:sp>
        <p:nvSpPr>
          <p:cNvPr id="66" name="Web Server Tier"/>
          <p:cNvSpPr>
            <a:spLocks noChangeArrowheads="1"/>
          </p:cNvSpPr>
          <p:nvPr/>
        </p:nvSpPr>
        <p:spPr bwMode="auto">
          <a:xfrm>
            <a:off x="2933068" y="5867400"/>
            <a:ext cx="968436" cy="55063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3067330" y="6107299"/>
            <a:ext cx="89507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962399" y="5032669"/>
            <a:ext cx="685801" cy="647403"/>
            <a:chOff x="3124199" y="4457997"/>
            <a:chExt cx="685801" cy="647403"/>
          </a:xfrm>
        </p:grpSpPr>
        <p:sp>
          <p:nvSpPr>
            <p:cNvPr id="27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3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35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2895600" y="3882730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3054924" y="4118740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78" name="Straight Connector 12"/>
          <p:cNvCxnSpPr>
            <a:cxnSpLocks noChangeShapeType="1"/>
            <a:stCxn id="91" idx="1"/>
            <a:endCxn id="85" idx="3"/>
          </p:cNvCxnSpPr>
          <p:nvPr/>
        </p:nvCxnSpPr>
        <p:spPr bwMode="auto">
          <a:xfrm rot="16200000" flipV="1">
            <a:off x="3766721" y="2576629"/>
            <a:ext cx="721254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9" name="Group 78"/>
          <p:cNvGrpSpPr/>
          <p:nvPr/>
        </p:nvGrpSpPr>
        <p:grpSpPr>
          <a:xfrm>
            <a:off x="2371446" y="838200"/>
            <a:ext cx="1465028" cy="1882639"/>
            <a:chOff x="990600" y="1069126"/>
            <a:chExt cx="1465028" cy="2852766"/>
          </a:xfrm>
        </p:grpSpPr>
        <p:sp>
          <p:nvSpPr>
            <p:cNvPr id="80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85276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paypal_sample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90600" y="1497915"/>
              <a:ext cx="1465028" cy="379472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WebApplication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2371446" y="1366391"/>
            <a:ext cx="93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  <a:ea typeface="Times New Roman"/>
                <a:cs typeface="Calibri"/>
              </a:rPr>
              <a:t>context_root:</a:t>
            </a:r>
            <a:endParaRPr lang="en-US" sz="900" b="1" i="1" dirty="0">
              <a:solidFill>
                <a:srgbClr val="FF0000"/>
              </a:solidFill>
            </a:endParaRPr>
          </a:p>
        </p:txBody>
      </p:sp>
      <p:sp>
        <p:nvSpPr>
          <p:cNvPr id="84" name="Web Server Tier"/>
          <p:cNvSpPr>
            <a:spLocks noChangeArrowheads="1"/>
          </p:cNvSpPr>
          <p:nvPr/>
        </p:nvSpPr>
        <p:spPr bwMode="auto">
          <a:xfrm>
            <a:off x="2904847" y="1752759"/>
            <a:ext cx="1005905" cy="86056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85" name="Rectangle 14"/>
          <p:cNvSpPr>
            <a:spLocks noChangeArrowheads="1"/>
          </p:cNvSpPr>
          <p:nvPr/>
        </p:nvSpPr>
        <p:spPr bwMode="auto">
          <a:xfrm>
            <a:off x="3064170" y="2277280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86" name="Straight Connector 12"/>
          <p:cNvCxnSpPr>
            <a:cxnSpLocks noChangeShapeType="1"/>
            <a:stCxn id="50" idx="3"/>
            <a:endCxn id="92" idx="3"/>
          </p:cNvCxnSpPr>
          <p:nvPr/>
        </p:nvCxnSpPr>
        <p:spPr bwMode="auto">
          <a:xfrm flipV="1">
            <a:off x="3947095" y="3276600"/>
            <a:ext cx="351260" cy="951868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7" name="Group 86"/>
          <p:cNvGrpSpPr/>
          <p:nvPr/>
        </p:nvGrpSpPr>
        <p:grpSpPr>
          <a:xfrm>
            <a:off x="3971645" y="2705397"/>
            <a:ext cx="685801" cy="647403"/>
            <a:chOff x="3124199" y="4457997"/>
            <a:chExt cx="685801" cy="647403"/>
          </a:xfrm>
        </p:grpSpPr>
        <p:sp>
          <p:nvSpPr>
            <p:cNvPr id="88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90" name="Group 89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91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92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cxnSp>
        <p:nvCxnSpPr>
          <p:cNvPr id="98" name="Straight Connector 12"/>
          <p:cNvCxnSpPr>
            <a:cxnSpLocks noChangeShapeType="1"/>
            <a:stCxn id="116" idx="1"/>
            <a:endCxn id="105" idx="3"/>
          </p:cNvCxnSpPr>
          <p:nvPr/>
        </p:nvCxnSpPr>
        <p:spPr bwMode="auto">
          <a:xfrm rot="16200000" flipV="1">
            <a:off x="6941853" y="4969856"/>
            <a:ext cx="887207" cy="342012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99" name="Group 98"/>
          <p:cNvGrpSpPr/>
          <p:nvPr/>
        </p:nvGrpSpPr>
        <p:grpSpPr>
          <a:xfrm>
            <a:off x="5562600" y="3048001"/>
            <a:ext cx="1465028" cy="2113558"/>
            <a:chOff x="990600" y="1069128"/>
            <a:chExt cx="1465028" cy="2148798"/>
          </a:xfrm>
        </p:grpSpPr>
        <p:sp>
          <p:nvSpPr>
            <p:cNvPr id="100" name="Web Server Tier"/>
            <p:cNvSpPr>
              <a:spLocks noChangeArrowheads="1"/>
            </p:cNvSpPr>
            <p:nvPr/>
          </p:nvSpPr>
          <p:spPr bwMode="auto">
            <a:xfrm>
              <a:off x="990600" y="1069128"/>
              <a:ext cx="1465028" cy="214879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mongo_dbms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90600" y="1386813"/>
              <a:ext cx="1465028" cy="228600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DBMS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5562600" y="3599843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solidFill>
                  <a:schemeClr val="tx2">
                    <a:lumMod val="50000"/>
                  </a:schemeClr>
                </a:solidFill>
              </a:rPr>
              <a:t>port</a:t>
            </a:r>
          </a:p>
        </p:txBody>
      </p:sp>
      <p:sp>
        <p:nvSpPr>
          <p:cNvPr id="104" name="Web Server Tier"/>
          <p:cNvSpPr>
            <a:spLocks noChangeArrowheads="1"/>
          </p:cNvSpPr>
          <p:nvPr/>
        </p:nvSpPr>
        <p:spPr bwMode="auto">
          <a:xfrm>
            <a:off x="6162955" y="4393530"/>
            <a:ext cx="1005905" cy="493776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>
            <a:off x="6322278" y="4587530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06" name="Straight Connector 12"/>
          <p:cNvCxnSpPr>
            <a:cxnSpLocks noChangeShapeType="1"/>
            <a:stCxn id="110" idx="3"/>
            <a:endCxn id="117" idx="3"/>
          </p:cNvCxnSpPr>
          <p:nvPr/>
        </p:nvCxnSpPr>
        <p:spPr bwMode="auto">
          <a:xfrm flipV="1">
            <a:off x="7162800" y="5752803"/>
            <a:ext cx="393663" cy="502027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12" name="Group 111"/>
          <p:cNvGrpSpPr/>
          <p:nvPr/>
        </p:nvGrpSpPr>
        <p:grpSpPr>
          <a:xfrm>
            <a:off x="7229753" y="5181600"/>
            <a:ext cx="685801" cy="647403"/>
            <a:chOff x="3124199" y="4457997"/>
            <a:chExt cx="685801" cy="647403"/>
          </a:xfrm>
        </p:grpSpPr>
        <p:sp>
          <p:nvSpPr>
            <p:cNvPr id="113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16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17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18" name="Web Server Tier"/>
          <p:cNvSpPr>
            <a:spLocks noChangeArrowheads="1"/>
          </p:cNvSpPr>
          <p:nvPr/>
        </p:nvSpPr>
        <p:spPr bwMode="auto">
          <a:xfrm>
            <a:off x="6162954" y="3810000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>
            <a:off x="6322278" y="4046010"/>
            <a:ext cx="892171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0" name="Straight Connector 12"/>
          <p:cNvCxnSpPr>
            <a:cxnSpLocks noChangeShapeType="1"/>
            <a:stCxn id="132" idx="1"/>
            <a:endCxn id="126" idx="3"/>
          </p:cNvCxnSpPr>
          <p:nvPr/>
        </p:nvCxnSpPr>
        <p:spPr bwMode="auto">
          <a:xfrm rot="16200000" flipV="1">
            <a:off x="6712709" y="2671191"/>
            <a:ext cx="1509463" cy="196536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1" name="Group 120"/>
          <p:cNvGrpSpPr/>
          <p:nvPr/>
        </p:nvGrpSpPr>
        <p:grpSpPr>
          <a:xfrm>
            <a:off x="5562600" y="862160"/>
            <a:ext cx="1465028" cy="2073189"/>
            <a:chOff x="990600" y="1069126"/>
            <a:chExt cx="1465028" cy="2729346"/>
          </a:xfrm>
        </p:grpSpPr>
        <p:sp>
          <p:nvSpPr>
            <p:cNvPr id="122" name="Web Server Tier"/>
            <p:cNvSpPr>
              <a:spLocks noChangeArrowheads="1"/>
            </p:cNvSpPr>
            <p:nvPr/>
          </p:nvSpPr>
          <p:spPr bwMode="auto">
            <a:xfrm>
              <a:off x="990600" y="1069126"/>
              <a:ext cx="1465028" cy="272934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mongo_database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90600" y="1494683"/>
              <a:ext cx="1465028" cy="34316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Database</a:t>
              </a:r>
            </a:p>
          </p:txBody>
        </p:sp>
      </p:grpSp>
      <p:sp>
        <p:nvSpPr>
          <p:cNvPr id="124" name="Rectangle 123"/>
          <p:cNvSpPr/>
          <p:nvPr/>
        </p:nvSpPr>
        <p:spPr>
          <a:xfrm>
            <a:off x="5562600" y="1447800"/>
            <a:ext cx="750847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password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user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port</a:t>
            </a:r>
          </a:p>
          <a:p>
            <a:pPr marL="115888" indent="-11588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900" i="1" dirty="0">
                <a:latin typeface="Calibri"/>
              </a:rPr>
              <a:t>name</a:t>
            </a:r>
            <a:endParaRPr lang="en-US" sz="900" i="1" dirty="0"/>
          </a:p>
        </p:txBody>
      </p:sp>
      <p:sp>
        <p:nvSpPr>
          <p:cNvPr id="125" name="Web Server Tier"/>
          <p:cNvSpPr>
            <a:spLocks noChangeArrowheads="1"/>
          </p:cNvSpPr>
          <p:nvPr/>
        </p:nvSpPr>
        <p:spPr bwMode="auto">
          <a:xfrm>
            <a:off x="6309295" y="1676400"/>
            <a:ext cx="1005905" cy="52468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Requirements</a:t>
            </a:r>
          </a:p>
        </p:txBody>
      </p:sp>
      <p:sp>
        <p:nvSpPr>
          <p:cNvPr id="126" name="Rectangle 14"/>
          <p:cNvSpPr>
            <a:spLocks noChangeArrowheads="1"/>
          </p:cNvSpPr>
          <p:nvPr/>
        </p:nvSpPr>
        <p:spPr bwMode="auto">
          <a:xfrm>
            <a:off x="6477000" y="190499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cxnSp>
        <p:nvCxnSpPr>
          <p:cNvPr id="127" name="Straight Connector 12"/>
          <p:cNvCxnSpPr>
            <a:cxnSpLocks noChangeShapeType="1"/>
            <a:stCxn id="119" idx="3"/>
            <a:endCxn id="133" idx="3"/>
          </p:cNvCxnSpPr>
          <p:nvPr/>
        </p:nvCxnSpPr>
        <p:spPr bwMode="auto">
          <a:xfrm flipV="1">
            <a:off x="7214449" y="3692528"/>
            <a:ext cx="351260" cy="463210"/>
          </a:xfrm>
          <a:prstGeom prst="bentConnector2">
            <a:avLst/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28" name="Group 127"/>
          <p:cNvGrpSpPr/>
          <p:nvPr/>
        </p:nvGrpSpPr>
        <p:grpSpPr>
          <a:xfrm>
            <a:off x="7238999" y="3121325"/>
            <a:ext cx="685801" cy="647403"/>
            <a:chOff x="3124199" y="4457997"/>
            <a:chExt cx="685801" cy="647403"/>
          </a:xfrm>
        </p:grpSpPr>
        <p:sp>
          <p:nvSpPr>
            <p:cNvPr id="129" name="Web Server Tier"/>
            <p:cNvSpPr>
              <a:spLocks noChangeArrowheads="1"/>
            </p:cNvSpPr>
            <p:nvPr/>
          </p:nvSpPr>
          <p:spPr bwMode="auto">
            <a:xfrm>
              <a:off x="3124199" y="4457997"/>
              <a:ext cx="685801" cy="647403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  <a:alpha val="7000"/>
              </a:schemeClr>
            </a:solidFill>
            <a:ln w="63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38100" dir="2700000" algn="tl" rotWithShape="0">
                <a:schemeClr val="accent6">
                  <a:lumMod val="75000"/>
                  <a:alpha val="40000"/>
                </a:schemeClr>
              </a:outerShdw>
            </a:effectLst>
          </p:spPr>
          <p:txBody>
            <a:bodyPr wrap="none" lIns="0" tIns="18288" rIns="0" bIns="0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defRPr/>
              </a:pPr>
              <a:endParaRPr lang="en-US" altLang="en-US" sz="1000" i="1" dirty="0">
                <a:latin typeface="Arial" charset="0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124199" y="4586886"/>
              <a:ext cx="685801" cy="202127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0" dirty="0">
                  <a:solidFill>
                    <a:schemeClr val="tx1"/>
                  </a:solidFill>
                  <a:latin typeface="Calibri"/>
                </a:rPr>
                <a:t>HostedOn</a:t>
              </a:r>
            </a:p>
          </p:txBody>
        </p:sp>
        <p:grpSp>
          <p:nvGrpSpPr>
            <p:cNvPr id="131" name="Group 130"/>
            <p:cNvGrpSpPr/>
            <p:nvPr/>
          </p:nvGrpSpPr>
          <p:grpSpPr>
            <a:xfrm rot="5400000">
              <a:off x="3366739" y="4846922"/>
              <a:ext cx="168338" cy="196217"/>
              <a:chOff x="3217818" y="1219835"/>
              <a:chExt cx="168338" cy="196217"/>
            </a:xfrm>
          </p:grpSpPr>
          <p:sp>
            <p:nvSpPr>
              <p:cNvPr id="132" name="Pentagon 13"/>
              <p:cNvSpPr>
                <a:spLocks noChangeArrowheads="1"/>
              </p:cNvSpPr>
              <p:nvPr/>
            </p:nvSpPr>
            <p:spPr bwMode="auto">
              <a:xfrm>
                <a:off x="3217818" y="1219835"/>
                <a:ext cx="71094" cy="196217"/>
              </a:xfrm>
              <a:prstGeom prst="homePlate">
                <a:avLst>
                  <a:gd name="adj" fmla="val 37332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  <p:sp>
            <p:nvSpPr>
              <p:cNvPr id="133" name="Chevron 18"/>
              <p:cNvSpPr>
                <a:spLocks noChangeArrowheads="1"/>
              </p:cNvSpPr>
              <p:nvPr/>
            </p:nvSpPr>
            <p:spPr bwMode="auto">
              <a:xfrm>
                <a:off x="3264304" y="1219835"/>
                <a:ext cx="121852" cy="196215"/>
              </a:xfrm>
              <a:prstGeom prst="chevron">
                <a:avLst>
                  <a:gd name="adj" fmla="val 50000"/>
                </a:avLst>
              </a:prstGeom>
              <a:gradFill rotWithShape="1">
                <a:gsLst>
                  <a:gs pos="0">
                    <a:srgbClr val="FFBE86"/>
                  </a:gs>
                  <a:gs pos="35001">
                    <a:srgbClr val="FFD0AA"/>
                  </a:gs>
                  <a:gs pos="100000">
                    <a:srgbClr val="FFEBDB"/>
                  </a:gs>
                </a:gsLst>
                <a:lin ang="16200000" scaled="1"/>
              </a:gradFill>
              <a:ln w="9525">
                <a:solidFill>
                  <a:srgbClr val="E46C0A"/>
                </a:solidFill>
                <a:miter lim="800000"/>
                <a:headEnd/>
                <a:tailEnd/>
              </a:ln>
              <a:effectLst>
                <a:outerShdw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charset="0"/>
                </a:endParaRPr>
              </a:p>
            </p:txBody>
          </p:sp>
        </p:grpSp>
      </p:grpSp>
      <p:sp>
        <p:nvSpPr>
          <p:cNvPr id="135" name="Web Server Tier"/>
          <p:cNvSpPr>
            <a:spLocks noChangeArrowheads="1"/>
          </p:cNvSpPr>
          <p:nvPr/>
        </p:nvSpPr>
        <p:spPr bwMode="auto">
          <a:xfrm>
            <a:off x="5425505" y="2365962"/>
            <a:ext cx="990599" cy="5296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37" name="Web Server Tier"/>
          <p:cNvSpPr>
            <a:spLocks noChangeArrowheads="1"/>
          </p:cNvSpPr>
          <p:nvPr/>
        </p:nvSpPr>
        <p:spPr bwMode="auto">
          <a:xfrm>
            <a:off x="4250802" y="1295400"/>
            <a:ext cx="838200" cy="82905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wrap="none" lIns="0" tIns="18288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endParaRPr lang="en-US" altLang="en-US" sz="1050" i="1" dirty="0">
              <a:latin typeface="Arial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4250802" y="1491550"/>
            <a:ext cx="838200" cy="180069"/>
          </a:xfrm>
          <a:prstGeom prst="rect">
            <a:avLst/>
          </a:prstGeom>
          <a:solidFill>
            <a:schemeClr val="bg2">
              <a:alpha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tx1"/>
                </a:solidFill>
                <a:latin typeface="Calibri"/>
              </a:rPr>
              <a:t>ConnectsTo</a:t>
            </a:r>
          </a:p>
        </p:txBody>
      </p:sp>
      <p:cxnSp>
        <p:nvCxnSpPr>
          <p:cNvPr id="139" name="Straight Connector 12"/>
          <p:cNvCxnSpPr>
            <a:cxnSpLocks noChangeShapeType="1"/>
            <a:stCxn id="142" idx="1"/>
            <a:endCxn id="97" idx="3"/>
          </p:cNvCxnSpPr>
          <p:nvPr/>
        </p:nvCxnSpPr>
        <p:spPr bwMode="auto">
          <a:xfrm rot="10800000" flipV="1">
            <a:off x="3956343" y="1931787"/>
            <a:ext cx="582973" cy="18182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0" name="Straight Connector 12"/>
          <p:cNvCxnSpPr>
            <a:cxnSpLocks noChangeShapeType="1"/>
            <a:stCxn id="134" idx="1"/>
            <a:endCxn id="143" idx="3"/>
          </p:cNvCxnSpPr>
          <p:nvPr/>
        </p:nvCxnSpPr>
        <p:spPr bwMode="auto">
          <a:xfrm rot="10800000">
            <a:off x="4884835" y="1931788"/>
            <a:ext cx="447241" cy="772502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141" name="Group 140"/>
          <p:cNvGrpSpPr/>
          <p:nvPr/>
        </p:nvGrpSpPr>
        <p:grpSpPr>
          <a:xfrm flipH="1">
            <a:off x="4539315" y="1833678"/>
            <a:ext cx="345519" cy="196217"/>
            <a:chOff x="4398651" y="4729278"/>
            <a:chExt cx="361230" cy="196217"/>
          </a:xfrm>
        </p:grpSpPr>
        <p:sp>
          <p:nvSpPr>
            <p:cNvPr id="142" name="Pentagon 13"/>
            <p:cNvSpPr>
              <a:spLocks noChangeArrowheads="1"/>
            </p:cNvSpPr>
            <p:nvPr/>
          </p:nvSpPr>
          <p:spPr bwMode="auto">
            <a:xfrm flipH="1">
              <a:off x="4498886" y="4729278"/>
              <a:ext cx="260995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43" name="Chevron 18"/>
            <p:cNvSpPr>
              <a:spLocks noChangeArrowheads="1"/>
            </p:cNvSpPr>
            <p:nvPr/>
          </p:nvSpPr>
          <p:spPr bwMode="auto">
            <a:xfrm flipH="1">
              <a:off x="4398651" y="4729280"/>
              <a:ext cx="125599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134" name="Rectangle 14"/>
          <p:cNvSpPr>
            <a:spLocks noChangeArrowheads="1"/>
          </p:cNvSpPr>
          <p:nvPr/>
        </p:nvSpPr>
        <p:spPr bwMode="auto">
          <a:xfrm>
            <a:off x="5332075" y="2594562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97" name="Rectangle 14"/>
          <p:cNvSpPr>
            <a:spLocks noChangeArrowheads="1"/>
          </p:cNvSpPr>
          <p:nvPr/>
        </p:nvSpPr>
        <p:spPr bwMode="auto">
          <a:xfrm>
            <a:off x="3064170" y="2003879"/>
            <a:ext cx="892172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dirty="0" err="1">
                <a:latin typeface="Arial" charset="0"/>
              </a:rPr>
              <a:t>Endpoint.DB</a:t>
            </a:r>
            <a:endParaRPr lang="en-US" altLang="en-US" sz="900" dirty="0">
              <a:latin typeface="Arial" charset="0"/>
            </a:endParaRPr>
          </a:p>
        </p:txBody>
      </p:sp>
      <p:sp>
        <p:nvSpPr>
          <p:cNvPr id="83" name="Flowchart: Magnetic Disk 82"/>
          <p:cNvSpPr/>
          <p:nvPr/>
        </p:nvSpPr>
        <p:spPr>
          <a:xfrm>
            <a:off x="832616" y="787835"/>
            <a:ext cx="615184" cy="780810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GitHub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Repo.</a:t>
            </a:r>
          </a:p>
        </p:txBody>
      </p:sp>
      <p:cxnSp>
        <p:nvCxnSpPr>
          <p:cNvPr id="94" name="Straight Arrow Connector 93"/>
          <p:cNvCxnSpPr>
            <a:stCxn id="40" idx="1"/>
            <a:endCxn id="83" idx="3"/>
          </p:cNvCxnSpPr>
          <p:nvPr/>
        </p:nvCxnSpPr>
        <p:spPr>
          <a:xfrm flipH="1" flipV="1">
            <a:off x="1140208" y="1568645"/>
            <a:ext cx="1221992" cy="239375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owchart: Document 2"/>
          <p:cNvSpPr/>
          <p:nvPr/>
        </p:nvSpPr>
        <p:spPr>
          <a:xfrm>
            <a:off x="762000" y="2117334"/>
            <a:ext cx="1371600" cy="623179"/>
          </a:xfrm>
          <a:prstGeom prst="flowChart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rgbClr val="006600"/>
                </a:solidFill>
                <a:latin typeface="Calibri"/>
              </a:rPr>
              <a:t>Artifacts</a:t>
            </a:r>
            <a:r>
              <a:rPr lang="en-US" sz="1100" kern="0" dirty="0">
                <a:solidFill>
                  <a:srgbClr val="006600"/>
                </a:solidFill>
                <a:latin typeface="Calibri"/>
              </a:rPr>
              <a:t>:</a:t>
            </a:r>
            <a:endParaRPr lang="en-US" sz="1100" kern="0" dirty="0">
              <a:solidFill>
                <a:srgbClr val="006600"/>
              </a:solidFill>
              <a:latin typeface="Calibri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kern="0" dirty="0" err="1">
                <a:solidFill>
                  <a:srgbClr val="006600"/>
                </a:solidFill>
                <a:latin typeface="Calibri"/>
              </a:rPr>
              <a:t>nodejs_sample_app</a:t>
            </a:r>
            <a:endParaRPr lang="en-US" sz="1100" kern="0" dirty="0">
              <a:solidFill>
                <a:srgbClr val="006600"/>
              </a:solidFill>
              <a:latin typeface="Calibri"/>
              <a:cs typeface="+mn-cs"/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5564330" y="5299073"/>
            <a:ext cx="1463040" cy="1215730"/>
            <a:chOff x="916130" y="4904230"/>
            <a:chExt cx="1331868" cy="1156770"/>
          </a:xfrm>
        </p:grpSpPr>
        <p:sp>
          <p:nvSpPr>
            <p:cNvPr id="107" name="Web Server Tier"/>
            <p:cNvSpPr>
              <a:spLocks noChangeArrowheads="1"/>
            </p:cNvSpPr>
            <p:nvPr/>
          </p:nvSpPr>
          <p:spPr bwMode="auto">
            <a:xfrm>
              <a:off x="916130" y="4904230"/>
              <a:ext cx="1331867" cy="11567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3C4FF"/>
                </a:gs>
                <a:gs pos="35001">
                  <a:srgbClr val="BFD5FF"/>
                </a:gs>
                <a:gs pos="100000">
                  <a:srgbClr val="E5EEFF"/>
                </a:gs>
              </a:gsLst>
              <a:lin ang="162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tIns="0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i="1" dirty="0" err="1">
                  <a:solidFill>
                    <a:srgbClr val="000000"/>
                  </a:solidFill>
                </a:rPr>
                <a:t>mongo_server</a:t>
              </a:r>
              <a:endParaRPr lang="en-US" altLang="en-US" sz="1100" i="1" dirty="0">
                <a:solidFill>
                  <a:srgbClr val="000000"/>
                </a:solidFill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916130" y="5196434"/>
              <a:ext cx="1331868" cy="237726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kern="0" dirty="0">
                  <a:solidFill>
                    <a:schemeClr val="tx1"/>
                  </a:solidFill>
                  <a:latin typeface="Calibri"/>
                </a:rPr>
                <a:t>Compute</a:t>
              </a:r>
            </a:p>
          </p:txBody>
        </p:sp>
      </p:grpSp>
      <p:sp>
        <p:nvSpPr>
          <p:cNvPr id="109" name="Web Server Tier"/>
          <p:cNvSpPr>
            <a:spLocks noChangeArrowheads="1"/>
          </p:cNvSpPr>
          <p:nvPr/>
        </p:nvSpPr>
        <p:spPr bwMode="auto">
          <a:xfrm>
            <a:off x="6133468" y="5905203"/>
            <a:ext cx="968436" cy="55063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b="1" dirty="0">
                <a:latin typeface="Arial" charset="0"/>
              </a:rPr>
              <a:t>Capabilities</a:t>
            </a: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6267730" y="6145102"/>
            <a:ext cx="895070" cy="219456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latin typeface="Arial" charset="0"/>
              </a:rPr>
              <a:t>Container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87000-19C3-ADCA-AA80-D6BCF63D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89780"/>
      </p:ext>
    </p:extLst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Web Server Tier"/>
          <p:cNvSpPr>
            <a:spLocks noChangeArrowheads="1"/>
          </p:cNvSpPr>
          <p:nvPr/>
        </p:nvSpPr>
        <p:spPr bwMode="auto">
          <a:xfrm>
            <a:off x="3999208" y="1188270"/>
            <a:ext cx="1715792" cy="225163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Software Component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rgbClr val="000000"/>
                </a:solidFill>
              </a:rPr>
              <a:t>(Container + Containee)</a:t>
            </a:r>
          </a:p>
        </p:txBody>
      </p:sp>
      <p:sp>
        <p:nvSpPr>
          <p:cNvPr id="35" name="Web Server Tier"/>
          <p:cNvSpPr>
            <a:spLocks noChangeArrowheads="1"/>
          </p:cNvSpPr>
          <p:nvPr/>
        </p:nvSpPr>
        <p:spPr bwMode="auto">
          <a:xfrm>
            <a:off x="4137660" y="1720377"/>
            <a:ext cx="1370308" cy="91990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WebServer</a:t>
            </a:r>
            <a:endParaRPr lang="en-US" altLang="en-US" sz="1200" b="1" dirty="0">
              <a:latin typeface="Arial" charset="0"/>
            </a:endParaRPr>
          </a:p>
        </p:txBody>
      </p:sp>
      <p:sp>
        <p:nvSpPr>
          <p:cNvPr id="48" name="Web Server Tier"/>
          <p:cNvSpPr>
            <a:spLocks noChangeArrowheads="1"/>
          </p:cNvSpPr>
          <p:nvPr/>
        </p:nvSpPr>
        <p:spPr bwMode="auto">
          <a:xfrm>
            <a:off x="2743200" y="3439905"/>
            <a:ext cx="702333" cy="72437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latin typeface="Arial" charset="0"/>
              </a:rPr>
              <a:t>HostedOn</a:t>
            </a:r>
          </a:p>
        </p:txBody>
      </p:sp>
      <p:sp>
        <p:nvSpPr>
          <p:cNvPr id="5123" name="Web Server Tier"/>
          <p:cNvSpPr>
            <a:spLocks noChangeArrowheads="1"/>
          </p:cNvSpPr>
          <p:nvPr/>
        </p:nvSpPr>
        <p:spPr bwMode="auto">
          <a:xfrm>
            <a:off x="609600" y="3554680"/>
            <a:ext cx="1447800" cy="219533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Compute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 dirty="0">
                <a:solidFill>
                  <a:srgbClr val="000000"/>
                </a:solidFill>
              </a:rPr>
              <a:t>(Container)</a:t>
            </a:r>
          </a:p>
        </p:txBody>
      </p:sp>
      <p:grpSp>
        <p:nvGrpSpPr>
          <p:cNvPr id="5" name="Group 4"/>
          <p:cNvGrpSpPr/>
          <p:nvPr/>
        </p:nvGrpSpPr>
        <p:grpSpPr>
          <a:xfrm rot="10800000">
            <a:off x="2926146" y="3753275"/>
            <a:ext cx="350454" cy="196217"/>
            <a:chOff x="3035702" y="1219833"/>
            <a:chExt cx="350454" cy="196217"/>
          </a:xfrm>
        </p:grpSpPr>
        <p:sp>
          <p:nvSpPr>
            <p:cNvPr id="5155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152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47828" y="52803"/>
            <a:ext cx="5361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Exploring Containment in TOSCA: Modeling WebServer with 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97680"/>
            <a:ext cx="888385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i="1" dirty="0">
                <a:solidFill>
                  <a:schemeClr val="tx2">
                    <a:lumMod val="50000"/>
                  </a:schemeClr>
                </a:solidFill>
              </a:rPr>
              <a:t>Properties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 err="1">
                <a:solidFill>
                  <a:schemeClr val="tx2">
                    <a:lumMod val="50000"/>
                  </a:schemeClr>
                </a:solidFill>
              </a:rPr>
              <a:t>num_cpus</a:t>
            </a:r>
            <a:endParaRPr lang="en-US" sz="1000" i="1" dirty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 err="1">
                <a:solidFill>
                  <a:schemeClr val="tx2">
                    <a:lumMod val="50000"/>
                  </a:schemeClr>
                </a:solidFill>
              </a:rPr>
              <a:t>mem_size</a:t>
            </a:r>
            <a:endParaRPr lang="en-US" sz="1000" i="1" dirty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i="1" dirty="0" err="1">
                <a:solidFill>
                  <a:schemeClr val="tx2">
                    <a:lumMod val="50000"/>
                  </a:schemeClr>
                </a:solidFill>
              </a:rPr>
              <a:t>disk_size</a:t>
            </a:r>
            <a:endParaRPr lang="en-US" sz="1000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3" name="Web Server Tier"/>
          <p:cNvSpPr>
            <a:spLocks noChangeArrowheads="1"/>
          </p:cNvSpPr>
          <p:nvPr/>
        </p:nvSpPr>
        <p:spPr bwMode="auto">
          <a:xfrm>
            <a:off x="1600200" y="4240481"/>
            <a:ext cx="931382" cy="1371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sp>
        <p:nvSpPr>
          <p:cNvPr id="34" name="Web Server Tier"/>
          <p:cNvSpPr>
            <a:spLocks noChangeArrowheads="1"/>
          </p:cNvSpPr>
          <p:nvPr/>
        </p:nvSpPr>
        <p:spPr bwMode="auto">
          <a:xfrm>
            <a:off x="3733800" y="2782998"/>
            <a:ext cx="1051560" cy="52371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Requirements</a:t>
            </a:r>
          </a:p>
        </p:txBody>
      </p:sp>
      <p:sp>
        <p:nvSpPr>
          <p:cNvPr id="5156" name="Rectangle 14"/>
          <p:cNvSpPr>
            <a:spLocks noChangeArrowheads="1"/>
          </p:cNvSpPr>
          <p:nvPr/>
        </p:nvSpPr>
        <p:spPr bwMode="auto">
          <a:xfrm>
            <a:off x="1720827" y="4545280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1706037" y="5263463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 err="1">
                <a:latin typeface="Arial" charset="0"/>
              </a:rPr>
              <a:t>OpSys</a:t>
            </a:r>
            <a:endParaRPr lang="en-US" altLang="en-US" sz="1100" dirty="0">
              <a:latin typeface="Arial" charset="0"/>
            </a:endParaRPr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1706037" y="4999935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Scalable</a:t>
            </a: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3844223" y="2977463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cxnSp>
        <p:nvCxnSpPr>
          <p:cNvPr id="29" name="Straight Connector 12"/>
          <p:cNvCxnSpPr>
            <a:cxnSpLocks noChangeShapeType="1"/>
            <a:stCxn id="5155" idx="1"/>
            <a:endCxn id="80" idx="1"/>
          </p:cNvCxnSpPr>
          <p:nvPr/>
        </p:nvCxnSpPr>
        <p:spPr bwMode="auto">
          <a:xfrm flipV="1">
            <a:off x="3276600" y="3075572"/>
            <a:ext cx="567623" cy="77581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Straight Connector 12"/>
          <p:cNvCxnSpPr>
            <a:cxnSpLocks noChangeShapeType="1"/>
            <a:stCxn id="5156" idx="3"/>
            <a:endCxn id="5152" idx="3"/>
          </p:cNvCxnSpPr>
          <p:nvPr/>
        </p:nvCxnSpPr>
        <p:spPr bwMode="auto">
          <a:xfrm flipV="1">
            <a:off x="2393972" y="3851382"/>
            <a:ext cx="532174" cy="792007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9" name="Flowchart: Multidocument 48"/>
          <p:cNvSpPr/>
          <p:nvPr/>
        </p:nvSpPr>
        <p:spPr>
          <a:xfrm>
            <a:off x="6603726" y="1127006"/>
            <a:ext cx="1244874" cy="903674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006600"/>
                </a:solidFill>
                <a:latin typeface="Calibri"/>
                <a:cs typeface="+mn-cs"/>
              </a:rPr>
              <a:t>Apache.</a:t>
            </a:r>
            <a:r>
              <a:rPr lang="en-US" sz="1100" kern="0" dirty="0">
                <a:solidFill>
                  <a:srgbClr val="006600"/>
                </a:solidFill>
                <a:latin typeface="Calibri"/>
              </a:rPr>
              <a:t>TAR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006600"/>
                </a:solidFill>
                <a:latin typeface="Calibri"/>
              </a:rPr>
              <a:t>scripts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988306"/>
            <a:ext cx="2667000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 requirements:</a:t>
            </a:r>
          </a:p>
          <a:p>
            <a:r>
              <a:rPr lang="en-US" sz="1000" dirty="0"/>
              <a:t>    - host: </a:t>
            </a:r>
          </a:p>
          <a:p>
            <a:r>
              <a:rPr lang="en-US" sz="1000" dirty="0"/>
              <a:t>        capability: tosca.capabilities.Container</a:t>
            </a:r>
            <a:br>
              <a:rPr lang="en-US" sz="1000" dirty="0"/>
            </a:br>
            <a:r>
              <a:rPr lang="en-US" sz="1000" dirty="0"/>
              <a:t>         node: </a:t>
            </a:r>
            <a:r>
              <a:rPr lang="en-US" sz="1000" b="1" dirty="0">
                <a:solidFill>
                  <a:srgbClr val="FF0000"/>
                </a:solidFill>
              </a:rPr>
              <a:t>tosca.nodes.Compute</a:t>
            </a:r>
          </a:p>
          <a:p>
            <a:r>
              <a:rPr lang="en-US" sz="1000" dirty="0"/>
              <a:t>         relationship: tosca.relationships.HostedOn</a:t>
            </a:r>
          </a:p>
        </p:txBody>
      </p:sp>
      <p:cxnSp>
        <p:nvCxnSpPr>
          <p:cNvPr id="5163" name="Straight Arrow Connector 5162"/>
          <p:cNvCxnSpPr>
            <a:stCxn id="64" idx="1"/>
            <a:endCxn id="80" idx="2"/>
          </p:cNvCxnSpPr>
          <p:nvPr/>
        </p:nvCxnSpPr>
        <p:spPr>
          <a:xfrm flipH="1" flipV="1">
            <a:off x="4180796" y="3173680"/>
            <a:ext cx="391204" cy="1245513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5" name="Rectangle 5164"/>
          <p:cNvSpPr/>
          <p:nvPr/>
        </p:nvSpPr>
        <p:spPr>
          <a:xfrm>
            <a:off x="2964211" y="5365290"/>
            <a:ext cx="3588989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capabilities:</a:t>
            </a:r>
          </a:p>
          <a:p>
            <a:r>
              <a:rPr lang="en-US" sz="1100" dirty="0"/>
              <a:t>   host: </a:t>
            </a:r>
          </a:p>
          <a:p>
            <a:r>
              <a:rPr lang="en-US" sz="1100" dirty="0"/>
              <a:t>      type: tosca.capabilities.Container</a:t>
            </a:r>
          </a:p>
          <a:p>
            <a:r>
              <a:rPr lang="en-US" sz="1100" dirty="0"/>
              <a:t>      valid_source_types: [</a:t>
            </a:r>
            <a:r>
              <a:rPr lang="en-US" sz="1100" b="1" dirty="0">
                <a:solidFill>
                  <a:srgbClr val="FF0000"/>
                </a:solidFill>
              </a:rPr>
              <a:t>tosca.nodes.SoftwareComponent</a:t>
            </a:r>
            <a:r>
              <a:rPr lang="en-US" sz="1100" dirty="0"/>
              <a:t>]</a:t>
            </a:r>
          </a:p>
        </p:txBody>
      </p:sp>
      <p:cxnSp>
        <p:nvCxnSpPr>
          <p:cNvPr id="96" name="Straight Arrow Connector 95"/>
          <p:cNvCxnSpPr>
            <a:stCxn id="5165" idx="1"/>
            <a:endCxn id="5156" idx="2"/>
          </p:cNvCxnSpPr>
          <p:nvPr/>
        </p:nvCxnSpPr>
        <p:spPr>
          <a:xfrm flipH="1" flipV="1">
            <a:off x="2057400" y="4741497"/>
            <a:ext cx="906811" cy="1008514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77244" y="2798573"/>
            <a:ext cx="31242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capabilities: </a:t>
            </a:r>
          </a:p>
          <a:p>
            <a:r>
              <a:rPr lang="en-US" sz="1000" dirty="0"/>
              <a:t>  host: </a:t>
            </a:r>
          </a:p>
          <a:p>
            <a:r>
              <a:rPr lang="en-US" sz="1000" dirty="0"/>
              <a:t>      type: tosca.capabilities.Container</a:t>
            </a:r>
          </a:p>
          <a:p>
            <a:r>
              <a:rPr lang="en-US" sz="1000" dirty="0"/>
              <a:t>      valid_source_types: [ </a:t>
            </a:r>
            <a:r>
              <a:rPr lang="en-US" sz="1000" b="1" dirty="0">
                <a:solidFill>
                  <a:srgbClr val="FF0000"/>
                </a:solidFill>
              </a:rPr>
              <a:t>tosca.nodes.WebApplication</a:t>
            </a:r>
            <a:r>
              <a:rPr lang="en-US" sz="1000" dirty="0"/>
              <a:t> ]</a:t>
            </a:r>
          </a:p>
        </p:txBody>
      </p:sp>
      <p:sp>
        <p:nvSpPr>
          <p:cNvPr id="30" name="Web Server Tier"/>
          <p:cNvSpPr>
            <a:spLocks noChangeArrowheads="1"/>
          </p:cNvSpPr>
          <p:nvPr/>
        </p:nvSpPr>
        <p:spPr bwMode="auto">
          <a:xfrm>
            <a:off x="5249309" y="2030680"/>
            <a:ext cx="931382" cy="4572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5369936" y="2215463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cxnSp>
        <p:nvCxnSpPr>
          <p:cNvPr id="102" name="Straight Arrow Connector 101"/>
          <p:cNvCxnSpPr>
            <a:stCxn id="49" idx="1"/>
          </p:cNvCxnSpPr>
          <p:nvPr/>
        </p:nvCxnSpPr>
        <p:spPr>
          <a:xfrm flipH="1">
            <a:off x="4857104" y="1578843"/>
            <a:ext cx="1746622" cy="528037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6" idx="1"/>
            <a:endCxn id="36" idx="2"/>
          </p:cNvCxnSpPr>
          <p:nvPr/>
        </p:nvCxnSpPr>
        <p:spPr>
          <a:xfrm flipH="1" flipV="1">
            <a:off x="5706509" y="2411680"/>
            <a:ext cx="270735" cy="740836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7069" y="304800"/>
            <a:ext cx="5782352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Effectively…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i="1" dirty="0"/>
              <a:t>Compute</a:t>
            </a:r>
            <a:r>
              <a:rPr lang="en-US" sz="1100" i="1" dirty="0"/>
              <a:t> is a Container (Node Type)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i="1" dirty="0"/>
              <a:t>WebServer </a:t>
            </a:r>
            <a:r>
              <a:rPr lang="en-US" sz="1100" i="1" dirty="0"/>
              <a:t>(i.e. a child</a:t>
            </a:r>
            <a:r>
              <a:rPr lang="en-US" sz="1100" b="1" i="1" dirty="0"/>
              <a:t> </a:t>
            </a:r>
            <a:r>
              <a:rPr lang="en-US" sz="1100" i="1" dirty="0"/>
              <a:t>of</a:t>
            </a:r>
            <a:r>
              <a:rPr lang="en-US" sz="1100" b="1" i="1" dirty="0"/>
              <a:t> SoftwareComponent</a:t>
            </a:r>
            <a:r>
              <a:rPr lang="en-US" sz="1100" i="1" dirty="0"/>
              <a:t>) is both a Container and Containee (Node Type)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5E5A6-E0BB-351A-6DD5-10E9A250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63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97702"/>
      </p:ext>
    </p:extLst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Web Server Tier"/>
          <p:cNvSpPr>
            <a:spLocks noChangeArrowheads="1"/>
          </p:cNvSpPr>
          <p:nvPr/>
        </p:nvSpPr>
        <p:spPr bwMode="auto">
          <a:xfrm>
            <a:off x="5062610" y="4402455"/>
            <a:ext cx="548294" cy="58570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latin typeface="Arial" charset="0"/>
              </a:rPr>
              <a:t>Hosted On</a:t>
            </a:r>
          </a:p>
        </p:txBody>
      </p:sp>
      <p:sp>
        <p:nvSpPr>
          <p:cNvPr id="101" name="Web Server Tier"/>
          <p:cNvSpPr>
            <a:spLocks noChangeArrowheads="1"/>
          </p:cNvSpPr>
          <p:nvPr/>
        </p:nvSpPr>
        <p:spPr bwMode="auto">
          <a:xfrm>
            <a:off x="1828800" y="4138695"/>
            <a:ext cx="653578" cy="585705"/>
          </a:xfrm>
          <a:prstGeom prst="roundRect">
            <a:avLst>
              <a:gd name="adj" fmla="val 16667"/>
            </a:avLst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Hosted On</a:t>
            </a:r>
          </a:p>
        </p:txBody>
      </p:sp>
      <p:sp>
        <p:nvSpPr>
          <p:cNvPr id="87" name="Web Server Tier"/>
          <p:cNvSpPr>
            <a:spLocks noChangeArrowheads="1"/>
          </p:cNvSpPr>
          <p:nvPr/>
        </p:nvSpPr>
        <p:spPr bwMode="auto">
          <a:xfrm>
            <a:off x="3112008" y="3503296"/>
            <a:ext cx="1536192" cy="2897504"/>
          </a:xfrm>
          <a:prstGeom prst="roundRect">
            <a:avLst>
              <a:gd name="adj" fmla="val 16667"/>
            </a:avLst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9525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Component</a:t>
            </a:r>
          </a:p>
        </p:txBody>
      </p:sp>
      <p:sp>
        <p:nvSpPr>
          <p:cNvPr id="52" name="Web Server Tier"/>
          <p:cNvSpPr>
            <a:spLocks noChangeArrowheads="1"/>
          </p:cNvSpPr>
          <p:nvPr/>
        </p:nvSpPr>
        <p:spPr bwMode="auto">
          <a:xfrm>
            <a:off x="3196078" y="3849050"/>
            <a:ext cx="1348026" cy="24755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Container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rgbClr val="000000"/>
                </a:solidFill>
              </a:rPr>
              <a:t>(Docker Runtime Capability)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74324" y="34477"/>
            <a:ext cx="5131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Modeling Container-Containee like Compute-Software Component</a:t>
            </a:r>
          </a:p>
          <a:p>
            <a:pPr algn="ctr"/>
            <a:r>
              <a:rPr lang="en-US" sz="1400" b="1" dirty="0">
                <a:solidFill>
                  <a:srgbClr val="C00000"/>
                </a:solidFill>
              </a:rPr>
              <a:t>Expressing “Docker” as a Capability Type</a:t>
            </a:r>
          </a:p>
        </p:txBody>
      </p:sp>
      <p:sp>
        <p:nvSpPr>
          <p:cNvPr id="47" name="Web Server Tier"/>
          <p:cNvSpPr>
            <a:spLocks noChangeArrowheads="1"/>
          </p:cNvSpPr>
          <p:nvPr/>
        </p:nvSpPr>
        <p:spPr bwMode="auto">
          <a:xfrm>
            <a:off x="5943600" y="1143000"/>
            <a:ext cx="1219199" cy="175051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Containee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Requirement)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58" name="Web Server Tier"/>
          <p:cNvSpPr>
            <a:spLocks noChangeArrowheads="1"/>
          </p:cNvSpPr>
          <p:nvPr/>
        </p:nvSpPr>
        <p:spPr bwMode="auto">
          <a:xfrm>
            <a:off x="3733800" y="4578906"/>
            <a:ext cx="950038" cy="1212294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3820224" y="5324077"/>
            <a:ext cx="789714" cy="238523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sp>
        <p:nvSpPr>
          <p:cNvPr id="81" name="Rectangle 14"/>
          <p:cNvSpPr>
            <a:spLocks noChangeArrowheads="1"/>
          </p:cNvSpPr>
          <p:nvPr/>
        </p:nvSpPr>
        <p:spPr bwMode="auto">
          <a:xfrm>
            <a:off x="3827844" y="4964508"/>
            <a:ext cx="789714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Docker</a:t>
            </a:r>
          </a:p>
        </p:txBody>
      </p:sp>
      <p:sp>
        <p:nvSpPr>
          <p:cNvPr id="91" name="Web Server Tier"/>
          <p:cNvSpPr>
            <a:spLocks noChangeArrowheads="1"/>
          </p:cNvSpPr>
          <p:nvPr/>
        </p:nvSpPr>
        <p:spPr bwMode="auto">
          <a:xfrm>
            <a:off x="5806440" y="1731802"/>
            <a:ext cx="899160" cy="993938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Requirements</a:t>
            </a:r>
          </a:p>
        </p:txBody>
      </p:sp>
      <p:sp>
        <p:nvSpPr>
          <p:cNvPr id="92" name="Rectangle 14"/>
          <p:cNvSpPr>
            <a:spLocks noChangeArrowheads="1"/>
          </p:cNvSpPr>
          <p:nvPr/>
        </p:nvSpPr>
        <p:spPr bwMode="auto">
          <a:xfrm>
            <a:off x="5916863" y="2089783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Docker</a:t>
            </a:r>
          </a:p>
        </p:txBody>
      </p:sp>
      <p:sp>
        <p:nvSpPr>
          <p:cNvPr id="5154" name="Rectangle 5153"/>
          <p:cNvSpPr/>
          <p:nvPr/>
        </p:nvSpPr>
        <p:spPr>
          <a:xfrm>
            <a:off x="7342798" y="1749294"/>
            <a:ext cx="1603626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artifacts:</a:t>
            </a:r>
          </a:p>
          <a:p>
            <a:r>
              <a:rPr lang="en-US" sz="1050" dirty="0"/>
              <a:t>    - image: </a:t>
            </a:r>
          </a:p>
          <a:p>
            <a:r>
              <a:rPr lang="en-US" sz="1050" dirty="0"/>
              <a:t>         mime_type: Docker</a:t>
            </a:r>
          </a:p>
          <a:p>
            <a:r>
              <a:rPr lang="en-US" sz="1050" dirty="0"/>
              <a:t>         repo:  xxx</a:t>
            </a:r>
          </a:p>
          <a:p>
            <a:r>
              <a:rPr lang="en-US" sz="1050" dirty="0"/>
              <a:t>         URI: xxx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1588227" y="1273730"/>
            <a:ext cx="1123174" cy="222956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Software Component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(Container + Containee)</a:t>
            </a:r>
          </a:p>
        </p:txBody>
      </p:sp>
      <p:sp>
        <p:nvSpPr>
          <p:cNvPr id="43" name="Web Server Tier"/>
          <p:cNvSpPr>
            <a:spLocks noChangeArrowheads="1"/>
          </p:cNvSpPr>
          <p:nvPr/>
        </p:nvSpPr>
        <p:spPr bwMode="auto">
          <a:xfrm>
            <a:off x="1726678" y="2039939"/>
            <a:ext cx="917013" cy="76199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WebServer</a:t>
            </a:r>
            <a:endParaRPr lang="en-US" altLang="en-US" sz="1100" b="1" dirty="0">
              <a:latin typeface="Arial" charset="0"/>
            </a:endParaRPr>
          </a:p>
        </p:txBody>
      </p:sp>
      <p:sp>
        <p:nvSpPr>
          <p:cNvPr id="45" name="Web Server Tier"/>
          <p:cNvSpPr>
            <a:spLocks noChangeArrowheads="1"/>
          </p:cNvSpPr>
          <p:nvPr/>
        </p:nvSpPr>
        <p:spPr bwMode="auto">
          <a:xfrm>
            <a:off x="234927" y="3335893"/>
            <a:ext cx="1060473" cy="202348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Compute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rgbClr val="000000"/>
                </a:solidFill>
              </a:rPr>
              <a:t>(Container)</a:t>
            </a:r>
          </a:p>
        </p:txBody>
      </p:sp>
      <p:sp>
        <p:nvSpPr>
          <p:cNvPr id="60" name="Web Server Tier"/>
          <p:cNvSpPr>
            <a:spLocks noChangeArrowheads="1"/>
          </p:cNvSpPr>
          <p:nvPr/>
        </p:nvSpPr>
        <p:spPr bwMode="auto">
          <a:xfrm>
            <a:off x="433891" y="3884296"/>
            <a:ext cx="931382" cy="1371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800" i="1" dirty="0">
                <a:latin typeface="Arial" charset="0"/>
              </a:rPr>
              <a:t>Capabilities</a:t>
            </a:r>
          </a:p>
        </p:txBody>
      </p:sp>
      <p:sp>
        <p:nvSpPr>
          <p:cNvPr id="61" name="Web Server Tier"/>
          <p:cNvSpPr>
            <a:spLocks noChangeArrowheads="1"/>
          </p:cNvSpPr>
          <p:nvPr/>
        </p:nvSpPr>
        <p:spPr bwMode="auto">
          <a:xfrm>
            <a:off x="1483709" y="2887821"/>
            <a:ext cx="1051560" cy="52371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800" i="1" dirty="0">
                <a:latin typeface="Arial" charset="0"/>
              </a:rPr>
              <a:t>Requirements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554518" y="4189095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Container</a:t>
            </a:r>
          </a:p>
        </p:txBody>
      </p:sp>
      <p:sp>
        <p:nvSpPr>
          <p:cNvPr id="63" name="Rectangle 14"/>
          <p:cNvSpPr>
            <a:spLocks noChangeArrowheads="1"/>
          </p:cNvSpPr>
          <p:nvPr/>
        </p:nvSpPr>
        <p:spPr bwMode="auto">
          <a:xfrm>
            <a:off x="539728" y="4907278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 err="1">
                <a:latin typeface="Arial" charset="0"/>
              </a:rPr>
              <a:t>OpSys</a:t>
            </a:r>
            <a:endParaRPr lang="en-US" altLang="en-US" sz="1050" dirty="0">
              <a:latin typeface="Arial" charset="0"/>
            </a:endParaRPr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539728" y="4643750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Scalable</a:t>
            </a: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1594132" y="3082286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Container</a:t>
            </a:r>
          </a:p>
        </p:txBody>
      </p:sp>
      <p:cxnSp>
        <p:nvCxnSpPr>
          <p:cNvPr id="69" name="Straight Connector 12"/>
          <p:cNvCxnSpPr>
            <a:cxnSpLocks noChangeShapeType="1"/>
            <a:stCxn id="62" idx="3"/>
            <a:endCxn id="67" idx="1"/>
          </p:cNvCxnSpPr>
          <p:nvPr/>
        </p:nvCxnSpPr>
        <p:spPr bwMode="auto">
          <a:xfrm flipV="1">
            <a:off x="1227663" y="3180395"/>
            <a:ext cx="366469" cy="1106809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72" name="Web Server Tier"/>
          <p:cNvSpPr>
            <a:spLocks noChangeArrowheads="1"/>
          </p:cNvSpPr>
          <p:nvPr/>
        </p:nvSpPr>
        <p:spPr bwMode="auto">
          <a:xfrm>
            <a:off x="1881691" y="2268540"/>
            <a:ext cx="931382" cy="4572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800" i="1" dirty="0">
                <a:latin typeface="Arial" charset="0"/>
              </a:rPr>
              <a:t>Capabilities</a:t>
            </a:r>
          </a:p>
        </p:txBody>
      </p:sp>
      <p:sp>
        <p:nvSpPr>
          <p:cNvPr id="73" name="Rectangle 14"/>
          <p:cNvSpPr>
            <a:spLocks noChangeArrowheads="1"/>
          </p:cNvSpPr>
          <p:nvPr/>
        </p:nvSpPr>
        <p:spPr bwMode="auto">
          <a:xfrm>
            <a:off x="2002318" y="2453323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Container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895600" y="772726"/>
            <a:ext cx="0" cy="555187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lowchart: Multidocument 75"/>
          <p:cNvSpPr/>
          <p:nvPr/>
        </p:nvSpPr>
        <p:spPr>
          <a:xfrm>
            <a:off x="7315200" y="772726"/>
            <a:ext cx="1447800" cy="903674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006600"/>
                </a:solidFill>
                <a:latin typeface="Calibri"/>
                <a:cs typeface="+mn-cs"/>
              </a:rPr>
              <a:t>Docker Image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006600"/>
                </a:solidFill>
                <a:latin typeface="Calibri"/>
                <a:cs typeface="+mn-cs"/>
              </a:rPr>
              <a:t>(Apache.</a:t>
            </a:r>
            <a:r>
              <a:rPr lang="en-US" sz="1100" kern="0" dirty="0">
                <a:solidFill>
                  <a:srgbClr val="006600"/>
                </a:solidFill>
                <a:latin typeface="Calibri"/>
              </a:rPr>
              <a:t>TAR)</a:t>
            </a:r>
          </a:p>
        </p:txBody>
      </p:sp>
      <p:cxnSp>
        <p:nvCxnSpPr>
          <p:cNvPr id="78" name="Straight Arrow Connector 77"/>
          <p:cNvCxnSpPr>
            <a:stCxn id="76" idx="1"/>
          </p:cNvCxnSpPr>
          <p:nvPr/>
        </p:nvCxnSpPr>
        <p:spPr>
          <a:xfrm flipH="1">
            <a:off x="6934200" y="1224563"/>
            <a:ext cx="381000" cy="74623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226085" y="3524251"/>
            <a:ext cx="2667000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 requirements:</a:t>
            </a:r>
          </a:p>
          <a:p>
            <a:r>
              <a:rPr lang="en-US" sz="1000" dirty="0"/>
              <a:t>    - host: </a:t>
            </a:r>
          </a:p>
          <a:p>
            <a:r>
              <a:rPr lang="en-US" sz="1000" dirty="0"/>
              <a:t>        capability: tosca.capabilities.Container</a:t>
            </a:r>
            <a:br>
              <a:rPr lang="en-US" sz="1000" dirty="0"/>
            </a:br>
            <a:r>
              <a:rPr lang="en-US" sz="1000" dirty="0"/>
              <a:t>         # node: </a:t>
            </a:r>
            <a:r>
              <a:rPr lang="en-US" sz="1000" b="1" dirty="0">
                <a:solidFill>
                  <a:srgbClr val="FF0000"/>
                </a:solidFill>
              </a:rPr>
              <a:t>NULL *</a:t>
            </a:r>
          </a:p>
          <a:p>
            <a:r>
              <a:rPr lang="en-US" sz="1000" dirty="0"/>
              <a:t>         relationship: tosca.relationships.HostedOn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90149" y="5443339"/>
            <a:ext cx="2382252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capabilities:</a:t>
            </a:r>
          </a:p>
          <a:p>
            <a:r>
              <a:rPr lang="en-US" sz="1100" dirty="0"/>
              <a:t>   host: </a:t>
            </a:r>
          </a:p>
          <a:p>
            <a:r>
              <a:rPr lang="en-US" sz="1100" dirty="0"/>
              <a:t>      type: tosca.capabilities.Container</a:t>
            </a:r>
          </a:p>
          <a:p>
            <a:r>
              <a:rPr lang="en-US" sz="1100" dirty="0"/>
              <a:t>      # valid_source_types: [</a:t>
            </a:r>
            <a:r>
              <a:rPr lang="en-US" sz="1100" b="1" dirty="0">
                <a:solidFill>
                  <a:srgbClr val="FF0000"/>
                </a:solidFill>
              </a:rPr>
              <a:t>NULL *</a:t>
            </a:r>
            <a:r>
              <a:rPr lang="en-US" sz="1100" dirty="0"/>
              <a:t>]</a:t>
            </a:r>
          </a:p>
        </p:txBody>
      </p:sp>
      <p:cxnSp>
        <p:nvCxnSpPr>
          <p:cNvPr id="86" name="Straight Arrow Connector 85"/>
          <p:cNvCxnSpPr>
            <a:stCxn id="85" idx="1"/>
            <a:endCxn id="56" idx="2"/>
          </p:cNvCxnSpPr>
          <p:nvPr/>
        </p:nvCxnSpPr>
        <p:spPr>
          <a:xfrm flipH="1" flipV="1">
            <a:off x="4215081" y="5562600"/>
            <a:ext cx="1175068" cy="265460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 rot="10800000">
            <a:off x="5112908" y="4647249"/>
            <a:ext cx="350454" cy="196217"/>
            <a:chOff x="3035702" y="1219833"/>
            <a:chExt cx="350454" cy="196217"/>
          </a:xfrm>
        </p:grpSpPr>
        <p:sp>
          <p:nvSpPr>
            <p:cNvPr id="54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57" name="Straight Connector 12"/>
          <p:cNvCxnSpPr>
            <a:cxnSpLocks noChangeShapeType="1"/>
            <a:stCxn id="56" idx="3"/>
            <a:endCxn id="55" idx="3"/>
          </p:cNvCxnSpPr>
          <p:nvPr/>
        </p:nvCxnSpPr>
        <p:spPr bwMode="auto">
          <a:xfrm flipV="1">
            <a:off x="4609938" y="4745356"/>
            <a:ext cx="502970" cy="697983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5" name="Straight Connector 12"/>
          <p:cNvCxnSpPr>
            <a:cxnSpLocks noChangeShapeType="1"/>
            <a:stCxn id="54" idx="1"/>
            <a:endCxn id="84" idx="1"/>
          </p:cNvCxnSpPr>
          <p:nvPr/>
        </p:nvCxnSpPr>
        <p:spPr bwMode="auto">
          <a:xfrm flipV="1">
            <a:off x="5463362" y="2460309"/>
            <a:ext cx="464371" cy="2285048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8" name="Group 87"/>
          <p:cNvGrpSpPr/>
          <p:nvPr/>
        </p:nvGrpSpPr>
        <p:grpSpPr>
          <a:xfrm rot="10800000">
            <a:off x="2011746" y="4419600"/>
            <a:ext cx="350454" cy="196217"/>
            <a:chOff x="3035702" y="1219833"/>
            <a:chExt cx="350454" cy="196217"/>
          </a:xfr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effectLst/>
        </p:grpSpPr>
        <p:sp>
          <p:nvSpPr>
            <p:cNvPr id="89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pFill/>
            <a:ln w="9525">
              <a:solidFill>
                <a:schemeClr val="bg1">
                  <a:lumMod val="75000"/>
                </a:schemeClr>
              </a:solidFill>
              <a:prstDash val="sysDot"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90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pFill/>
            <a:ln w="9525">
              <a:solidFill>
                <a:schemeClr val="bg1">
                  <a:lumMod val="75000"/>
                </a:schemeClr>
              </a:solidFill>
              <a:prstDash val="sysDot"/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96" name="Straight Connector 12"/>
          <p:cNvCxnSpPr>
            <a:cxnSpLocks noChangeShapeType="1"/>
            <a:stCxn id="62" idx="3"/>
            <a:endCxn id="90" idx="3"/>
          </p:cNvCxnSpPr>
          <p:nvPr/>
        </p:nvCxnSpPr>
        <p:spPr bwMode="auto">
          <a:xfrm>
            <a:off x="1227663" y="4287204"/>
            <a:ext cx="784083" cy="230503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chemeClr val="bg1">
                <a:lumMod val="75000"/>
              </a:schemeClr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7" name="Straight Connector 12"/>
          <p:cNvCxnSpPr>
            <a:cxnSpLocks noChangeShapeType="1"/>
            <a:stCxn id="89" idx="1"/>
            <a:endCxn id="98" idx="1"/>
          </p:cNvCxnSpPr>
          <p:nvPr/>
        </p:nvCxnSpPr>
        <p:spPr bwMode="auto">
          <a:xfrm>
            <a:off x="2362200" y="4517708"/>
            <a:ext cx="381000" cy="322259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chemeClr val="bg1">
                <a:lumMod val="75000"/>
              </a:schemeClr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98" name="Web Server Tier"/>
          <p:cNvSpPr>
            <a:spLocks noChangeArrowheads="1"/>
          </p:cNvSpPr>
          <p:nvPr/>
        </p:nvSpPr>
        <p:spPr bwMode="auto">
          <a:xfrm>
            <a:off x="2743200" y="4600968"/>
            <a:ext cx="905756" cy="477998"/>
          </a:xfrm>
          <a:prstGeom prst="roundRect">
            <a:avLst>
              <a:gd name="adj" fmla="val 16667"/>
            </a:avLst>
          </a:prstGeo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6350">
            <a:solidFill>
              <a:schemeClr val="accent1"/>
            </a:solidFill>
            <a:prstDash val="dash"/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Requirements</a:t>
            </a:r>
          </a:p>
        </p:txBody>
      </p:sp>
      <p:sp>
        <p:nvSpPr>
          <p:cNvPr id="99" name="Rectangle 14"/>
          <p:cNvSpPr>
            <a:spLocks noChangeArrowheads="1"/>
          </p:cNvSpPr>
          <p:nvPr/>
        </p:nvSpPr>
        <p:spPr bwMode="auto">
          <a:xfrm>
            <a:off x="2819400" y="4785751"/>
            <a:ext cx="673145" cy="196217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i="1" dirty="0">
                <a:latin typeface="Arial" charset="0"/>
              </a:rPr>
              <a:t>Container</a:t>
            </a:r>
          </a:p>
        </p:txBody>
      </p:sp>
      <p:sp>
        <p:nvSpPr>
          <p:cNvPr id="5160" name="TextBox 5159"/>
          <p:cNvSpPr txBox="1"/>
          <p:nvPr/>
        </p:nvSpPr>
        <p:spPr>
          <a:xfrm>
            <a:off x="62886" y="697031"/>
            <a:ext cx="189186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IaaS </a:t>
            </a:r>
          </a:p>
          <a:p>
            <a:r>
              <a:rPr lang="en-US" sz="1200" b="1" dirty="0"/>
              <a:t>Modeling</a:t>
            </a:r>
          </a:p>
          <a:p>
            <a:pPr marL="171450" indent="-171450">
              <a:buFontTx/>
              <a:buChar char="-"/>
            </a:pPr>
            <a:r>
              <a:rPr lang="en-US" sz="1000" i="1" dirty="0"/>
              <a:t>Compute is explicit or implicit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36437" y="657487"/>
            <a:ext cx="191110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PaaS</a:t>
            </a:r>
          </a:p>
          <a:p>
            <a:r>
              <a:rPr lang="en-US" sz="1200" b="1" dirty="0"/>
              <a:t>Modeling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Container is explicit or implicit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4800600" y="772726"/>
            <a:ext cx="2015" cy="555187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861423" y="657487"/>
            <a:ext cx="114165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Agnostic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/>
              <a:t>Cloud Foundry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/>
              <a:t>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351" y="581391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directive: </a:t>
            </a:r>
            <a:r>
              <a:rPr lang="en-US" b="1" i="1" dirty="0">
                <a:solidFill>
                  <a:srgbClr val="FF0000"/>
                </a:solidFill>
              </a:rPr>
              <a:t>substitutable</a:t>
            </a:r>
          </a:p>
        </p:txBody>
      </p:sp>
      <p:sp>
        <p:nvSpPr>
          <p:cNvPr id="84" name="Rectangle 14"/>
          <p:cNvSpPr>
            <a:spLocks noChangeArrowheads="1"/>
          </p:cNvSpPr>
          <p:nvPr/>
        </p:nvSpPr>
        <p:spPr bwMode="auto">
          <a:xfrm>
            <a:off x="5927733" y="2362200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cxnSp>
        <p:nvCxnSpPr>
          <p:cNvPr id="82" name="Straight Arrow Connector 81"/>
          <p:cNvCxnSpPr>
            <a:stCxn id="79" idx="0"/>
            <a:endCxn id="84" idx="2"/>
          </p:cNvCxnSpPr>
          <p:nvPr/>
        </p:nvCxnSpPr>
        <p:spPr>
          <a:xfrm flipH="1" flipV="1">
            <a:off x="6264306" y="2558417"/>
            <a:ext cx="1295279" cy="965834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" idx="0"/>
          </p:cNvCxnSpPr>
          <p:nvPr/>
        </p:nvCxnSpPr>
        <p:spPr>
          <a:xfrm flipV="1">
            <a:off x="1316726" y="5311486"/>
            <a:ext cx="2023271" cy="502425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27733" y="6324600"/>
            <a:ext cx="308289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>
                <a:solidFill>
                  <a:srgbClr val="FF0000"/>
                </a:solidFill>
              </a:rPr>
              <a:t>* “Effectively NULL”, not actually a NULL value. </a:t>
            </a:r>
          </a:p>
          <a:p>
            <a:r>
              <a:rPr lang="en-US" sz="1100" i="1" dirty="0">
                <a:solidFill>
                  <a:srgbClr val="FF0000"/>
                </a:solidFill>
              </a:rPr>
              <a:t>    meaning, we do not need to bind to a Node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3965B-08F9-EA66-43DA-4E1F02E1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64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58264"/>
      </p:ext>
    </p:extLst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ded Corner 1"/>
          <p:cNvSpPr/>
          <p:nvPr/>
        </p:nvSpPr>
        <p:spPr>
          <a:xfrm rot="10800000">
            <a:off x="5133474" y="840448"/>
            <a:ext cx="2181726" cy="1902747"/>
          </a:xfrm>
          <a:prstGeom prst="foldedCorner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100" b="1" kern="0" dirty="0">
              <a:solidFill>
                <a:srgbClr val="006600"/>
              </a:solidFill>
              <a:latin typeface="Calibri"/>
            </a:endParaRPr>
          </a:p>
        </p:txBody>
      </p:sp>
      <p:sp>
        <p:nvSpPr>
          <p:cNvPr id="100" name="Web Server Tier"/>
          <p:cNvSpPr>
            <a:spLocks noChangeArrowheads="1"/>
          </p:cNvSpPr>
          <p:nvPr/>
        </p:nvSpPr>
        <p:spPr bwMode="auto">
          <a:xfrm>
            <a:off x="2741187" y="2895600"/>
            <a:ext cx="535413" cy="58570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latin typeface="Arial" charset="0"/>
              </a:rPr>
              <a:t>Hosted On</a:t>
            </a:r>
          </a:p>
        </p:txBody>
      </p:sp>
      <p:sp>
        <p:nvSpPr>
          <p:cNvPr id="87" name="Web Server Tier"/>
          <p:cNvSpPr>
            <a:spLocks noChangeArrowheads="1"/>
          </p:cNvSpPr>
          <p:nvPr/>
        </p:nvSpPr>
        <p:spPr bwMode="auto">
          <a:xfrm>
            <a:off x="436145" y="2308514"/>
            <a:ext cx="1316456" cy="2233695"/>
          </a:xfrm>
          <a:prstGeom prst="roundRect">
            <a:avLst>
              <a:gd name="adj" fmla="val 16667"/>
            </a:avLst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9525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Component</a:t>
            </a:r>
          </a:p>
        </p:txBody>
      </p:sp>
      <p:sp>
        <p:nvSpPr>
          <p:cNvPr id="52" name="Web Server Tier"/>
          <p:cNvSpPr>
            <a:spLocks noChangeArrowheads="1"/>
          </p:cNvSpPr>
          <p:nvPr/>
        </p:nvSpPr>
        <p:spPr bwMode="auto">
          <a:xfrm>
            <a:off x="547387" y="2552669"/>
            <a:ext cx="1129014" cy="18478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lIns="0" tIns="0" r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Container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Capability)</a:t>
            </a:r>
          </a:p>
        </p:txBody>
      </p:sp>
      <p:sp>
        <p:nvSpPr>
          <p:cNvPr id="47" name="Web Server Tier"/>
          <p:cNvSpPr>
            <a:spLocks noChangeArrowheads="1"/>
          </p:cNvSpPr>
          <p:nvPr/>
        </p:nvSpPr>
        <p:spPr bwMode="auto">
          <a:xfrm>
            <a:off x="3975233" y="1409700"/>
            <a:ext cx="1358265" cy="1866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Containee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Requirement)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050" b="1" dirty="0">
              <a:solidFill>
                <a:srgbClr val="000000"/>
              </a:solidFill>
            </a:endParaRPr>
          </a:p>
        </p:txBody>
      </p:sp>
      <p:sp>
        <p:nvSpPr>
          <p:cNvPr id="83" name="Web Server Tier"/>
          <p:cNvSpPr>
            <a:spLocks noChangeArrowheads="1"/>
          </p:cNvSpPr>
          <p:nvPr/>
        </p:nvSpPr>
        <p:spPr bwMode="auto">
          <a:xfrm>
            <a:off x="3733800" y="2514600"/>
            <a:ext cx="1399674" cy="64770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Requirements</a:t>
            </a:r>
          </a:p>
        </p:txBody>
      </p:sp>
      <p:sp>
        <p:nvSpPr>
          <p:cNvPr id="58" name="Web Server Tier"/>
          <p:cNvSpPr>
            <a:spLocks noChangeArrowheads="1"/>
          </p:cNvSpPr>
          <p:nvPr/>
        </p:nvSpPr>
        <p:spPr bwMode="auto">
          <a:xfrm>
            <a:off x="844823" y="3170610"/>
            <a:ext cx="1212577" cy="11430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71900" y="3839979"/>
            <a:ext cx="3733800" cy="2713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docker_webserver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type: </a:t>
            </a:r>
            <a:r>
              <a:rPr lang="en-US" sz="9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tosca.nodes.Containee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capabilities: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# TBD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requirements: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- host: </a:t>
            </a:r>
          </a:p>
          <a:p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capability: </a:t>
            </a:r>
            <a:r>
              <a:rPr lang="en-US" sz="900" b="1" dirty="0">
                <a:latin typeface="Consolas" panose="020B0609020204030204" pitchFamily="49" charset="0"/>
                <a:cs typeface="Consolas" panose="020B0609020204030204" pitchFamily="49" charset="0"/>
              </a:rPr>
              <a:t>tosca.capabilities.Container</a:t>
            </a:r>
            <a:br>
              <a:rPr lang="en-US" sz="9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relationship: tosca.relationships.HostedOn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target_filter:</a:t>
            </a:r>
            <a:endParaRPr lang="en-US" sz="90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capabilities: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- </a:t>
            </a:r>
            <a:r>
              <a:rPr lang="en-US" sz="9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tosca.capabilities.Container.Docker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properties: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...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artifacts: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# Docker image is in CSAR file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my_image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files/docker_webserver_content.tar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type: </a:t>
            </a:r>
            <a:r>
              <a:rPr lang="en-US" sz="9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tosca.artifacts.impl.Docker.Image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9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</a:p>
        </p:txBody>
      </p:sp>
      <p:cxnSp>
        <p:nvCxnSpPr>
          <p:cNvPr id="57" name="Straight Connector 12"/>
          <p:cNvCxnSpPr>
            <a:cxnSpLocks noChangeShapeType="1"/>
            <a:stCxn id="56" idx="3"/>
            <a:endCxn id="55" idx="3"/>
          </p:cNvCxnSpPr>
          <p:nvPr/>
        </p:nvCxnSpPr>
        <p:spPr bwMode="auto">
          <a:xfrm flipV="1">
            <a:off x="1943101" y="3254440"/>
            <a:ext cx="892442" cy="805997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5" name="Straight Connector 12"/>
          <p:cNvCxnSpPr>
            <a:cxnSpLocks noChangeShapeType="1"/>
            <a:stCxn id="54" idx="1"/>
            <a:endCxn id="84" idx="1"/>
          </p:cNvCxnSpPr>
          <p:nvPr/>
        </p:nvCxnSpPr>
        <p:spPr bwMode="auto">
          <a:xfrm flipV="1">
            <a:off x="3129059" y="2895600"/>
            <a:ext cx="528541" cy="35884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84" name="Rectangle 14"/>
          <p:cNvSpPr>
            <a:spLocks noChangeArrowheads="1"/>
          </p:cNvSpPr>
          <p:nvPr/>
        </p:nvSpPr>
        <p:spPr bwMode="auto">
          <a:xfrm>
            <a:off x="3657600" y="2743199"/>
            <a:ext cx="1219200" cy="304801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36576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Container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1094373" y="3960585"/>
            <a:ext cx="848728" cy="199703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-23893"/>
            <a:ext cx="5744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Opaque Containee Implementation:   Providing Docker “image” as an artifact</a:t>
            </a:r>
            <a:endParaRPr lang="en-US" sz="1200" dirty="0"/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1094373" y="3399210"/>
            <a:ext cx="848728" cy="151478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Docker</a:t>
            </a:r>
          </a:p>
        </p:txBody>
      </p:sp>
      <p:cxnSp>
        <p:nvCxnSpPr>
          <p:cNvPr id="82" name="Straight Arrow Connector 81"/>
          <p:cNvCxnSpPr>
            <a:stCxn id="79" idx="0"/>
            <a:endCxn id="47" idx="2"/>
          </p:cNvCxnSpPr>
          <p:nvPr/>
        </p:nvCxnSpPr>
        <p:spPr>
          <a:xfrm flipH="1" flipV="1">
            <a:off x="4654366" y="3276600"/>
            <a:ext cx="984434" cy="563379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1094373" y="3610766"/>
            <a:ext cx="848727" cy="168522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Rocket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0784" y="3673915"/>
            <a:ext cx="262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1371600"/>
            <a:ext cx="191110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PaaS</a:t>
            </a:r>
          </a:p>
          <a:p>
            <a:r>
              <a:rPr lang="en-US" sz="1200" b="1" dirty="0"/>
              <a:t>Modeling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Container is explicit or implicit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442197"/>
            <a:ext cx="6858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Case 1: Docker Image (with WebServer inside) as a TOSCA Artifact in CSAR file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48400" y="2512214"/>
            <a:ext cx="2708022" cy="112604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artifact_types: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# NEW Tosca non-normative type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9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tosca.artifacts.impl.Docker.Image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derived_from: </a:t>
            </a:r>
            <a:r>
              <a:rPr lang="en-US" sz="900" u="sng" dirty="0">
                <a:latin typeface="Consolas" panose="020B0609020204030204" pitchFamily="49" charset="0"/>
                <a:cs typeface="Consolas" panose="020B0609020204030204" pitchFamily="49" charset="0"/>
                <a:hlinkClick r:id="rId2" action="ppaction://hlinkfile"/>
              </a:rPr>
              <a:t>tosca.artifacts.Root</a:t>
            </a:r>
            <a:endParaRPr lang="en-US" sz="9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description: Docker Image TAR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mime_type: TBD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file_ext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 [ tar ]</a:t>
            </a:r>
          </a:p>
        </p:txBody>
      </p:sp>
      <p:sp>
        <p:nvSpPr>
          <p:cNvPr id="76" name="Flowchart: Multidocument 75"/>
          <p:cNvSpPr/>
          <p:nvPr/>
        </p:nvSpPr>
        <p:spPr>
          <a:xfrm>
            <a:off x="5740654" y="1238560"/>
            <a:ext cx="1447800" cy="903674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006600"/>
                </a:solidFill>
                <a:latin typeface="Calibri"/>
                <a:cs typeface="+mn-cs"/>
              </a:rPr>
              <a:t>Docker Image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006600"/>
                </a:solidFill>
                <a:latin typeface="Calibri"/>
                <a:cs typeface="+mn-cs"/>
              </a:rPr>
              <a:t>(Apache.</a:t>
            </a:r>
            <a:r>
              <a:rPr lang="en-US" sz="1100" kern="0" dirty="0">
                <a:solidFill>
                  <a:srgbClr val="006600"/>
                </a:solidFill>
                <a:latin typeface="Calibri"/>
              </a:rPr>
              <a:t>TAR)</a:t>
            </a:r>
          </a:p>
        </p:txBody>
      </p:sp>
      <p:cxnSp>
        <p:nvCxnSpPr>
          <p:cNvPr id="78" name="Straight Arrow Connector 77"/>
          <p:cNvCxnSpPr>
            <a:stCxn id="76" idx="1"/>
          </p:cNvCxnSpPr>
          <p:nvPr/>
        </p:nvCxnSpPr>
        <p:spPr>
          <a:xfrm flipH="1">
            <a:off x="4921504" y="1690397"/>
            <a:ext cx="819150" cy="60423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693155" y="838200"/>
            <a:ext cx="12410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solidFill>
                  <a:srgbClr val="006600"/>
                </a:solidFill>
                <a:latin typeface="Calibri"/>
              </a:rPr>
              <a:t>TOSCA CSAR File</a:t>
            </a:r>
          </a:p>
        </p:txBody>
      </p:sp>
      <p:cxnSp>
        <p:nvCxnSpPr>
          <p:cNvPr id="30" name="Straight Arrow Connector 29"/>
          <p:cNvCxnSpPr>
            <a:stCxn id="45" idx="1"/>
          </p:cNvCxnSpPr>
          <p:nvPr/>
        </p:nvCxnSpPr>
        <p:spPr>
          <a:xfrm flipH="1" flipV="1">
            <a:off x="5029200" y="2362200"/>
            <a:ext cx="1219200" cy="713035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20803" y="4800600"/>
            <a:ext cx="3172526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# Note: this node represents just the Docker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# client in a PaaS, BUT also the engine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# (daemon) for single client / demo purposes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docker_client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 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type: </a:t>
            </a:r>
            <a:r>
              <a:rPr lang="en-US" sz="9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tosca.nodes.Container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capabilities: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9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tosca.capabilities.Container.Docker</a:t>
            </a:r>
          </a:p>
          <a:p>
            <a:endParaRPr lang="en-US" sz="9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900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Optionally… make this an abstract</a:t>
            </a:r>
          </a:p>
          <a:p>
            <a:r>
              <a:rPr lang="en-US" sz="900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</a:t>
            </a: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node_template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allowing subsystem </a:t>
            </a:r>
          </a:p>
          <a:p>
            <a:r>
              <a:rPr lang="en-US" sz="900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replacement:</a:t>
            </a:r>
          </a:p>
          <a:p>
            <a:r>
              <a:rPr lang="en-US" sz="9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900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directive: [ selectable ]</a:t>
            </a:r>
            <a:endParaRPr lang="en-US" sz="9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9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 rot="10800000">
            <a:off x="2835543" y="3172272"/>
            <a:ext cx="293516" cy="164338"/>
            <a:chOff x="3035702" y="1219833"/>
            <a:chExt cx="350454" cy="196217"/>
          </a:xfrm>
        </p:grpSpPr>
        <p:sp>
          <p:nvSpPr>
            <p:cNvPr id="54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29" name="Straight Connector 28"/>
          <p:cNvCxnSpPr/>
          <p:nvPr/>
        </p:nvCxnSpPr>
        <p:spPr>
          <a:xfrm>
            <a:off x="3045985" y="862318"/>
            <a:ext cx="2015" cy="377634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0"/>
            <a:endCxn id="52" idx="2"/>
          </p:cNvCxnSpPr>
          <p:nvPr/>
        </p:nvCxnSpPr>
        <p:spPr>
          <a:xfrm flipH="1" flipV="1">
            <a:off x="1111894" y="4400518"/>
            <a:ext cx="695172" cy="400082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060D0-623D-EA7D-F5EC-99FAB557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65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44128"/>
      </p:ext>
    </p:extLst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Web Server Tier"/>
          <p:cNvSpPr>
            <a:spLocks noChangeArrowheads="1"/>
          </p:cNvSpPr>
          <p:nvPr/>
        </p:nvSpPr>
        <p:spPr bwMode="auto">
          <a:xfrm>
            <a:off x="2377889" y="3380192"/>
            <a:ext cx="535413" cy="589194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latin typeface="Arial" charset="0"/>
              </a:rPr>
              <a:t>Hosted On</a:t>
            </a:r>
          </a:p>
        </p:txBody>
      </p:sp>
      <p:sp>
        <p:nvSpPr>
          <p:cNvPr id="87" name="Web Server Tier"/>
          <p:cNvSpPr>
            <a:spLocks noChangeArrowheads="1"/>
          </p:cNvSpPr>
          <p:nvPr/>
        </p:nvSpPr>
        <p:spPr bwMode="auto">
          <a:xfrm>
            <a:off x="568284" y="2750186"/>
            <a:ext cx="1316456" cy="2233695"/>
          </a:xfrm>
          <a:prstGeom prst="roundRect">
            <a:avLst>
              <a:gd name="adj" fmla="val 16667"/>
            </a:avLst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9525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Component</a:t>
            </a:r>
          </a:p>
        </p:txBody>
      </p:sp>
      <p:sp>
        <p:nvSpPr>
          <p:cNvPr id="52" name="Web Server Tier"/>
          <p:cNvSpPr>
            <a:spLocks noChangeArrowheads="1"/>
          </p:cNvSpPr>
          <p:nvPr/>
        </p:nvSpPr>
        <p:spPr bwMode="auto">
          <a:xfrm>
            <a:off x="679526" y="2994341"/>
            <a:ext cx="1129014" cy="18478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lIns="0" tIns="0" r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Container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Capability)</a:t>
            </a:r>
          </a:p>
        </p:txBody>
      </p:sp>
      <p:sp>
        <p:nvSpPr>
          <p:cNvPr id="47" name="Web Server Tier"/>
          <p:cNvSpPr>
            <a:spLocks noChangeArrowheads="1"/>
          </p:cNvSpPr>
          <p:nvPr/>
        </p:nvSpPr>
        <p:spPr bwMode="auto">
          <a:xfrm>
            <a:off x="3561140" y="1631081"/>
            <a:ext cx="1447298" cy="1981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Containee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Requirement)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050" b="1" dirty="0">
              <a:solidFill>
                <a:srgbClr val="000000"/>
              </a:solidFill>
            </a:endParaRPr>
          </a:p>
        </p:txBody>
      </p:sp>
      <p:sp>
        <p:nvSpPr>
          <p:cNvPr id="83" name="Web Server Tier"/>
          <p:cNvSpPr>
            <a:spLocks noChangeArrowheads="1"/>
          </p:cNvSpPr>
          <p:nvPr/>
        </p:nvSpPr>
        <p:spPr bwMode="auto">
          <a:xfrm>
            <a:off x="3408739" y="2774081"/>
            <a:ext cx="1399674" cy="64770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Requirements</a:t>
            </a:r>
          </a:p>
        </p:txBody>
      </p:sp>
      <p:sp>
        <p:nvSpPr>
          <p:cNvPr id="58" name="Web Server Tier"/>
          <p:cNvSpPr>
            <a:spLocks noChangeArrowheads="1"/>
          </p:cNvSpPr>
          <p:nvPr/>
        </p:nvSpPr>
        <p:spPr bwMode="auto">
          <a:xfrm>
            <a:off x="976962" y="3612282"/>
            <a:ext cx="1212577" cy="11430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68250" y="3992360"/>
            <a:ext cx="3674289" cy="22277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# NOT YET IN TOSCA SPEC. TO BE INVENTED…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repositories: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docker_hub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url: xxx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credentials: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yyy</a:t>
            </a:r>
            <a:endParaRPr lang="en-US" sz="8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docker_webserver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type: 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tosca.nodes.Containee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requirements: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host:  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# omitted for brevity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artifacts: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my_image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 URI of Docker Image in Repo. &gt;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type: tosca.artifacts.impl.Docker.Image: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repository: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docker_repo</a:t>
            </a:r>
            <a:endParaRPr lang="en-US" sz="8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</a:p>
        </p:txBody>
      </p:sp>
      <p:grpSp>
        <p:nvGrpSpPr>
          <p:cNvPr id="53" name="Group 52"/>
          <p:cNvGrpSpPr/>
          <p:nvPr/>
        </p:nvGrpSpPr>
        <p:grpSpPr>
          <a:xfrm rot="10800000">
            <a:off x="2472245" y="3660353"/>
            <a:ext cx="293516" cy="164338"/>
            <a:chOff x="3035702" y="1219833"/>
            <a:chExt cx="350454" cy="196217"/>
          </a:xfrm>
        </p:grpSpPr>
        <p:sp>
          <p:nvSpPr>
            <p:cNvPr id="54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57" name="Straight Connector 12"/>
          <p:cNvCxnSpPr>
            <a:cxnSpLocks noChangeShapeType="1"/>
            <a:stCxn id="56" idx="3"/>
            <a:endCxn id="55" idx="3"/>
          </p:cNvCxnSpPr>
          <p:nvPr/>
        </p:nvCxnSpPr>
        <p:spPr bwMode="auto">
          <a:xfrm flipV="1">
            <a:off x="2075240" y="3742521"/>
            <a:ext cx="397005" cy="759588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5" name="Straight Connector 12"/>
          <p:cNvCxnSpPr>
            <a:cxnSpLocks noChangeShapeType="1"/>
            <a:stCxn id="54" idx="1"/>
            <a:endCxn id="84" idx="1"/>
          </p:cNvCxnSpPr>
          <p:nvPr/>
        </p:nvCxnSpPr>
        <p:spPr bwMode="auto">
          <a:xfrm flipV="1">
            <a:off x="2765761" y="3155081"/>
            <a:ext cx="566778" cy="58744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84" name="Rectangle 14"/>
          <p:cNvSpPr>
            <a:spLocks noChangeArrowheads="1"/>
          </p:cNvSpPr>
          <p:nvPr/>
        </p:nvSpPr>
        <p:spPr bwMode="auto">
          <a:xfrm>
            <a:off x="3332539" y="3002680"/>
            <a:ext cx="1219200" cy="304801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36576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Container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1226512" y="4402257"/>
            <a:ext cx="848728" cy="199703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025" y="-32211"/>
            <a:ext cx="4295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Opaque Containee Implementation:   Providing Docker “image” as an artifact</a:t>
            </a:r>
            <a:endParaRPr lang="en-US" sz="1200" dirty="0"/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1226512" y="3840882"/>
            <a:ext cx="848728" cy="151478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Docker</a:t>
            </a:r>
          </a:p>
        </p:txBody>
      </p:sp>
      <p:cxnSp>
        <p:nvCxnSpPr>
          <p:cNvPr id="82" name="Straight Arrow Connector 81"/>
          <p:cNvCxnSpPr>
            <a:stCxn id="79" idx="0"/>
            <a:endCxn id="47" idx="2"/>
          </p:cNvCxnSpPr>
          <p:nvPr/>
        </p:nvCxnSpPr>
        <p:spPr>
          <a:xfrm flipH="1" flipV="1">
            <a:off x="4284789" y="3612281"/>
            <a:ext cx="1020606" cy="380079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1226512" y="4052438"/>
            <a:ext cx="848727" cy="168522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Rocket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2923" y="4115587"/>
            <a:ext cx="262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1400258"/>
            <a:ext cx="191110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PaaS</a:t>
            </a:r>
          </a:p>
          <a:p>
            <a:r>
              <a:rPr lang="en-US" sz="1200" b="1" dirty="0"/>
              <a:t>Modeling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Container is explicit or implicit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442197"/>
            <a:ext cx="67762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Case 3: Docker Image (with WebServer inside) in a “Docker” Repo.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94739" y="2488331"/>
            <a:ext cx="2092036" cy="8191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artifact_types:</a:t>
            </a:r>
          </a:p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tosca.artifacts.impl.Docker.Image</a:t>
            </a: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derived_from: </a:t>
            </a:r>
            <a:r>
              <a:rPr lang="en-US" sz="7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2" action="ppaction://hlinkfile"/>
              </a:rPr>
              <a:t>tosca.artifacts.Root</a:t>
            </a:r>
            <a:endParaRPr lang="en-US" sz="7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description: Docker Image TAR</a:t>
            </a:r>
          </a:p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mime_type: TBD</a:t>
            </a:r>
          </a:p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file_ext</a:t>
            </a: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 tar ]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3178124" y="1274199"/>
            <a:ext cx="2015" cy="409068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/>
          <p:cNvSpPr/>
          <p:nvPr/>
        </p:nvSpPr>
        <p:spPr>
          <a:xfrm>
            <a:off x="7980739" y="1274199"/>
            <a:ext cx="990600" cy="1257300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Docker Hub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pic>
        <p:nvPicPr>
          <p:cNvPr id="1026" name="Picture 2" descr="https://d39bd7m80qu33d.cloudfront.net/1.71.8/img/docker-logo-smal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115" y="1064918"/>
            <a:ext cx="935224" cy="52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Arrow Connector 58"/>
          <p:cNvCxnSpPr>
            <a:stCxn id="24" idx="2"/>
            <a:endCxn id="31" idx="3"/>
          </p:cNvCxnSpPr>
          <p:nvPr/>
        </p:nvCxnSpPr>
        <p:spPr>
          <a:xfrm flipH="1">
            <a:off x="5063473" y="1902849"/>
            <a:ext cx="2917266" cy="5532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561139" y="2240681"/>
            <a:ext cx="15023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1" kern="0" dirty="0">
                <a:solidFill>
                  <a:srgbClr val="006600"/>
                </a:solidFill>
                <a:latin typeface="Calibri"/>
              </a:rPr>
              <a:t>URI</a:t>
            </a:r>
            <a:r>
              <a:rPr lang="en-US" sz="1100" i="1" kern="0" dirty="0">
                <a:solidFill>
                  <a:srgbClr val="006600"/>
                </a:solidFill>
                <a:latin typeface="Calibri"/>
              </a:rPr>
              <a:t> of </a:t>
            </a:r>
            <a:r>
              <a:rPr lang="en-US" sz="1100" i="1" kern="0" dirty="0" err="1">
                <a:solidFill>
                  <a:srgbClr val="006600"/>
                </a:solidFill>
                <a:latin typeface="Calibri"/>
              </a:rPr>
              <a:t>DockerImage</a:t>
            </a:r>
            <a:endParaRPr lang="en-US" sz="1100" i="1" kern="0" dirty="0">
              <a:solidFill>
                <a:srgbClr val="006600"/>
              </a:solidFill>
              <a:latin typeface="Calibri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kern="0" dirty="0">
                <a:solidFill>
                  <a:srgbClr val="006600"/>
                </a:solidFill>
                <a:latin typeface="Calibri"/>
              </a:rPr>
              <a:t>Relative to Repo.</a:t>
            </a:r>
          </a:p>
        </p:txBody>
      </p:sp>
      <p:sp>
        <p:nvSpPr>
          <p:cNvPr id="76" name="Flowchart: Multidocument 75"/>
          <p:cNvSpPr/>
          <p:nvPr/>
        </p:nvSpPr>
        <p:spPr>
          <a:xfrm>
            <a:off x="6228139" y="1360302"/>
            <a:ext cx="861094" cy="903674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006600"/>
                </a:solidFill>
                <a:latin typeface="Calibri"/>
              </a:rPr>
              <a:t>Docker Image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006600"/>
                </a:solidFill>
                <a:latin typeface="Calibri"/>
              </a:rPr>
              <a:t>.TAR)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BA04F-7B44-8F6C-2C82-FC574EFB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66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5188"/>
      </p:ext>
    </p:extLst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Web Server Tier"/>
          <p:cNvSpPr>
            <a:spLocks noChangeArrowheads="1"/>
          </p:cNvSpPr>
          <p:nvPr/>
        </p:nvSpPr>
        <p:spPr bwMode="auto">
          <a:xfrm>
            <a:off x="2245750" y="2968311"/>
            <a:ext cx="535413" cy="589194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latin typeface="Arial" charset="0"/>
              </a:rPr>
              <a:t>Hosted On</a:t>
            </a:r>
          </a:p>
        </p:txBody>
      </p:sp>
      <p:sp>
        <p:nvSpPr>
          <p:cNvPr id="87" name="Web Server Tier"/>
          <p:cNvSpPr>
            <a:spLocks noChangeArrowheads="1"/>
          </p:cNvSpPr>
          <p:nvPr/>
        </p:nvSpPr>
        <p:spPr bwMode="auto">
          <a:xfrm>
            <a:off x="436145" y="2338305"/>
            <a:ext cx="1316456" cy="2233695"/>
          </a:xfrm>
          <a:prstGeom prst="roundRect">
            <a:avLst>
              <a:gd name="adj" fmla="val 16667"/>
            </a:avLst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9525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Component</a:t>
            </a:r>
          </a:p>
        </p:txBody>
      </p:sp>
      <p:sp>
        <p:nvSpPr>
          <p:cNvPr id="52" name="Web Server Tier"/>
          <p:cNvSpPr>
            <a:spLocks noChangeArrowheads="1"/>
          </p:cNvSpPr>
          <p:nvPr/>
        </p:nvSpPr>
        <p:spPr bwMode="auto">
          <a:xfrm>
            <a:off x="547387" y="2582460"/>
            <a:ext cx="1129014" cy="18478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lIns="0" tIns="0" r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Container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Capability)</a:t>
            </a:r>
          </a:p>
        </p:txBody>
      </p:sp>
      <p:sp>
        <p:nvSpPr>
          <p:cNvPr id="47" name="Web Server Tier"/>
          <p:cNvSpPr>
            <a:spLocks noChangeArrowheads="1"/>
          </p:cNvSpPr>
          <p:nvPr/>
        </p:nvSpPr>
        <p:spPr bwMode="auto">
          <a:xfrm>
            <a:off x="3810001" y="1371600"/>
            <a:ext cx="1447298" cy="1981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</a:rPr>
              <a:t>Containee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Requirement)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050" b="1" dirty="0">
              <a:solidFill>
                <a:srgbClr val="000000"/>
              </a:solidFill>
            </a:endParaRPr>
          </a:p>
        </p:txBody>
      </p:sp>
      <p:sp>
        <p:nvSpPr>
          <p:cNvPr id="83" name="Web Server Tier"/>
          <p:cNvSpPr>
            <a:spLocks noChangeArrowheads="1"/>
          </p:cNvSpPr>
          <p:nvPr/>
        </p:nvSpPr>
        <p:spPr bwMode="auto">
          <a:xfrm>
            <a:off x="3657600" y="2514600"/>
            <a:ext cx="1399674" cy="64770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Requirements</a:t>
            </a:r>
          </a:p>
        </p:txBody>
      </p:sp>
      <p:sp>
        <p:nvSpPr>
          <p:cNvPr id="58" name="Web Server Tier"/>
          <p:cNvSpPr>
            <a:spLocks noChangeArrowheads="1"/>
          </p:cNvSpPr>
          <p:nvPr/>
        </p:nvSpPr>
        <p:spPr bwMode="auto">
          <a:xfrm>
            <a:off x="844823" y="3200401"/>
            <a:ext cx="1212577" cy="11430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grpSp>
        <p:nvGrpSpPr>
          <p:cNvPr id="53" name="Group 52"/>
          <p:cNvGrpSpPr/>
          <p:nvPr/>
        </p:nvGrpSpPr>
        <p:grpSpPr>
          <a:xfrm rot="10800000">
            <a:off x="2340106" y="3248472"/>
            <a:ext cx="293516" cy="164338"/>
            <a:chOff x="3035702" y="1219833"/>
            <a:chExt cx="350454" cy="196217"/>
          </a:xfrm>
        </p:grpSpPr>
        <p:sp>
          <p:nvSpPr>
            <p:cNvPr id="54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57" name="Straight Connector 12"/>
          <p:cNvCxnSpPr>
            <a:cxnSpLocks noChangeShapeType="1"/>
            <a:stCxn id="56" idx="3"/>
            <a:endCxn id="55" idx="3"/>
          </p:cNvCxnSpPr>
          <p:nvPr/>
        </p:nvCxnSpPr>
        <p:spPr bwMode="auto">
          <a:xfrm flipV="1">
            <a:off x="1943101" y="3330640"/>
            <a:ext cx="397005" cy="759588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5" name="Straight Connector 12"/>
          <p:cNvCxnSpPr>
            <a:cxnSpLocks noChangeShapeType="1"/>
            <a:stCxn id="54" idx="1"/>
            <a:endCxn id="84" idx="1"/>
          </p:cNvCxnSpPr>
          <p:nvPr/>
        </p:nvCxnSpPr>
        <p:spPr bwMode="auto">
          <a:xfrm flipV="1">
            <a:off x="2633622" y="2895600"/>
            <a:ext cx="947778" cy="435041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84" name="Rectangle 14"/>
          <p:cNvSpPr>
            <a:spLocks noChangeArrowheads="1"/>
          </p:cNvSpPr>
          <p:nvPr/>
        </p:nvSpPr>
        <p:spPr bwMode="auto">
          <a:xfrm>
            <a:off x="3581400" y="2743199"/>
            <a:ext cx="1219200" cy="304801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36576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50" dirty="0">
                <a:latin typeface="Arial" charset="0"/>
              </a:rPr>
              <a:t>Container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1094373" y="3990376"/>
            <a:ext cx="848728" cy="199703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76200"/>
            <a:ext cx="53477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Opaque Containee Implementation:   Providing Docker “image” as an artifact</a:t>
            </a:r>
            <a:endParaRPr lang="en-US" sz="1000" dirty="0"/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1094373" y="3429001"/>
            <a:ext cx="848728" cy="151478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Docker</a:t>
            </a:r>
          </a:p>
        </p:txBody>
      </p:sp>
      <p:cxnSp>
        <p:nvCxnSpPr>
          <p:cNvPr id="82" name="Straight Arrow Connector 81"/>
          <p:cNvCxnSpPr>
            <a:stCxn id="30" idx="0"/>
            <a:endCxn id="47" idx="2"/>
          </p:cNvCxnSpPr>
          <p:nvPr/>
        </p:nvCxnSpPr>
        <p:spPr>
          <a:xfrm flipH="1" flipV="1">
            <a:off x="4533650" y="3352800"/>
            <a:ext cx="419350" cy="439292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1094373" y="3640557"/>
            <a:ext cx="848727" cy="168522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Rocket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0784" y="3703706"/>
            <a:ext cx="262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1400258"/>
            <a:ext cx="191110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PaaS</a:t>
            </a:r>
          </a:p>
          <a:p>
            <a:r>
              <a:rPr lang="en-US" sz="1200" b="1" dirty="0"/>
              <a:t>Modeling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Container is explicit or implicit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381000"/>
            <a:ext cx="45508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Case 3: Dynamically “build” Docker Image using multiple repositories, single Node Template</a:t>
            </a:r>
          </a:p>
          <a:p>
            <a:pPr algn="ctr"/>
            <a:r>
              <a:rPr lang="en-US" sz="1200" b="1" i="1" dirty="0">
                <a:solidFill>
                  <a:srgbClr val="FF0000"/>
                </a:solidFill>
              </a:rPr>
              <a:t>(IN-PROGRESS)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3045985" y="862318"/>
            <a:ext cx="2015" cy="409068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/>
          <p:cNvSpPr/>
          <p:nvPr/>
        </p:nvSpPr>
        <p:spPr>
          <a:xfrm>
            <a:off x="7848600" y="862318"/>
            <a:ext cx="990600" cy="981488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Docker Hub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pic>
        <p:nvPicPr>
          <p:cNvPr id="1026" name="Picture 2" descr="https://d39bd7m80qu33d.cloudfront.net/1.71.8/img/docker-logo-sm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976" y="653037"/>
            <a:ext cx="935224" cy="52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Arrow Connector 58"/>
          <p:cNvCxnSpPr>
            <a:stCxn id="24" idx="2"/>
            <a:endCxn id="31" idx="3"/>
          </p:cNvCxnSpPr>
          <p:nvPr/>
        </p:nvCxnSpPr>
        <p:spPr>
          <a:xfrm flipH="1">
            <a:off x="5312334" y="1353062"/>
            <a:ext cx="2536266" cy="8435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810000" y="1981200"/>
            <a:ext cx="15023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1" kern="0" dirty="0">
                <a:solidFill>
                  <a:srgbClr val="006600"/>
                </a:solidFill>
                <a:latin typeface="Calibri"/>
              </a:rPr>
              <a:t>URIs</a:t>
            </a:r>
            <a:r>
              <a:rPr lang="en-US" sz="1100" i="1" kern="0" dirty="0">
                <a:solidFill>
                  <a:srgbClr val="006600"/>
                </a:solidFill>
                <a:latin typeface="Calibri"/>
              </a:rPr>
              <a:t> of components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kern="0" dirty="0">
                <a:solidFill>
                  <a:srgbClr val="006600"/>
                </a:solidFill>
                <a:latin typeface="Calibri"/>
              </a:rPr>
              <a:t>Relative to Repos.</a:t>
            </a:r>
          </a:p>
        </p:txBody>
      </p:sp>
      <p:sp>
        <p:nvSpPr>
          <p:cNvPr id="76" name="Flowchart: Multidocument 75"/>
          <p:cNvSpPr/>
          <p:nvPr/>
        </p:nvSpPr>
        <p:spPr>
          <a:xfrm>
            <a:off x="6525470" y="951397"/>
            <a:ext cx="1143000" cy="756637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kern="0" dirty="0">
                <a:solidFill>
                  <a:srgbClr val="006600"/>
                </a:solidFill>
                <a:latin typeface="Calibri"/>
              </a:rPr>
              <a:t>Guest OS (TAR)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2800" y="3792092"/>
            <a:ext cx="3200400" cy="25325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# NOT YET IN TOSCA SPEC. TO BE INVENTED…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repositories: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docker_hub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apache_repo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paypal_repo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docker_os_webserver_app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type: 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tosca.nodes.Containee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requirements: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host:  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# omitted for brevity</a:t>
            </a:r>
          </a:p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artifacts: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my_guest_os_image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my_apache_server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sz="8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my_pizza_app</a:t>
            </a:r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7848600" y="2209800"/>
            <a:ext cx="990600" cy="795258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Apache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cxnSp>
        <p:nvCxnSpPr>
          <p:cNvPr id="34" name="Straight Arrow Connector 33"/>
          <p:cNvCxnSpPr>
            <a:stCxn id="32" idx="2"/>
            <a:endCxn id="31" idx="3"/>
          </p:cNvCxnSpPr>
          <p:nvPr/>
        </p:nvCxnSpPr>
        <p:spPr>
          <a:xfrm flipH="1" flipV="1">
            <a:off x="5312334" y="2196644"/>
            <a:ext cx="2536266" cy="4107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Multidocument 37"/>
          <p:cNvSpPr/>
          <p:nvPr/>
        </p:nvSpPr>
        <p:spPr>
          <a:xfrm>
            <a:off x="6647786" y="1966015"/>
            <a:ext cx="1077633" cy="744579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006600"/>
                </a:solidFill>
                <a:latin typeface="Calibri"/>
              </a:rPr>
              <a:t>Apache Repo</a:t>
            </a:r>
          </a:p>
        </p:txBody>
      </p:sp>
      <p:sp>
        <p:nvSpPr>
          <p:cNvPr id="39" name="Flowchart: Magnetic Disk 38"/>
          <p:cNvSpPr/>
          <p:nvPr/>
        </p:nvSpPr>
        <p:spPr>
          <a:xfrm>
            <a:off x="7924800" y="3657600"/>
            <a:ext cx="990600" cy="685801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Pizza Store App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cxnSp>
        <p:nvCxnSpPr>
          <p:cNvPr id="41" name="Straight Arrow Connector 40"/>
          <p:cNvCxnSpPr>
            <a:stCxn id="39" idx="2"/>
            <a:endCxn id="31" idx="3"/>
          </p:cNvCxnSpPr>
          <p:nvPr/>
        </p:nvCxnSpPr>
        <p:spPr>
          <a:xfrm flipH="1" flipV="1">
            <a:off x="5312334" y="2196644"/>
            <a:ext cx="2612466" cy="180385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Multidocument 43"/>
          <p:cNvSpPr/>
          <p:nvPr/>
        </p:nvSpPr>
        <p:spPr>
          <a:xfrm>
            <a:off x="6934200" y="3134094"/>
            <a:ext cx="1077633" cy="744579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kern="0" dirty="0">
                <a:solidFill>
                  <a:srgbClr val="006600"/>
                </a:solidFill>
                <a:latin typeface="Calibri"/>
              </a:rPr>
              <a:t>Pizza App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EDBFCF-92B2-A1FC-C013-1C58DEBB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67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77793"/>
      </p:ext>
    </p:extLst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Web Server Tier"/>
          <p:cNvSpPr>
            <a:spLocks noChangeArrowheads="1"/>
          </p:cNvSpPr>
          <p:nvPr/>
        </p:nvSpPr>
        <p:spPr bwMode="auto">
          <a:xfrm>
            <a:off x="2245750" y="2968311"/>
            <a:ext cx="535413" cy="589194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  <a:alpha val="7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38100" dir="2700000" algn="t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dirty="0">
                <a:latin typeface="Arial" charset="0"/>
              </a:rPr>
              <a:t>Hosted On</a:t>
            </a:r>
          </a:p>
        </p:txBody>
      </p:sp>
      <p:sp>
        <p:nvSpPr>
          <p:cNvPr id="87" name="Web Server Tier"/>
          <p:cNvSpPr>
            <a:spLocks noChangeArrowheads="1"/>
          </p:cNvSpPr>
          <p:nvPr/>
        </p:nvSpPr>
        <p:spPr bwMode="auto">
          <a:xfrm>
            <a:off x="436145" y="2338305"/>
            <a:ext cx="1316456" cy="2233695"/>
          </a:xfrm>
          <a:prstGeom prst="roundRect">
            <a:avLst>
              <a:gd name="adj" fmla="val 16667"/>
            </a:avLst>
          </a:prstGeom>
          <a:pattFill prst="wd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9525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/>
            <a:tailEnd/>
          </a:ln>
          <a:effectLst/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Component</a:t>
            </a:r>
          </a:p>
        </p:txBody>
      </p:sp>
      <p:sp>
        <p:nvSpPr>
          <p:cNvPr id="52" name="Web Server Tier"/>
          <p:cNvSpPr>
            <a:spLocks noChangeArrowheads="1"/>
          </p:cNvSpPr>
          <p:nvPr/>
        </p:nvSpPr>
        <p:spPr bwMode="auto">
          <a:xfrm>
            <a:off x="547387" y="2582460"/>
            <a:ext cx="1129014" cy="184784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lIns="0" tIns="0" r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rgbClr val="000000"/>
                </a:solidFill>
              </a:rPr>
              <a:t>Container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i="1" dirty="0">
                <a:solidFill>
                  <a:srgbClr val="000000"/>
                </a:solidFill>
              </a:rPr>
              <a:t>(Docker Runtime Capability)</a:t>
            </a:r>
          </a:p>
        </p:txBody>
      </p:sp>
      <p:sp>
        <p:nvSpPr>
          <p:cNvPr id="47" name="Web Server Tier"/>
          <p:cNvSpPr>
            <a:spLocks noChangeArrowheads="1"/>
          </p:cNvSpPr>
          <p:nvPr/>
        </p:nvSpPr>
        <p:spPr bwMode="auto">
          <a:xfrm>
            <a:off x="3276601" y="1066800"/>
            <a:ext cx="1161924" cy="219610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</a:rPr>
              <a:t>Containee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900" i="1" dirty="0">
                <a:solidFill>
                  <a:srgbClr val="000000"/>
                </a:solidFill>
              </a:rPr>
              <a:t>(Docker Runtime Requirement)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900" b="1" dirty="0">
              <a:solidFill>
                <a:srgbClr val="000000"/>
              </a:solidFill>
            </a:endParaRPr>
          </a:p>
        </p:txBody>
      </p:sp>
      <p:sp>
        <p:nvSpPr>
          <p:cNvPr id="83" name="Web Server Tier"/>
          <p:cNvSpPr>
            <a:spLocks noChangeArrowheads="1"/>
          </p:cNvSpPr>
          <p:nvPr/>
        </p:nvSpPr>
        <p:spPr bwMode="auto">
          <a:xfrm>
            <a:off x="3124200" y="2514600"/>
            <a:ext cx="839792" cy="453711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700" i="1" dirty="0">
                <a:latin typeface="Arial" charset="0"/>
              </a:rPr>
              <a:t>Requirements</a:t>
            </a:r>
          </a:p>
        </p:txBody>
      </p:sp>
      <p:sp>
        <p:nvSpPr>
          <p:cNvPr id="58" name="Web Server Tier"/>
          <p:cNvSpPr>
            <a:spLocks noChangeArrowheads="1"/>
          </p:cNvSpPr>
          <p:nvPr/>
        </p:nvSpPr>
        <p:spPr bwMode="auto">
          <a:xfrm>
            <a:off x="844823" y="3200401"/>
            <a:ext cx="1212577" cy="11430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900" i="1" dirty="0">
                <a:latin typeface="Arial" charset="0"/>
              </a:rPr>
              <a:t>Capabilities</a:t>
            </a:r>
          </a:p>
        </p:txBody>
      </p:sp>
      <p:grpSp>
        <p:nvGrpSpPr>
          <p:cNvPr id="53" name="Group 52"/>
          <p:cNvGrpSpPr/>
          <p:nvPr/>
        </p:nvGrpSpPr>
        <p:grpSpPr>
          <a:xfrm rot="10800000">
            <a:off x="2340106" y="3248472"/>
            <a:ext cx="293516" cy="164338"/>
            <a:chOff x="3035702" y="1219833"/>
            <a:chExt cx="350454" cy="196217"/>
          </a:xfrm>
        </p:grpSpPr>
        <p:sp>
          <p:nvSpPr>
            <p:cNvPr id="54" name="Pentagon 13"/>
            <p:cNvSpPr>
              <a:spLocks noChangeArrowheads="1"/>
            </p:cNvSpPr>
            <p:nvPr/>
          </p:nvSpPr>
          <p:spPr bwMode="auto">
            <a:xfrm>
              <a:off x="3035702" y="1219833"/>
              <a:ext cx="253209" cy="196217"/>
            </a:xfrm>
            <a:prstGeom prst="homePlate">
              <a:avLst>
                <a:gd name="adj" fmla="val 37332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55" name="Chevron 18"/>
            <p:cNvSpPr>
              <a:spLocks noChangeArrowheads="1"/>
            </p:cNvSpPr>
            <p:nvPr/>
          </p:nvSpPr>
          <p:spPr bwMode="auto">
            <a:xfrm>
              <a:off x="3264304" y="1219835"/>
              <a:ext cx="121852" cy="196215"/>
            </a:xfrm>
            <a:prstGeom prst="chevron">
              <a:avLst>
                <a:gd name="adj" fmla="val 50000"/>
              </a:avLst>
            </a:prstGeom>
            <a:gradFill rotWithShape="1">
              <a:gsLst>
                <a:gs pos="0">
                  <a:srgbClr val="FFBE86"/>
                </a:gs>
                <a:gs pos="35001">
                  <a:srgbClr val="FFD0AA"/>
                </a:gs>
                <a:gs pos="100000">
                  <a:srgbClr val="FFEBDB"/>
                </a:gs>
              </a:gsLst>
              <a:lin ang="16200000" scaled="1"/>
            </a:gradFill>
            <a:ln w="9525">
              <a:solidFill>
                <a:srgbClr val="E46C0A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</p:grpSp>
      <p:cxnSp>
        <p:nvCxnSpPr>
          <p:cNvPr id="57" name="Straight Connector 12"/>
          <p:cNvCxnSpPr>
            <a:cxnSpLocks noChangeShapeType="1"/>
            <a:stCxn id="56" idx="3"/>
            <a:endCxn id="55" idx="3"/>
          </p:cNvCxnSpPr>
          <p:nvPr/>
        </p:nvCxnSpPr>
        <p:spPr bwMode="auto">
          <a:xfrm flipV="1">
            <a:off x="1943101" y="3330640"/>
            <a:ext cx="397005" cy="759588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5" name="Straight Connector 12"/>
          <p:cNvCxnSpPr>
            <a:cxnSpLocks noChangeShapeType="1"/>
            <a:stCxn id="54" idx="1"/>
            <a:endCxn id="84" idx="1"/>
          </p:cNvCxnSpPr>
          <p:nvPr/>
        </p:nvCxnSpPr>
        <p:spPr bwMode="auto">
          <a:xfrm flipV="1">
            <a:off x="2633622" y="2776527"/>
            <a:ext cx="414379" cy="554114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84" name="Rectangle 14"/>
          <p:cNvSpPr>
            <a:spLocks noChangeArrowheads="1"/>
          </p:cNvSpPr>
          <p:nvPr/>
        </p:nvSpPr>
        <p:spPr bwMode="auto">
          <a:xfrm>
            <a:off x="3048001" y="2667000"/>
            <a:ext cx="613256" cy="219054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36576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 dirty="0">
                <a:latin typeface="Arial" charset="0"/>
              </a:rPr>
              <a:t>Container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1094373" y="3990376"/>
            <a:ext cx="848728" cy="199703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76200"/>
            <a:ext cx="838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Opaque Containee Implementation:   Providing Docker “image” as an artifact</a:t>
            </a:r>
            <a:endParaRPr lang="en-US" sz="900" dirty="0"/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1094373" y="3429001"/>
            <a:ext cx="848728" cy="151478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Docker</a:t>
            </a:r>
          </a:p>
        </p:txBody>
      </p:sp>
      <p:cxnSp>
        <p:nvCxnSpPr>
          <p:cNvPr id="82" name="Straight Arrow Connector 81"/>
          <p:cNvCxnSpPr>
            <a:stCxn id="30" idx="0"/>
            <a:endCxn id="47" idx="2"/>
          </p:cNvCxnSpPr>
          <p:nvPr/>
        </p:nvCxnSpPr>
        <p:spPr>
          <a:xfrm flipV="1">
            <a:off x="3464950" y="3262908"/>
            <a:ext cx="392613" cy="1232892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1094373" y="3640557"/>
            <a:ext cx="848727" cy="168522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73152" rIns="73152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0325" algn="r"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latin typeface="Arial" charset="0"/>
              </a:rPr>
              <a:t>Rocket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0784" y="3703706"/>
            <a:ext cx="262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1400258"/>
            <a:ext cx="191110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PaaS</a:t>
            </a:r>
          </a:p>
          <a:p>
            <a:r>
              <a:rPr lang="en-US" sz="1200" b="1" dirty="0"/>
              <a:t>Modeling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Container is explicit or implicit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381000"/>
            <a:ext cx="6115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Case 4: Dynamically “build” Docker Image using multiple repositories, Multiple Node templates</a:t>
            </a:r>
          </a:p>
          <a:p>
            <a:pPr algn="ctr"/>
            <a:r>
              <a:rPr lang="en-US" sz="1200" b="1" i="1" dirty="0">
                <a:solidFill>
                  <a:srgbClr val="FF0000"/>
                </a:solidFill>
              </a:rPr>
              <a:t>(IN-PROGRESS)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3045985" y="862318"/>
            <a:ext cx="2015" cy="28625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/>
          <p:cNvSpPr/>
          <p:nvPr/>
        </p:nvSpPr>
        <p:spPr>
          <a:xfrm>
            <a:off x="7848600" y="862318"/>
            <a:ext cx="685800" cy="770492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Docker Hub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pic>
        <p:nvPicPr>
          <p:cNvPr id="1026" name="Picture 2" descr="https://d39bd7m80qu33d.cloudfront.net/1.71.8/img/docker-logo-sm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415" y="673387"/>
            <a:ext cx="730169" cy="41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Arrow Connector 58"/>
          <p:cNvCxnSpPr>
            <a:stCxn id="24" idx="2"/>
            <a:endCxn id="31" idx="3"/>
          </p:cNvCxnSpPr>
          <p:nvPr/>
        </p:nvCxnSpPr>
        <p:spPr>
          <a:xfrm flipH="1">
            <a:off x="4368566" y="1247564"/>
            <a:ext cx="3480034" cy="50652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276600" y="1600200"/>
            <a:ext cx="10919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i="1" kern="0" dirty="0">
                <a:solidFill>
                  <a:srgbClr val="006600"/>
                </a:solidFill>
                <a:latin typeface="Calibri"/>
              </a:rPr>
              <a:t>URIs</a:t>
            </a:r>
            <a:r>
              <a:rPr lang="en-US" sz="700" i="1" kern="0" dirty="0">
                <a:solidFill>
                  <a:srgbClr val="006600"/>
                </a:solidFill>
                <a:latin typeface="Calibri"/>
              </a:rPr>
              <a:t> of components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i="1" kern="0" dirty="0">
                <a:solidFill>
                  <a:srgbClr val="006600"/>
                </a:solidFill>
                <a:latin typeface="Calibri"/>
              </a:rPr>
              <a:t>Relative to Repos.</a:t>
            </a:r>
          </a:p>
        </p:txBody>
      </p:sp>
      <p:sp>
        <p:nvSpPr>
          <p:cNvPr id="76" name="Flowchart: Multidocument 75"/>
          <p:cNvSpPr/>
          <p:nvPr/>
        </p:nvSpPr>
        <p:spPr>
          <a:xfrm>
            <a:off x="6303797" y="876173"/>
            <a:ext cx="942130" cy="756637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kern="0" dirty="0">
                <a:solidFill>
                  <a:srgbClr val="006600"/>
                </a:solidFill>
                <a:latin typeface="Calibri"/>
              </a:rPr>
              <a:t>Guest 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5750" y="4495800"/>
            <a:ext cx="2438400" cy="16943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NOT YET IN TOSCA SPEC. TO BE INVENTED…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repositories: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docker_hub</a:t>
            </a:r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800" dirty="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docker_webserver</a:t>
            </a:r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type: </a:t>
            </a:r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tosca.nodes.Containee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requirements: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host:  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# omitted for brevity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artifacts: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US" sz="800" b="1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my_guest_os_image</a:t>
            </a:r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8077200" y="2209800"/>
            <a:ext cx="584106" cy="609600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Apache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cxnSp>
        <p:nvCxnSpPr>
          <p:cNvPr id="34" name="Straight Arrow Connector 33"/>
          <p:cNvCxnSpPr>
            <a:stCxn id="32" idx="2"/>
            <a:endCxn id="42" idx="3"/>
          </p:cNvCxnSpPr>
          <p:nvPr/>
        </p:nvCxnSpPr>
        <p:spPr>
          <a:xfrm flipH="1">
            <a:off x="6019800" y="2514600"/>
            <a:ext cx="2057400" cy="8401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Multidocument 37"/>
          <p:cNvSpPr/>
          <p:nvPr/>
        </p:nvSpPr>
        <p:spPr>
          <a:xfrm>
            <a:off x="7048500" y="1870871"/>
            <a:ext cx="955251" cy="744579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kern="0" dirty="0">
                <a:solidFill>
                  <a:srgbClr val="006600"/>
                </a:solidFill>
                <a:latin typeface="Calibri"/>
              </a:rPr>
              <a:t>Apache Repo</a:t>
            </a:r>
          </a:p>
        </p:txBody>
      </p:sp>
      <p:sp>
        <p:nvSpPr>
          <p:cNvPr id="39" name="Flowchart: Magnetic Disk 38"/>
          <p:cNvSpPr/>
          <p:nvPr/>
        </p:nvSpPr>
        <p:spPr>
          <a:xfrm>
            <a:off x="8191500" y="3898237"/>
            <a:ext cx="810491" cy="685800"/>
          </a:xfrm>
          <a:prstGeom prst="flowChartMagneticDisk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Pizza Store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App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(Repo.)</a:t>
            </a:r>
          </a:p>
        </p:txBody>
      </p:sp>
      <p:cxnSp>
        <p:nvCxnSpPr>
          <p:cNvPr id="41" name="Straight Arrow Connector 40"/>
          <p:cNvCxnSpPr>
            <a:stCxn id="39" idx="2"/>
            <a:endCxn id="43" idx="3"/>
          </p:cNvCxnSpPr>
          <p:nvPr/>
        </p:nvCxnSpPr>
        <p:spPr>
          <a:xfrm flipH="1" flipV="1">
            <a:off x="7239000" y="3125658"/>
            <a:ext cx="952500" cy="11154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Multidocument 43"/>
          <p:cNvSpPr/>
          <p:nvPr/>
        </p:nvSpPr>
        <p:spPr>
          <a:xfrm>
            <a:off x="7681590" y="3165000"/>
            <a:ext cx="791219" cy="744579"/>
          </a:xfrm>
          <a:prstGeom prst="flowChartMultidocumen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tIns="0" bIns="0"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00" b="1" u="sng" kern="0" dirty="0">
                <a:solidFill>
                  <a:srgbClr val="006600"/>
                </a:solidFill>
                <a:latin typeface="Calibri"/>
                <a:cs typeface="+mn-cs"/>
              </a:rPr>
              <a:t>Artifacts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kern="0" dirty="0">
                <a:solidFill>
                  <a:srgbClr val="006600"/>
                </a:solidFill>
                <a:latin typeface="Calibri"/>
              </a:rPr>
              <a:t>Pizza App</a:t>
            </a:r>
          </a:p>
        </p:txBody>
      </p:sp>
      <p:sp>
        <p:nvSpPr>
          <p:cNvPr id="42" name="Web Server Tier"/>
          <p:cNvSpPr>
            <a:spLocks noChangeArrowheads="1"/>
          </p:cNvSpPr>
          <p:nvPr/>
        </p:nvSpPr>
        <p:spPr bwMode="auto">
          <a:xfrm>
            <a:off x="5105400" y="2377836"/>
            <a:ext cx="914400" cy="44156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</a:rPr>
              <a:t>WebServer</a:t>
            </a:r>
          </a:p>
        </p:txBody>
      </p:sp>
      <p:sp>
        <p:nvSpPr>
          <p:cNvPr id="43" name="Web Server Tier"/>
          <p:cNvSpPr>
            <a:spLocks noChangeArrowheads="1"/>
          </p:cNvSpPr>
          <p:nvPr/>
        </p:nvSpPr>
        <p:spPr bwMode="auto">
          <a:xfrm>
            <a:off x="6324600" y="2904876"/>
            <a:ext cx="914400" cy="44156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tIns="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b="1" dirty="0">
                <a:solidFill>
                  <a:srgbClr val="000000"/>
                </a:solidFill>
              </a:rPr>
              <a:t>WebApp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62500" y="4262299"/>
            <a:ext cx="2438400" cy="1066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NOT YET IN TOSCA SPEC. TO BE INVENTED…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repositories: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apache_repo</a:t>
            </a:r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800" dirty="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TBD</a:t>
            </a:r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Arrow Connector 59"/>
          <p:cNvCxnSpPr>
            <a:stCxn id="51" idx="0"/>
            <a:endCxn id="42" idx="2"/>
          </p:cNvCxnSpPr>
          <p:nvPr/>
        </p:nvCxnSpPr>
        <p:spPr>
          <a:xfrm flipH="1" flipV="1">
            <a:off x="5562600" y="2819400"/>
            <a:ext cx="419100" cy="1442899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477000" y="5486400"/>
            <a:ext cx="2438400" cy="1066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NOT YET IN TOSCA SPEC. TO BE INVENTED…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repositories: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800" b="1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paypal_repo</a:t>
            </a:r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r>
              <a:rPr lang="en-US" sz="8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800" dirty="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node_templates: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US" sz="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TBD</a:t>
            </a:r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2" name="Straight Arrow Connector 61"/>
          <p:cNvCxnSpPr>
            <a:stCxn id="61" idx="0"/>
            <a:endCxn id="43" idx="2"/>
          </p:cNvCxnSpPr>
          <p:nvPr/>
        </p:nvCxnSpPr>
        <p:spPr>
          <a:xfrm flipH="1" flipV="1">
            <a:off x="6781800" y="3346440"/>
            <a:ext cx="914400" cy="2139960"/>
          </a:xfrm>
          <a:prstGeom prst="straightConnector1">
            <a:avLst/>
          </a:prstGeom>
          <a:ln w="19050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12"/>
          <p:cNvCxnSpPr>
            <a:cxnSpLocks noChangeShapeType="1"/>
            <a:stCxn id="42" idx="3"/>
            <a:endCxn id="43" idx="1"/>
          </p:cNvCxnSpPr>
          <p:nvPr/>
        </p:nvCxnSpPr>
        <p:spPr bwMode="auto">
          <a:xfrm>
            <a:off x="6019800" y="2598618"/>
            <a:ext cx="304800" cy="527040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64" name="Straight Connector 12"/>
          <p:cNvCxnSpPr>
            <a:cxnSpLocks noChangeShapeType="1"/>
            <a:stCxn id="69" idx="3"/>
            <a:endCxn id="42" idx="1"/>
          </p:cNvCxnSpPr>
          <p:nvPr/>
        </p:nvCxnSpPr>
        <p:spPr bwMode="auto">
          <a:xfrm>
            <a:off x="4774747" y="2209800"/>
            <a:ext cx="330653" cy="388818"/>
          </a:xfrm>
          <a:prstGeom prst="bentConnector3">
            <a:avLst>
              <a:gd name="adj1" fmla="val 50000"/>
            </a:avLst>
          </a:prstGeom>
          <a:noFill/>
          <a:ln w="31750" cap="sq" algn="ctr">
            <a:solidFill>
              <a:srgbClr val="FCD5B5"/>
            </a:solidFill>
            <a:miter lim="800000"/>
            <a:headEnd/>
            <a:tailEnd/>
          </a:ln>
          <a:effectLst>
            <a:outerShdw blurRad="25400" dist="25401" dir="2700000" algn="tl" rotWithShape="0">
              <a:srgbClr val="984807">
                <a:alpha val="60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9" name="Web Server Tier"/>
          <p:cNvSpPr>
            <a:spLocks noChangeArrowheads="1"/>
          </p:cNvSpPr>
          <p:nvPr/>
        </p:nvSpPr>
        <p:spPr bwMode="auto">
          <a:xfrm>
            <a:off x="3843365" y="1981200"/>
            <a:ext cx="931382" cy="4572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t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en-US" altLang="en-US" sz="800" i="1" dirty="0">
                <a:latin typeface="Arial" charset="0"/>
              </a:rPr>
              <a:t>Capabilities</a:t>
            </a: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3963992" y="2165983"/>
            <a:ext cx="673145" cy="196217"/>
          </a:xfrm>
          <a:prstGeom prst="rect">
            <a:avLst/>
          </a:prstGeom>
          <a:gradFill rotWithShape="1">
            <a:gsLst>
              <a:gs pos="0">
                <a:srgbClr val="FFBE86"/>
              </a:gs>
              <a:gs pos="35001">
                <a:srgbClr val="FFD0AA"/>
              </a:gs>
              <a:gs pos="100000">
                <a:srgbClr val="FFEBDB"/>
              </a:gs>
            </a:gsLst>
            <a:lin ang="16200000" scaled="1"/>
          </a:gradFill>
          <a:ln w="9525">
            <a:solidFill>
              <a:srgbClr val="E46C0A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none" lIns="0" rIns="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50" b="1" dirty="0">
                <a:solidFill>
                  <a:srgbClr val="FF0000"/>
                </a:solidFill>
                <a:latin typeface="Arial" charset="0"/>
              </a:rPr>
              <a:t>OS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1C572-4043-7792-39E2-F90C745E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68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00202"/>
      </p:ext>
    </p:extLst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36012-4DC1-762A-4C36-0E62E778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69</a:t>
            </a:fld>
            <a:r>
              <a:rPr lang="it-IT"/>
              <a:t> -</a:t>
            </a:r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3559B33-7D71-0401-72BE-A74F21C25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945" y="1316182"/>
            <a:ext cx="9205889" cy="4572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3D92D-7E3E-F7C0-468E-6AF97E8571CA}"/>
              </a:ext>
            </a:extLst>
          </p:cNvPr>
          <p:cNvSpPr/>
          <p:nvPr/>
        </p:nvSpPr>
        <p:spPr bwMode="auto">
          <a:xfrm>
            <a:off x="344384" y="166255"/>
            <a:ext cx="8633361" cy="1009402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703020202090204" pitchFamily="34" charset="0"/>
              </a:rPr>
              <a:t>Can I draw those fancy diagrams with autogenerated TOSCA IaC?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0669B-CCAB-D2A1-79E3-A67ADEDE8CE2}"/>
              </a:ext>
            </a:extLst>
          </p:cNvPr>
          <p:cNvSpPr/>
          <p:nvPr/>
        </p:nvSpPr>
        <p:spPr bwMode="auto">
          <a:xfrm>
            <a:off x="190003" y="5830783"/>
            <a:ext cx="8633361" cy="1009402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30800"/>
      </p:ext>
    </p:extLst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00D93C73-7E9D-F419-BF06-D50D0D18F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06769"/>
            <a:ext cx="9144000" cy="377864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9B356-F31B-43D8-4D13-E9926858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70</a:t>
            </a:fld>
            <a:r>
              <a:rPr lang="it-IT"/>
              <a:t> -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76ACB-8984-2949-FD0A-6601152F342F}"/>
              </a:ext>
            </a:extLst>
          </p:cNvPr>
          <p:cNvSpPr/>
          <p:nvPr/>
        </p:nvSpPr>
        <p:spPr bwMode="auto">
          <a:xfrm>
            <a:off x="344384" y="166255"/>
            <a:ext cx="8633361" cy="1009402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9E1F1B-F044-3952-41CF-52C8DA5DB35A}"/>
              </a:ext>
            </a:extLst>
          </p:cNvPr>
          <p:cNvSpPr/>
          <p:nvPr/>
        </p:nvSpPr>
        <p:spPr bwMode="auto">
          <a:xfrm>
            <a:off x="344383" y="5516089"/>
            <a:ext cx="8633361" cy="1009402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585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9B356-F31B-43D8-4D13-E9926858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71</a:t>
            </a:fld>
            <a:r>
              <a:rPr lang="it-IT"/>
              <a:t> -</a:t>
            </a:r>
            <a:endParaRPr lang="en-US"/>
          </a:p>
        </p:txBody>
      </p:sp>
      <p:pic>
        <p:nvPicPr>
          <p:cNvPr id="2" name="Picture 2" descr="ALIEN 4 Cloud">
            <a:extLst>
              <a:ext uri="{FF2B5EF4-FFF2-40B4-BE49-F238E27FC236}">
                <a16:creationId xmlns:a16="http://schemas.microsoft.com/office/drawing/2014/main" id="{970FF79B-1BCE-9B94-EB4A-90600EEDB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5996"/>
            <a:ext cx="91440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7D19FA-66DD-3BBD-A435-1EAC0AB6A686}"/>
              </a:ext>
            </a:extLst>
          </p:cNvPr>
          <p:cNvSpPr/>
          <p:nvPr/>
        </p:nvSpPr>
        <p:spPr bwMode="auto">
          <a:xfrm>
            <a:off x="344384" y="166255"/>
            <a:ext cx="8633361" cy="1009402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590E8-0696-1394-7ED5-F5BD116C6F23}"/>
              </a:ext>
            </a:extLst>
          </p:cNvPr>
          <p:cNvSpPr/>
          <p:nvPr/>
        </p:nvSpPr>
        <p:spPr bwMode="auto">
          <a:xfrm>
            <a:off x="255319" y="6053435"/>
            <a:ext cx="8633361" cy="638310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730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BB3B-C22A-C03A-869C-3C88953A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6" name="Content Placeholder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41139B8-CFD4-1246-0F51-410854A2E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97537" y="-13252"/>
            <a:ext cx="10624351" cy="71018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0F789-E92A-2D32-A7CF-413CAF58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72</a:t>
            </a:fld>
            <a:r>
              <a:rPr lang="it-IT"/>
              <a:t> -</a:t>
            </a:r>
            <a:endParaRPr lang="en-US"/>
          </a:p>
        </p:txBody>
      </p:sp>
      <p:pic>
        <p:nvPicPr>
          <p:cNvPr id="8" name="Picture 7" descr="Qr code&#10;&#10;Description automatically generated">
            <a:extLst>
              <a:ext uri="{FF2B5EF4-FFF2-40B4-BE49-F238E27FC236}">
                <a16:creationId xmlns:a16="http://schemas.microsoft.com/office/drawing/2014/main" id="{AD204033-2AE6-46A8-DAEC-4F53486EA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197" y="133160"/>
            <a:ext cx="2287745" cy="2270861"/>
          </a:xfrm>
          <a:prstGeom prst="rect">
            <a:avLst/>
          </a:prstGeom>
        </p:spPr>
      </p:pic>
      <p:pic>
        <p:nvPicPr>
          <p:cNvPr id="5122" name="Picture 2" descr="Red Hat Linux – Wikipedia">
            <a:extLst>
              <a:ext uri="{FF2B5EF4-FFF2-40B4-BE49-F238E27FC236}">
                <a16:creationId xmlns:a16="http://schemas.microsoft.com/office/drawing/2014/main" id="{92E0451A-718F-7AC2-F7FD-B66F7FFD3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090" y="121920"/>
            <a:ext cx="2505456" cy="84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2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0B67-E9A7-0900-2EED-757A6B95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6" name="Content Placeholder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A1A9703-C341-F7E6-7005-70F1CCB2C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1875" y="-11875"/>
            <a:ext cx="10120219" cy="69442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F635C-3945-CBF0-D929-B1488FE8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73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227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can you do with it?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1451" y="1238250"/>
            <a:ext cx="8842549" cy="47815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hlinkClick r:id="rId2"/>
              </a:rPr>
              <a:t>https://github.com/oasis-open/tosca-community-contributions/wiki/Known-TOSCA-Implementations</a:t>
            </a:r>
            <a:r>
              <a:rPr lang="en-US" sz="2400" dirty="0"/>
              <a:t>  </a:t>
            </a:r>
          </a:p>
          <a:p>
            <a:endParaRPr lang="en-US" sz="2400" dirty="0">
              <a:hlinkClick r:id="" action="ppaction://noaction"/>
            </a:endParaRPr>
          </a:p>
          <a:p>
            <a:r>
              <a:rPr lang="en-US" sz="2400" dirty="0">
                <a:hlinkClick r:id="" action="ppaction://noaction"/>
              </a:rPr>
              <a:t>https://www.oasis-open.org/committees/tc_home.php?wg_abbrev=tosca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74</a:t>
            </a:fld>
            <a:r>
              <a:rPr lang="it-IT"/>
              <a:t> -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05720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1752"/>
            <a:ext cx="9144000" cy="5184576"/>
          </a:xfrm>
        </p:spPr>
        <p:txBody>
          <a:bodyPr>
            <a:noAutofit/>
          </a:bodyPr>
          <a:lstStyle/>
          <a:p>
            <a:r>
              <a:rPr lang="en-US" dirty="0"/>
              <a:t>List of Related Techs (Open-Source) Already going towards TOSCA:</a:t>
            </a:r>
          </a:p>
          <a:p>
            <a:pPr marL="0" indent="0">
              <a:buNone/>
            </a:pPr>
            <a:endParaRPr lang="en-US" dirty="0"/>
          </a:p>
          <a:p>
            <a:pPr lvl="1" fontAlgn="base"/>
            <a:r>
              <a:rPr lang="en-US" sz="2400" b="1" i="1" dirty="0"/>
              <a:t>CAMF:</a:t>
            </a:r>
            <a:r>
              <a:rPr lang="en-US" sz="2400" dirty="0"/>
              <a:t> focuses on three distinct management operations: application description, application deployment and application monitoring; more info here: </a:t>
            </a:r>
            <a:r>
              <a:rPr lang="en-US" sz="2400" dirty="0">
                <a:hlinkClick r:id="rId3"/>
              </a:rPr>
              <a:t>https://projects.eclipse.org/proposals/cloud-application-management-framework</a:t>
            </a:r>
            <a:r>
              <a:rPr lang="en-US" sz="2400" dirty="0"/>
              <a:t>; </a:t>
            </a:r>
          </a:p>
          <a:p>
            <a:pPr marL="0" indent="0" fontAlgn="base">
              <a:buNone/>
            </a:pPr>
            <a:endParaRPr lang="en-US" dirty="0"/>
          </a:p>
          <a:p>
            <a:pPr lvl="1" fontAlgn="base"/>
            <a:r>
              <a:rPr lang="en-US" sz="2400" b="1" i="1" dirty="0"/>
              <a:t>CELAR: </a:t>
            </a:r>
            <a:r>
              <a:rPr lang="en-US" sz="2400" dirty="0"/>
              <a:t>and the related tool-support within Eclipse, i.e., c-Eclipse. The CELAR project (https://</a:t>
            </a:r>
            <a:r>
              <a:rPr lang="en-US" sz="2400" dirty="0" err="1"/>
              <a:t>github.com</a:t>
            </a:r>
            <a:r>
              <a:rPr lang="en-US" sz="2400" dirty="0"/>
              <a:t>/CELAR/c-Eclipse) is an initiative specific for multi-cloud elasticity provisioning.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75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727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76</a:t>
            </a:fld>
            <a:r>
              <a:rPr lang="it-IT"/>
              <a:t> -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21173" y="548797"/>
            <a:ext cx="449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How About Network Function Virtualization?</a:t>
            </a:r>
          </a:p>
        </p:txBody>
      </p:sp>
      <p:pic>
        <p:nvPicPr>
          <p:cNvPr id="4" name="Picture 3" descr="Slide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66598"/>
      </p:ext>
    </p:extLst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77</a:t>
            </a:fld>
            <a:r>
              <a:rPr lang="it-IT"/>
              <a:t> -</a:t>
            </a:r>
            <a:endParaRPr lang="en-US" dirty="0"/>
          </a:p>
        </p:txBody>
      </p:sp>
      <p:pic>
        <p:nvPicPr>
          <p:cNvPr id="3" name="Picture 2" descr="Slide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37712"/>
      </p:ext>
    </p:extLst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78</a:t>
            </a:fld>
            <a:r>
              <a:rPr lang="it-IT"/>
              <a:t> -</a:t>
            </a:r>
            <a:endParaRPr lang="en-US" dirty="0"/>
          </a:p>
        </p:txBody>
      </p:sp>
      <p:pic>
        <p:nvPicPr>
          <p:cNvPr id="3" name="Picture 2" descr="Slide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00808"/>
      </p:ext>
    </p:extLst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79</a:t>
            </a:fld>
            <a:r>
              <a:rPr lang="it-IT"/>
              <a:t> -</a:t>
            </a:r>
            <a:endParaRPr lang="en-US" dirty="0"/>
          </a:p>
        </p:txBody>
      </p:sp>
      <p:pic>
        <p:nvPicPr>
          <p:cNvPr id="3" name="Picture 2" descr="Slide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070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74046"/>
      </p:ext>
    </p:extLst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3" name="Rectangle 1"/>
          <p:cNvSpPr>
            <a:spLocks noChangeArrowheads="1"/>
          </p:cNvSpPr>
          <p:nvPr/>
        </p:nvSpPr>
        <p:spPr bwMode="auto">
          <a:xfrm>
            <a:off x="107504" y="908720"/>
            <a:ext cx="4199431" cy="5709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tosca_definitions</a:t>
            </a:r>
            <a:r>
              <a:rPr lang="en-US" altLang="zh-CN" sz="900" dirty="0">
                <a:latin typeface="Times"/>
                <a:cs typeface="Times"/>
              </a:rPr>
              <a:t> _version:      # Required TOSCA Definitions version string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tosca_default_namespace</a:t>
            </a:r>
            <a:r>
              <a:rPr lang="en-US" altLang="zh-CN" sz="900" dirty="0">
                <a:latin typeface="Times"/>
                <a:cs typeface="Times"/>
              </a:rPr>
              <a:t> :    # Optional. default namespace (schema, types version)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template_name</a:t>
            </a:r>
            <a:r>
              <a:rPr lang="en-US" altLang="zh-CN" sz="900" dirty="0">
                <a:latin typeface="Times"/>
                <a:cs typeface="Times"/>
              </a:rPr>
              <a:t>:                      # Optional name of this service template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template_author</a:t>
            </a:r>
            <a:r>
              <a:rPr lang="en-US" altLang="zh-CN" sz="900" dirty="0">
                <a:latin typeface="Times"/>
                <a:cs typeface="Times"/>
              </a:rPr>
              <a:t>:                     # Optional author of this service template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template_version</a:t>
            </a:r>
            <a:r>
              <a:rPr lang="en-US" altLang="zh-CN" sz="900" dirty="0">
                <a:latin typeface="Times"/>
                <a:cs typeface="Times"/>
              </a:rPr>
              <a:t>:                   # Optional version of this service template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description: example for a NSD.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Service_properties</a:t>
            </a:r>
            <a:r>
              <a:rPr lang="en-US" altLang="zh-CN" sz="900" dirty="0">
                <a:latin typeface="Times"/>
                <a:cs typeface="Times"/>
              </a:rPr>
              <a:t>: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ID:                                      # </a:t>
            </a:r>
            <a:r>
              <a:rPr lang="en-GB" altLang="zh-CN" sz="900" dirty="0">
                <a:latin typeface="Times"/>
                <a:cs typeface="Times"/>
              </a:rPr>
              <a:t>ID of this Network Service Descriptor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GB" altLang="zh-CN" sz="900" dirty="0">
                <a:latin typeface="Times"/>
                <a:cs typeface="Times"/>
              </a:rPr>
              <a:t>    vendor:                              # Provider or vendor of the Network Service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GB" altLang="zh-CN" sz="900" dirty="0">
                <a:latin typeface="Times"/>
                <a:cs typeface="Times"/>
              </a:rPr>
              <a:t>    version:                              # Version of the Network Service Descriptor</a:t>
            </a:r>
            <a:r>
              <a:rPr lang="en-US" altLang="zh-CN" sz="900" dirty="0">
                <a:latin typeface="Times"/>
                <a:cs typeface="Times"/>
              </a:rPr>
              <a:t>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imports: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- </a:t>
            </a:r>
            <a:r>
              <a:rPr lang="en-US" altLang="zh-CN" sz="900" dirty="0" err="1">
                <a:latin typeface="Times"/>
                <a:cs typeface="Times"/>
              </a:rPr>
              <a:t>tosca_base_type_definition.yaml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# list of import statements for importing other definitions files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 err="1">
                <a:latin typeface="Times"/>
                <a:cs typeface="Times"/>
              </a:rPr>
              <a:t>topology_template</a:t>
            </a:r>
            <a:r>
              <a:rPr lang="en-US" altLang="zh-CN" sz="900" dirty="0">
                <a:latin typeface="Times"/>
                <a:cs typeface="Times"/>
              </a:rPr>
              <a:t>: 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 inputs: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        flavor ID: </a:t>
            </a:r>
          </a:p>
          <a:p>
            <a:pPr indent="127000" eaLnBrk="0" hangingPunct="0"/>
            <a:r>
              <a:rPr lang="en-US" altLang="zh-CN" sz="800" dirty="0">
                <a:latin typeface="Times"/>
                <a:cs typeface="Times"/>
              </a:rPr>
              <a:t>      </a:t>
            </a:r>
            <a:r>
              <a:rPr lang="en-US" altLang="zh-CN" sz="800" dirty="0" err="1">
                <a:latin typeface="Times"/>
                <a:cs typeface="Times"/>
              </a:rPr>
              <a:t>node_template</a:t>
            </a:r>
            <a:r>
              <a:rPr lang="en-US" altLang="zh-CN" sz="800" dirty="0">
                <a:latin typeface="Times"/>
                <a:cs typeface="Times"/>
              </a:rPr>
              <a:t>:</a:t>
            </a: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   VNF1: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        type: </a:t>
            </a:r>
            <a:r>
              <a:rPr lang="en-US" altLang="zh-CN" sz="900" dirty="0" err="1">
                <a:latin typeface="Times"/>
                <a:cs typeface="Times"/>
              </a:rPr>
              <a:t>tosca.nodes.nfv.vnf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        properties:</a:t>
            </a:r>
            <a:endParaRPr lang="en-US" altLang="zh-CN" sz="800" dirty="0">
              <a:latin typeface="Times"/>
              <a:cs typeface="Times"/>
            </a:endParaRPr>
          </a:p>
          <a:p>
            <a:pPr indent="127000" eaLnBrk="0" hangingPunct="0"/>
            <a:r>
              <a:rPr lang="en-US" altLang="zh-CN" sz="900" dirty="0">
                <a:latin typeface="Times"/>
                <a:cs typeface="Times"/>
              </a:rPr>
              <a:t>                </a:t>
            </a:r>
            <a:r>
              <a:rPr lang="en-US" altLang="zh-CN" sz="900" dirty="0" err="1">
                <a:latin typeface="Times"/>
                <a:cs typeface="Times"/>
              </a:rPr>
              <a:t>Scaling_methodology</a:t>
            </a:r>
            <a:r>
              <a:rPr lang="en-US" altLang="zh-CN" sz="900" dirty="0">
                <a:latin typeface="Times"/>
                <a:cs typeface="Times"/>
              </a:rPr>
              <a:t>: </a:t>
            </a: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  </a:t>
            </a:r>
            <a:r>
              <a:rPr lang="en-US" altLang="zh-CN" sz="800" dirty="0" err="1">
                <a:latin typeface="Times"/>
                <a:cs typeface="Times"/>
              </a:rPr>
              <a:t>Flavour_ID</a:t>
            </a:r>
            <a:r>
              <a:rPr lang="en-US" altLang="zh-CN" sz="800" dirty="0">
                <a:latin typeface="Times"/>
                <a:cs typeface="Times"/>
              </a:rPr>
              <a:t>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  Threshold: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  Auto-scale policy value: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  Constraints: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 NS instance identification: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requirements: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</a:t>
            </a:r>
            <a:r>
              <a:rPr lang="en-US" altLang="zh-CN" sz="800" dirty="0" err="1">
                <a:latin typeface="Times"/>
                <a:cs typeface="Times"/>
              </a:rPr>
              <a:t>virtuallink</a:t>
            </a:r>
            <a:r>
              <a:rPr lang="en-US" altLang="zh-CN" sz="800" dirty="0">
                <a:latin typeface="Times"/>
                <a:cs typeface="Times"/>
              </a:rPr>
              <a:t>: VL1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</a:t>
            </a:r>
            <a:r>
              <a:rPr lang="en-US" altLang="zh-CN" sz="800" dirty="0" err="1">
                <a:latin typeface="Times"/>
                <a:cs typeface="Times"/>
              </a:rPr>
              <a:t>virtuallink</a:t>
            </a:r>
            <a:r>
              <a:rPr lang="en-US" altLang="zh-CN" sz="800" dirty="0">
                <a:latin typeface="Times"/>
                <a:cs typeface="Times"/>
              </a:rPr>
              <a:t>: VL2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 </a:t>
            </a:r>
            <a:r>
              <a:rPr lang="en-US" altLang="zh-CN" sz="800" dirty="0" err="1">
                <a:latin typeface="Times"/>
                <a:cs typeface="Times"/>
              </a:rPr>
              <a:t>virtuallink</a:t>
            </a:r>
            <a:r>
              <a:rPr lang="en-US" altLang="zh-CN" sz="800" dirty="0">
                <a:latin typeface="Times"/>
                <a:cs typeface="Times"/>
              </a:rPr>
              <a:t>: VL3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 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VNF2: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type: </a:t>
            </a:r>
            <a:r>
              <a:rPr lang="en-US" altLang="zh-CN" sz="800" dirty="0" err="1">
                <a:latin typeface="Times"/>
                <a:cs typeface="Times"/>
              </a:rPr>
              <a:t>tosca.nodes.nfv.vnf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properties: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</a:t>
            </a:r>
            <a:r>
              <a:rPr lang="en-US" altLang="zh-CN" sz="800" dirty="0" err="1">
                <a:latin typeface="Times"/>
                <a:cs typeface="Times"/>
              </a:rPr>
              <a:t>Scaling_methodology</a:t>
            </a:r>
            <a:r>
              <a:rPr lang="en-US" altLang="zh-CN" sz="800" dirty="0">
                <a:latin typeface="Times"/>
                <a:cs typeface="Times"/>
              </a:rPr>
              <a:t>: 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</a:t>
            </a:r>
            <a:r>
              <a:rPr lang="en-US" altLang="zh-CN" sz="800" dirty="0" err="1">
                <a:latin typeface="Times"/>
                <a:cs typeface="Times"/>
              </a:rPr>
              <a:t>Flavour_ID</a:t>
            </a:r>
            <a:r>
              <a:rPr lang="en-US" altLang="zh-CN" sz="800" dirty="0">
                <a:latin typeface="Times"/>
                <a:cs typeface="Times"/>
              </a:rPr>
              <a:t>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Threshold: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Auto-scale policy value: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 Constraints: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 NS instance identification: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requirements:</a:t>
            </a:r>
            <a:endParaRPr lang="zh-CN" sz="800" dirty="0">
              <a:latin typeface="Times"/>
              <a:cs typeface="Times"/>
            </a:endParaRPr>
          </a:p>
          <a:p>
            <a:pPr indent="127000"/>
            <a:r>
              <a:rPr lang="en-US" altLang="zh-CN" sz="800" dirty="0">
                <a:latin typeface="Times"/>
                <a:cs typeface="Times"/>
              </a:rPr>
              <a:t>                 </a:t>
            </a:r>
            <a:r>
              <a:rPr lang="en-US" altLang="zh-CN" sz="800" dirty="0" err="1">
                <a:latin typeface="Times"/>
                <a:cs typeface="Times"/>
              </a:rPr>
              <a:t>virtuallink</a:t>
            </a:r>
            <a:r>
              <a:rPr lang="en-US" altLang="zh-CN" sz="800" dirty="0">
                <a:latin typeface="Times"/>
                <a:cs typeface="Times"/>
              </a:rPr>
              <a:t>: VL2</a:t>
            </a:r>
          </a:p>
        </p:txBody>
      </p:sp>
      <p:sp>
        <p:nvSpPr>
          <p:cNvPr id="194564" name="标题 1"/>
          <p:cNvSpPr>
            <a:spLocks noGrp="1"/>
          </p:cNvSpPr>
          <p:nvPr>
            <p:ph type="title"/>
          </p:nvPr>
        </p:nvSpPr>
        <p:spPr>
          <a:xfrm>
            <a:off x="92845" y="-171450"/>
            <a:ext cx="2528229" cy="800100"/>
          </a:xfrm>
        </p:spPr>
        <p:txBody>
          <a:bodyPr/>
          <a:lstStyle/>
          <a:p>
            <a:r>
              <a:rPr lang="en-US" altLang="zh-CN" sz="2000">
                <a:latin typeface="FrutigerNext LT Medium" charset="0"/>
                <a:ea typeface="宋体" charset="0"/>
              </a:rPr>
              <a:t>Example of NSD</a:t>
            </a:r>
            <a:endParaRPr lang="zh-CN" altLang="en-US" sz="2000">
              <a:latin typeface="FrutigerNext LT Medium" charset="0"/>
              <a:ea typeface="宋体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179C7-7BEB-3BE9-D56A-B8E49297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80</a:t>
            </a:fld>
            <a:r>
              <a:rPr lang="it-IT"/>
              <a:t> -</a:t>
            </a:r>
            <a:endParaRPr lang="en-US"/>
          </a:p>
        </p:txBody>
      </p:sp>
      <p:sp>
        <p:nvSpPr>
          <p:cNvPr id="545795" name="Rectangle 3"/>
          <p:cNvSpPr>
            <a:spLocks noChangeArrowheads="1"/>
          </p:cNvSpPr>
          <p:nvPr/>
        </p:nvSpPr>
        <p:spPr bwMode="auto">
          <a:xfrm>
            <a:off x="4283968" y="1052736"/>
            <a:ext cx="2542513" cy="4647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127000" eaLnBrk="0" hangingPunct="0"/>
            <a:r>
              <a:rPr lang="en-US" altLang="zh-CN" sz="800" dirty="0">
                <a:cs typeface="Times New Roman" charset="0"/>
              </a:rPr>
              <a:t>  VNF3: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type: </a:t>
            </a:r>
            <a:r>
              <a:rPr lang="en-US" altLang="zh-CN" sz="800" dirty="0" err="1">
                <a:cs typeface="Times New Roman" charset="0"/>
              </a:rPr>
              <a:t>tosca.nodes.nfv.vnf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properties:</a:t>
            </a:r>
            <a:endParaRPr lang="en-US" altLang="zh-CN" sz="800" dirty="0"/>
          </a:p>
          <a:p>
            <a:pPr indent="127000"/>
            <a:r>
              <a:rPr lang="en-US" altLang="zh-CN" sz="800" dirty="0"/>
              <a:t>                 # omitted here for </a:t>
            </a:r>
            <a:r>
              <a:rPr lang="en-US" altLang="zh-CN" sz="800" dirty="0" err="1"/>
              <a:t>brivity</a:t>
            </a:r>
            <a:endParaRPr 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requirements: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      </a:t>
            </a:r>
            <a:r>
              <a:rPr lang="en-US" altLang="zh-CN" sz="800" dirty="0" err="1">
                <a:cs typeface="Times New Roman" charset="0"/>
              </a:rPr>
              <a:t>virtuallink</a:t>
            </a:r>
            <a:r>
              <a:rPr lang="en-US" altLang="zh-CN" sz="800" dirty="0">
                <a:cs typeface="Times New Roman" charset="0"/>
              </a:rPr>
              <a:t>: VL2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      </a:t>
            </a:r>
            <a:r>
              <a:rPr lang="en-US" altLang="zh-CN" sz="800" dirty="0" err="1">
                <a:cs typeface="Times New Roman" charset="0"/>
              </a:rPr>
              <a:t>virtuallink</a:t>
            </a:r>
            <a:r>
              <a:rPr lang="en-US" altLang="zh-CN" sz="800" dirty="0">
                <a:cs typeface="Times New Roman" charset="0"/>
              </a:rPr>
              <a:t>: VL3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      </a:t>
            </a:r>
            <a:r>
              <a:rPr lang="en-US" altLang="zh-CN" sz="800" dirty="0" err="1">
                <a:cs typeface="Times New Roman" charset="0"/>
              </a:rPr>
              <a:t>virtuallink</a:t>
            </a:r>
            <a:r>
              <a:rPr lang="en-US" altLang="zh-CN" sz="800" dirty="0">
                <a:cs typeface="Times New Roman" charset="0"/>
              </a:rPr>
              <a:t>: VL4</a:t>
            </a:r>
            <a:endParaRPr lang="en-US" altLang="zh-CN" sz="800" dirty="0"/>
          </a:p>
          <a:p>
            <a:pPr indent="127000" eaLnBrk="0" hangingPunct="0"/>
            <a:endParaRPr lang="en-US" altLang="zh-CN" sz="800" dirty="0">
              <a:cs typeface="Times New Roman" charset="0"/>
            </a:endParaRPr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CP01          #endpoints of NS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type: </a:t>
            </a:r>
            <a:r>
              <a:rPr lang="en-US" altLang="zh-CN" sz="800" dirty="0" err="1">
                <a:cs typeface="Times New Roman" charset="0"/>
              </a:rPr>
              <a:t>tosca.nodes.network.Port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properties: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       type:  # </a:t>
            </a:r>
            <a:r>
              <a:rPr lang="en-GB" altLang="zh-CN" sz="800" dirty="0"/>
              <a:t>virtual port,  virtual NIC address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       requirements:</a:t>
            </a:r>
            <a:endParaRPr lang="en-US" altLang="zh-CN" sz="800" dirty="0"/>
          </a:p>
          <a:p>
            <a:pPr indent="127000" eaLnBrk="0" hangingPunct="0"/>
            <a:r>
              <a:rPr lang="en-US" altLang="zh-CN" sz="800" dirty="0">
                <a:cs typeface="Times New Roman" charset="0"/>
              </a:rPr>
              <a:t>                     </a:t>
            </a:r>
            <a:r>
              <a:rPr lang="en-US" altLang="zh-CN" sz="800" dirty="0" err="1">
                <a:cs typeface="Times New Roman" charset="0"/>
              </a:rPr>
              <a:t>virtualLink</a:t>
            </a:r>
            <a:r>
              <a:rPr lang="en-US" altLang="zh-CN" sz="800" dirty="0">
                <a:cs typeface="Times New Roman" charset="0"/>
              </a:rPr>
              <a:t>: VL1</a:t>
            </a:r>
          </a:p>
          <a:p>
            <a:pPr indent="127000" eaLnBrk="0" hangingPunct="0"/>
            <a:endParaRPr lang="en-US" altLang="zh-CN" sz="800" dirty="0">
              <a:cs typeface="Times New Roman" charset="0"/>
            </a:endParaRPr>
          </a:p>
          <a:p>
            <a:pPr indent="127000"/>
            <a:r>
              <a:rPr lang="en-US" altLang="zh-CN" sz="800" dirty="0"/>
              <a:t>      CP02        #endpoints of NS</a:t>
            </a:r>
            <a:endParaRPr lang="zh-CN" sz="800" dirty="0"/>
          </a:p>
          <a:p>
            <a:pPr indent="127000"/>
            <a:r>
              <a:rPr lang="en-US" altLang="zh-CN" sz="800" dirty="0"/>
              <a:t>             type: </a:t>
            </a:r>
            <a:r>
              <a:rPr lang="en-US" altLang="zh-CN" sz="800" dirty="0" err="1"/>
              <a:t>tosca.nodes.network.Port</a:t>
            </a:r>
            <a:endParaRPr lang="zh-CN" sz="800" dirty="0"/>
          </a:p>
          <a:p>
            <a:pPr indent="127000"/>
            <a:r>
              <a:rPr lang="en-US" altLang="zh-CN" sz="800" dirty="0"/>
              <a:t>             properties: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 type: 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 requirements: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    </a:t>
            </a:r>
            <a:r>
              <a:rPr lang="en-US" altLang="zh-CN" sz="800" dirty="0" err="1"/>
              <a:t>virtualLink</a:t>
            </a:r>
            <a:r>
              <a:rPr lang="en-US" altLang="zh-CN" sz="800" dirty="0"/>
              <a:t>: VL4</a:t>
            </a:r>
            <a:endParaRPr lang="zh-CN" sz="800" dirty="0"/>
          </a:p>
          <a:p>
            <a:pPr indent="127000"/>
            <a:r>
              <a:rPr lang="en-US" altLang="zh-CN" sz="800" dirty="0"/>
              <a:t>        </a:t>
            </a:r>
            <a:endParaRPr lang="zh-CN" sz="800" dirty="0"/>
          </a:p>
          <a:p>
            <a:pPr indent="127000"/>
            <a:r>
              <a:rPr lang="en-US" altLang="zh-CN" sz="800" dirty="0"/>
              <a:t>       VL1</a:t>
            </a:r>
            <a:endParaRPr lang="zh-CN" sz="800" dirty="0"/>
          </a:p>
          <a:p>
            <a:pPr indent="127000"/>
            <a:r>
              <a:rPr lang="en-US" altLang="zh-CN" sz="800" dirty="0"/>
              <a:t>            type: </a:t>
            </a:r>
            <a:r>
              <a:rPr lang="en-US" altLang="zh-CN" sz="800" dirty="0" err="1"/>
              <a:t>tosca.nodes.nfv.virtulLink</a:t>
            </a:r>
            <a:endParaRPr lang="zh-CN" sz="800" dirty="0"/>
          </a:p>
          <a:p>
            <a:pPr indent="127000"/>
            <a:r>
              <a:rPr lang="en-US" altLang="zh-CN" sz="800" dirty="0"/>
              <a:t>            properties: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 </a:t>
            </a:r>
            <a:r>
              <a:rPr lang="en-US" altLang="zh-CN" sz="800" dirty="0" err="1"/>
              <a:t>connectivity_type</a:t>
            </a:r>
            <a:r>
              <a:rPr lang="en-US" altLang="zh-CN" sz="800" dirty="0"/>
              <a:t>:  E-line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 connection: [CP01, CP11]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 </a:t>
            </a:r>
            <a:r>
              <a:rPr lang="en-US" altLang="zh-CN" sz="800" dirty="0" err="1"/>
              <a:t>number_of_endponits</a:t>
            </a:r>
            <a:r>
              <a:rPr lang="en-US" altLang="zh-CN" sz="800" dirty="0"/>
              <a:t>: 2</a:t>
            </a:r>
            <a:endParaRPr lang="zh-CN" sz="800" dirty="0"/>
          </a:p>
          <a:p>
            <a:pPr indent="127000"/>
            <a:r>
              <a:rPr lang="en-US" altLang="zh-CN" sz="800" dirty="0"/>
              <a:t>            </a:t>
            </a:r>
            <a:endParaRPr lang="zh-CN" sz="800" dirty="0"/>
          </a:p>
          <a:p>
            <a:pPr indent="127000"/>
            <a:r>
              <a:rPr lang="en-US" altLang="zh-CN" sz="800" dirty="0"/>
              <a:t>      VL2</a:t>
            </a:r>
            <a:endParaRPr lang="zh-CN" sz="800" dirty="0"/>
          </a:p>
          <a:p>
            <a:pPr indent="127000"/>
            <a:r>
              <a:rPr lang="en-US" altLang="zh-CN" sz="800" dirty="0"/>
              <a:t>           type: </a:t>
            </a:r>
            <a:r>
              <a:rPr lang="en-US" altLang="zh-CN" sz="800" dirty="0" err="1"/>
              <a:t>tosca.nodes.nfv.virtulLink</a:t>
            </a:r>
            <a:endParaRPr lang="zh-CN" sz="800" dirty="0"/>
          </a:p>
          <a:p>
            <a:pPr indent="127000"/>
            <a:r>
              <a:rPr lang="en-US" altLang="zh-CN" sz="800" dirty="0"/>
              <a:t>           properties: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</a:t>
            </a:r>
            <a:r>
              <a:rPr lang="en-US" altLang="zh-CN" sz="800" dirty="0" err="1"/>
              <a:t>connectivity_type</a:t>
            </a:r>
            <a:r>
              <a:rPr lang="en-US" altLang="zh-CN" sz="800" dirty="0"/>
              <a:t>:  E-LAN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connection: [CP13, CP21, CP31]</a:t>
            </a:r>
            <a:endParaRPr lang="zh-CN" sz="800" dirty="0"/>
          </a:p>
          <a:p>
            <a:pPr indent="127000"/>
            <a:r>
              <a:rPr lang="en-US" altLang="zh-CN" sz="800" dirty="0"/>
              <a:t>                    </a:t>
            </a:r>
            <a:r>
              <a:rPr lang="en-US" altLang="zh-CN" sz="800" dirty="0" err="1"/>
              <a:t>number_of_endponits</a:t>
            </a:r>
            <a:r>
              <a:rPr lang="en-US" altLang="zh-CN" sz="800" dirty="0"/>
              <a:t>: 5</a:t>
            </a:r>
            <a:endParaRPr lang="zh-CN" sz="800" dirty="0"/>
          </a:p>
          <a:p>
            <a:pPr indent="127000" eaLnBrk="0" hangingPunct="0"/>
            <a:endParaRPr lang="en-US" altLang="zh-CN" sz="800" dirty="0"/>
          </a:p>
        </p:txBody>
      </p:sp>
      <p:sp>
        <p:nvSpPr>
          <p:cNvPr id="194566" name="Rectangle 4"/>
          <p:cNvSpPr>
            <a:spLocks noChangeArrowheads="1"/>
          </p:cNvSpPr>
          <p:nvPr/>
        </p:nvSpPr>
        <p:spPr bwMode="auto">
          <a:xfrm>
            <a:off x="6841074" y="1340768"/>
            <a:ext cx="2321114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190500" eaLnBrk="0" hangingPunct="0"/>
            <a:r>
              <a:rPr lang="en-US" altLang="zh-CN" sz="800" dirty="0">
                <a:cs typeface="Times New Roman" charset="0"/>
              </a:rPr>
              <a:t>VL3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type: </a:t>
            </a:r>
            <a:r>
              <a:rPr lang="en-US" altLang="zh-CN" sz="800" dirty="0" err="1">
                <a:cs typeface="Times New Roman" charset="0"/>
              </a:rPr>
              <a:t>tosca.nodes.nfv.virtulLink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properties: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 </a:t>
            </a:r>
            <a:r>
              <a:rPr lang="en-US" altLang="zh-CN" sz="800" dirty="0" err="1">
                <a:cs typeface="Times New Roman" charset="0"/>
              </a:rPr>
              <a:t>connectivity_type</a:t>
            </a:r>
            <a:r>
              <a:rPr lang="en-US" altLang="zh-CN" sz="800" dirty="0">
                <a:cs typeface="Times New Roman" charset="0"/>
              </a:rPr>
              <a:t>:  E-line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 connection: [CP12, CP32]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  </a:t>
            </a:r>
            <a:r>
              <a:rPr lang="en-US" altLang="zh-CN" sz="800" dirty="0" err="1">
                <a:cs typeface="Times New Roman" charset="0"/>
              </a:rPr>
              <a:t>number_of_endponits</a:t>
            </a:r>
            <a:r>
              <a:rPr lang="en-US" altLang="zh-CN" sz="800" dirty="0">
                <a:cs typeface="Times New Roman" charset="0"/>
              </a:rPr>
              <a:t>: 2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VL4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type: </a:t>
            </a:r>
            <a:r>
              <a:rPr lang="en-US" altLang="zh-CN" sz="800" dirty="0" err="1">
                <a:cs typeface="Times New Roman" charset="0"/>
              </a:rPr>
              <a:t>tosca.nodes.nfv.virtulLink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properties: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 </a:t>
            </a:r>
            <a:r>
              <a:rPr lang="en-US" altLang="zh-CN" sz="800" dirty="0" err="1">
                <a:cs typeface="Times New Roman" charset="0"/>
              </a:rPr>
              <a:t>connectivity_type</a:t>
            </a:r>
            <a:r>
              <a:rPr lang="en-US" altLang="zh-CN" sz="800" dirty="0">
                <a:cs typeface="Times New Roman" charset="0"/>
              </a:rPr>
              <a:t>:  E-line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 connection: [CP33, CP02]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 </a:t>
            </a:r>
            <a:r>
              <a:rPr lang="en-US" altLang="zh-CN" sz="800" dirty="0" err="1">
                <a:cs typeface="Times New Roman" charset="0"/>
              </a:rPr>
              <a:t>number_of_endponits</a:t>
            </a:r>
            <a:r>
              <a:rPr lang="en-US" altLang="zh-CN" sz="800" dirty="0">
                <a:cs typeface="Times New Roman" charset="0"/>
              </a:rPr>
              <a:t>: 2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          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</a:t>
            </a:r>
            <a:endParaRPr lang="en-US" altLang="zh-CN" sz="800" dirty="0"/>
          </a:p>
          <a:p>
            <a:pPr indent="190500" eaLnBrk="0" hangingPunct="0"/>
            <a:r>
              <a:rPr lang="en-US" altLang="zh-CN" sz="800" dirty="0">
                <a:cs typeface="Times New Roman" charset="0"/>
              </a:rPr>
              <a:t>  VNFFG:</a:t>
            </a: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1232661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1"/>
          <p:cNvSpPr>
            <a:spLocks noChangeArrowheads="1"/>
          </p:cNvSpPr>
          <p:nvPr/>
        </p:nvSpPr>
        <p:spPr bwMode="auto">
          <a:xfrm>
            <a:off x="235683" y="1690064"/>
            <a:ext cx="4292276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190500" eaLnBrk="0" hangingPunct="0"/>
            <a:r>
              <a:rPr lang="en-US" altLang="zh-CN" sz="1000">
                <a:cs typeface="Times New Roman" charset="0"/>
              </a:rPr>
              <a:t>tosca_definitions _version:      # Required TOSCA Definitions version string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tosca_default_namespace :    # Optional. default namespace (schema, types version)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template_name:                      # Optional name of this service template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template_author:                     # Optional author of this service template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template_version:                   # Optional version of this service template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description: example for VNF2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Service_properties: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ID:                                      # </a:t>
            </a:r>
            <a:r>
              <a:rPr lang="en-GB" altLang="zh-CN" sz="1000">
                <a:cs typeface="Times New Roman" charset="0"/>
              </a:rPr>
              <a:t>ID of this VNF Descriptor</a:t>
            </a:r>
            <a:endParaRPr lang="en-US" altLang="zh-CN" sz="900"/>
          </a:p>
          <a:p>
            <a:pPr indent="190500" eaLnBrk="0" hangingPunct="0"/>
            <a:r>
              <a:rPr lang="en-GB" altLang="zh-CN" sz="1000">
                <a:cs typeface="Times New Roman" charset="0"/>
              </a:rPr>
              <a:t>    vendor:                              # Provider or vendor of the VNF</a:t>
            </a:r>
            <a:endParaRPr lang="en-US" altLang="zh-CN" sz="900"/>
          </a:p>
          <a:p>
            <a:pPr indent="190500" eaLnBrk="0" hangingPunct="0"/>
            <a:r>
              <a:rPr lang="en-GB" altLang="zh-CN" sz="1000">
                <a:cs typeface="Times New Roman" charset="0"/>
              </a:rPr>
              <a:t>    version:                              # Version of the VNF Descriptor</a:t>
            </a:r>
            <a:r>
              <a:rPr lang="en-US" altLang="zh-CN" sz="1000">
                <a:cs typeface="Times New Roman" charset="0"/>
              </a:rPr>
              <a:t>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imports: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</a:t>
            </a:r>
            <a:r>
              <a:rPr lang="en-US" altLang="zh-CN" sz="1000">
                <a:cs typeface="Arial" charset="0"/>
              </a:rPr>
              <a:t> - tosca_base_type_definition.yaml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# list of import statements for importing other definitions files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topology_template: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inputs: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subsititution_mappings: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node_type: tosca.nodes.nfv.vnf2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requirements: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virtuallink: [CP21, virtuallink]</a:t>
            </a:r>
            <a:endParaRPr lang="en-US" altLang="zh-CN"/>
          </a:p>
        </p:txBody>
      </p:sp>
      <p:sp>
        <p:nvSpPr>
          <p:cNvPr id="888834" name="Rectangle 2"/>
          <p:cNvSpPr>
            <a:spLocks noChangeArrowheads="1"/>
          </p:cNvSpPr>
          <p:nvPr/>
        </p:nvSpPr>
        <p:spPr bwMode="auto">
          <a:xfrm>
            <a:off x="4185148" y="1736199"/>
            <a:ext cx="4606519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127000" eaLnBrk="0" hangingPunct="0"/>
            <a:r>
              <a:rPr lang="en-US" altLang="zh-CN" sz="1000">
                <a:cs typeface="Times New Roman" charset="0"/>
              </a:rPr>
              <a:t>    node_templates: 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VDU1: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type: tosca.nodes.nfv.VDU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properties: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  </a:t>
            </a:r>
            <a:r>
              <a:rPr lang="en-US" altLang="zh-CN" sz="1000">
                <a:latin typeface="Consolas" charset="0"/>
                <a:cs typeface="Times New Roman" charset="0"/>
              </a:rPr>
              <a:t> # omitted here for brivity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requirements: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    - host: 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           target_filter: 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cs typeface="Times New Roman" charset="0"/>
              </a:rPr>
              <a:t>                             </a:t>
            </a:r>
            <a:r>
              <a:rPr lang="en-US" altLang="zh-CN" sz="1000">
                <a:latin typeface="Consolas" charset="0"/>
                <a:cs typeface="Times New Roman" charset="0"/>
              </a:rPr>
              <a:t>properties: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- num_cpus: { in_range: [ 1, 4 ] }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- mem_size: { greater_or_equal: 2 GB }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capabilities: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# Additional contraints for the Compute node (OpSys Capability)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- os: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    properties: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      - architecture: { equal: x86_64 }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      - type: linux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           - distribution: ubuntu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Interfaces: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Standard: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 create: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artifacts:</a:t>
            </a:r>
            <a:endParaRPr lang="en-US" altLang="zh-CN" sz="900"/>
          </a:p>
          <a:p>
            <a:pPr indent="127000" eaLnBrk="0" hangingPunct="0"/>
            <a:r>
              <a:rPr lang="en-US" altLang="zh-CN" sz="1000">
                <a:latin typeface="Consolas" charset="0"/>
                <a:cs typeface="Times New Roman" charset="0"/>
              </a:rPr>
              <a:t>          VM_image:</a:t>
            </a:r>
            <a:endParaRPr lang="en-US" altLang="zh-CN"/>
          </a:p>
        </p:txBody>
      </p:sp>
      <p:sp>
        <p:nvSpPr>
          <p:cNvPr id="195589" name="标题 1"/>
          <p:cNvSpPr>
            <a:spLocks noGrp="1"/>
          </p:cNvSpPr>
          <p:nvPr>
            <p:ph type="title"/>
          </p:nvPr>
        </p:nvSpPr>
        <p:spPr>
          <a:xfrm>
            <a:off x="428514" y="122239"/>
            <a:ext cx="8229838" cy="954087"/>
          </a:xfrm>
        </p:spPr>
        <p:txBody>
          <a:bodyPr/>
          <a:lstStyle/>
          <a:p>
            <a:r>
              <a:rPr lang="en-US" altLang="zh-CN" sz="2000">
                <a:latin typeface="FrutigerNext LT Medium" charset="0"/>
                <a:ea typeface="宋体" charset="0"/>
              </a:rPr>
              <a:t>Example of VNFD</a:t>
            </a:r>
            <a:endParaRPr lang="zh-CN" altLang="en-US" sz="2000">
              <a:latin typeface="FrutigerNext LT Medium" charset="0"/>
              <a:ea typeface="宋体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07DFB9-3C3A-B671-AE1C-B953A603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81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359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1"/>
          <p:cNvSpPr>
            <a:spLocks noChangeArrowheads="1"/>
          </p:cNvSpPr>
          <p:nvPr/>
        </p:nvSpPr>
        <p:spPr bwMode="auto">
          <a:xfrm>
            <a:off x="142838" y="1563689"/>
            <a:ext cx="3613796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190500" eaLnBrk="0" hangingPunct="0"/>
            <a:r>
              <a:rPr lang="en-US" altLang="zh-CN" sz="1000">
                <a:latin typeface="Consolas" charset="0"/>
                <a:cs typeface="Times New Roman" charset="0"/>
              </a:rPr>
              <a:t> </a:t>
            </a:r>
            <a:r>
              <a:rPr lang="en-US" altLang="zh-CN" sz="1000">
                <a:cs typeface="Times New Roman" charset="0"/>
              </a:rPr>
              <a:t>VDU2: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type: tosca.nodes.nfv.VDU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  </a:t>
            </a:r>
            <a:r>
              <a:rPr lang="en-US" altLang="zh-CN" sz="1000">
                <a:latin typeface="Consolas" charset="0"/>
                <a:cs typeface="Times New Roman" charset="0"/>
              </a:rPr>
              <a:t># omitted here for brivity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VDU3: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type: tosca.nodes.nfv.VDU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  </a:t>
            </a:r>
            <a:r>
              <a:rPr lang="en-US" altLang="zh-CN" sz="1000">
                <a:latin typeface="Consolas" charset="0"/>
                <a:cs typeface="Times New Roman" charset="0"/>
              </a:rPr>
              <a:t># omitted here for brivity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CP21          #endpoints of VNF2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type: tosca.nodes.network.Port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type: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requirements: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    binding: VDU1</a:t>
            </a:r>
          </a:p>
          <a:p>
            <a:pPr indent="190500" eaLnBrk="0" hangingPunct="0"/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CP22        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type: tosca.nodes.network.Port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type: 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requirements: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   binding: VDU1</a:t>
            </a:r>
            <a:endParaRPr lang="en-US" altLang="zh-CN" sz="900"/>
          </a:p>
          <a:p>
            <a:pPr indent="190500" eaLnBrk="0" hangingPunct="0"/>
            <a:r>
              <a:rPr lang="en-US" altLang="zh-CN" sz="1000">
                <a:cs typeface="Times New Roman" charset="0"/>
              </a:rPr>
              <a:t>                 virtualLink: internal_VL</a:t>
            </a:r>
            <a:endParaRPr lang="en-US" altLang="zh-CN"/>
          </a:p>
        </p:txBody>
      </p:sp>
      <p:sp>
        <p:nvSpPr>
          <p:cNvPr id="889858" name="Rectangle 2"/>
          <p:cNvSpPr>
            <a:spLocks noChangeArrowheads="1"/>
          </p:cNvSpPr>
          <p:nvPr/>
        </p:nvSpPr>
        <p:spPr bwMode="auto">
          <a:xfrm>
            <a:off x="3099581" y="1614489"/>
            <a:ext cx="4606519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1000">
                <a:cs typeface="Times New Roman" charset="0"/>
              </a:rPr>
              <a:t>      CP23         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type: tosca.nodes.network.Port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type: 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requirements: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 binding: VDU2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 virtualLink: internal_VL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CP24         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type: tosca.nodes.network.Port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type: 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requirements: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  binding: VDU3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  virtualLink: internal_VL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internal_VL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type: tosca.nodes.nfv.virtulLink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properties: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connectivity_type:  E-LAN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connection: [CP22, CP23, CP24, CP21]</a:t>
            </a:r>
            <a:endParaRPr lang="en-US" altLang="zh-CN" sz="900"/>
          </a:p>
          <a:p>
            <a:pPr eaLnBrk="0" hangingPunct="0"/>
            <a:r>
              <a:rPr lang="en-US" altLang="zh-CN" sz="1000">
                <a:cs typeface="Times New Roman" charset="0"/>
              </a:rPr>
              <a:t>                number_of_endponits: 5</a:t>
            </a:r>
            <a:endParaRPr lang="en-US" altLang="zh-CN"/>
          </a:p>
        </p:txBody>
      </p:sp>
      <p:sp>
        <p:nvSpPr>
          <p:cNvPr id="1966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>
                <a:latin typeface="FrutigerNext LT Medium" charset="0"/>
                <a:ea typeface="宋体" charset="0"/>
              </a:rPr>
              <a:t>Example of VNFD</a:t>
            </a:r>
            <a:endParaRPr lang="zh-CN" altLang="en-US" sz="2000">
              <a:latin typeface="FrutigerNext LT Medium" charset="0"/>
              <a:ea typeface="宋体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A1CD97-1B4A-4E7F-9699-A849CAC7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82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35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Deliberate moment of suspense…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089400" y="6337300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83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278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3197-671A-E992-7BEC-7B29C585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7" name="Content Placeholder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CD23ADC-C8C9-5918-9E25-C752D69ED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63500"/>
            <a:ext cx="10777799" cy="7010400"/>
          </a:xfrm>
        </p:spPr>
      </p:pic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CB0C554B-2C47-21B1-05EA-1F9F4087F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055" y="-63500"/>
            <a:ext cx="2520917" cy="250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807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F89E-6C38-CBF2-CBD6-09CEA02D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576728"/>
            <a:ext cx="7848000" cy="468301"/>
          </a:xfrm>
        </p:spPr>
        <p:txBody>
          <a:bodyPr>
            <a:normAutofit/>
          </a:bodyPr>
          <a:lstStyle/>
          <a:p>
            <a:r>
              <a:rPr lang="en-IT" dirty="0"/>
              <a:t>The LLM Bit…</a:t>
            </a:r>
          </a:p>
        </p:txBody>
      </p:sp>
      <p:pic>
        <p:nvPicPr>
          <p:cNvPr id="1026" name="Picture 2" descr="There's No Santa on Steam">
            <a:extLst>
              <a:ext uri="{FF2B5EF4-FFF2-40B4-BE49-F238E27FC236}">
                <a16:creationId xmlns:a16="http://schemas.microsoft.com/office/drawing/2014/main" id="{0DCABEE2-A003-31EE-BD69-F390F0663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7" r="6504" b="1"/>
          <a:stretch>
            <a:fillRect/>
          </a:stretch>
        </p:blipFill>
        <p:spPr bwMode="auto">
          <a:xfrm>
            <a:off x="648000" y="1322464"/>
            <a:ext cx="7848000" cy="421231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5686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DC0A-4857-B127-9BE8-D9E7A798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60B96-1606-909F-198C-02A999FFD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1CEF4-BA95-0FFB-186A-24DDD1631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231"/>
            <a:ext cx="9839611" cy="553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34993"/>
      </p:ext>
    </p:extLst>
  </p:cSld>
  <p:clrMapOvr>
    <a:masterClrMapping/>
  </p:clrMapOvr>
</p:sld>
</file>

<file path=ppt/theme/theme1.xml><?xml version="1.0" encoding="utf-8"?>
<a:theme xmlns:a="http://schemas.openxmlformats.org/drawingml/2006/main" name="JADS1">
  <a:themeElements>
    <a:clrScheme name="JAD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D2D7D"/>
      </a:accent1>
      <a:accent2>
        <a:srgbClr val="823228"/>
      </a:accent2>
      <a:accent3>
        <a:srgbClr val="FAE6CB"/>
      </a:accent3>
      <a:accent4>
        <a:srgbClr val="AA9137"/>
      </a:accent4>
      <a:accent5>
        <a:srgbClr val="E18282"/>
      </a:accent5>
      <a:accent6>
        <a:srgbClr val="4B553C"/>
      </a:accent6>
      <a:hlink>
        <a:srgbClr val="000000"/>
      </a:hlink>
      <a:folHlink>
        <a:srgbClr val="000000"/>
      </a:folHlink>
    </a:clrScheme>
    <a:fontScheme name="JA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DS1" id="{4D2A061F-FADA-434A-9B66-9169E09ECB7D}" vid="{EB1203EB-8981-F041-89FC-030679C35827}"/>
    </a:ext>
  </a:extLst>
</a:theme>
</file>

<file path=ppt/theme/theme2.xml><?xml version="1.0" encoding="utf-8"?>
<a:theme xmlns:a="http://schemas.openxmlformats.org/drawingml/2006/main" name="JADS mos-mint">
  <a:themeElements>
    <a:clrScheme name="JAD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D2D7D"/>
      </a:accent1>
      <a:accent2>
        <a:srgbClr val="823228"/>
      </a:accent2>
      <a:accent3>
        <a:srgbClr val="FAE6CB"/>
      </a:accent3>
      <a:accent4>
        <a:srgbClr val="AA9137"/>
      </a:accent4>
      <a:accent5>
        <a:srgbClr val="E18282"/>
      </a:accent5>
      <a:accent6>
        <a:srgbClr val="4B553C"/>
      </a:accent6>
      <a:hlink>
        <a:srgbClr val="000000"/>
      </a:hlink>
      <a:folHlink>
        <a:srgbClr val="000000"/>
      </a:folHlink>
    </a:clrScheme>
    <a:fontScheme name="JA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DS.potx" id="{D61EC795-8A85-4E47-BA34-6DE8A98555BC}" vid="{6F8E3B43-540F-4B22-9790-2B10C97CC914}"/>
    </a:ext>
  </a:extLst>
</a:theme>
</file>

<file path=ppt/theme/theme3.xml><?xml version="1.0" encoding="utf-8"?>
<a:theme xmlns:a="http://schemas.openxmlformats.org/drawingml/2006/main" name="JADS blauw-rood">
  <a:themeElements>
    <a:clrScheme name="JAD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D2D7D"/>
      </a:accent1>
      <a:accent2>
        <a:srgbClr val="823228"/>
      </a:accent2>
      <a:accent3>
        <a:srgbClr val="FAE6CB"/>
      </a:accent3>
      <a:accent4>
        <a:srgbClr val="AA9137"/>
      </a:accent4>
      <a:accent5>
        <a:srgbClr val="E18282"/>
      </a:accent5>
      <a:accent6>
        <a:srgbClr val="4B553C"/>
      </a:accent6>
      <a:hlink>
        <a:srgbClr val="000000"/>
      </a:hlink>
      <a:folHlink>
        <a:srgbClr val="000000"/>
      </a:folHlink>
    </a:clrScheme>
    <a:fontScheme name="JA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DS.potx" id="{6442440B-FDBF-47F9-A217-9C8FEBF4459F}" vid="{7FC093C1-FE61-4FEB-821D-BE5EAE40A969}"/>
    </a:ext>
  </a:extLst>
</a:theme>
</file>

<file path=ppt/theme/theme4.xml><?xml version="1.0" encoding="utf-8"?>
<a:theme xmlns:a="http://schemas.openxmlformats.org/drawingml/2006/main" name="JADS oranje-blauw">
  <a:themeElements>
    <a:clrScheme name="JAD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D2D7D"/>
      </a:accent1>
      <a:accent2>
        <a:srgbClr val="823228"/>
      </a:accent2>
      <a:accent3>
        <a:srgbClr val="FAE6CB"/>
      </a:accent3>
      <a:accent4>
        <a:srgbClr val="AA9137"/>
      </a:accent4>
      <a:accent5>
        <a:srgbClr val="E18282"/>
      </a:accent5>
      <a:accent6>
        <a:srgbClr val="4B553C"/>
      </a:accent6>
      <a:hlink>
        <a:srgbClr val="000000"/>
      </a:hlink>
      <a:folHlink>
        <a:srgbClr val="000000"/>
      </a:folHlink>
    </a:clrScheme>
    <a:fontScheme name="JA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DS.potx" id="{6442440B-FDBF-47F9-A217-9C8FEBF4459F}" vid="{014E80F2-D8B9-41A5-9F20-3D4ADF63D292}"/>
    </a:ext>
  </a:extLst>
</a:theme>
</file>

<file path=ppt/theme/theme5.xml><?xml version="1.0" encoding="utf-8"?>
<a:theme xmlns:a="http://schemas.openxmlformats.org/drawingml/2006/main" name="JADS blauw">
  <a:themeElements>
    <a:clrScheme name="JAD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D2D7D"/>
      </a:accent1>
      <a:accent2>
        <a:srgbClr val="823228"/>
      </a:accent2>
      <a:accent3>
        <a:srgbClr val="FAE6CB"/>
      </a:accent3>
      <a:accent4>
        <a:srgbClr val="AA9137"/>
      </a:accent4>
      <a:accent5>
        <a:srgbClr val="E18282"/>
      </a:accent5>
      <a:accent6>
        <a:srgbClr val="4B553C"/>
      </a:accent6>
      <a:hlink>
        <a:srgbClr val="000000"/>
      </a:hlink>
      <a:folHlink>
        <a:srgbClr val="000000"/>
      </a:folHlink>
    </a:clrScheme>
    <a:fontScheme name="JA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DS.potx" id="{6442440B-FDBF-47F9-A217-9C8FEBF4459F}" vid="{9BFBDA82-7765-4518-89FA-B5A7E4B04578}"/>
    </a:ext>
  </a:extLst>
</a:theme>
</file>

<file path=ppt/theme/theme6.xml><?xml version="1.0" encoding="utf-8"?>
<a:theme xmlns:a="http://schemas.openxmlformats.org/drawingml/2006/main" name="JADS rood">
  <a:themeElements>
    <a:clrScheme name="JAD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D2D7D"/>
      </a:accent1>
      <a:accent2>
        <a:srgbClr val="823228"/>
      </a:accent2>
      <a:accent3>
        <a:srgbClr val="FAE6CB"/>
      </a:accent3>
      <a:accent4>
        <a:srgbClr val="AA9137"/>
      </a:accent4>
      <a:accent5>
        <a:srgbClr val="E18282"/>
      </a:accent5>
      <a:accent6>
        <a:srgbClr val="4B553C"/>
      </a:accent6>
      <a:hlink>
        <a:srgbClr val="000000"/>
      </a:hlink>
      <a:folHlink>
        <a:srgbClr val="000000"/>
      </a:folHlink>
    </a:clrScheme>
    <a:fontScheme name="JA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DS.potx" id="{6442440B-FDBF-47F9-A217-9C8FEBF4459F}" vid="{223C44A4-2BD7-45A2-BF5F-056FF08755E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JADS1</Template>
  <TotalTime>8657</TotalTime>
  <Words>10357</Words>
  <Application>Microsoft Macintosh PowerPoint</Application>
  <PresentationFormat>On-screen Show (4:3)</PresentationFormat>
  <Paragraphs>2305</Paragraphs>
  <Slides>86</Slides>
  <Notes>11</Notes>
  <HiddenSlides>10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86</vt:i4>
      </vt:variant>
    </vt:vector>
  </HeadingPairs>
  <TitlesOfParts>
    <vt:vector size="103" baseType="lpstr">
      <vt:lpstr>Aptos</vt:lpstr>
      <vt:lpstr>Arial</vt:lpstr>
      <vt:lpstr>Calibri</vt:lpstr>
      <vt:lpstr>Comic Sans MS</vt:lpstr>
      <vt:lpstr>Consolas</vt:lpstr>
      <vt:lpstr>Courier New</vt:lpstr>
      <vt:lpstr>FrutigerNext LT Medium</vt:lpstr>
      <vt:lpstr>Times</vt:lpstr>
      <vt:lpstr>Times New Roman</vt:lpstr>
      <vt:lpstr>Trebuchet MS</vt:lpstr>
      <vt:lpstr>Wingdings</vt:lpstr>
      <vt:lpstr>JADS1</vt:lpstr>
      <vt:lpstr>JADS mos-mint</vt:lpstr>
      <vt:lpstr>JADS blauw-rood</vt:lpstr>
      <vt:lpstr>JADS oranje-blauw</vt:lpstr>
      <vt:lpstr>JADS blauw</vt:lpstr>
      <vt:lpstr>JADS rood</vt:lpstr>
      <vt:lpstr>Evolution &amp; Quality for Infrastructure-as-code: a focused look on TOSCA</vt:lpstr>
      <vt:lpstr>PowerPoint Presentation</vt:lpstr>
      <vt:lpstr>This Friday: Project Presentation Pitches!</vt:lpstr>
      <vt:lpstr>DevOps processes and toolchain</vt:lpstr>
      <vt:lpstr>DevOps process and toolchain</vt:lpstr>
      <vt:lpstr>PowerPoint Presentation</vt:lpstr>
      <vt:lpstr>PowerPoint Presentation</vt:lpstr>
      <vt:lpstr>PowerPoint Presentation</vt:lpstr>
      <vt:lpstr>What do we see here?</vt:lpstr>
      <vt:lpstr>Our focus</vt:lpstr>
      <vt:lpstr>A large number of tools </vt:lpstr>
      <vt:lpstr>A large number of tools </vt:lpstr>
      <vt:lpstr>A large number of tools </vt:lpstr>
      <vt:lpstr>One common characteristic</vt:lpstr>
      <vt:lpstr>One common characteristic</vt:lpstr>
      <vt:lpstr>From computation-specific machines </vt:lpstr>
      <vt:lpstr>To programmable machines</vt:lpstr>
      <vt:lpstr>To programmable management of machines</vt:lpstr>
      <vt:lpstr>Towards standard Infrastructure-as-Code</vt:lpstr>
      <vt:lpstr>Towards standard Infrastructure-as-Code</vt:lpstr>
      <vt:lpstr>Where Does TOSCA fit into?</vt:lpstr>
      <vt:lpstr>Where Does TOSCA fit into?</vt:lpstr>
      <vt:lpstr>Where Does TOSCA fit into?</vt:lpstr>
      <vt:lpstr>Where Does TOSCA fit into?</vt:lpstr>
      <vt:lpstr>Where Does TOSCA fit into?</vt:lpstr>
      <vt:lpstr>Where Does TOSCA fit into?</vt:lpstr>
      <vt:lpstr>What’s in a TOSCA Topology?</vt:lpstr>
      <vt:lpstr>TOSCA, IasC Standard</vt:lpstr>
      <vt:lpstr>TOSCA Core Ingredients</vt:lpstr>
      <vt:lpstr>Node Type</vt:lpstr>
      <vt:lpstr>Node Type (cont.)</vt:lpstr>
      <vt:lpstr>Node Type (cont.)</vt:lpstr>
      <vt:lpstr>TOSCA Core Ingredients</vt:lpstr>
      <vt:lpstr>Relationship Type</vt:lpstr>
      <vt:lpstr>Relationships (cont.)</vt:lpstr>
      <vt:lpstr>Node Templates</vt:lpstr>
      <vt:lpstr>Node Template (Examples)</vt:lpstr>
      <vt:lpstr>Translated to TOSCA</vt:lpstr>
      <vt:lpstr>PowerPoint Presentation</vt:lpstr>
      <vt:lpstr>PowerPoint Presentation</vt:lpstr>
      <vt:lpstr>PowerPoint Presentation</vt:lpstr>
      <vt:lpstr>Workflows</vt:lpstr>
      <vt:lpstr>Policies</vt:lpstr>
      <vt:lpstr>PowerPoint Presentation</vt:lpstr>
      <vt:lpstr>PowerPoint Presentation</vt:lpstr>
      <vt:lpstr>Putting it All Together</vt:lpstr>
      <vt:lpstr>TOSCA YAML IasC Maintenance &amp; Evolution Examples: Sample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else can you do with it?</vt:lpstr>
      <vt:lpstr>Some Other Tools</vt:lpstr>
      <vt:lpstr>PowerPoint Presentation</vt:lpstr>
      <vt:lpstr>PowerPoint Presentation</vt:lpstr>
      <vt:lpstr>PowerPoint Presentation</vt:lpstr>
      <vt:lpstr>PowerPoint Presentation</vt:lpstr>
      <vt:lpstr>Example of NSD</vt:lpstr>
      <vt:lpstr>Example of VNFD</vt:lpstr>
      <vt:lpstr>Example of VNFD</vt:lpstr>
      <vt:lpstr>Current Status and Limitations</vt:lpstr>
      <vt:lpstr>PowerPoint Presentation</vt:lpstr>
      <vt:lpstr>The LLM Bit…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Andrew Tamburri</dc:creator>
  <cp:lastModifiedBy>Damian Andrew Tamburri</cp:lastModifiedBy>
  <cp:revision>20</cp:revision>
  <dcterms:created xsi:type="dcterms:W3CDTF">2024-06-17T08:24:46Z</dcterms:created>
  <dcterms:modified xsi:type="dcterms:W3CDTF">2025-11-06T13:12:11Z</dcterms:modified>
</cp:coreProperties>
</file>