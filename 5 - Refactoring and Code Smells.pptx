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2" r:id="rId1"/>
  </p:sldMasterIdLst>
  <p:notesMasterIdLst>
    <p:notesMasterId r:id="rId83"/>
  </p:notesMasterIdLst>
  <p:handoutMasterIdLst>
    <p:handoutMasterId r:id="rId84"/>
  </p:handoutMasterIdLst>
  <p:sldIdLst>
    <p:sldId id="336" r:id="rId2"/>
    <p:sldId id="464" r:id="rId3"/>
    <p:sldId id="459" r:id="rId4"/>
    <p:sldId id="461" r:id="rId5"/>
    <p:sldId id="258" r:id="rId6"/>
    <p:sldId id="456" r:id="rId7"/>
    <p:sldId id="457" r:id="rId8"/>
    <p:sldId id="259" r:id="rId9"/>
    <p:sldId id="392" r:id="rId10"/>
    <p:sldId id="399" r:id="rId11"/>
    <p:sldId id="400" r:id="rId12"/>
    <p:sldId id="401" r:id="rId13"/>
    <p:sldId id="402" r:id="rId14"/>
    <p:sldId id="404" r:id="rId15"/>
    <p:sldId id="465" r:id="rId16"/>
    <p:sldId id="405" r:id="rId17"/>
    <p:sldId id="411" r:id="rId18"/>
    <p:sldId id="412" r:id="rId19"/>
    <p:sldId id="413" r:id="rId20"/>
    <p:sldId id="382" r:id="rId21"/>
    <p:sldId id="415" r:id="rId22"/>
    <p:sldId id="416" r:id="rId23"/>
    <p:sldId id="466" r:id="rId24"/>
    <p:sldId id="407" r:id="rId25"/>
    <p:sldId id="417" r:id="rId26"/>
    <p:sldId id="383" r:id="rId27"/>
    <p:sldId id="409" r:id="rId28"/>
    <p:sldId id="418" r:id="rId29"/>
    <p:sldId id="419" r:id="rId30"/>
    <p:sldId id="410" r:id="rId31"/>
    <p:sldId id="384" r:id="rId32"/>
    <p:sldId id="394" r:id="rId33"/>
    <p:sldId id="424" r:id="rId34"/>
    <p:sldId id="425" r:id="rId35"/>
    <p:sldId id="423" r:id="rId36"/>
    <p:sldId id="426" r:id="rId37"/>
    <p:sldId id="385" r:id="rId38"/>
    <p:sldId id="386" r:id="rId39"/>
    <p:sldId id="467" r:id="rId40"/>
    <p:sldId id="468" r:id="rId41"/>
    <p:sldId id="428" r:id="rId42"/>
    <p:sldId id="431" r:id="rId43"/>
    <p:sldId id="395" r:id="rId44"/>
    <p:sldId id="430" r:id="rId45"/>
    <p:sldId id="433" r:id="rId46"/>
    <p:sldId id="434" r:id="rId47"/>
    <p:sldId id="437" r:id="rId48"/>
    <p:sldId id="438" r:id="rId49"/>
    <p:sldId id="439" r:id="rId50"/>
    <p:sldId id="440" r:id="rId51"/>
    <p:sldId id="441" r:id="rId52"/>
    <p:sldId id="444" r:id="rId53"/>
    <p:sldId id="448" r:id="rId54"/>
    <p:sldId id="449" r:id="rId55"/>
    <p:sldId id="445" r:id="rId56"/>
    <p:sldId id="450" r:id="rId57"/>
    <p:sldId id="374" r:id="rId58"/>
    <p:sldId id="446" r:id="rId59"/>
    <p:sldId id="451" r:id="rId60"/>
    <p:sldId id="452" r:id="rId61"/>
    <p:sldId id="454" r:id="rId62"/>
    <p:sldId id="453" r:id="rId63"/>
    <p:sldId id="375" r:id="rId64"/>
    <p:sldId id="447" r:id="rId65"/>
    <p:sldId id="267" r:id="rId66"/>
    <p:sldId id="272" r:id="rId67"/>
    <p:sldId id="282" r:id="rId68"/>
    <p:sldId id="283" r:id="rId69"/>
    <p:sldId id="284" r:id="rId70"/>
    <p:sldId id="285" r:id="rId71"/>
    <p:sldId id="274" r:id="rId72"/>
    <p:sldId id="275" r:id="rId73"/>
    <p:sldId id="276" r:id="rId74"/>
    <p:sldId id="277" r:id="rId75"/>
    <p:sldId id="278" r:id="rId76"/>
    <p:sldId id="279" r:id="rId77"/>
    <p:sldId id="269" r:id="rId78"/>
    <p:sldId id="280" r:id="rId79"/>
    <p:sldId id="455" r:id="rId80"/>
    <p:sldId id="270" r:id="rId81"/>
    <p:sldId id="260" r:id="rId82"/>
  </p:sldIdLst>
  <p:sldSz cx="9144000" cy="6858000" type="screen4x3"/>
  <p:notesSz cx="7019925" cy="930592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000" b="1" kern="1200">
        <a:solidFill>
          <a:srgbClr val="FAFD00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000" b="1" kern="1200">
        <a:solidFill>
          <a:srgbClr val="FAFD00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000" b="1" kern="1200">
        <a:solidFill>
          <a:srgbClr val="FAFD00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000" b="1" kern="1200">
        <a:solidFill>
          <a:srgbClr val="FAFD00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80">
          <p15:clr>
            <a:srgbClr val="A4A3A4"/>
          </p15:clr>
        </p15:guide>
        <p15:guide id="2" pos="2773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31">
          <p15:clr>
            <a:srgbClr val="A4A3A4"/>
          </p15:clr>
        </p15:guide>
        <p15:guide id="2" pos="221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 autoAdjust="0"/>
    <p:restoredTop sz="94798" autoAdjust="0"/>
  </p:normalViewPr>
  <p:slideViewPr>
    <p:cSldViewPr snapToGrid="0">
      <p:cViewPr varScale="1">
        <p:scale>
          <a:sx n="114" d="100"/>
          <a:sy n="114" d="100"/>
        </p:scale>
        <p:origin x="264" y="168"/>
      </p:cViewPr>
      <p:guideLst>
        <p:guide orient="horz" pos="2280"/>
        <p:guide pos="277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-2340" y="-96"/>
      </p:cViewPr>
      <p:guideLst>
        <p:guide orient="horz" pos="2931"/>
        <p:guide pos="221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handoutMaster" Target="handoutMasters/handout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notesMaster" Target="notesMasters/notesMaster1.xml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A583AA49-8C45-0FDB-92EE-BBC38522284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1650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9430" tIns="0" rIns="19430" bIns="0" numCol="1" anchor="t" anchorCtr="0" compatLnSpc="1">
            <a:prstTxWarp prst="textNoShape">
              <a:avLst/>
            </a:prstTxWarp>
          </a:bodyPr>
          <a:lstStyle>
            <a:lvl1pPr defTabSz="933450">
              <a:defRPr sz="1100" b="0" i="1"/>
            </a:lvl1pPr>
          </a:lstStyle>
          <a:p>
            <a:pPr>
              <a:defRPr/>
            </a:pPr>
            <a:r>
              <a:rPr lang="en-US" altLang="en-US"/>
              <a:t>Handouts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987766E8-E3E9-A78C-D3F0-61C47042441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8275" y="0"/>
            <a:ext cx="3041650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9430" tIns="0" rIns="19430" bIns="0" numCol="1" anchor="t" anchorCtr="0" compatLnSpc="1">
            <a:prstTxWarp prst="textNoShape">
              <a:avLst/>
            </a:prstTxWarp>
          </a:bodyPr>
          <a:lstStyle>
            <a:lvl1pPr algn="r" defTabSz="933450">
              <a:defRPr sz="1100" b="0" i="1"/>
            </a:lvl1pPr>
          </a:lstStyle>
          <a:p>
            <a:pPr>
              <a:defRPr/>
            </a:pPr>
            <a:fld id="{D4B22964-5073-D349-813F-9FA35CC004B2}" type="datetimeFigureOut">
              <a:rPr lang="en-US" altLang="en-US"/>
              <a:pPr>
                <a:defRPr/>
              </a:pPr>
              <a:t>9/21/26</a:t>
            </a:fld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3199A292-2FC7-72C4-EABE-438DE08F28F3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40788"/>
            <a:ext cx="3041650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9430" tIns="0" rIns="19430" bIns="0" numCol="1" anchor="b" anchorCtr="0" compatLnSpc="1">
            <a:prstTxWarp prst="textNoShape">
              <a:avLst/>
            </a:prstTxWarp>
          </a:bodyPr>
          <a:lstStyle>
            <a:lvl1pPr defTabSz="933450">
              <a:defRPr sz="1100" b="0" i="1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6B22D15C-52F3-F2CE-029A-FE0E18122003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8275" y="8840788"/>
            <a:ext cx="3041650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9430" tIns="0" rIns="19430" bIns="0" numCol="1" anchor="b" anchorCtr="0" compatLnSpc="1">
            <a:prstTxWarp prst="textNoShape">
              <a:avLst/>
            </a:prstTxWarp>
          </a:bodyPr>
          <a:lstStyle>
            <a:lvl1pPr algn="r" defTabSz="933450">
              <a:defRPr sz="1100" b="0" i="1"/>
            </a:lvl1pPr>
          </a:lstStyle>
          <a:p>
            <a:fld id="{1DFB2816-D686-5249-88E1-D75E47D7724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550B8B89-BFEF-E455-27AD-2F2C28A10E1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1650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9430" tIns="0" rIns="19430" bIns="0" numCol="1" anchor="t" anchorCtr="0" compatLnSpc="1">
            <a:prstTxWarp prst="textNoShape">
              <a:avLst/>
            </a:prstTxWarp>
          </a:bodyPr>
          <a:lstStyle>
            <a:lvl1pPr defTabSz="933450">
              <a:defRPr sz="11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 altLang="en-US"/>
              <a:t>Handouts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7788BD5F-4B86-FDF3-C35D-0E6F3F2146D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8275" y="0"/>
            <a:ext cx="3041650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9430" tIns="0" rIns="19430" bIns="0" numCol="1" anchor="t" anchorCtr="0" compatLnSpc="1">
            <a:prstTxWarp prst="textNoShape">
              <a:avLst/>
            </a:prstTxWarp>
          </a:bodyPr>
          <a:lstStyle>
            <a:lvl1pPr algn="r" defTabSz="933450">
              <a:defRPr sz="11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2FEE1ED-33F7-584F-AF1A-8E874553446B}" type="datetimeFigureOut">
              <a:rPr lang="en-US" altLang="en-US"/>
              <a:pPr>
                <a:defRPr/>
              </a:pPr>
              <a:t>9/21/26</a:t>
            </a:fld>
            <a:endParaRPr lang="en-US" alt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B33084F9-D8E0-0691-FB64-E0FB2A45BF4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40788"/>
            <a:ext cx="3041650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9430" tIns="0" rIns="19430" bIns="0" numCol="1" anchor="b" anchorCtr="0" compatLnSpc="1">
            <a:prstTxWarp prst="textNoShape">
              <a:avLst/>
            </a:prstTxWarp>
          </a:bodyPr>
          <a:lstStyle>
            <a:lvl1pPr defTabSz="933450">
              <a:defRPr sz="11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7518F60A-82A7-9023-927A-4961E4E802D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8275" y="8840788"/>
            <a:ext cx="3041650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9430" tIns="0" rIns="19430" bIns="0" numCol="1" anchor="b" anchorCtr="0" compatLnSpc="1">
            <a:prstTxWarp prst="textNoShape">
              <a:avLst/>
            </a:prstTxWarp>
          </a:bodyPr>
          <a:lstStyle>
            <a:lvl1pPr algn="r" defTabSz="933450">
              <a:defRPr sz="1100" b="0" i="1">
                <a:solidFill>
                  <a:schemeClr val="tx1"/>
                </a:solidFill>
              </a:defRPr>
            </a:lvl1pPr>
          </a:lstStyle>
          <a:p>
            <a:fld id="{850DBB73-E91A-4848-955F-54C73CD6486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1B764A85-D8B6-F308-B519-166E0B7F56D5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9600"/>
            <a:ext cx="5149850" cy="418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3913" tIns="46958" rIns="93913" bIns="4695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  <a:p>
            <a:pPr lvl="4"/>
            <a:endParaRPr lang="en-US" altLang="en-US" noProof="0"/>
          </a:p>
          <a:p>
            <a:pPr lvl="4"/>
            <a:endParaRPr lang="en-US" altLang="en-US" noProof="0"/>
          </a:p>
          <a:p>
            <a:pPr lvl="4"/>
            <a:endParaRPr lang="en-US" altLang="en-US" noProof="0"/>
          </a:p>
          <a:p>
            <a:pPr lvl="4"/>
            <a:endParaRPr lang="en-US" altLang="en-US" noProof="0"/>
          </a:p>
          <a:p>
            <a:pPr lvl="4"/>
            <a:endParaRPr lang="en-US" altLang="en-US" noProof="0"/>
          </a:p>
        </p:txBody>
      </p:sp>
      <p:sp>
        <p:nvSpPr>
          <p:cNvPr id="74759" name="Rectangle 7">
            <a:extLst>
              <a:ext uri="{FF2B5EF4-FFF2-40B4-BE49-F238E27FC236}">
                <a16:creationId xmlns:a16="http://schemas.microsoft.com/office/drawing/2014/main" id="{7B29E664-5580-6BFE-B7EE-BF5466AEE153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7450" y="698500"/>
            <a:ext cx="4646613" cy="34845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6" name="Rectangle 8">
            <a:extLst>
              <a:ext uri="{FF2B5EF4-FFF2-40B4-BE49-F238E27FC236}">
                <a16:creationId xmlns:a16="http://schemas.microsoft.com/office/drawing/2014/main" id="{36BFA534-EB64-A79E-796B-FB80CA0FD8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5313" y="8863013"/>
            <a:ext cx="749300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9058" tIns="45339" rIns="89058" bIns="45339">
            <a:spAutoFit/>
          </a:bodyPr>
          <a:lstStyle>
            <a:lvl1pPr defTabSz="88582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17550" indent="-276225" defTabSz="88582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03313" indent="-220663" defTabSz="88582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544638" indent="-220663" defTabSz="88582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1985963" indent="-220663" defTabSz="88582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443163" indent="-220663" defTabSz="8858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00363" indent="-220663" defTabSz="8858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357563" indent="-220663" defTabSz="8858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14763" indent="-220663" defTabSz="8858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en-US" sz="1400" b="0">
                <a:solidFill>
                  <a:schemeClr val="tx1"/>
                </a:solidFill>
              </a:rPr>
              <a:t>Page </a:t>
            </a:r>
            <a:fld id="{CCA04110-52CA-124A-A648-09552B419A27}" type="slidenum">
              <a:rPr lang="en-US" altLang="en-US" sz="1400" b="0">
                <a:solidFill>
                  <a:schemeClr val="tx1"/>
                </a:solidFill>
              </a:rPr>
              <a:pPr algn="ctr">
                <a:lnSpc>
                  <a:spcPct val="90000"/>
                </a:lnSpc>
              </a:pPr>
              <a:t>‹#›</a:t>
            </a:fld>
            <a:endParaRPr lang="en-US" altLang="en-US" sz="1400" b="0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0FE5C55E-3F74-540D-3486-E74C26D2B59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100" b="0">
                <a:solidFill>
                  <a:schemeClr val="tx1"/>
                </a:solidFill>
              </a:rPr>
              <a:t>Handouts</a:t>
            </a:r>
          </a:p>
        </p:txBody>
      </p:sp>
      <p:sp>
        <p:nvSpPr>
          <p:cNvPr id="75779" name="Rectangle 5">
            <a:extLst>
              <a:ext uri="{FF2B5EF4-FFF2-40B4-BE49-F238E27FC236}">
                <a16:creationId xmlns:a16="http://schemas.microsoft.com/office/drawing/2014/main" id="{5640F0A9-09B5-2D49-799D-2F2E78A820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C487EC57-55F2-FF48-A79B-DA978109D8A9}" type="slidenum">
              <a:rPr lang="en-US" altLang="en-US" sz="1100" b="0">
                <a:solidFill>
                  <a:schemeClr val="tx1"/>
                </a:solidFill>
              </a:rPr>
              <a:pPr/>
              <a:t>1</a:t>
            </a:fld>
            <a:endParaRPr lang="en-US" altLang="en-US" sz="1100" b="0">
              <a:solidFill>
                <a:schemeClr val="tx1"/>
              </a:solidFill>
            </a:endParaRPr>
          </a:p>
        </p:txBody>
      </p:sp>
      <p:sp>
        <p:nvSpPr>
          <p:cNvPr id="75780" name="Slide Image Placeholder 1">
            <a:extLst>
              <a:ext uri="{FF2B5EF4-FFF2-40B4-BE49-F238E27FC236}">
                <a16:creationId xmlns:a16="http://schemas.microsoft.com/office/drawing/2014/main" id="{7424934A-E015-15A3-F4B6-05D0A1AF249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5781" name="Notes Placeholder 2">
            <a:extLst>
              <a:ext uri="{FF2B5EF4-FFF2-40B4-BE49-F238E27FC236}">
                <a16:creationId xmlns:a16="http://schemas.microsoft.com/office/drawing/2014/main" id="{2819433E-A6DB-DD5D-7207-C9361DE464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/>
              <a:t>------------------------------------------------------------------</a:t>
            </a:r>
          </a:p>
          <a:p>
            <a:pPr eaLnBrk="1" hangingPunct="1"/>
            <a:r>
              <a:rPr lang="en-US" altLang="en-US"/>
              <a:t>------------------------------------------------------------------</a:t>
            </a:r>
          </a:p>
          <a:p>
            <a:pPr eaLnBrk="1" hangingPunct="1"/>
            <a:r>
              <a:rPr lang="en-US" altLang="en-US"/>
              <a:t>-------------------------------------------------------------------</a:t>
            </a:r>
          </a:p>
          <a:p>
            <a:pPr eaLnBrk="1" hangingPunct="1"/>
            <a:r>
              <a:rPr lang="en-US" altLang="en-US"/>
              <a:t>--------------------------------------------------------------------</a:t>
            </a:r>
          </a:p>
          <a:p>
            <a:pPr eaLnBrk="1" hangingPunct="1"/>
            <a:endParaRPr lang="en-US" altLang="en-US"/>
          </a:p>
        </p:txBody>
      </p:sp>
      <p:sp>
        <p:nvSpPr>
          <p:cNvPr id="75782" name="Slide Number Placeholder 3">
            <a:extLst>
              <a:ext uri="{FF2B5EF4-FFF2-40B4-BE49-F238E27FC236}">
                <a16:creationId xmlns:a16="http://schemas.microsoft.com/office/drawing/2014/main" id="{E059754F-1F65-6B88-838F-DA68E0E666D0}"/>
              </a:ext>
            </a:extLst>
          </p:cNvPr>
          <p:cNvSpPr txBox="1">
            <a:spLocks noGrp="1"/>
          </p:cNvSpPr>
          <p:nvPr/>
        </p:nvSpPr>
        <p:spPr bwMode="auto">
          <a:xfrm>
            <a:off x="3978275" y="8840788"/>
            <a:ext cx="3041650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430" tIns="0" rIns="19430" bIns="0" anchor="b"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17550" indent="-276225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03313" indent="-220663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544638" indent="-220663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1985963" indent="-220663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443163" indent="-220663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00363" indent="-220663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357563" indent="-220663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14763" indent="-220663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fld id="{ED3CDFF2-1824-BF44-9CF0-2FC4A20E90B7}" type="slidenum">
              <a:rPr lang="en-US" altLang="en-US" sz="1100" b="0" i="1">
                <a:solidFill>
                  <a:schemeClr val="tx1"/>
                </a:solidFill>
              </a:rPr>
              <a:pPr algn="r"/>
              <a:t>1</a:t>
            </a:fld>
            <a:endParaRPr lang="en-US" altLang="en-US" sz="1100" b="0" i="1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B2A16FAD-C685-383E-A7F2-0FA15C59350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100" b="0">
                <a:solidFill>
                  <a:schemeClr val="tx1"/>
                </a:solidFill>
              </a:rPr>
              <a:t>Handouts</a:t>
            </a:r>
          </a:p>
        </p:txBody>
      </p:sp>
      <p:sp>
        <p:nvSpPr>
          <p:cNvPr id="77827" name="Rectangle 5">
            <a:extLst>
              <a:ext uri="{FF2B5EF4-FFF2-40B4-BE49-F238E27FC236}">
                <a16:creationId xmlns:a16="http://schemas.microsoft.com/office/drawing/2014/main" id="{2B282D8F-AC87-36D8-4C85-611450C2CC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473A6508-B648-F44C-8E46-7755EB7EFB65}" type="slidenum">
              <a:rPr lang="en-US" altLang="en-US" sz="1100" b="0">
                <a:solidFill>
                  <a:schemeClr val="tx1"/>
                </a:solidFill>
              </a:rPr>
              <a:pPr/>
              <a:t>9</a:t>
            </a:fld>
            <a:endParaRPr lang="en-US" altLang="en-US" sz="1100" b="0">
              <a:solidFill>
                <a:schemeClr val="tx1"/>
              </a:solidFill>
            </a:endParaRPr>
          </a:p>
        </p:txBody>
      </p:sp>
      <p:sp>
        <p:nvSpPr>
          <p:cNvPr id="77828" name="Rectangle 2">
            <a:extLst>
              <a:ext uri="{FF2B5EF4-FFF2-40B4-BE49-F238E27FC236}">
                <a16:creationId xmlns:a16="http://schemas.microsoft.com/office/drawing/2014/main" id="{0755DCCB-5221-6627-6B10-388D40BE46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9" name="Rectangle 3">
            <a:extLst>
              <a:ext uri="{FF2B5EF4-FFF2-40B4-BE49-F238E27FC236}">
                <a16:creationId xmlns:a16="http://schemas.microsoft.com/office/drawing/2014/main" id="{95CEDD51-9BC9-E6F4-49CE-81419D30A5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B8A5AC92-CDCA-C943-808D-224C2F4A9F9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100" b="0">
                <a:solidFill>
                  <a:schemeClr val="tx1"/>
                </a:solidFill>
              </a:rPr>
              <a:t>Handouts</a:t>
            </a:r>
          </a:p>
        </p:txBody>
      </p:sp>
      <p:sp>
        <p:nvSpPr>
          <p:cNvPr id="78851" name="Rectangle 5">
            <a:extLst>
              <a:ext uri="{FF2B5EF4-FFF2-40B4-BE49-F238E27FC236}">
                <a16:creationId xmlns:a16="http://schemas.microsoft.com/office/drawing/2014/main" id="{1629D156-DA34-7A2B-216B-FF3185A516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CD148129-0992-2846-8917-76E6342859C1}" type="slidenum">
              <a:rPr lang="en-US" altLang="en-US" sz="1100" b="0">
                <a:solidFill>
                  <a:schemeClr val="tx1"/>
                </a:solidFill>
              </a:rPr>
              <a:pPr/>
              <a:t>10</a:t>
            </a:fld>
            <a:endParaRPr lang="en-US" altLang="en-US" sz="1100" b="0">
              <a:solidFill>
                <a:schemeClr val="tx1"/>
              </a:solidFill>
            </a:endParaRPr>
          </a:p>
        </p:txBody>
      </p:sp>
      <p:sp>
        <p:nvSpPr>
          <p:cNvPr id="78852" name="Rectangle 2">
            <a:extLst>
              <a:ext uri="{FF2B5EF4-FFF2-40B4-BE49-F238E27FC236}">
                <a16:creationId xmlns:a16="http://schemas.microsoft.com/office/drawing/2014/main" id="{C58B97CD-A713-E4CE-1F4D-BA998829740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3" name="Rectangle 3">
            <a:extLst>
              <a:ext uri="{FF2B5EF4-FFF2-40B4-BE49-F238E27FC236}">
                <a16:creationId xmlns:a16="http://schemas.microsoft.com/office/drawing/2014/main" id="{5580E2E3-9754-81DB-D1E8-7CA1A31E90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33F063B4-3610-9764-6C1E-E450BDF25B6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100" b="0">
                <a:solidFill>
                  <a:schemeClr val="tx1"/>
                </a:solidFill>
              </a:rPr>
              <a:t>Handouts</a:t>
            </a:r>
          </a:p>
        </p:txBody>
      </p:sp>
      <p:sp>
        <p:nvSpPr>
          <p:cNvPr id="79875" name="Rectangle 5">
            <a:extLst>
              <a:ext uri="{FF2B5EF4-FFF2-40B4-BE49-F238E27FC236}">
                <a16:creationId xmlns:a16="http://schemas.microsoft.com/office/drawing/2014/main" id="{6D205EB3-4F27-48C7-DB32-97E68BD21F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6587A2BF-015B-2E47-80B1-3F3CED61F942}" type="slidenum">
              <a:rPr lang="en-US" altLang="en-US" sz="1100" b="0">
                <a:solidFill>
                  <a:schemeClr val="tx1"/>
                </a:solidFill>
              </a:rPr>
              <a:pPr/>
              <a:t>11</a:t>
            </a:fld>
            <a:endParaRPr lang="en-US" altLang="en-US" sz="1100" b="0">
              <a:solidFill>
                <a:schemeClr val="tx1"/>
              </a:solidFill>
            </a:endParaRPr>
          </a:p>
        </p:txBody>
      </p:sp>
      <p:sp>
        <p:nvSpPr>
          <p:cNvPr id="79876" name="Rectangle 2">
            <a:extLst>
              <a:ext uri="{FF2B5EF4-FFF2-40B4-BE49-F238E27FC236}">
                <a16:creationId xmlns:a16="http://schemas.microsoft.com/office/drawing/2014/main" id="{5F074BDB-B44D-B0E1-2B16-57D29BF8DF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7" name="Rectangle 3">
            <a:extLst>
              <a:ext uri="{FF2B5EF4-FFF2-40B4-BE49-F238E27FC236}">
                <a16:creationId xmlns:a16="http://schemas.microsoft.com/office/drawing/2014/main" id="{647BD9B7-8504-A9A5-C451-AD1E9C4E3E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C07DAC5F-A591-8D35-152A-00AB0D82E85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100" b="0">
                <a:solidFill>
                  <a:schemeClr val="tx1"/>
                </a:solidFill>
              </a:rPr>
              <a:t>Handouts</a:t>
            </a:r>
          </a:p>
        </p:txBody>
      </p:sp>
      <p:sp>
        <p:nvSpPr>
          <p:cNvPr id="80899" name="Rectangle 5">
            <a:extLst>
              <a:ext uri="{FF2B5EF4-FFF2-40B4-BE49-F238E27FC236}">
                <a16:creationId xmlns:a16="http://schemas.microsoft.com/office/drawing/2014/main" id="{638A54E9-0775-F572-E4AC-022F0D0DBA5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551040BB-690D-084E-96CD-E4D9A295E022}" type="slidenum">
              <a:rPr lang="en-US" altLang="en-US" sz="1100" b="0">
                <a:solidFill>
                  <a:schemeClr val="tx1"/>
                </a:solidFill>
              </a:rPr>
              <a:pPr/>
              <a:t>12</a:t>
            </a:fld>
            <a:endParaRPr lang="en-US" altLang="en-US" sz="1100" b="0">
              <a:solidFill>
                <a:schemeClr val="tx1"/>
              </a:solidFill>
            </a:endParaRPr>
          </a:p>
        </p:txBody>
      </p:sp>
      <p:sp>
        <p:nvSpPr>
          <p:cNvPr id="80900" name="Rectangle 2">
            <a:extLst>
              <a:ext uri="{FF2B5EF4-FFF2-40B4-BE49-F238E27FC236}">
                <a16:creationId xmlns:a16="http://schemas.microsoft.com/office/drawing/2014/main" id="{8B2B8602-01F5-9927-BAF5-431F9E90B8E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1" name="Rectangle 3">
            <a:extLst>
              <a:ext uri="{FF2B5EF4-FFF2-40B4-BE49-F238E27FC236}">
                <a16:creationId xmlns:a16="http://schemas.microsoft.com/office/drawing/2014/main" id="{648A1E44-A9F3-88A3-6B9C-87D996FD2E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3AE2439A-9E8E-4DA7-72FD-937051CF3F1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100" b="0">
                <a:solidFill>
                  <a:schemeClr val="tx1"/>
                </a:solidFill>
              </a:rPr>
              <a:t>Handouts</a:t>
            </a:r>
          </a:p>
        </p:txBody>
      </p:sp>
      <p:sp>
        <p:nvSpPr>
          <p:cNvPr id="81923" name="Rectangle 5">
            <a:extLst>
              <a:ext uri="{FF2B5EF4-FFF2-40B4-BE49-F238E27FC236}">
                <a16:creationId xmlns:a16="http://schemas.microsoft.com/office/drawing/2014/main" id="{04556A97-EBF2-2533-3CCD-7B19354DB7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1E0CCF34-C88F-534D-B861-7B62340A4BB7}" type="slidenum">
              <a:rPr lang="en-US" altLang="en-US" sz="1100" b="0">
                <a:solidFill>
                  <a:schemeClr val="tx1"/>
                </a:solidFill>
              </a:rPr>
              <a:pPr/>
              <a:t>13</a:t>
            </a:fld>
            <a:endParaRPr lang="en-US" altLang="en-US" sz="1100" b="0">
              <a:solidFill>
                <a:schemeClr val="tx1"/>
              </a:solidFill>
            </a:endParaRPr>
          </a:p>
        </p:txBody>
      </p:sp>
      <p:sp>
        <p:nvSpPr>
          <p:cNvPr id="81924" name="Rectangle 2">
            <a:extLst>
              <a:ext uri="{FF2B5EF4-FFF2-40B4-BE49-F238E27FC236}">
                <a16:creationId xmlns:a16="http://schemas.microsoft.com/office/drawing/2014/main" id="{8A408265-BF2E-50BB-50BF-7E605429534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5" name="Rectangle 3">
            <a:extLst>
              <a:ext uri="{FF2B5EF4-FFF2-40B4-BE49-F238E27FC236}">
                <a16:creationId xmlns:a16="http://schemas.microsoft.com/office/drawing/2014/main" id="{3B490562-8B03-E1D5-2812-C09F4C2C98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76C21989-3F71-9AA7-BABC-A528F175504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100" b="0">
                <a:solidFill>
                  <a:schemeClr val="tx1"/>
                </a:solidFill>
              </a:rPr>
              <a:t>Handouts</a:t>
            </a:r>
          </a:p>
        </p:txBody>
      </p:sp>
      <p:sp>
        <p:nvSpPr>
          <p:cNvPr id="83971" name="Rectangle 5">
            <a:extLst>
              <a:ext uri="{FF2B5EF4-FFF2-40B4-BE49-F238E27FC236}">
                <a16:creationId xmlns:a16="http://schemas.microsoft.com/office/drawing/2014/main" id="{3D7EBB8A-19D9-D549-8254-985E2AF926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36BF9994-FCB4-F54F-AE7F-B44988DA7135}" type="slidenum">
              <a:rPr lang="en-US" altLang="en-US" sz="1100" b="0">
                <a:solidFill>
                  <a:schemeClr val="tx1"/>
                </a:solidFill>
              </a:rPr>
              <a:pPr/>
              <a:t>14</a:t>
            </a:fld>
            <a:endParaRPr lang="en-US" altLang="en-US" sz="1100" b="0">
              <a:solidFill>
                <a:schemeClr val="tx1"/>
              </a:solidFill>
            </a:endParaRPr>
          </a:p>
        </p:txBody>
      </p:sp>
      <p:sp>
        <p:nvSpPr>
          <p:cNvPr id="83972" name="Rectangle 2">
            <a:extLst>
              <a:ext uri="{FF2B5EF4-FFF2-40B4-BE49-F238E27FC236}">
                <a16:creationId xmlns:a16="http://schemas.microsoft.com/office/drawing/2014/main" id="{8D02299F-989B-FC12-726D-F3C51DA1D45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3" name="Rectangle 3">
            <a:extLst>
              <a:ext uri="{FF2B5EF4-FFF2-40B4-BE49-F238E27FC236}">
                <a16:creationId xmlns:a16="http://schemas.microsoft.com/office/drawing/2014/main" id="{7EAF9F26-88C1-8956-D051-175288E94D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:a16="http://schemas.microsoft.com/office/drawing/2014/main" id="{3368F8FA-F99D-25CE-70CB-0BE0F26E589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100" b="0">
                <a:solidFill>
                  <a:schemeClr val="tx1"/>
                </a:solidFill>
              </a:rPr>
              <a:t>Handouts</a:t>
            </a:r>
          </a:p>
        </p:txBody>
      </p:sp>
      <p:sp>
        <p:nvSpPr>
          <p:cNvPr id="86019" name="Rectangle 5">
            <a:extLst>
              <a:ext uri="{FF2B5EF4-FFF2-40B4-BE49-F238E27FC236}">
                <a16:creationId xmlns:a16="http://schemas.microsoft.com/office/drawing/2014/main" id="{938B35B5-7E09-2175-8E2A-49DE78FF2A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5EDFF6F2-3FC7-F64B-8CE0-A7DFFB452744}" type="slidenum">
              <a:rPr lang="en-US" altLang="en-US" sz="1100" b="0">
                <a:solidFill>
                  <a:schemeClr val="tx1"/>
                </a:solidFill>
              </a:rPr>
              <a:pPr/>
              <a:t>16</a:t>
            </a:fld>
            <a:endParaRPr lang="en-US" altLang="en-US" sz="1100" b="0">
              <a:solidFill>
                <a:schemeClr val="tx1"/>
              </a:solidFill>
            </a:endParaRPr>
          </a:p>
        </p:txBody>
      </p:sp>
      <p:sp>
        <p:nvSpPr>
          <p:cNvPr id="86020" name="Rectangle 2">
            <a:extLst>
              <a:ext uri="{FF2B5EF4-FFF2-40B4-BE49-F238E27FC236}">
                <a16:creationId xmlns:a16="http://schemas.microsoft.com/office/drawing/2014/main" id="{ADCB1DE6-879E-74D2-2AB6-D5404B6275B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1" name="Rectangle 3">
            <a:extLst>
              <a:ext uri="{FF2B5EF4-FFF2-40B4-BE49-F238E27FC236}">
                <a16:creationId xmlns:a16="http://schemas.microsoft.com/office/drawing/2014/main" id="{F584A457-45A9-BBD4-13B1-7910509367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8F12C703-5C65-9E91-B758-2B86ED4D1A1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100" b="0">
                <a:solidFill>
                  <a:schemeClr val="tx1"/>
                </a:solidFill>
              </a:rPr>
              <a:t>Handouts</a:t>
            </a:r>
          </a:p>
        </p:txBody>
      </p:sp>
      <p:sp>
        <p:nvSpPr>
          <p:cNvPr id="87043" name="Rectangle 5">
            <a:extLst>
              <a:ext uri="{FF2B5EF4-FFF2-40B4-BE49-F238E27FC236}">
                <a16:creationId xmlns:a16="http://schemas.microsoft.com/office/drawing/2014/main" id="{9EA03F5C-C3C4-15B4-C32E-5BDC02E442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F85C6114-0933-6548-9608-DACA2CD4FBD3}" type="slidenum">
              <a:rPr lang="en-US" altLang="en-US" sz="1100" b="0">
                <a:solidFill>
                  <a:schemeClr val="tx1"/>
                </a:solidFill>
              </a:rPr>
              <a:pPr/>
              <a:t>17</a:t>
            </a:fld>
            <a:endParaRPr lang="en-US" altLang="en-US" sz="1100" b="0">
              <a:solidFill>
                <a:schemeClr val="tx1"/>
              </a:solidFill>
            </a:endParaRPr>
          </a:p>
        </p:txBody>
      </p:sp>
      <p:sp>
        <p:nvSpPr>
          <p:cNvPr id="87044" name="Rectangle 2">
            <a:extLst>
              <a:ext uri="{FF2B5EF4-FFF2-40B4-BE49-F238E27FC236}">
                <a16:creationId xmlns:a16="http://schemas.microsoft.com/office/drawing/2014/main" id="{53D92EF4-48F0-8422-E5A3-68F9041403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5" name="Rectangle 3">
            <a:extLst>
              <a:ext uri="{FF2B5EF4-FFF2-40B4-BE49-F238E27FC236}">
                <a16:creationId xmlns:a16="http://schemas.microsoft.com/office/drawing/2014/main" id="{C033BC36-40EC-2166-B41E-18323424F7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:a16="http://schemas.microsoft.com/office/drawing/2014/main" id="{56C42CBB-5BB4-B611-2A63-924E23D4CB7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100" b="0">
                <a:solidFill>
                  <a:schemeClr val="tx1"/>
                </a:solidFill>
              </a:rPr>
              <a:t>Handouts</a:t>
            </a:r>
          </a:p>
        </p:txBody>
      </p:sp>
      <p:sp>
        <p:nvSpPr>
          <p:cNvPr id="88067" name="Rectangle 5">
            <a:extLst>
              <a:ext uri="{FF2B5EF4-FFF2-40B4-BE49-F238E27FC236}">
                <a16:creationId xmlns:a16="http://schemas.microsoft.com/office/drawing/2014/main" id="{BCA0EDA5-F311-7334-CB64-867096ED69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D03A8527-D63F-7C47-9038-EB97D713F591}" type="slidenum">
              <a:rPr lang="en-US" altLang="en-US" sz="1100" b="0">
                <a:solidFill>
                  <a:schemeClr val="tx1"/>
                </a:solidFill>
              </a:rPr>
              <a:pPr/>
              <a:t>18</a:t>
            </a:fld>
            <a:endParaRPr lang="en-US" altLang="en-US" sz="1100" b="0">
              <a:solidFill>
                <a:schemeClr val="tx1"/>
              </a:solidFill>
            </a:endParaRPr>
          </a:p>
        </p:txBody>
      </p:sp>
      <p:sp>
        <p:nvSpPr>
          <p:cNvPr id="88068" name="Rectangle 2">
            <a:extLst>
              <a:ext uri="{FF2B5EF4-FFF2-40B4-BE49-F238E27FC236}">
                <a16:creationId xmlns:a16="http://schemas.microsoft.com/office/drawing/2014/main" id="{E6CECF7E-B2C8-F1A2-4C0D-113E337B18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9" name="Rectangle 3">
            <a:extLst>
              <a:ext uri="{FF2B5EF4-FFF2-40B4-BE49-F238E27FC236}">
                <a16:creationId xmlns:a16="http://schemas.microsoft.com/office/drawing/2014/main" id="{A8A32242-BEC5-9CB1-9492-03FDAF0F3A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CF80B196-F08C-7035-892F-06399EE88B9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100" b="0">
                <a:solidFill>
                  <a:schemeClr val="tx1"/>
                </a:solidFill>
              </a:rPr>
              <a:t>Handouts</a:t>
            </a:r>
          </a:p>
        </p:txBody>
      </p:sp>
      <p:sp>
        <p:nvSpPr>
          <p:cNvPr id="89091" name="Rectangle 5">
            <a:extLst>
              <a:ext uri="{FF2B5EF4-FFF2-40B4-BE49-F238E27FC236}">
                <a16:creationId xmlns:a16="http://schemas.microsoft.com/office/drawing/2014/main" id="{4B19B6BD-65F4-CC3C-F8DB-801C7AB7881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8F79A868-5FFA-5F41-B4EB-717123499F5A}" type="slidenum">
              <a:rPr lang="en-US" altLang="en-US" sz="1100" b="0">
                <a:solidFill>
                  <a:schemeClr val="tx1"/>
                </a:solidFill>
              </a:rPr>
              <a:pPr/>
              <a:t>19</a:t>
            </a:fld>
            <a:endParaRPr lang="en-US" altLang="en-US" sz="1100" b="0">
              <a:solidFill>
                <a:schemeClr val="tx1"/>
              </a:solidFill>
            </a:endParaRPr>
          </a:p>
        </p:txBody>
      </p:sp>
      <p:sp>
        <p:nvSpPr>
          <p:cNvPr id="89092" name="Rectangle 2">
            <a:extLst>
              <a:ext uri="{FF2B5EF4-FFF2-40B4-BE49-F238E27FC236}">
                <a16:creationId xmlns:a16="http://schemas.microsoft.com/office/drawing/2014/main" id="{04AC8B64-524E-9A47-9B2B-E2D294CFD4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3" name="Rectangle 3">
            <a:extLst>
              <a:ext uri="{FF2B5EF4-FFF2-40B4-BE49-F238E27FC236}">
                <a16:creationId xmlns:a16="http://schemas.microsoft.com/office/drawing/2014/main" id="{2C7BB91A-40D1-8050-8A88-82E677200D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id="{F654E73E-1B34-83FD-505F-11B5396B1EC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100" b="0">
                <a:solidFill>
                  <a:schemeClr val="tx1"/>
                </a:solidFill>
              </a:rPr>
              <a:t>Handouts</a:t>
            </a:r>
          </a:p>
        </p:txBody>
      </p:sp>
      <p:sp>
        <p:nvSpPr>
          <p:cNvPr id="90115" name="Rectangle 5">
            <a:extLst>
              <a:ext uri="{FF2B5EF4-FFF2-40B4-BE49-F238E27FC236}">
                <a16:creationId xmlns:a16="http://schemas.microsoft.com/office/drawing/2014/main" id="{AD2213E9-457B-1723-54E9-A3B9F5871E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4640A4D8-C68A-3F4A-B1CF-5BE2E23E7838}" type="slidenum">
              <a:rPr lang="en-US" altLang="en-US" sz="1100" b="0">
                <a:solidFill>
                  <a:schemeClr val="tx1"/>
                </a:solidFill>
              </a:rPr>
              <a:pPr/>
              <a:t>21</a:t>
            </a:fld>
            <a:endParaRPr lang="en-US" altLang="en-US" sz="1100" b="0">
              <a:solidFill>
                <a:schemeClr val="tx1"/>
              </a:solidFill>
            </a:endParaRPr>
          </a:p>
        </p:txBody>
      </p:sp>
      <p:sp>
        <p:nvSpPr>
          <p:cNvPr id="90116" name="Rectangle 2">
            <a:extLst>
              <a:ext uri="{FF2B5EF4-FFF2-40B4-BE49-F238E27FC236}">
                <a16:creationId xmlns:a16="http://schemas.microsoft.com/office/drawing/2014/main" id="{1FA7C70E-C490-5CBD-D9E5-96ECAA52C6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7" name="Rectangle 3">
            <a:extLst>
              <a:ext uri="{FF2B5EF4-FFF2-40B4-BE49-F238E27FC236}">
                <a16:creationId xmlns:a16="http://schemas.microsoft.com/office/drawing/2014/main" id="{6328BA87-AB6F-ADCC-F6D7-C38CCFCC6E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07726A7A-0D56-BDA4-559C-4CDF7F52030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100" b="0">
                <a:solidFill>
                  <a:schemeClr val="tx1"/>
                </a:solidFill>
              </a:rPr>
              <a:t>Handouts</a:t>
            </a:r>
          </a:p>
        </p:txBody>
      </p:sp>
      <p:sp>
        <p:nvSpPr>
          <p:cNvPr id="91139" name="Rectangle 5">
            <a:extLst>
              <a:ext uri="{FF2B5EF4-FFF2-40B4-BE49-F238E27FC236}">
                <a16:creationId xmlns:a16="http://schemas.microsoft.com/office/drawing/2014/main" id="{7BEC6A42-FE75-7613-282F-4E412F0540C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ABAB3806-9227-BF4A-9797-ABC8DFC47230}" type="slidenum">
              <a:rPr lang="en-US" altLang="en-US" sz="1100" b="0">
                <a:solidFill>
                  <a:schemeClr val="tx1"/>
                </a:solidFill>
              </a:rPr>
              <a:pPr/>
              <a:t>22</a:t>
            </a:fld>
            <a:endParaRPr lang="en-US" altLang="en-US" sz="1100" b="0">
              <a:solidFill>
                <a:schemeClr val="tx1"/>
              </a:solidFill>
            </a:endParaRPr>
          </a:p>
        </p:txBody>
      </p:sp>
      <p:sp>
        <p:nvSpPr>
          <p:cNvPr id="91140" name="Rectangle 2">
            <a:extLst>
              <a:ext uri="{FF2B5EF4-FFF2-40B4-BE49-F238E27FC236}">
                <a16:creationId xmlns:a16="http://schemas.microsoft.com/office/drawing/2014/main" id="{C05A63B4-24C2-A3F9-8ABE-EE95C78DBF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1" name="Rectangle 3">
            <a:extLst>
              <a:ext uri="{FF2B5EF4-FFF2-40B4-BE49-F238E27FC236}">
                <a16:creationId xmlns:a16="http://schemas.microsoft.com/office/drawing/2014/main" id="{5836EE83-2E9C-A240-9320-2CD93E4BC3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A5068B89-67FD-BB8B-BA08-9195043F300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100" b="0">
                <a:solidFill>
                  <a:schemeClr val="tx1"/>
                </a:solidFill>
              </a:rPr>
              <a:t>Handouts</a:t>
            </a:r>
          </a:p>
        </p:txBody>
      </p:sp>
      <p:sp>
        <p:nvSpPr>
          <p:cNvPr id="92163" name="Rectangle 5">
            <a:extLst>
              <a:ext uri="{FF2B5EF4-FFF2-40B4-BE49-F238E27FC236}">
                <a16:creationId xmlns:a16="http://schemas.microsoft.com/office/drawing/2014/main" id="{0CE8E76D-C052-760B-DA4A-2AB3357B405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244B6F6E-EA2B-5C4F-A062-9F7976BE51E1}" type="slidenum">
              <a:rPr lang="en-US" altLang="en-US" sz="1100" b="0">
                <a:solidFill>
                  <a:schemeClr val="tx1"/>
                </a:solidFill>
              </a:rPr>
              <a:pPr/>
              <a:t>24</a:t>
            </a:fld>
            <a:endParaRPr lang="en-US" altLang="en-US" sz="1100" b="0">
              <a:solidFill>
                <a:schemeClr val="tx1"/>
              </a:solidFill>
            </a:endParaRPr>
          </a:p>
        </p:txBody>
      </p:sp>
      <p:sp>
        <p:nvSpPr>
          <p:cNvPr id="92164" name="Rectangle 2">
            <a:extLst>
              <a:ext uri="{FF2B5EF4-FFF2-40B4-BE49-F238E27FC236}">
                <a16:creationId xmlns:a16="http://schemas.microsoft.com/office/drawing/2014/main" id="{E8490132-B29F-E6D8-06DA-A2344179FB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5" name="Rectangle 3">
            <a:extLst>
              <a:ext uri="{FF2B5EF4-FFF2-40B4-BE49-F238E27FC236}">
                <a16:creationId xmlns:a16="http://schemas.microsoft.com/office/drawing/2014/main" id="{D93D05DF-4BF1-103D-F126-3D2C5ED135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>
            <a:extLst>
              <a:ext uri="{FF2B5EF4-FFF2-40B4-BE49-F238E27FC236}">
                <a16:creationId xmlns:a16="http://schemas.microsoft.com/office/drawing/2014/main" id="{E9EFEEB0-F516-67B6-CC53-EF35BF1B393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100" b="0">
                <a:solidFill>
                  <a:schemeClr val="tx1"/>
                </a:solidFill>
              </a:rPr>
              <a:t>Handouts</a:t>
            </a:r>
          </a:p>
        </p:txBody>
      </p:sp>
      <p:sp>
        <p:nvSpPr>
          <p:cNvPr id="93187" name="Rectangle 5">
            <a:extLst>
              <a:ext uri="{FF2B5EF4-FFF2-40B4-BE49-F238E27FC236}">
                <a16:creationId xmlns:a16="http://schemas.microsoft.com/office/drawing/2014/main" id="{8110921A-C017-449D-6230-F983F97F7D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68E3B209-F5DA-FF45-8CF8-ADD77D1EED38}" type="slidenum">
              <a:rPr lang="en-US" altLang="en-US" sz="1100" b="0">
                <a:solidFill>
                  <a:schemeClr val="tx1"/>
                </a:solidFill>
              </a:rPr>
              <a:pPr/>
              <a:t>25</a:t>
            </a:fld>
            <a:endParaRPr lang="en-US" altLang="en-US" sz="1100" b="0">
              <a:solidFill>
                <a:schemeClr val="tx1"/>
              </a:solidFill>
            </a:endParaRPr>
          </a:p>
        </p:txBody>
      </p:sp>
      <p:sp>
        <p:nvSpPr>
          <p:cNvPr id="93188" name="Rectangle 2">
            <a:extLst>
              <a:ext uri="{FF2B5EF4-FFF2-40B4-BE49-F238E27FC236}">
                <a16:creationId xmlns:a16="http://schemas.microsoft.com/office/drawing/2014/main" id="{E847801A-7154-99C5-A6A3-BC5190755E8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9" name="Rectangle 3">
            <a:extLst>
              <a:ext uri="{FF2B5EF4-FFF2-40B4-BE49-F238E27FC236}">
                <a16:creationId xmlns:a16="http://schemas.microsoft.com/office/drawing/2014/main" id="{61B52412-E456-4CF8-EAD5-1C46304392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>
            <a:extLst>
              <a:ext uri="{FF2B5EF4-FFF2-40B4-BE49-F238E27FC236}">
                <a16:creationId xmlns:a16="http://schemas.microsoft.com/office/drawing/2014/main" id="{126B2636-DA5B-0944-7F64-1510D036D69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100" b="0">
                <a:solidFill>
                  <a:schemeClr val="tx1"/>
                </a:solidFill>
              </a:rPr>
              <a:t>Handouts</a:t>
            </a:r>
          </a:p>
        </p:txBody>
      </p:sp>
      <p:sp>
        <p:nvSpPr>
          <p:cNvPr id="95235" name="Rectangle 5">
            <a:extLst>
              <a:ext uri="{FF2B5EF4-FFF2-40B4-BE49-F238E27FC236}">
                <a16:creationId xmlns:a16="http://schemas.microsoft.com/office/drawing/2014/main" id="{979499D6-9BBD-FBA8-6A73-FA3AEA25F0D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C1D7BD03-1EBA-1A4E-B260-B786DA74D242}" type="slidenum">
              <a:rPr lang="en-US" altLang="en-US" sz="1100" b="0">
                <a:solidFill>
                  <a:schemeClr val="tx1"/>
                </a:solidFill>
              </a:rPr>
              <a:pPr/>
              <a:t>27</a:t>
            </a:fld>
            <a:endParaRPr lang="en-US" altLang="en-US" sz="1100" b="0">
              <a:solidFill>
                <a:schemeClr val="tx1"/>
              </a:solidFill>
            </a:endParaRPr>
          </a:p>
        </p:txBody>
      </p:sp>
      <p:sp>
        <p:nvSpPr>
          <p:cNvPr id="95236" name="Rectangle 2">
            <a:extLst>
              <a:ext uri="{FF2B5EF4-FFF2-40B4-BE49-F238E27FC236}">
                <a16:creationId xmlns:a16="http://schemas.microsoft.com/office/drawing/2014/main" id="{66ECC677-47BC-8295-3202-2547B61A3C9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7" name="Rectangle 3">
            <a:extLst>
              <a:ext uri="{FF2B5EF4-FFF2-40B4-BE49-F238E27FC236}">
                <a16:creationId xmlns:a16="http://schemas.microsoft.com/office/drawing/2014/main" id="{609CF38F-4E21-7686-6204-5AA6C37D0E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>
            <a:extLst>
              <a:ext uri="{FF2B5EF4-FFF2-40B4-BE49-F238E27FC236}">
                <a16:creationId xmlns:a16="http://schemas.microsoft.com/office/drawing/2014/main" id="{9D4788E6-5111-545B-7540-003DBCAB10E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100" b="0">
                <a:solidFill>
                  <a:schemeClr val="tx1"/>
                </a:solidFill>
              </a:rPr>
              <a:t>Handouts</a:t>
            </a:r>
          </a:p>
        </p:txBody>
      </p:sp>
      <p:sp>
        <p:nvSpPr>
          <p:cNvPr id="96259" name="Rectangle 5">
            <a:extLst>
              <a:ext uri="{FF2B5EF4-FFF2-40B4-BE49-F238E27FC236}">
                <a16:creationId xmlns:a16="http://schemas.microsoft.com/office/drawing/2014/main" id="{6CAB7F4E-0E9F-C38C-5F42-9D598CD210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3928F3E6-30FC-8348-BB85-EBC8D5913C62}" type="slidenum">
              <a:rPr lang="en-US" altLang="en-US" sz="1100" b="0">
                <a:solidFill>
                  <a:schemeClr val="tx1"/>
                </a:solidFill>
              </a:rPr>
              <a:pPr/>
              <a:t>28</a:t>
            </a:fld>
            <a:endParaRPr lang="en-US" altLang="en-US" sz="1100" b="0">
              <a:solidFill>
                <a:schemeClr val="tx1"/>
              </a:solidFill>
            </a:endParaRPr>
          </a:p>
        </p:txBody>
      </p:sp>
      <p:sp>
        <p:nvSpPr>
          <p:cNvPr id="96260" name="Rectangle 2">
            <a:extLst>
              <a:ext uri="{FF2B5EF4-FFF2-40B4-BE49-F238E27FC236}">
                <a16:creationId xmlns:a16="http://schemas.microsoft.com/office/drawing/2014/main" id="{FCAD4820-F70B-7D9A-80C6-31C61DD281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1" name="Rectangle 3">
            <a:extLst>
              <a:ext uri="{FF2B5EF4-FFF2-40B4-BE49-F238E27FC236}">
                <a16:creationId xmlns:a16="http://schemas.microsoft.com/office/drawing/2014/main" id="{3C77D648-61D0-929E-6B87-D775B496B4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9FA8DDE2-935A-A24A-9F6D-DCEA682884D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100" b="0">
                <a:solidFill>
                  <a:schemeClr val="tx1"/>
                </a:solidFill>
              </a:rPr>
              <a:t>Handouts</a:t>
            </a:r>
          </a:p>
        </p:txBody>
      </p:sp>
      <p:sp>
        <p:nvSpPr>
          <p:cNvPr id="97283" name="Rectangle 5">
            <a:extLst>
              <a:ext uri="{FF2B5EF4-FFF2-40B4-BE49-F238E27FC236}">
                <a16:creationId xmlns:a16="http://schemas.microsoft.com/office/drawing/2014/main" id="{8D27833C-4025-48D4-CE35-6570F3603FE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BC724986-D658-5F45-8175-00152EE8B371}" type="slidenum">
              <a:rPr lang="en-US" altLang="en-US" sz="1100" b="0">
                <a:solidFill>
                  <a:schemeClr val="tx1"/>
                </a:solidFill>
              </a:rPr>
              <a:pPr/>
              <a:t>29</a:t>
            </a:fld>
            <a:endParaRPr lang="en-US" altLang="en-US" sz="1100" b="0">
              <a:solidFill>
                <a:schemeClr val="tx1"/>
              </a:solidFill>
            </a:endParaRPr>
          </a:p>
        </p:txBody>
      </p:sp>
      <p:sp>
        <p:nvSpPr>
          <p:cNvPr id="97284" name="Rectangle 2">
            <a:extLst>
              <a:ext uri="{FF2B5EF4-FFF2-40B4-BE49-F238E27FC236}">
                <a16:creationId xmlns:a16="http://schemas.microsoft.com/office/drawing/2014/main" id="{0110E4E4-4258-2DD0-7173-B41D38DC9C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5" name="Rectangle 3">
            <a:extLst>
              <a:ext uri="{FF2B5EF4-FFF2-40B4-BE49-F238E27FC236}">
                <a16:creationId xmlns:a16="http://schemas.microsoft.com/office/drawing/2014/main" id="{5F6E0277-B6D6-CA5E-03F6-B5CF5CD7F3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>
            <a:extLst>
              <a:ext uri="{FF2B5EF4-FFF2-40B4-BE49-F238E27FC236}">
                <a16:creationId xmlns:a16="http://schemas.microsoft.com/office/drawing/2014/main" id="{42057149-DC9A-4F02-EBE0-139A32CCF63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100" b="0">
                <a:solidFill>
                  <a:schemeClr val="tx1"/>
                </a:solidFill>
              </a:rPr>
              <a:t>Handouts</a:t>
            </a:r>
          </a:p>
        </p:txBody>
      </p:sp>
      <p:sp>
        <p:nvSpPr>
          <p:cNvPr id="99331" name="Rectangle 5">
            <a:extLst>
              <a:ext uri="{FF2B5EF4-FFF2-40B4-BE49-F238E27FC236}">
                <a16:creationId xmlns:a16="http://schemas.microsoft.com/office/drawing/2014/main" id="{AC092848-2456-E641-12FA-A135833EF9D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9C2889CD-7B33-E349-B973-E67F990B7D85}" type="slidenum">
              <a:rPr lang="en-US" altLang="en-US" sz="1100" b="0">
                <a:solidFill>
                  <a:schemeClr val="tx1"/>
                </a:solidFill>
              </a:rPr>
              <a:pPr/>
              <a:t>30</a:t>
            </a:fld>
            <a:endParaRPr lang="en-US" altLang="en-US" sz="1100" b="0">
              <a:solidFill>
                <a:schemeClr val="tx1"/>
              </a:solidFill>
            </a:endParaRPr>
          </a:p>
        </p:txBody>
      </p:sp>
      <p:sp>
        <p:nvSpPr>
          <p:cNvPr id="99332" name="Rectangle 2">
            <a:extLst>
              <a:ext uri="{FF2B5EF4-FFF2-40B4-BE49-F238E27FC236}">
                <a16:creationId xmlns:a16="http://schemas.microsoft.com/office/drawing/2014/main" id="{FC49A7D1-88BD-1F9B-CD75-A417675E1FA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3" name="Rectangle 3">
            <a:extLst>
              <a:ext uri="{FF2B5EF4-FFF2-40B4-BE49-F238E27FC236}">
                <a16:creationId xmlns:a16="http://schemas.microsoft.com/office/drawing/2014/main" id="{D2A9C643-E86B-A082-8912-03173EBD2B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>
            <a:extLst>
              <a:ext uri="{FF2B5EF4-FFF2-40B4-BE49-F238E27FC236}">
                <a16:creationId xmlns:a16="http://schemas.microsoft.com/office/drawing/2014/main" id="{BA7C6CB8-95F4-B838-E314-6BB9C0400F1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100" b="0">
                <a:solidFill>
                  <a:schemeClr val="tx1"/>
                </a:solidFill>
              </a:rPr>
              <a:t>Handouts</a:t>
            </a:r>
          </a:p>
        </p:txBody>
      </p:sp>
      <p:sp>
        <p:nvSpPr>
          <p:cNvPr id="101379" name="Rectangle 5">
            <a:extLst>
              <a:ext uri="{FF2B5EF4-FFF2-40B4-BE49-F238E27FC236}">
                <a16:creationId xmlns:a16="http://schemas.microsoft.com/office/drawing/2014/main" id="{435C323F-3BAB-C3B9-F047-7FD92FB6598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52D0D629-9106-EB4D-9A5B-C663ABF01E3B}" type="slidenum">
              <a:rPr lang="en-US" altLang="en-US" sz="1100" b="0">
                <a:solidFill>
                  <a:schemeClr val="tx1"/>
                </a:solidFill>
              </a:rPr>
              <a:pPr/>
              <a:t>32</a:t>
            </a:fld>
            <a:endParaRPr lang="en-US" altLang="en-US" sz="1100" b="0">
              <a:solidFill>
                <a:schemeClr val="tx1"/>
              </a:solidFill>
            </a:endParaRPr>
          </a:p>
        </p:txBody>
      </p:sp>
      <p:sp>
        <p:nvSpPr>
          <p:cNvPr id="101380" name="Rectangle 2">
            <a:extLst>
              <a:ext uri="{FF2B5EF4-FFF2-40B4-BE49-F238E27FC236}">
                <a16:creationId xmlns:a16="http://schemas.microsoft.com/office/drawing/2014/main" id="{52E5ABCE-FB17-BB10-C323-199190C3B3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1" name="Rectangle 3">
            <a:extLst>
              <a:ext uri="{FF2B5EF4-FFF2-40B4-BE49-F238E27FC236}">
                <a16:creationId xmlns:a16="http://schemas.microsoft.com/office/drawing/2014/main" id="{00F243CB-1BD8-4979-E3AF-3111157419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>
            <a:extLst>
              <a:ext uri="{FF2B5EF4-FFF2-40B4-BE49-F238E27FC236}">
                <a16:creationId xmlns:a16="http://schemas.microsoft.com/office/drawing/2014/main" id="{3E7FB693-6DCC-2A1C-B52F-05E0241DCF3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100" b="0">
                <a:solidFill>
                  <a:schemeClr val="tx1"/>
                </a:solidFill>
              </a:rPr>
              <a:t>Handouts</a:t>
            </a:r>
          </a:p>
        </p:txBody>
      </p:sp>
      <p:sp>
        <p:nvSpPr>
          <p:cNvPr id="102403" name="Rectangle 5">
            <a:extLst>
              <a:ext uri="{FF2B5EF4-FFF2-40B4-BE49-F238E27FC236}">
                <a16:creationId xmlns:a16="http://schemas.microsoft.com/office/drawing/2014/main" id="{A2A03DFA-B763-6A99-D1E7-1FC4E960602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7982F25F-CDB5-DE4A-858D-F5E3953CD6A2}" type="slidenum">
              <a:rPr lang="en-US" altLang="en-US" sz="1100" b="0">
                <a:solidFill>
                  <a:schemeClr val="tx1"/>
                </a:solidFill>
              </a:rPr>
              <a:pPr/>
              <a:t>33</a:t>
            </a:fld>
            <a:endParaRPr lang="en-US" altLang="en-US" sz="1100" b="0">
              <a:solidFill>
                <a:schemeClr val="tx1"/>
              </a:solidFill>
            </a:endParaRPr>
          </a:p>
        </p:txBody>
      </p:sp>
      <p:sp>
        <p:nvSpPr>
          <p:cNvPr id="102404" name="Rectangle 2">
            <a:extLst>
              <a:ext uri="{FF2B5EF4-FFF2-40B4-BE49-F238E27FC236}">
                <a16:creationId xmlns:a16="http://schemas.microsoft.com/office/drawing/2014/main" id="{328148AA-CEF1-C8C0-BAB9-ACF7F6A599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5" name="Rectangle 3">
            <a:extLst>
              <a:ext uri="{FF2B5EF4-FFF2-40B4-BE49-F238E27FC236}">
                <a16:creationId xmlns:a16="http://schemas.microsoft.com/office/drawing/2014/main" id="{ADBA3FBC-7D6D-4C66-F88C-E89E679D6C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>
            <a:extLst>
              <a:ext uri="{FF2B5EF4-FFF2-40B4-BE49-F238E27FC236}">
                <a16:creationId xmlns:a16="http://schemas.microsoft.com/office/drawing/2014/main" id="{F0B0D337-8F22-299B-C469-609FF1F0B53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100" b="0">
                <a:solidFill>
                  <a:schemeClr val="tx1"/>
                </a:solidFill>
              </a:rPr>
              <a:t>Handouts</a:t>
            </a:r>
          </a:p>
        </p:txBody>
      </p:sp>
      <p:sp>
        <p:nvSpPr>
          <p:cNvPr id="103427" name="Rectangle 5">
            <a:extLst>
              <a:ext uri="{FF2B5EF4-FFF2-40B4-BE49-F238E27FC236}">
                <a16:creationId xmlns:a16="http://schemas.microsoft.com/office/drawing/2014/main" id="{B40B75A4-3EC1-D4AE-0821-1066E8EE8F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014AE5C7-D248-E34D-B099-4733E10EF2E2}" type="slidenum">
              <a:rPr lang="en-US" altLang="en-US" sz="1100" b="0">
                <a:solidFill>
                  <a:schemeClr val="tx1"/>
                </a:solidFill>
              </a:rPr>
              <a:pPr/>
              <a:t>34</a:t>
            </a:fld>
            <a:endParaRPr lang="en-US" altLang="en-US" sz="1100" b="0">
              <a:solidFill>
                <a:schemeClr val="tx1"/>
              </a:solidFill>
            </a:endParaRPr>
          </a:p>
        </p:txBody>
      </p:sp>
      <p:sp>
        <p:nvSpPr>
          <p:cNvPr id="103428" name="Rectangle 2">
            <a:extLst>
              <a:ext uri="{FF2B5EF4-FFF2-40B4-BE49-F238E27FC236}">
                <a16:creationId xmlns:a16="http://schemas.microsoft.com/office/drawing/2014/main" id="{5F7B966F-B40D-1351-123B-F03E6F1FB7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9" name="Rectangle 3">
            <a:extLst>
              <a:ext uri="{FF2B5EF4-FFF2-40B4-BE49-F238E27FC236}">
                <a16:creationId xmlns:a16="http://schemas.microsoft.com/office/drawing/2014/main" id="{81897D2B-F061-515A-7B64-1CDB7E4D5D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>
            <a:extLst>
              <a:ext uri="{FF2B5EF4-FFF2-40B4-BE49-F238E27FC236}">
                <a16:creationId xmlns:a16="http://schemas.microsoft.com/office/drawing/2014/main" id="{EEC6DE69-9358-4AF4-8AB5-C96FDF56BD1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100" b="0">
                <a:solidFill>
                  <a:schemeClr val="tx1"/>
                </a:solidFill>
              </a:rPr>
              <a:t>Handouts</a:t>
            </a:r>
          </a:p>
        </p:txBody>
      </p:sp>
      <p:sp>
        <p:nvSpPr>
          <p:cNvPr id="104451" name="Rectangle 5">
            <a:extLst>
              <a:ext uri="{FF2B5EF4-FFF2-40B4-BE49-F238E27FC236}">
                <a16:creationId xmlns:a16="http://schemas.microsoft.com/office/drawing/2014/main" id="{0E156856-563A-EB48-A249-7F01699E4F8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A79C6438-70B1-534F-A566-34A564616F0F}" type="slidenum">
              <a:rPr lang="en-US" altLang="en-US" sz="1100" b="0">
                <a:solidFill>
                  <a:schemeClr val="tx1"/>
                </a:solidFill>
              </a:rPr>
              <a:pPr/>
              <a:t>35</a:t>
            </a:fld>
            <a:endParaRPr lang="en-US" altLang="en-US" sz="1100" b="0">
              <a:solidFill>
                <a:schemeClr val="tx1"/>
              </a:solidFill>
            </a:endParaRPr>
          </a:p>
        </p:txBody>
      </p:sp>
      <p:sp>
        <p:nvSpPr>
          <p:cNvPr id="104452" name="Rectangle 2">
            <a:extLst>
              <a:ext uri="{FF2B5EF4-FFF2-40B4-BE49-F238E27FC236}">
                <a16:creationId xmlns:a16="http://schemas.microsoft.com/office/drawing/2014/main" id="{B702ECE6-AD95-105F-98DE-79ACCE7464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3" name="Rectangle 3">
            <a:extLst>
              <a:ext uri="{FF2B5EF4-FFF2-40B4-BE49-F238E27FC236}">
                <a16:creationId xmlns:a16="http://schemas.microsoft.com/office/drawing/2014/main" id="{1E164C47-CA30-DD7F-9967-823DE46FD5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>
            <a:extLst>
              <a:ext uri="{FF2B5EF4-FFF2-40B4-BE49-F238E27FC236}">
                <a16:creationId xmlns:a16="http://schemas.microsoft.com/office/drawing/2014/main" id="{12D7DEA6-3752-A1FE-9895-C1FE6B114A0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100" b="0">
                <a:solidFill>
                  <a:schemeClr val="tx1"/>
                </a:solidFill>
              </a:rPr>
              <a:t>Handouts</a:t>
            </a:r>
          </a:p>
        </p:txBody>
      </p:sp>
      <p:sp>
        <p:nvSpPr>
          <p:cNvPr id="105475" name="Rectangle 5">
            <a:extLst>
              <a:ext uri="{FF2B5EF4-FFF2-40B4-BE49-F238E27FC236}">
                <a16:creationId xmlns:a16="http://schemas.microsoft.com/office/drawing/2014/main" id="{15535149-5B69-A4D2-2C53-1EF03D9AC0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C5BD7251-BD0A-1E4F-8B51-66863741E449}" type="slidenum">
              <a:rPr lang="en-US" altLang="en-US" sz="1100" b="0">
                <a:solidFill>
                  <a:schemeClr val="tx1"/>
                </a:solidFill>
              </a:rPr>
              <a:pPr/>
              <a:t>36</a:t>
            </a:fld>
            <a:endParaRPr lang="en-US" altLang="en-US" sz="1100" b="0">
              <a:solidFill>
                <a:schemeClr val="tx1"/>
              </a:solidFill>
            </a:endParaRPr>
          </a:p>
        </p:txBody>
      </p:sp>
      <p:sp>
        <p:nvSpPr>
          <p:cNvPr id="105476" name="Rectangle 2">
            <a:extLst>
              <a:ext uri="{FF2B5EF4-FFF2-40B4-BE49-F238E27FC236}">
                <a16:creationId xmlns:a16="http://schemas.microsoft.com/office/drawing/2014/main" id="{50B3F2AC-6C1E-F6C2-F647-C3278E6D134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7" name="Rectangle 3">
            <a:extLst>
              <a:ext uri="{FF2B5EF4-FFF2-40B4-BE49-F238E27FC236}">
                <a16:creationId xmlns:a16="http://schemas.microsoft.com/office/drawing/2014/main" id="{02D0E063-8522-A2EE-5B94-929D560E5D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>
            <a:extLst>
              <a:ext uri="{FF2B5EF4-FFF2-40B4-BE49-F238E27FC236}">
                <a16:creationId xmlns:a16="http://schemas.microsoft.com/office/drawing/2014/main" id="{126EA0DD-DE30-5227-7003-A11B41C70C3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100" b="0">
                <a:solidFill>
                  <a:schemeClr val="tx1"/>
                </a:solidFill>
              </a:rPr>
              <a:t>Handouts</a:t>
            </a:r>
          </a:p>
        </p:txBody>
      </p:sp>
      <p:sp>
        <p:nvSpPr>
          <p:cNvPr id="107523" name="Rectangle 5">
            <a:extLst>
              <a:ext uri="{FF2B5EF4-FFF2-40B4-BE49-F238E27FC236}">
                <a16:creationId xmlns:a16="http://schemas.microsoft.com/office/drawing/2014/main" id="{738E29CA-4521-95ED-DAC4-562F8F4313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C8DDE6C9-E95C-4542-B874-7034B5C0B235}" type="slidenum">
              <a:rPr lang="en-US" altLang="en-US" sz="1100" b="0">
                <a:solidFill>
                  <a:schemeClr val="tx1"/>
                </a:solidFill>
              </a:rPr>
              <a:pPr/>
              <a:t>41</a:t>
            </a:fld>
            <a:endParaRPr lang="en-US" altLang="en-US" sz="1100" b="0">
              <a:solidFill>
                <a:schemeClr val="tx1"/>
              </a:solidFill>
            </a:endParaRPr>
          </a:p>
        </p:txBody>
      </p:sp>
      <p:sp>
        <p:nvSpPr>
          <p:cNvPr id="107524" name="Rectangle 2">
            <a:extLst>
              <a:ext uri="{FF2B5EF4-FFF2-40B4-BE49-F238E27FC236}">
                <a16:creationId xmlns:a16="http://schemas.microsoft.com/office/drawing/2014/main" id="{09F46549-447F-2EC7-BDC3-0E4434AC81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5" name="Rectangle 3">
            <a:extLst>
              <a:ext uri="{FF2B5EF4-FFF2-40B4-BE49-F238E27FC236}">
                <a16:creationId xmlns:a16="http://schemas.microsoft.com/office/drawing/2014/main" id="{A80F5EC0-1613-DC6C-3D4A-B009EF8BCC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>
            <a:extLst>
              <a:ext uri="{FF2B5EF4-FFF2-40B4-BE49-F238E27FC236}">
                <a16:creationId xmlns:a16="http://schemas.microsoft.com/office/drawing/2014/main" id="{10BE8BC6-8596-3A50-026A-C8228A280D2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100" b="0">
                <a:solidFill>
                  <a:schemeClr val="tx1"/>
                </a:solidFill>
              </a:rPr>
              <a:t>Handouts</a:t>
            </a:r>
          </a:p>
        </p:txBody>
      </p:sp>
      <p:sp>
        <p:nvSpPr>
          <p:cNvPr id="108547" name="Rectangle 5">
            <a:extLst>
              <a:ext uri="{FF2B5EF4-FFF2-40B4-BE49-F238E27FC236}">
                <a16:creationId xmlns:a16="http://schemas.microsoft.com/office/drawing/2014/main" id="{67FC827C-7712-19B0-AF0D-E642E809638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44E7B009-5E8C-D047-9F77-B5C037651004}" type="slidenum">
              <a:rPr lang="en-US" altLang="en-US" sz="1100" b="0">
                <a:solidFill>
                  <a:schemeClr val="tx1"/>
                </a:solidFill>
              </a:rPr>
              <a:pPr/>
              <a:t>42</a:t>
            </a:fld>
            <a:endParaRPr lang="en-US" altLang="en-US" sz="1100" b="0">
              <a:solidFill>
                <a:schemeClr val="tx1"/>
              </a:solidFill>
            </a:endParaRPr>
          </a:p>
        </p:txBody>
      </p:sp>
      <p:sp>
        <p:nvSpPr>
          <p:cNvPr id="108548" name="Rectangle 2">
            <a:extLst>
              <a:ext uri="{FF2B5EF4-FFF2-40B4-BE49-F238E27FC236}">
                <a16:creationId xmlns:a16="http://schemas.microsoft.com/office/drawing/2014/main" id="{6F3DBD9B-BC27-7CCE-B6A8-9AE2E64F9F8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9" name="Rectangle 3">
            <a:extLst>
              <a:ext uri="{FF2B5EF4-FFF2-40B4-BE49-F238E27FC236}">
                <a16:creationId xmlns:a16="http://schemas.microsoft.com/office/drawing/2014/main" id="{E71B91B3-FB97-DAEF-2ABA-5D9A5D6299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>
            <a:extLst>
              <a:ext uri="{FF2B5EF4-FFF2-40B4-BE49-F238E27FC236}">
                <a16:creationId xmlns:a16="http://schemas.microsoft.com/office/drawing/2014/main" id="{5342989B-EC94-1C3E-EC0C-C34E3A6915D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100" b="0">
                <a:solidFill>
                  <a:schemeClr val="tx1"/>
                </a:solidFill>
              </a:rPr>
              <a:t>Handouts</a:t>
            </a:r>
          </a:p>
        </p:txBody>
      </p:sp>
      <p:sp>
        <p:nvSpPr>
          <p:cNvPr id="109571" name="Rectangle 5">
            <a:extLst>
              <a:ext uri="{FF2B5EF4-FFF2-40B4-BE49-F238E27FC236}">
                <a16:creationId xmlns:a16="http://schemas.microsoft.com/office/drawing/2014/main" id="{027A0202-966B-730F-AAA0-53285AAB41C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3F4A6578-D374-004F-A6B2-62E0B42D1C7C}" type="slidenum">
              <a:rPr lang="en-US" altLang="en-US" sz="1100" b="0">
                <a:solidFill>
                  <a:schemeClr val="tx1"/>
                </a:solidFill>
              </a:rPr>
              <a:pPr/>
              <a:t>43</a:t>
            </a:fld>
            <a:endParaRPr lang="en-US" altLang="en-US" sz="1100" b="0">
              <a:solidFill>
                <a:schemeClr val="tx1"/>
              </a:solidFill>
            </a:endParaRPr>
          </a:p>
        </p:txBody>
      </p:sp>
      <p:sp>
        <p:nvSpPr>
          <p:cNvPr id="109572" name="Rectangle 2">
            <a:extLst>
              <a:ext uri="{FF2B5EF4-FFF2-40B4-BE49-F238E27FC236}">
                <a16:creationId xmlns:a16="http://schemas.microsoft.com/office/drawing/2014/main" id="{EF2AE86A-8D22-4ADC-DB7E-F21FF4786E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3" name="Rectangle 3">
            <a:extLst>
              <a:ext uri="{FF2B5EF4-FFF2-40B4-BE49-F238E27FC236}">
                <a16:creationId xmlns:a16="http://schemas.microsoft.com/office/drawing/2014/main" id="{19C9B77A-43ED-0EE6-E74A-12F48170A0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>
            <a:extLst>
              <a:ext uri="{FF2B5EF4-FFF2-40B4-BE49-F238E27FC236}">
                <a16:creationId xmlns:a16="http://schemas.microsoft.com/office/drawing/2014/main" id="{1170C1E1-00A1-34B2-BC00-69703E11C4F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100" b="0">
                <a:solidFill>
                  <a:schemeClr val="tx1"/>
                </a:solidFill>
              </a:rPr>
              <a:t>Handouts</a:t>
            </a:r>
          </a:p>
        </p:txBody>
      </p:sp>
      <p:sp>
        <p:nvSpPr>
          <p:cNvPr id="110595" name="Rectangle 5">
            <a:extLst>
              <a:ext uri="{FF2B5EF4-FFF2-40B4-BE49-F238E27FC236}">
                <a16:creationId xmlns:a16="http://schemas.microsoft.com/office/drawing/2014/main" id="{F589610F-5B70-5D30-D5E7-D147BB1AF0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36DBC2B5-E29D-1D4D-A7FD-42AA9CFA3A62}" type="slidenum">
              <a:rPr lang="en-US" altLang="en-US" sz="1100" b="0">
                <a:solidFill>
                  <a:schemeClr val="tx1"/>
                </a:solidFill>
              </a:rPr>
              <a:pPr/>
              <a:t>44</a:t>
            </a:fld>
            <a:endParaRPr lang="en-US" altLang="en-US" sz="1100" b="0">
              <a:solidFill>
                <a:schemeClr val="tx1"/>
              </a:solidFill>
            </a:endParaRPr>
          </a:p>
        </p:txBody>
      </p:sp>
      <p:sp>
        <p:nvSpPr>
          <p:cNvPr id="110596" name="Rectangle 2">
            <a:extLst>
              <a:ext uri="{FF2B5EF4-FFF2-40B4-BE49-F238E27FC236}">
                <a16:creationId xmlns:a16="http://schemas.microsoft.com/office/drawing/2014/main" id="{D3D62181-FB6B-66E1-92FA-E8EFFDDFBD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7" name="Rectangle 3">
            <a:extLst>
              <a:ext uri="{FF2B5EF4-FFF2-40B4-BE49-F238E27FC236}">
                <a16:creationId xmlns:a16="http://schemas.microsoft.com/office/drawing/2014/main" id="{54664A19-F8AB-7667-90A0-BBA8E3459C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>
            <a:extLst>
              <a:ext uri="{FF2B5EF4-FFF2-40B4-BE49-F238E27FC236}">
                <a16:creationId xmlns:a16="http://schemas.microsoft.com/office/drawing/2014/main" id="{81590108-6214-A457-7BAE-832DB125EB2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100" b="0">
                <a:solidFill>
                  <a:schemeClr val="tx1"/>
                </a:solidFill>
              </a:rPr>
              <a:t>Handouts</a:t>
            </a:r>
          </a:p>
        </p:txBody>
      </p:sp>
      <p:sp>
        <p:nvSpPr>
          <p:cNvPr id="112643" name="Rectangle 5">
            <a:extLst>
              <a:ext uri="{FF2B5EF4-FFF2-40B4-BE49-F238E27FC236}">
                <a16:creationId xmlns:a16="http://schemas.microsoft.com/office/drawing/2014/main" id="{A849F4A4-CEE6-1988-25AD-C14B6C1BCA4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48872BC3-CE31-3E4C-B416-F88F49AF6012}" type="slidenum">
              <a:rPr lang="en-US" altLang="en-US" sz="1100" b="0">
                <a:solidFill>
                  <a:schemeClr val="tx1"/>
                </a:solidFill>
              </a:rPr>
              <a:pPr/>
              <a:t>45</a:t>
            </a:fld>
            <a:endParaRPr lang="en-US" altLang="en-US" sz="1100" b="0">
              <a:solidFill>
                <a:schemeClr val="tx1"/>
              </a:solidFill>
            </a:endParaRPr>
          </a:p>
        </p:txBody>
      </p:sp>
      <p:sp>
        <p:nvSpPr>
          <p:cNvPr id="112644" name="Rectangle 2">
            <a:extLst>
              <a:ext uri="{FF2B5EF4-FFF2-40B4-BE49-F238E27FC236}">
                <a16:creationId xmlns:a16="http://schemas.microsoft.com/office/drawing/2014/main" id="{A72CCB71-EDC9-D66D-034C-B229473E7A6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5" name="Rectangle 3">
            <a:extLst>
              <a:ext uri="{FF2B5EF4-FFF2-40B4-BE49-F238E27FC236}">
                <a16:creationId xmlns:a16="http://schemas.microsoft.com/office/drawing/2014/main" id="{4FD91601-7F3F-11AA-83FE-A8A5BF493D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A6528DCA-CEF5-4A55-48C9-8D9A058915F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100" b="0">
                <a:solidFill>
                  <a:schemeClr val="tx1"/>
                </a:solidFill>
              </a:rPr>
              <a:t>Handouts</a:t>
            </a:r>
          </a:p>
        </p:txBody>
      </p:sp>
      <p:sp>
        <p:nvSpPr>
          <p:cNvPr id="113667" name="Rectangle 5">
            <a:extLst>
              <a:ext uri="{FF2B5EF4-FFF2-40B4-BE49-F238E27FC236}">
                <a16:creationId xmlns:a16="http://schemas.microsoft.com/office/drawing/2014/main" id="{CAACF8AF-024B-5476-82BD-5D96035F091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13F816C1-EE9A-5448-9010-FB928E7B1B89}" type="slidenum">
              <a:rPr lang="en-US" altLang="en-US" sz="1100" b="0">
                <a:solidFill>
                  <a:schemeClr val="tx1"/>
                </a:solidFill>
              </a:rPr>
              <a:pPr/>
              <a:t>46</a:t>
            </a:fld>
            <a:endParaRPr lang="en-US" altLang="en-US" sz="1100" b="0">
              <a:solidFill>
                <a:schemeClr val="tx1"/>
              </a:solidFill>
            </a:endParaRPr>
          </a:p>
        </p:txBody>
      </p:sp>
      <p:sp>
        <p:nvSpPr>
          <p:cNvPr id="113668" name="Rectangle 2">
            <a:extLst>
              <a:ext uri="{FF2B5EF4-FFF2-40B4-BE49-F238E27FC236}">
                <a16:creationId xmlns:a16="http://schemas.microsoft.com/office/drawing/2014/main" id="{346E51BA-FE38-680F-FF85-263AC66E8C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9" name="Rectangle 3">
            <a:extLst>
              <a:ext uri="{FF2B5EF4-FFF2-40B4-BE49-F238E27FC236}">
                <a16:creationId xmlns:a16="http://schemas.microsoft.com/office/drawing/2014/main" id="{B04D061F-B525-4FCB-F6E4-48C25FEE8D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>
            <a:extLst>
              <a:ext uri="{FF2B5EF4-FFF2-40B4-BE49-F238E27FC236}">
                <a16:creationId xmlns:a16="http://schemas.microsoft.com/office/drawing/2014/main" id="{DBE17537-04B5-0695-7D58-D519468B463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100" b="0">
                <a:solidFill>
                  <a:schemeClr val="tx1"/>
                </a:solidFill>
              </a:rPr>
              <a:t>Handouts</a:t>
            </a:r>
          </a:p>
        </p:txBody>
      </p:sp>
      <p:sp>
        <p:nvSpPr>
          <p:cNvPr id="116739" name="Rectangle 5">
            <a:extLst>
              <a:ext uri="{FF2B5EF4-FFF2-40B4-BE49-F238E27FC236}">
                <a16:creationId xmlns:a16="http://schemas.microsoft.com/office/drawing/2014/main" id="{49EEEAA1-1565-E359-AB6B-BE827CA19A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82A1DC63-B803-1D49-8A46-AA537589A80F}" type="slidenum">
              <a:rPr lang="en-US" altLang="en-US" sz="1100" b="0">
                <a:solidFill>
                  <a:schemeClr val="tx1"/>
                </a:solidFill>
              </a:rPr>
              <a:pPr/>
              <a:t>47</a:t>
            </a:fld>
            <a:endParaRPr lang="en-US" altLang="en-US" sz="1100" b="0">
              <a:solidFill>
                <a:schemeClr val="tx1"/>
              </a:solidFill>
            </a:endParaRPr>
          </a:p>
        </p:txBody>
      </p:sp>
      <p:sp>
        <p:nvSpPr>
          <p:cNvPr id="116740" name="Rectangle 2">
            <a:extLst>
              <a:ext uri="{FF2B5EF4-FFF2-40B4-BE49-F238E27FC236}">
                <a16:creationId xmlns:a16="http://schemas.microsoft.com/office/drawing/2014/main" id="{9191128C-4949-65BD-B04B-FA478400677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1" name="Rectangle 3">
            <a:extLst>
              <a:ext uri="{FF2B5EF4-FFF2-40B4-BE49-F238E27FC236}">
                <a16:creationId xmlns:a16="http://schemas.microsoft.com/office/drawing/2014/main" id="{F7812032-1854-5599-CE84-DEF4A75B47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>
            <a:extLst>
              <a:ext uri="{FF2B5EF4-FFF2-40B4-BE49-F238E27FC236}">
                <a16:creationId xmlns:a16="http://schemas.microsoft.com/office/drawing/2014/main" id="{3238B7E5-7CAD-C8BF-BA43-A56EEE0358C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100" b="0">
                <a:solidFill>
                  <a:schemeClr val="tx1"/>
                </a:solidFill>
              </a:rPr>
              <a:t>Handouts</a:t>
            </a:r>
          </a:p>
        </p:txBody>
      </p:sp>
      <p:sp>
        <p:nvSpPr>
          <p:cNvPr id="117763" name="Rectangle 5">
            <a:extLst>
              <a:ext uri="{FF2B5EF4-FFF2-40B4-BE49-F238E27FC236}">
                <a16:creationId xmlns:a16="http://schemas.microsoft.com/office/drawing/2014/main" id="{1C30ECC7-E8D4-0860-12DA-7735F9ED454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54D2421D-E093-D441-8475-5A11ABA56194}" type="slidenum">
              <a:rPr lang="en-US" altLang="en-US" sz="1100" b="0">
                <a:solidFill>
                  <a:schemeClr val="tx1"/>
                </a:solidFill>
              </a:rPr>
              <a:pPr/>
              <a:t>48</a:t>
            </a:fld>
            <a:endParaRPr lang="en-US" altLang="en-US" sz="1100" b="0">
              <a:solidFill>
                <a:schemeClr val="tx1"/>
              </a:solidFill>
            </a:endParaRPr>
          </a:p>
        </p:txBody>
      </p:sp>
      <p:sp>
        <p:nvSpPr>
          <p:cNvPr id="117764" name="Rectangle 2">
            <a:extLst>
              <a:ext uri="{FF2B5EF4-FFF2-40B4-BE49-F238E27FC236}">
                <a16:creationId xmlns:a16="http://schemas.microsoft.com/office/drawing/2014/main" id="{587C0271-46FC-F1D2-EA58-EBF68C3F2D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5" name="Rectangle 3">
            <a:extLst>
              <a:ext uri="{FF2B5EF4-FFF2-40B4-BE49-F238E27FC236}">
                <a16:creationId xmlns:a16="http://schemas.microsoft.com/office/drawing/2014/main" id="{0DD7CE65-993E-2949-FABF-0D40F4BB9E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>
            <a:extLst>
              <a:ext uri="{FF2B5EF4-FFF2-40B4-BE49-F238E27FC236}">
                <a16:creationId xmlns:a16="http://schemas.microsoft.com/office/drawing/2014/main" id="{FADD217F-B77D-4102-5133-BE4B3B46A2D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100" b="0">
                <a:solidFill>
                  <a:schemeClr val="tx1"/>
                </a:solidFill>
              </a:rPr>
              <a:t>Handouts</a:t>
            </a:r>
          </a:p>
        </p:txBody>
      </p:sp>
      <p:sp>
        <p:nvSpPr>
          <p:cNvPr id="118787" name="Rectangle 5">
            <a:extLst>
              <a:ext uri="{FF2B5EF4-FFF2-40B4-BE49-F238E27FC236}">
                <a16:creationId xmlns:a16="http://schemas.microsoft.com/office/drawing/2014/main" id="{E4338FB1-F020-182E-09AF-9F88C0D45B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3C8BA1F6-92C1-494B-887E-6D50C3B9AA06}" type="slidenum">
              <a:rPr lang="en-US" altLang="en-US" sz="1100" b="0">
                <a:solidFill>
                  <a:schemeClr val="tx1"/>
                </a:solidFill>
              </a:rPr>
              <a:pPr/>
              <a:t>49</a:t>
            </a:fld>
            <a:endParaRPr lang="en-US" altLang="en-US" sz="1100" b="0">
              <a:solidFill>
                <a:schemeClr val="tx1"/>
              </a:solidFill>
            </a:endParaRPr>
          </a:p>
        </p:txBody>
      </p:sp>
      <p:sp>
        <p:nvSpPr>
          <p:cNvPr id="118788" name="Rectangle 2">
            <a:extLst>
              <a:ext uri="{FF2B5EF4-FFF2-40B4-BE49-F238E27FC236}">
                <a16:creationId xmlns:a16="http://schemas.microsoft.com/office/drawing/2014/main" id="{9995B075-46D1-77E0-5B2D-B0884E58DC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9" name="Rectangle 3">
            <a:extLst>
              <a:ext uri="{FF2B5EF4-FFF2-40B4-BE49-F238E27FC236}">
                <a16:creationId xmlns:a16="http://schemas.microsoft.com/office/drawing/2014/main" id="{D05129CA-E1E9-4D41-342A-9674D04C45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>
            <a:extLst>
              <a:ext uri="{FF2B5EF4-FFF2-40B4-BE49-F238E27FC236}">
                <a16:creationId xmlns:a16="http://schemas.microsoft.com/office/drawing/2014/main" id="{A44844E7-E1C3-2493-4B54-D72A297314A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100" b="0">
                <a:solidFill>
                  <a:schemeClr val="tx1"/>
                </a:solidFill>
              </a:rPr>
              <a:t>Handouts</a:t>
            </a:r>
          </a:p>
        </p:txBody>
      </p:sp>
      <p:sp>
        <p:nvSpPr>
          <p:cNvPr id="120835" name="Rectangle 5">
            <a:extLst>
              <a:ext uri="{FF2B5EF4-FFF2-40B4-BE49-F238E27FC236}">
                <a16:creationId xmlns:a16="http://schemas.microsoft.com/office/drawing/2014/main" id="{95BCBB09-7780-60A7-4522-FF2FA31152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7F2AB37C-9151-C247-A84C-79A433A18B83}" type="slidenum">
              <a:rPr lang="en-US" altLang="en-US" sz="1100" b="0">
                <a:solidFill>
                  <a:schemeClr val="tx1"/>
                </a:solidFill>
              </a:rPr>
              <a:pPr/>
              <a:t>50</a:t>
            </a:fld>
            <a:endParaRPr lang="en-US" altLang="en-US" sz="1100" b="0">
              <a:solidFill>
                <a:schemeClr val="tx1"/>
              </a:solidFill>
            </a:endParaRPr>
          </a:p>
        </p:txBody>
      </p:sp>
      <p:sp>
        <p:nvSpPr>
          <p:cNvPr id="120836" name="Rectangle 2">
            <a:extLst>
              <a:ext uri="{FF2B5EF4-FFF2-40B4-BE49-F238E27FC236}">
                <a16:creationId xmlns:a16="http://schemas.microsoft.com/office/drawing/2014/main" id="{ABFA1377-D98D-83EC-E446-F814C5D0B5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7" name="Rectangle 3">
            <a:extLst>
              <a:ext uri="{FF2B5EF4-FFF2-40B4-BE49-F238E27FC236}">
                <a16:creationId xmlns:a16="http://schemas.microsoft.com/office/drawing/2014/main" id="{D721BE24-524D-2C58-208A-104B676BAD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>
            <a:extLst>
              <a:ext uri="{FF2B5EF4-FFF2-40B4-BE49-F238E27FC236}">
                <a16:creationId xmlns:a16="http://schemas.microsoft.com/office/drawing/2014/main" id="{7F343B93-F348-9A1C-D911-DA23D634B2E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100" b="0">
                <a:solidFill>
                  <a:schemeClr val="tx1"/>
                </a:solidFill>
              </a:rPr>
              <a:t>Handouts</a:t>
            </a:r>
          </a:p>
        </p:txBody>
      </p:sp>
      <p:sp>
        <p:nvSpPr>
          <p:cNvPr id="121859" name="Rectangle 5">
            <a:extLst>
              <a:ext uri="{FF2B5EF4-FFF2-40B4-BE49-F238E27FC236}">
                <a16:creationId xmlns:a16="http://schemas.microsoft.com/office/drawing/2014/main" id="{93D00658-BF50-8E56-6A7E-4586FE42FE5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5C1DCA10-39A3-4747-924B-0596B0234BF6}" type="slidenum">
              <a:rPr lang="en-US" altLang="en-US" sz="1100" b="0">
                <a:solidFill>
                  <a:schemeClr val="tx1"/>
                </a:solidFill>
              </a:rPr>
              <a:pPr/>
              <a:t>51</a:t>
            </a:fld>
            <a:endParaRPr lang="en-US" altLang="en-US" sz="1100" b="0">
              <a:solidFill>
                <a:schemeClr val="tx1"/>
              </a:solidFill>
            </a:endParaRPr>
          </a:p>
        </p:txBody>
      </p:sp>
      <p:sp>
        <p:nvSpPr>
          <p:cNvPr id="121860" name="Rectangle 2">
            <a:extLst>
              <a:ext uri="{FF2B5EF4-FFF2-40B4-BE49-F238E27FC236}">
                <a16:creationId xmlns:a16="http://schemas.microsoft.com/office/drawing/2014/main" id="{5C1BE849-AC0A-2FBA-15C8-1E047D1CC85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1" name="Rectangle 3">
            <a:extLst>
              <a:ext uri="{FF2B5EF4-FFF2-40B4-BE49-F238E27FC236}">
                <a16:creationId xmlns:a16="http://schemas.microsoft.com/office/drawing/2014/main" id="{AE653792-F000-1173-4E4C-00E5ECE22C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>
            <a:extLst>
              <a:ext uri="{FF2B5EF4-FFF2-40B4-BE49-F238E27FC236}">
                <a16:creationId xmlns:a16="http://schemas.microsoft.com/office/drawing/2014/main" id="{AD939D0E-A5F2-94C4-9DB4-2688C7DBDEB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100" b="0">
                <a:solidFill>
                  <a:schemeClr val="tx1"/>
                </a:solidFill>
              </a:rPr>
              <a:t>Handouts</a:t>
            </a:r>
          </a:p>
        </p:txBody>
      </p:sp>
      <p:sp>
        <p:nvSpPr>
          <p:cNvPr id="124931" name="Rectangle 5">
            <a:extLst>
              <a:ext uri="{FF2B5EF4-FFF2-40B4-BE49-F238E27FC236}">
                <a16:creationId xmlns:a16="http://schemas.microsoft.com/office/drawing/2014/main" id="{D2D10D14-CB5F-604D-B274-EF855DB1688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EFECD384-7CE6-6A49-8977-088C366E310C}" type="slidenum">
              <a:rPr lang="en-US" altLang="en-US" sz="1100" b="0">
                <a:solidFill>
                  <a:schemeClr val="tx1"/>
                </a:solidFill>
              </a:rPr>
              <a:pPr/>
              <a:t>52</a:t>
            </a:fld>
            <a:endParaRPr lang="en-US" altLang="en-US" sz="1100" b="0">
              <a:solidFill>
                <a:schemeClr val="tx1"/>
              </a:solidFill>
            </a:endParaRPr>
          </a:p>
        </p:txBody>
      </p:sp>
      <p:sp>
        <p:nvSpPr>
          <p:cNvPr id="124932" name="Rectangle 2">
            <a:extLst>
              <a:ext uri="{FF2B5EF4-FFF2-40B4-BE49-F238E27FC236}">
                <a16:creationId xmlns:a16="http://schemas.microsoft.com/office/drawing/2014/main" id="{2BE3EB7B-E985-E88A-C42B-760EEAA547D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3" name="Rectangle 3">
            <a:extLst>
              <a:ext uri="{FF2B5EF4-FFF2-40B4-BE49-F238E27FC236}">
                <a16:creationId xmlns:a16="http://schemas.microsoft.com/office/drawing/2014/main" id="{445507D3-2A12-5424-E4AD-3AFE0FAE09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>
            <a:extLst>
              <a:ext uri="{FF2B5EF4-FFF2-40B4-BE49-F238E27FC236}">
                <a16:creationId xmlns:a16="http://schemas.microsoft.com/office/drawing/2014/main" id="{9E767A52-7F23-EB38-10F9-F529699B9DF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100" b="0">
                <a:solidFill>
                  <a:schemeClr val="tx1"/>
                </a:solidFill>
              </a:rPr>
              <a:t>Handouts</a:t>
            </a:r>
          </a:p>
        </p:txBody>
      </p:sp>
      <p:sp>
        <p:nvSpPr>
          <p:cNvPr id="125955" name="Rectangle 5">
            <a:extLst>
              <a:ext uri="{FF2B5EF4-FFF2-40B4-BE49-F238E27FC236}">
                <a16:creationId xmlns:a16="http://schemas.microsoft.com/office/drawing/2014/main" id="{4E6D105F-E1AE-B237-2FED-F76B69F28E2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4FC92BD9-DCED-FA4C-A904-2888C0156007}" type="slidenum">
              <a:rPr lang="en-US" altLang="en-US" sz="1100" b="0">
                <a:solidFill>
                  <a:schemeClr val="tx1"/>
                </a:solidFill>
              </a:rPr>
              <a:pPr/>
              <a:t>53</a:t>
            </a:fld>
            <a:endParaRPr lang="en-US" altLang="en-US" sz="1100" b="0">
              <a:solidFill>
                <a:schemeClr val="tx1"/>
              </a:solidFill>
            </a:endParaRPr>
          </a:p>
        </p:txBody>
      </p:sp>
      <p:sp>
        <p:nvSpPr>
          <p:cNvPr id="125956" name="Rectangle 2">
            <a:extLst>
              <a:ext uri="{FF2B5EF4-FFF2-40B4-BE49-F238E27FC236}">
                <a16:creationId xmlns:a16="http://schemas.microsoft.com/office/drawing/2014/main" id="{00003136-FEF9-8BE2-6341-DE4FD0E3F3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7" name="Rectangle 3">
            <a:extLst>
              <a:ext uri="{FF2B5EF4-FFF2-40B4-BE49-F238E27FC236}">
                <a16:creationId xmlns:a16="http://schemas.microsoft.com/office/drawing/2014/main" id="{1EEC89DF-ABDB-8103-6CE8-0932D3A34A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>
            <a:extLst>
              <a:ext uri="{FF2B5EF4-FFF2-40B4-BE49-F238E27FC236}">
                <a16:creationId xmlns:a16="http://schemas.microsoft.com/office/drawing/2014/main" id="{89BD382B-91F1-BA3C-06B3-0635603999A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100" b="0">
                <a:solidFill>
                  <a:schemeClr val="tx1"/>
                </a:solidFill>
              </a:rPr>
              <a:t>Handouts</a:t>
            </a:r>
          </a:p>
        </p:txBody>
      </p:sp>
      <p:sp>
        <p:nvSpPr>
          <p:cNvPr id="126979" name="Rectangle 5">
            <a:extLst>
              <a:ext uri="{FF2B5EF4-FFF2-40B4-BE49-F238E27FC236}">
                <a16:creationId xmlns:a16="http://schemas.microsoft.com/office/drawing/2014/main" id="{F502282E-F557-9C4F-F9BB-963D32AA7F7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59651C9F-244C-FB41-AC26-8FBCDC280EA4}" type="slidenum">
              <a:rPr lang="en-US" altLang="en-US" sz="1100" b="0">
                <a:solidFill>
                  <a:schemeClr val="tx1"/>
                </a:solidFill>
              </a:rPr>
              <a:pPr/>
              <a:t>54</a:t>
            </a:fld>
            <a:endParaRPr lang="en-US" altLang="en-US" sz="1100" b="0">
              <a:solidFill>
                <a:schemeClr val="tx1"/>
              </a:solidFill>
            </a:endParaRPr>
          </a:p>
        </p:txBody>
      </p:sp>
      <p:sp>
        <p:nvSpPr>
          <p:cNvPr id="126980" name="Rectangle 2">
            <a:extLst>
              <a:ext uri="{FF2B5EF4-FFF2-40B4-BE49-F238E27FC236}">
                <a16:creationId xmlns:a16="http://schemas.microsoft.com/office/drawing/2014/main" id="{26847F53-66F2-D00E-354A-C4E24E5FF2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1" name="Rectangle 3">
            <a:extLst>
              <a:ext uri="{FF2B5EF4-FFF2-40B4-BE49-F238E27FC236}">
                <a16:creationId xmlns:a16="http://schemas.microsoft.com/office/drawing/2014/main" id="{2D904811-2A22-6702-F48A-DA31DD139C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>
            <a:extLst>
              <a:ext uri="{FF2B5EF4-FFF2-40B4-BE49-F238E27FC236}">
                <a16:creationId xmlns:a16="http://schemas.microsoft.com/office/drawing/2014/main" id="{ECB6FADD-5D54-3056-BF88-1F6513ED710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100" b="0">
                <a:solidFill>
                  <a:schemeClr val="tx1"/>
                </a:solidFill>
              </a:rPr>
              <a:t>Handouts</a:t>
            </a:r>
          </a:p>
        </p:txBody>
      </p:sp>
      <p:sp>
        <p:nvSpPr>
          <p:cNvPr id="128003" name="Rectangle 5">
            <a:extLst>
              <a:ext uri="{FF2B5EF4-FFF2-40B4-BE49-F238E27FC236}">
                <a16:creationId xmlns:a16="http://schemas.microsoft.com/office/drawing/2014/main" id="{5689CF6B-5356-1286-A6DD-7F07C3C14D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FD803FD7-01A7-5146-9F11-035A5AAF5922}" type="slidenum">
              <a:rPr lang="en-US" altLang="en-US" sz="1100" b="0">
                <a:solidFill>
                  <a:schemeClr val="tx1"/>
                </a:solidFill>
              </a:rPr>
              <a:pPr/>
              <a:t>55</a:t>
            </a:fld>
            <a:endParaRPr lang="en-US" altLang="en-US" sz="1100" b="0">
              <a:solidFill>
                <a:schemeClr val="tx1"/>
              </a:solidFill>
            </a:endParaRPr>
          </a:p>
        </p:txBody>
      </p:sp>
      <p:sp>
        <p:nvSpPr>
          <p:cNvPr id="128004" name="Rectangle 2">
            <a:extLst>
              <a:ext uri="{FF2B5EF4-FFF2-40B4-BE49-F238E27FC236}">
                <a16:creationId xmlns:a16="http://schemas.microsoft.com/office/drawing/2014/main" id="{896BF0A8-B9C7-091F-E605-8A5C5C6687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5" name="Rectangle 3">
            <a:extLst>
              <a:ext uri="{FF2B5EF4-FFF2-40B4-BE49-F238E27FC236}">
                <a16:creationId xmlns:a16="http://schemas.microsoft.com/office/drawing/2014/main" id="{ECA89D9C-369A-882F-9B69-55A20C9735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>
            <a:extLst>
              <a:ext uri="{FF2B5EF4-FFF2-40B4-BE49-F238E27FC236}">
                <a16:creationId xmlns:a16="http://schemas.microsoft.com/office/drawing/2014/main" id="{7AF1AE86-3FDB-32FB-F065-B8EB488B17E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100" b="0">
                <a:solidFill>
                  <a:schemeClr val="tx1"/>
                </a:solidFill>
              </a:rPr>
              <a:t>Handouts</a:t>
            </a:r>
          </a:p>
        </p:txBody>
      </p:sp>
      <p:sp>
        <p:nvSpPr>
          <p:cNvPr id="129027" name="Rectangle 5">
            <a:extLst>
              <a:ext uri="{FF2B5EF4-FFF2-40B4-BE49-F238E27FC236}">
                <a16:creationId xmlns:a16="http://schemas.microsoft.com/office/drawing/2014/main" id="{065777E2-615C-1440-36BF-05240434BDD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DA3826AD-90A5-3D42-AD7B-D88FD5DF2A00}" type="slidenum">
              <a:rPr lang="en-US" altLang="en-US" sz="1100" b="0">
                <a:solidFill>
                  <a:schemeClr val="tx1"/>
                </a:solidFill>
              </a:rPr>
              <a:pPr/>
              <a:t>56</a:t>
            </a:fld>
            <a:endParaRPr lang="en-US" altLang="en-US" sz="1100" b="0">
              <a:solidFill>
                <a:schemeClr val="tx1"/>
              </a:solidFill>
            </a:endParaRPr>
          </a:p>
        </p:txBody>
      </p:sp>
      <p:sp>
        <p:nvSpPr>
          <p:cNvPr id="129028" name="Rectangle 2">
            <a:extLst>
              <a:ext uri="{FF2B5EF4-FFF2-40B4-BE49-F238E27FC236}">
                <a16:creationId xmlns:a16="http://schemas.microsoft.com/office/drawing/2014/main" id="{902012C9-BD86-B3B7-796D-788A102AC2D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9" name="Rectangle 3">
            <a:extLst>
              <a:ext uri="{FF2B5EF4-FFF2-40B4-BE49-F238E27FC236}">
                <a16:creationId xmlns:a16="http://schemas.microsoft.com/office/drawing/2014/main" id="{25880383-7A1B-2140-A9BF-2EF73790DF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>
            <a:extLst>
              <a:ext uri="{FF2B5EF4-FFF2-40B4-BE49-F238E27FC236}">
                <a16:creationId xmlns:a16="http://schemas.microsoft.com/office/drawing/2014/main" id="{D6CE08AB-230F-C56C-E97A-F2AF77FAB03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100" b="0">
                <a:solidFill>
                  <a:schemeClr val="tx1"/>
                </a:solidFill>
              </a:rPr>
              <a:t>Handouts</a:t>
            </a:r>
          </a:p>
        </p:txBody>
      </p:sp>
      <p:sp>
        <p:nvSpPr>
          <p:cNvPr id="130051" name="Rectangle 5">
            <a:extLst>
              <a:ext uri="{FF2B5EF4-FFF2-40B4-BE49-F238E27FC236}">
                <a16:creationId xmlns:a16="http://schemas.microsoft.com/office/drawing/2014/main" id="{6EF02D84-8882-F965-63C6-7F9653FD50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5B215477-1390-7D47-ADFA-C8ED1DFB00BE}" type="slidenum">
              <a:rPr lang="en-US" altLang="en-US" sz="1100" b="0">
                <a:solidFill>
                  <a:schemeClr val="tx1"/>
                </a:solidFill>
              </a:rPr>
              <a:pPr/>
              <a:t>58</a:t>
            </a:fld>
            <a:endParaRPr lang="en-US" altLang="en-US" sz="1100" b="0">
              <a:solidFill>
                <a:schemeClr val="tx1"/>
              </a:solidFill>
            </a:endParaRPr>
          </a:p>
        </p:txBody>
      </p:sp>
      <p:sp>
        <p:nvSpPr>
          <p:cNvPr id="130052" name="Rectangle 2">
            <a:extLst>
              <a:ext uri="{FF2B5EF4-FFF2-40B4-BE49-F238E27FC236}">
                <a16:creationId xmlns:a16="http://schemas.microsoft.com/office/drawing/2014/main" id="{A2666A09-125F-BE04-1120-8661C053B1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3" name="Rectangle 3">
            <a:extLst>
              <a:ext uri="{FF2B5EF4-FFF2-40B4-BE49-F238E27FC236}">
                <a16:creationId xmlns:a16="http://schemas.microsoft.com/office/drawing/2014/main" id="{C56D99A0-CDC7-1609-5C23-B99788C891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>
            <a:extLst>
              <a:ext uri="{FF2B5EF4-FFF2-40B4-BE49-F238E27FC236}">
                <a16:creationId xmlns:a16="http://schemas.microsoft.com/office/drawing/2014/main" id="{06372E35-D179-4A33-ACA6-0C4B711237D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100" b="0">
                <a:solidFill>
                  <a:schemeClr val="tx1"/>
                </a:solidFill>
              </a:rPr>
              <a:t>Handouts</a:t>
            </a:r>
          </a:p>
        </p:txBody>
      </p:sp>
      <p:sp>
        <p:nvSpPr>
          <p:cNvPr id="131075" name="Rectangle 5">
            <a:extLst>
              <a:ext uri="{FF2B5EF4-FFF2-40B4-BE49-F238E27FC236}">
                <a16:creationId xmlns:a16="http://schemas.microsoft.com/office/drawing/2014/main" id="{0ADAB233-F8C6-A617-B439-D9CAD8D3626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358C8648-8A64-DD4C-AF1F-C779219D950F}" type="slidenum">
              <a:rPr lang="en-US" altLang="en-US" sz="1100" b="0">
                <a:solidFill>
                  <a:schemeClr val="tx1"/>
                </a:solidFill>
              </a:rPr>
              <a:pPr/>
              <a:t>59</a:t>
            </a:fld>
            <a:endParaRPr lang="en-US" altLang="en-US" sz="1100" b="0">
              <a:solidFill>
                <a:schemeClr val="tx1"/>
              </a:solidFill>
            </a:endParaRPr>
          </a:p>
        </p:txBody>
      </p:sp>
      <p:sp>
        <p:nvSpPr>
          <p:cNvPr id="131076" name="Rectangle 2">
            <a:extLst>
              <a:ext uri="{FF2B5EF4-FFF2-40B4-BE49-F238E27FC236}">
                <a16:creationId xmlns:a16="http://schemas.microsoft.com/office/drawing/2014/main" id="{743D9D87-D2E8-5192-903B-CC4B8A81BC5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7" name="Rectangle 3">
            <a:extLst>
              <a:ext uri="{FF2B5EF4-FFF2-40B4-BE49-F238E27FC236}">
                <a16:creationId xmlns:a16="http://schemas.microsoft.com/office/drawing/2014/main" id="{DEAD9D12-79FE-79A2-E762-4A11E8E208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>
            <a:extLst>
              <a:ext uri="{FF2B5EF4-FFF2-40B4-BE49-F238E27FC236}">
                <a16:creationId xmlns:a16="http://schemas.microsoft.com/office/drawing/2014/main" id="{25724B27-1856-66F7-7E7F-97683D98F16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100" b="0">
                <a:solidFill>
                  <a:schemeClr val="tx1"/>
                </a:solidFill>
              </a:rPr>
              <a:t>Handouts</a:t>
            </a:r>
          </a:p>
        </p:txBody>
      </p:sp>
      <p:sp>
        <p:nvSpPr>
          <p:cNvPr id="132099" name="Rectangle 5">
            <a:extLst>
              <a:ext uri="{FF2B5EF4-FFF2-40B4-BE49-F238E27FC236}">
                <a16:creationId xmlns:a16="http://schemas.microsoft.com/office/drawing/2014/main" id="{495084BC-E35A-D777-4F17-782F832421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C9384241-D31C-CF49-8A66-C12E1AB152F1}" type="slidenum">
              <a:rPr lang="en-US" altLang="en-US" sz="1100" b="0">
                <a:solidFill>
                  <a:schemeClr val="tx1"/>
                </a:solidFill>
              </a:rPr>
              <a:pPr/>
              <a:t>60</a:t>
            </a:fld>
            <a:endParaRPr lang="en-US" altLang="en-US" sz="1100" b="0">
              <a:solidFill>
                <a:schemeClr val="tx1"/>
              </a:solidFill>
            </a:endParaRPr>
          </a:p>
        </p:txBody>
      </p:sp>
      <p:sp>
        <p:nvSpPr>
          <p:cNvPr id="132100" name="Rectangle 2">
            <a:extLst>
              <a:ext uri="{FF2B5EF4-FFF2-40B4-BE49-F238E27FC236}">
                <a16:creationId xmlns:a16="http://schemas.microsoft.com/office/drawing/2014/main" id="{14F21BD2-51CE-C211-1087-8CA62290A85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101" name="Rectangle 3">
            <a:extLst>
              <a:ext uri="{FF2B5EF4-FFF2-40B4-BE49-F238E27FC236}">
                <a16:creationId xmlns:a16="http://schemas.microsoft.com/office/drawing/2014/main" id="{6B127100-74AC-EF0C-D888-21FAA1D766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>
            <a:extLst>
              <a:ext uri="{FF2B5EF4-FFF2-40B4-BE49-F238E27FC236}">
                <a16:creationId xmlns:a16="http://schemas.microsoft.com/office/drawing/2014/main" id="{89C8C173-3241-4BCC-1C38-DA106F153E8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100" b="0">
                <a:solidFill>
                  <a:schemeClr val="tx1"/>
                </a:solidFill>
              </a:rPr>
              <a:t>Handouts</a:t>
            </a:r>
          </a:p>
        </p:txBody>
      </p:sp>
      <p:sp>
        <p:nvSpPr>
          <p:cNvPr id="133123" name="Rectangle 5">
            <a:extLst>
              <a:ext uri="{FF2B5EF4-FFF2-40B4-BE49-F238E27FC236}">
                <a16:creationId xmlns:a16="http://schemas.microsoft.com/office/drawing/2014/main" id="{A6FD4FF8-1A52-1EB1-EF0B-5F6EE19B3BB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1F6E58A0-3E1A-1142-8886-388C8AD7592D}" type="slidenum">
              <a:rPr lang="en-US" altLang="en-US" sz="1100" b="0">
                <a:solidFill>
                  <a:schemeClr val="tx1"/>
                </a:solidFill>
              </a:rPr>
              <a:pPr/>
              <a:t>61</a:t>
            </a:fld>
            <a:endParaRPr lang="en-US" altLang="en-US" sz="1100" b="0">
              <a:solidFill>
                <a:schemeClr val="tx1"/>
              </a:solidFill>
            </a:endParaRPr>
          </a:p>
        </p:txBody>
      </p:sp>
      <p:sp>
        <p:nvSpPr>
          <p:cNvPr id="133124" name="Rectangle 2">
            <a:extLst>
              <a:ext uri="{FF2B5EF4-FFF2-40B4-BE49-F238E27FC236}">
                <a16:creationId xmlns:a16="http://schemas.microsoft.com/office/drawing/2014/main" id="{5292A30F-CFC2-2730-D07B-CD8C254941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5" name="Rectangle 3">
            <a:extLst>
              <a:ext uri="{FF2B5EF4-FFF2-40B4-BE49-F238E27FC236}">
                <a16:creationId xmlns:a16="http://schemas.microsoft.com/office/drawing/2014/main" id="{68DD3B5B-B60B-A6DB-1B9B-87319D9F5C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>
            <a:extLst>
              <a:ext uri="{FF2B5EF4-FFF2-40B4-BE49-F238E27FC236}">
                <a16:creationId xmlns:a16="http://schemas.microsoft.com/office/drawing/2014/main" id="{AAFBC8C9-C0B4-FEDF-2675-1564C60D18B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100" b="0">
                <a:solidFill>
                  <a:schemeClr val="tx1"/>
                </a:solidFill>
              </a:rPr>
              <a:t>Handouts</a:t>
            </a:r>
          </a:p>
        </p:txBody>
      </p:sp>
      <p:sp>
        <p:nvSpPr>
          <p:cNvPr id="134147" name="Rectangle 5">
            <a:extLst>
              <a:ext uri="{FF2B5EF4-FFF2-40B4-BE49-F238E27FC236}">
                <a16:creationId xmlns:a16="http://schemas.microsoft.com/office/drawing/2014/main" id="{ABF77127-DD49-F7A4-B8E2-23AAF3FB7C4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6D9B7491-E9F7-F64F-B8A1-D139CDCA5454}" type="slidenum">
              <a:rPr lang="en-US" altLang="en-US" sz="1100" b="0">
                <a:solidFill>
                  <a:schemeClr val="tx1"/>
                </a:solidFill>
              </a:rPr>
              <a:pPr/>
              <a:t>64</a:t>
            </a:fld>
            <a:endParaRPr lang="en-US" altLang="en-US" sz="1100" b="0">
              <a:solidFill>
                <a:schemeClr val="tx1"/>
              </a:solidFill>
            </a:endParaRPr>
          </a:p>
        </p:txBody>
      </p:sp>
      <p:sp>
        <p:nvSpPr>
          <p:cNvPr id="134148" name="Rectangle 2">
            <a:extLst>
              <a:ext uri="{FF2B5EF4-FFF2-40B4-BE49-F238E27FC236}">
                <a16:creationId xmlns:a16="http://schemas.microsoft.com/office/drawing/2014/main" id="{BADA05FF-B330-C62D-AAA8-ED053998503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9" name="Rectangle 3">
            <a:extLst>
              <a:ext uri="{FF2B5EF4-FFF2-40B4-BE49-F238E27FC236}">
                <a16:creationId xmlns:a16="http://schemas.microsoft.com/office/drawing/2014/main" id="{C00C20EF-1061-DA18-90A1-424EEE45C5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13487612-07C3-F285-1B3D-2E57524489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" y="6350"/>
            <a:ext cx="9118600" cy="6832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8C31C38E-FA82-E67C-0574-A45FF4629F36}"/>
              </a:ext>
            </a:extLst>
          </p:cNvPr>
          <p:cNvSpPr txBox="1">
            <a:spLocks noGrp="1"/>
          </p:cNvSpPr>
          <p:nvPr userDrawn="1"/>
        </p:nvSpPr>
        <p:spPr bwMode="auto">
          <a:xfrm>
            <a:off x="6350" y="6448425"/>
            <a:ext cx="4343400" cy="34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r>
              <a:rPr lang="en-US" altLang="en-US" sz="900" b="0" dirty="0">
                <a:solidFill>
                  <a:srgbClr val="000000"/>
                </a:solidFill>
                <a:latin typeface="Arial Black" pitchFamily="34" charset="0"/>
              </a:rPr>
              <a:t>Software Evolution and Maintenance </a:t>
            </a:r>
            <a:r>
              <a:rPr lang="en-US" altLang="en-US" sz="900" b="0" dirty="0">
                <a:solidFill>
                  <a:srgbClr val="000000"/>
                </a:solidFill>
                <a:latin typeface="Arial" pitchFamily="34" charset="0"/>
              </a:rPr>
              <a:t>(Chapter 7: Refactoring)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9D55F67-C44D-E8A4-0997-DFC0143C3AA6}"/>
              </a:ext>
            </a:extLst>
          </p:cNvPr>
          <p:cNvSpPr txBox="1">
            <a:spLocks noGrp="1"/>
          </p:cNvSpPr>
          <p:nvPr userDrawn="1"/>
        </p:nvSpPr>
        <p:spPr bwMode="auto">
          <a:xfrm>
            <a:off x="6559550" y="6421438"/>
            <a:ext cx="1327150" cy="303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>
              <a:defRPr/>
            </a:pPr>
            <a:r>
              <a:rPr lang="en-US" altLang="en-US" sz="900" b="0" dirty="0">
                <a:solidFill>
                  <a:srgbClr val="000000"/>
                </a:solidFill>
              </a:rPr>
              <a:t>©  </a:t>
            </a:r>
            <a:r>
              <a:rPr lang="en-US" altLang="en-US" sz="900" b="0" dirty="0" err="1">
                <a:solidFill>
                  <a:srgbClr val="000000"/>
                </a:solidFill>
              </a:rPr>
              <a:t>Tripathy</a:t>
            </a:r>
            <a:r>
              <a:rPr lang="en-US" altLang="en-US" sz="900" b="0" dirty="0">
                <a:solidFill>
                  <a:srgbClr val="000000"/>
                </a:solidFill>
              </a:rPr>
              <a:t> &amp; Naik</a:t>
            </a:r>
          </a:p>
        </p:txBody>
      </p:sp>
      <p:sp>
        <p:nvSpPr>
          <p:cNvPr id="133123" name="Rectangle 5"/>
          <p:cNvSpPr>
            <a:spLocks noGrp="1" noChangeArrowheads="1"/>
          </p:cNvSpPr>
          <p:nvPr>
            <p:ph type="ctrTitle"/>
          </p:nvPr>
        </p:nvSpPr>
        <p:spPr>
          <a:xfrm>
            <a:off x="52388" y="2130425"/>
            <a:ext cx="7772400" cy="1470025"/>
          </a:xfrm>
        </p:spPr>
        <p:txBody>
          <a:bodyPr/>
          <a:lstStyle>
            <a:lvl1pPr>
              <a:defRPr smtClean="0">
                <a:latin typeface="Times New Roman" pitchFamily="18" charset="0"/>
              </a:defRPr>
            </a:lvl1pPr>
          </a:lstStyle>
          <a:p>
            <a:pPr lvl="0"/>
            <a:r>
              <a:rPr lang="en-US" altLang="en-US" noProof="0"/>
              <a:t>WHY</a:t>
            </a:r>
          </a:p>
        </p:txBody>
      </p:sp>
      <p:sp>
        <p:nvSpPr>
          <p:cNvPr id="133124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8255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 smtClean="0">
                <a:latin typeface="Times New Roman" pitchFamily="18" charset="0"/>
              </a:defRPr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7FAB3E-4BA5-322F-7347-3128CD401FC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53200" y="6245225"/>
            <a:ext cx="2133600" cy="476250"/>
          </a:xfrm>
          <a:ln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 sz="900" b="0"/>
            </a:lvl1pPr>
          </a:lstStyle>
          <a:p>
            <a:fld id="{265F64A3-A9A8-CA43-B56D-2A9B2F46411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2643356"/>
      </p:ext>
    </p:extLst>
  </p:cSld>
  <p:clrMapOvr>
    <a:masterClrMapping/>
  </p:clrMapOvr>
  <p:transition spd="med"/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id="{F0200658-37AD-3218-60A2-E00CC244F6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" y="6350"/>
            <a:ext cx="9118600" cy="6832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19">
            <a:extLst>
              <a:ext uri="{FF2B5EF4-FFF2-40B4-BE49-F238E27FC236}">
                <a16:creationId xmlns:a16="http://schemas.microsoft.com/office/drawing/2014/main" id="{AAF2538B-628C-88AC-9CA7-10C3818C1B9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6985000" y="6396038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300241EA-7553-2D4E-BCE7-0B597DE5934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61078790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4407AA-F513-C578-95A1-0F9449139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C4A1A45-1AA6-8F4C-A975-4B507946389E}" type="datetime1">
              <a:rPr lang="en-US" altLang="en-IT"/>
              <a:pPr/>
              <a:t>9/21/26</a:t>
            </a:fld>
            <a:endParaRPr lang="en-US" alt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874C94-FEFB-5279-5BD4-C3C4E8426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C07B7A-D779-453B-2D55-928BB3778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2C4C0B-9C68-4D4E-969D-EF427990E9A7}" type="slidenum">
              <a:rPr lang="en-US" altLang="en-IT"/>
              <a:pPr/>
              <a:t>‹#›</a:t>
            </a:fld>
            <a:endParaRPr lang="en-US" altLang="en-IT"/>
          </a:p>
        </p:txBody>
      </p:sp>
    </p:spTree>
    <p:extLst>
      <p:ext uri="{BB962C8B-B14F-4D97-AF65-F5344CB8AC3E}">
        <p14:creationId xmlns:p14="http://schemas.microsoft.com/office/powerpoint/2010/main" val="3934034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5">
            <a:extLst>
              <a:ext uri="{FF2B5EF4-FFF2-40B4-BE49-F238E27FC236}">
                <a16:creationId xmlns:a16="http://schemas.microsoft.com/office/drawing/2014/main" id="{481FAF9A-0582-1301-6EAB-3308DFDA07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122238"/>
            <a:ext cx="9144000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6">
            <a:extLst>
              <a:ext uri="{FF2B5EF4-FFF2-40B4-BE49-F238E27FC236}">
                <a16:creationId xmlns:a16="http://schemas.microsoft.com/office/drawing/2014/main" id="{83782C79-E19A-AEBF-6806-F2721B5886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93675" y="731838"/>
            <a:ext cx="8966200" cy="579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 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 </a:t>
            </a:r>
          </a:p>
          <a:p>
            <a:pPr lvl="4"/>
            <a:r>
              <a:rPr lang="en-US" altLang="en-US"/>
              <a:t>Fifth level </a:t>
            </a:r>
          </a:p>
        </p:txBody>
      </p:sp>
      <p:sp>
        <p:nvSpPr>
          <p:cNvPr id="10259" name="Rectangle 19">
            <a:extLst>
              <a:ext uri="{FF2B5EF4-FFF2-40B4-BE49-F238E27FC236}">
                <a16:creationId xmlns:a16="http://schemas.microsoft.com/office/drawing/2014/main" id="{210DD6E1-83C1-7B2D-57DF-D70F4F06191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77063" y="65373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rgbClr val="000000"/>
                </a:solidFill>
              </a:defRPr>
            </a:lvl1pPr>
          </a:lstStyle>
          <a:p>
            <a:fld id="{6A33036A-A5AE-714F-B918-E35BA8B0519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846" r:id="rId1"/>
    <p:sldLayoutId id="2147483847" r:id="rId2"/>
    <p:sldLayoutId id="2147483848" r:id="rId3"/>
  </p:sldLayoutIdLst>
  <p:transition spd="med"/>
  <p:hf hdr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000000"/>
          </a:solidFill>
          <a:latin typeface="Arial" pitchFamily="34" charset="0"/>
          <a:ea typeface="+mj-ea"/>
          <a:cs typeface="+mj-cs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000000"/>
          </a:solidFill>
          <a:latin typeface="Arial" pitchFamily="34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000000"/>
          </a:solidFill>
          <a:latin typeface="Arial" pitchFamily="34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000000"/>
          </a:solidFill>
          <a:latin typeface="Arial" pitchFamily="34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000000"/>
          </a:solidFill>
          <a:latin typeface="Arial" pitchFamily="34" charset="0"/>
        </a:defRPr>
      </a:lvl5pPr>
      <a:lvl6pPr marL="4572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75000"/>
        <a:buChar char="•"/>
        <a:defRPr sz="2400">
          <a:solidFill>
            <a:srgbClr val="000000"/>
          </a:solidFill>
          <a:latin typeface="Arial" pitchFamily="34" charset="0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000">
          <a:solidFill>
            <a:schemeClr val="bg1"/>
          </a:solidFill>
          <a:latin typeface="Arial" pitchFamily="34" charset="0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sz="2000">
          <a:solidFill>
            <a:srgbClr val="663300"/>
          </a:solidFill>
          <a:latin typeface="Arial" pitchFamily="34" charset="0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>
          <a:solidFill>
            <a:srgbClr val="000000"/>
          </a:solidFill>
          <a:latin typeface="Arial" pitchFamily="34" charset="0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>
          <a:solidFill>
            <a:srgbClr val="000000"/>
          </a:solidFill>
          <a:latin typeface="Arial" pitchFamily="34" charset="0"/>
        </a:defRPr>
      </a:lvl5pPr>
      <a:lvl6pPr marL="24574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b="1">
          <a:solidFill>
            <a:schemeClr val="tx1"/>
          </a:solidFill>
          <a:latin typeface="+mn-lt"/>
        </a:defRPr>
      </a:lvl6pPr>
      <a:lvl7pPr marL="29146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b="1">
          <a:solidFill>
            <a:schemeClr val="tx1"/>
          </a:solidFill>
          <a:latin typeface="+mn-lt"/>
        </a:defRPr>
      </a:lvl7pPr>
      <a:lvl8pPr marL="33718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b="1">
          <a:solidFill>
            <a:schemeClr val="tx1"/>
          </a:solidFill>
          <a:latin typeface="+mn-lt"/>
        </a:defRPr>
      </a:lvl8pPr>
      <a:lvl9pPr marL="3829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b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hyperlink" Target="http://wiki.java.net/bin/view/People/SmellsToRefactorings" TargetMode="External"/><Relationship Id="rId2" Type="http://schemas.openxmlformats.org/officeDocument/2006/relationships/hyperlink" Target="http://c2.com/cgi/wiki?CodeSmell" TargetMode="External"/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refactoring.com/catalog/index.html" TargetMode="External"/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refactoring.com/catalog/index.html" TargetMode="External"/><Relationship Id="rId2" Type="http://schemas.openxmlformats.org/officeDocument/2006/relationships/hyperlink" Target="http://www.irregularwebcomic.net/cgi-bin/comic.pl?comic=687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www.cs.colorado.edu/~kena/classes/6448/s05/lectures/lecture18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9">
            <a:extLst>
              <a:ext uri="{FF2B5EF4-FFF2-40B4-BE49-F238E27FC236}">
                <a16:creationId xmlns:a16="http://schemas.microsoft.com/office/drawing/2014/main" id="{A006513F-D704-3AC0-57E5-8CF4FB980F6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68700633-82B3-9249-BEF3-36764149D99F}" type="slidenum">
              <a:rPr lang="en-US" altLang="en-US" sz="1000">
                <a:solidFill>
                  <a:srgbClr val="000000"/>
                </a:solidFill>
              </a:rPr>
              <a:pPr/>
              <a:t>1</a:t>
            </a:fld>
            <a:endParaRPr lang="en-US" altLang="en-US" sz="1000">
              <a:solidFill>
                <a:srgbClr val="000000"/>
              </a:solidFill>
            </a:endParaRPr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9A085CB1-EA11-97D4-0EDA-D10AFFB9DD3C}"/>
              </a:ext>
            </a:extLst>
          </p:cNvPr>
          <p:cNvSpPr>
            <a:spLocks noGrp="1" noChangeArrowheads="1"/>
          </p:cNvSpPr>
          <p:nvPr>
            <p:ph type="ctrTitle" idx="4294967295"/>
          </p:nvPr>
        </p:nvSpPr>
        <p:spPr>
          <a:xfrm>
            <a:off x="223837" y="666750"/>
            <a:ext cx="8696325" cy="1984375"/>
          </a:xfrm>
        </p:spPr>
        <p:txBody>
          <a:bodyPr/>
          <a:lstStyle/>
          <a:p>
            <a:r>
              <a:rPr lang="en-US" altLang="en-US" sz="5400" b="0" dirty="0">
                <a:latin typeface="Calibri" panose="020F0502020204030204" pitchFamily="34" charset="0"/>
                <a:cs typeface="Calibri" panose="020F0502020204030204" pitchFamily="34" charset="0"/>
              </a:rPr>
              <a:t>Software Evolution and Quality: Refactoring and Code Smells Explained</a:t>
            </a:r>
            <a:endParaRPr lang="en-US" altLang="en-US" sz="5400" b="0" dirty="0">
              <a:solidFill>
                <a:srgbClr val="6633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D315E2-0CA1-0C4B-7134-4E05A3141F2C}"/>
              </a:ext>
            </a:extLst>
          </p:cNvPr>
          <p:cNvSpPr txBox="1"/>
          <p:nvPr/>
        </p:nvSpPr>
        <p:spPr>
          <a:xfrm>
            <a:off x="1438507" y="2830692"/>
            <a:ext cx="60216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/>
            </a:pPr>
            <a:r>
              <a:rPr lang="en-US" altLang="en-US" sz="36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Damian A. </a:t>
            </a:r>
            <a:r>
              <a:rPr lang="en-US" altLang="en-US" sz="36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Tamburri</a:t>
            </a:r>
            <a:r>
              <a:rPr lang="en-US" altLang="en-US" sz="36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Ph.D.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ips on How to Stink Less | New Trail">
            <a:extLst>
              <a:ext uri="{FF2B5EF4-FFF2-40B4-BE49-F238E27FC236}">
                <a16:creationId xmlns:a16="http://schemas.microsoft.com/office/drawing/2014/main" id="{434B2333-BEE7-C132-44A7-FA44162BC6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30" b="4813"/>
          <a:stretch>
            <a:fillRect/>
          </a:stretch>
        </p:blipFill>
        <p:spPr bwMode="auto">
          <a:xfrm>
            <a:off x="20" y="10"/>
            <a:ext cx="9143980" cy="6857990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9285FD09-DFBA-1FB9-3D2C-9A753B3DB93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985000" y="6396038"/>
            <a:ext cx="2133600" cy="476250"/>
          </a:xfrm>
        </p:spPr>
        <p:txBody>
          <a:bodyPr/>
          <a:lstStyle/>
          <a:p>
            <a:pPr>
              <a:spcAft>
                <a:spcPts val="600"/>
              </a:spcAft>
            </a:pPr>
            <a:fld id="{300241EA-7553-2D4E-BCE7-0B597DE59345}" type="slidenum">
              <a:rPr lang="en-US" altLang="en-US" smtClean="0"/>
              <a:pPr>
                <a:spcAft>
                  <a:spcPts val="600"/>
                </a:spcAft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71682946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F056B-C988-234B-3D9A-B97854335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loud Callout 3">
            <a:extLst>
              <a:ext uri="{FF2B5EF4-FFF2-40B4-BE49-F238E27FC236}">
                <a16:creationId xmlns:a16="http://schemas.microsoft.com/office/drawing/2014/main" id="{BE74D4F1-D794-8615-FC7C-EDBE9296F7C8}"/>
              </a:ext>
            </a:extLst>
          </p:cNvPr>
          <p:cNvSpPr/>
          <p:nvPr/>
        </p:nvSpPr>
        <p:spPr bwMode="auto">
          <a:xfrm>
            <a:off x="1025611" y="0"/>
            <a:ext cx="8118389" cy="4226011"/>
          </a:xfrm>
          <a:prstGeom prst="cloudCallout">
            <a:avLst>
              <a:gd name="adj1" fmla="val -33229"/>
              <a:gd name="adj2" fmla="val 73858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T" sz="2000" b="1" i="0" u="none" strike="noStrike" cap="none" normalizeH="0" baseline="0">
              <a:ln>
                <a:noFill/>
              </a:ln>
              <a:solidFill>
                <a:srgbClr val="FAFD00"/>
              </a:solidFill>
              <a:effectLst/>
              <a:latin typeface="Times New Roman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06A16B-3457-56E9-9E14-F425A46F9191}"/>
              </a:ext>
            </a:extLst>
          </p:cNvPr>
          <p:cNvSpPr txBox="1"/>
          <p:nvPr/>
        </p:nvSpPr>
        <p:spPr>
          <a:xfrm>
            <a:off x="1779373" y="670025"/>
            <a:ext cx="775367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5400" b="0" dirty="0">
                <a:solidFill>
                  <a:schemeClr val="accent4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Who is doing the Code Smells Detection Practicum?</a:t>
            </a:r>
          </a:p>
        </p:txBody>
      </p:sp>
      <p:pic>
        <p:nvPicPr>
          <p:cNvPr id="12" name="Picture 11" descr="A person wearing glasses and a blue lanyard&#10;&#10;Description automatically generated">
            <a:extLst>
              <a:ext uri="{FF2B5EF4-FFF2-40B4-BE49-F238E27FC236}">
                <a16:creationId xmlns:a16="http://schemas.microsoft.com/office/drawing/2014/main" id="{93E1FD5F-AC71-E471-B02E-0F1D6941DF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421"/>
          <a:stretch/>
        </p:blipFill>
        <p:spPr>
          <a:xfrm>
            <a:off x="433364" y="3429000"/>
            <a:ext cx="1785634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160230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AE0D98-605E-0483-D773-33E108D9EF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0241EA-7553-2D4E-BCE7-0B597DE59345}" type="slidenum">
              <a:rPr lang="en-US" altLang="en-US" smtClean="0"/>
              <a:pPr/>
              <a:t>4</a:t>
            </a:fld>
            <a:endParaRPr lang="en-US" alt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238F201-CBFB-CA0F-191E-98F0618BBC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1977332"/>
              </p:ext>
            </p:extLst>
          </p:nvPr>
        </p:nvGraphicFramePr>
        <p:xfrm>
          <a:off x="321276" y="543697"/>
          <a:ext cx="8497330" cy="4472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5038">
                  <a:extLst>
                    <a:ext uri="{9D8B030D-6E8A-4147-A177-3AD203B41FA5}">
                      <a16:colId xmlns:a16="http://schemas.microsoft.com/office/drawing/2014/main" val="1624423460"/>
                    </a:ext>
                  </a:extLst>
                </a:gridCol>
                <a:gridCol w="7422292">
                  <a:extLst>
                    <a:ext uri="{9D8B030D-6E8A-4147-A177-3AD203B41FA5}">
                      <a16:colId xmlns:a16="http://schemas.microsoft.com/office/drawing/2014/main" val="747945498"/>
                    </a:ext>
                  </a:extLst>
                </a:gridCol>
              </a:tblGrid>
              <a:tr h="793704">
                <a:tc>
                  <a:txBody>
                    <a:bodyPr/>
                    <a:lstStyle/>
                    <a:p>
                      <a:r>
                        <a:rPr lang="en-IT" dirty="0"/>
                        <a:t>Team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T" dirty="0"/>
                        <a:t>Practicum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6010056"/>
                  </a:ext>
                </a:extLst>
              </a:tr>
              <a:tr h="459844">
                <a:tc>
                  <a:txBody>
                    <a:bodyPr/>
                    <a:lstStyle/>
                    <a:p>
                      <a:r>
                        <a:rPr lang="en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1053245"/>
                  </a:ext>
                </a:extLst>
              </a:tr>
              <a:tr h="459844">
                <a:tc>
                  <a:txBody>
                    <a:bodyPr/>
                    <a:lstStyle/>
                    <a:p>
                      <a:r>
                        <a:rPr lang="en-IT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3597317"/>
                  </a:ext>
                </a:extLst>
              </a:tr>
              <a:tr h="459844">
                <a:tc>
                  <a:txBody>
                    <a:bodyPr/>
                    <a:lstStyle/>
                    <a:p>
                      <a:r>
                        <a:rPr lang="en-IT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046556"/>
                  </a:ext>
                </a:extLst>
              </a:tr>
              <a:tr h="459844">
                <a:tc>
                  <a:txBody>
                    <a:bodyPr/>
                    <a:lstStyle/>
                    <a:p>
                      <a:r>
                        <a:rPr lang="en-IT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7764825"/>
                  </a:ext>
                </a:extLst>
              </a:tr>
              <a:tr h="459844">
                <a:tc>
                  <a:txBody>
                    <a:bodyPr/>
                    <a:lstStyle/>
                    <a:p>
                      <a:r>
                        <a:rPr lang="en-IT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6414404"/>
                  </a:ext>
                </a:extLst>
              </a:tr>
              <a:tr h="459844">
                <a:tc>
                  <a:txBody>
                    <a:bodyPr/>
                    <a:lstStyle/>
                    <a:p>
                      <a:r>
                        <a:rPr lang="en-IT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4874668"/>
                  </a:ext>
                </a:extLst>
              </a:tr>
              <a:tr h="459844">
                <a:tc>
                  <a:txBody>
                    <a:bodyPr/>
                    <a:lstStyle/>
                    <a:p>
                      <a:r>
                        <a:rPr lang="en-IT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0976817"/>
                  </a:ext>
                </a:extLst>
              </a:tr>
              <a:tr h="459844">
                <a:tc>
                  <a:txBody>
                    <a:bodyPr/>
                    <a:lstStyle/>
                    <a:p>
                      <a:r>
                        <a:rPr lang="en-IT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00276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6173812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28BF534B-9FF0-93F8-F5CA-8136229C5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IT" dirty="0">
                <a:ea typeface="ＭＳ Ｐゴシック" panose="020B0600070205080204" pitchFamily="34" charset="-128"/>
              </a:rPr>
              <a:t>Why do good developers (and LLMs) write bad software?</a:t>
            </a:r>
          </a:p>
        </p:txBody>
      </p:sp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5CD38A22-35BE-E97C-86DB-B851D09BB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IT" dirty="0">
                <a:ea typeface="ＭＳ Ｐゴシック" panose="020B0600070205080204" pitchFamily="34" charset="-128"/>
              </a:rPr>
              <a:t>Requirements change over time, making it hard to update your code (leading to less optimal designs)</a:t>
            </a:r>
          </a:p>
          <a:p>
            <a:pPr eaLnBrk="1" hangingPunct="1"/>
            <a:r>
              <a:rPr lang="en-US" altLang="en-IT" dirty="0">
                <a:ea typeface="ＭＳ Ｐゴシック" panose="020B0600070205080204" pitchFamily="34" charset="-128"/>
              </a:rPr>
              <a:t>Time and money cause you to take shortcuts (lack of tokens)</a:t>
            </a:r>
          </a:p>
          <a:p>
            <a:pPr eaLnBrk="1" hangingPunct="1"/>
            <a:r>
              <a:rPr lang="en-US" altLang="en-IT" dirty="0">
                <a:ea typeface="ＭＳ Ｐゴシック" panose="020B0600070205080204" pitchFamily="34" charset="-128"/>
              </a:rPr>
              <a:t>You learn a better way to do something (the second time you paint a room, it’s always better than the first because you learned during the first time!)</a:t>
            </a:r>
          </a:p>
          <a:p>
            <a:pPr eaLnBrk="1" hangingPunct="1"/>
            <a:endParaRPr lang="en-US" altLang="en-IT" dirty="0">
              <a:ea typeface="ＭＳ Ｐゴシック" panose="020B0600070205080204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ACD659-8151-BE26-AFE3-A067A28AF192}"/>
              </a:ext>
            </a:extLst>
          </p:cNvPr>
          <p:cNvSpPr/>
          <p:nvPr/>
        </p:nvSpPr>
        <p:spPr>
          <a:xfrm>
            <a:off x="914400" y="5257800"/>
            <a:ext cx="7391400" cy="10668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IT" sz="1800">
                <a:solidFill>
                  <a:srgbClr val="000000"/>
                </a:solidFill>
                <a:latin typeface="News Gothic MT" panose="020B0503020103020203" pitchFamily="34" charset="0"/>
              </a:rPr>
              <a:t>Two questions: </a:t>
            </a:r>
          </a:p>
          <a:p>
            <a:pPr eaLnBrk="1" hangingPunct="1">
              <a:buFontTx/>
              <a:buAutoNum type="arabicPeriod"/>
            </a:pPr>
            <a:r>
              <a:rPr lang="en-US" altLang="en-IT" sz="1800">
                <a:solidFill>
                  <a:srgbClr val="000000"/>
                </a:solidFill>
                <a:latin typeface="News Gothic MT" panose="020B0503020103020203" pitchFamily="34" charset="0"/>
              </a:rPr>
              <a:t>How do we fix our software?</a:t>
            </a:r>
          </a:p>
          <a:p>
            <a:pPr eaLnBrk="1" hangingPunct="1">
              <a:buFontTx/>
              <a:buAutoNum type="arabicPeriod"/>
            </a:pPr>
            <a:r>
              <a:rPr lang="en-US" altLang="en-IT" sz="1800">
                <a:solidFill>
                  <a:srgbClr val="000000"/>
                </a:solidFill>
                <a:latin typeface="News Gothic MT" panose="020B0503020103020203" pitchFamily="34" charset="0"/>
              </a:rPr>
              <a:t>How do we know our software is “bad”… when it works fine!</a:t>
            </a:r>
          </a:p>
        </p:txBody>
      </p:sp>
      <p:sp>
        <p:nvSpPr>
          <p:cNvPr id="18437" name="Footer Placeholder 4">
            <a:extLst>
              <a:ext uri="{FF2B5EF4-FFF2-40B4-BE49-F238E27FC236}">
                <a16:creationId xmlns:a16="http://schemas.microsoft.com/office/drawing/2014/main" id="{8B3100F3-22ED-73C5-ABFA-0F665E365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0" y="6640513"/>
            <a:ext cx="5629275" cy="217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bg1"/>
                </a:solidFill>
                <a:latin typeface="News Gothic MT" pitchFamily="-109" charset="0"/>
                <a:ea typeface="ＭＳ Ｐゴシック" pitchFamily="-109" charset="-128"/>
                <a:cs typeface="ＭＳ Ｐゴシック" pitchFamily="-109" charset="-128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eaLnBrk="1" hangingPunct="1"/>
            <a:endParaRPr lang="en-US" altLang="en-IT" sz="1200">
              <a:solidFill>
                <a:schemeClr val="bg1"/>
              </a:solidFill>
              <a:latin typeface="News Gothic MT" panose="020B0503020103020203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4A270-31DC-88D8-DB7D-829DE029B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DA267825-71F1-5962-067A-86B4F7AEC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IT">
                <a:ea typeface="ＭＳ Ｐゴシック" panose="020B0600070205080204" pitchFamily="34" charset="-128"/>
              </a:rPr>
              <a:t>Why do good developers write bad software?</a:t>
            </a:r>
          </a:p>
        </p:txBody>
      </p:sp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C1C7EB96-95FD-F8D9-C0EF-C6AC26B5A1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IT" dirty="0">
                <a:ea typeface="ＭＳ Ｐゴシック" panose="020B0600070205080204" pitchFamily="34" charset="-128"/>
              </a:rPr>
              <a:t>Requirements change over time, making it hard to update your code (leading to less optimal designs)</a:t>
            </a:r>
          </a:p>
          <a:p>
            <a:pPr eaLnBrk="1" hangingPunct="1"/>
            <a:r>
              <a:rPr lang="en-US" altLang="en-IT" strike="sngStrike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Time and money cause you to take shortcuts </a:t>
            </a:r>
            <a:r>
              <a:rPr lang="en-US" altLang="en-IT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TECH. DEBT</a:t>
            </a:r>
            <a:endParaRPr lang="en-US" altLang="en-IT" strike="sngStrike" dirty="0">
              <a:solidFill>
                <a:srgbClr val="FF0000"/>
              </a:solidFill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IT" dirty="0">
                <a:ea typeface="ＭＳ Ｐゴシック" panose="020B0600070205080204" pitchFamily="34" charset="-128"/>
              </a:rPr>
              <a:t>You learn a better way to do something (the second time you paint a room, it’s always better than the first because you learned during the first time!)</a:t>
            </a:r>
          </a:p>
          <a:p>
            <a:pPr eaLnBrk="1" hangingPunct="1"/>
            <a:endParaRPr lang="en-US" altLang="en-IT" dirty="0">
              <a:ea typeface="ＭＳ Ｐゴシック" panose="020B0600070205080204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C912D3-9612-7EE9-EB9A-59A60C484674}"/>
              </a:ext>
            </a:extLst>
          </p:cNvPr>
          <p:cNvSpPr/>
          <p:nvPr/>
        </p:nvSpPr>
        <p:spPr>
          <a:xfrm>
            <a:off x="914400" y="5257800"/>
            <a:ext cx="7391400" cy="10668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IT" sz="1800">
                <a:solidFill>
                  <a:srgbClr val="000000"/>
                </a:solidFill>
                <a:latin typeface="News Gothic MT" panose="020B0503020103020203" pitchFamily="34" charset="0"/>
              </a:rPr>
              <a:t>Two questions: </a:t>
            </a:r>
          </a:p>
          <a:p>
            <a:pPr eaLnBrk="1" hangingPunct="1">
              <a:buFontTx/>
              <a:buAutoNum type="arabicPeriod"/>
            </a:pPr>
            <a:r>
              <a:rPr lang="en-US" altLang="en-IT" sz="1800">
                <a:solidFill>
                  <a:srgbClr val="000000"/>
                </a:solidFill>
                <a:latin typeface="News Gothic MT" panose="020B0503020103020203" pitchFamily="34" charset="0"/>
              </a:rPr>
              <a:t>How do we fix our software?</a:t>
            </a:r>
          </a:p>
          <a:p>
            <a:pPr eaLnBrk="1" hangingPunct="1">
              <a:buFontTx/>
              <a:buAutoNum type="arabicPeriod"/>
            </a:pPr>
            <a:r>
              <a:rPr lang="en-US" altLang="en-IT" sz="1800">
                <a:solidFill>
                  <a:srgbClr val="000000"/>
                </a:solidFill>
                <a:latin typeface="News Gothic MT" panose="020B0503020103020203" pitchFamily="34" charset="0"/>
              </a:rPr>
              <a:t>How do we know our software is “bad”… when it works fine!</a:t>
            </a:r>
          </a:p>
        </p:txBody>
      </p:sp>
      <p:sp>
        <p:nvSpPr>
          <p:cNvPr id="18437" name="Footer Placeholder 4">
            <a:extLst>
              <a:ext uri="{FF2B5EF4-FFF2-40B4-BE49-F238E27FC236}">
                <a16:creationId xmlns:a16="http://schemas.microsoft.com/office/drawing/2014/main" id="{826661A3-E4E0-8370-8FCC-435B678BA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0" y="6640513"/>
            <a:ext cx="5629275" cy="217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bg1"/>
                </a:solidFill>
                <a:latin typeface="News Gothic MT" pitchFamily="-109" charset="0"/>
                <a:ea typeface="ＭＳ Ｐゴシック" pitchFamily="-109" charset="-128"/>
                <a:cs typeface="ＭＳ Ｐゴシック" pitchFamily="-109" charset="-128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eaLnBrk="1" hangingPunct="1"/>
            <a:endParaRPr lang="en-US" altLang="en-IT" sz="1200">
              <a:solidFill>
                <a:schemeClr val="bg1"/>
              </a:solidFill>
              <a:latin typeface="News Gothic MT" panose="020B0503020103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6476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D4F1F-B2B8-7E6C-A878-780EB57E0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7EFD7F71-442E-7B99-EBE9-CCFAC0E44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IT">
                <a:ea typeface="ＭＳ Ｐゴシック" panose="020B0600070205080204" pitchFamily="34" charset="-128"/>
              </a:rPr>
              <a:t>Why do good developers write bad software?</a:t>
            </a:r>
          </a:p>
        </p:txBody>
      </p:sp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00A031B0-56D9-98B6-4798-E58F9D012F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IT" dirty="0">
                <a:ea typeface="ＭＳ Ｐゴシック" panose="020B0600070205080204" pitchFamily="34" charset="-128"/>
              </a:rPr>
              <a:t>Requirements change over time, making it hard to update your code (leading to less optimal designs)</a:t>
            </a:r>
          </a:p>
          <a:p>
            <a:pPr eaLnBrk="1" hangingPunct="1"/>
            <a:r>
              <a:rPr lang="en-US" altLang="en-IT" strike="sngStrike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Time and money cause you to take shortcuts </a:t>
            </a:r>
            <a:r>
              <a:rPr lang="en-US" altLang="en-IT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TECH. DEBT</a:t>
            </a:r>
            <a:endParaRPr lang="en-US" altLang="en-IT" strike="sngStrike" dirty="0">
              <a:solidFill>
                <a:srgbClr val="FF0000"/>
              </a:solidFill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IT" dirty="0">
                <a:ea typeface="ＭＳ Ｐゴシック" panose="020B0600070205080204" pitchFamily="34" charset="-128"/>
              </a:rPr>
              <a:t>You learn a better way to do something (the second time you paint a room, it’s always better than the first because you learned during the first time!)</a:t>
            </a:r>
          </a:p>
          <a:p>
            <a:pPr eaLnBrk="1" hangingPunct="1"/>
            <a:endParaRPr lang="en-US" altLang="en-IT" dirty="0">
              <a:ea typeface="ＭＳ Ｐゴシック" panose="020B0600070205080204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93D8E7-F24E-C839-3DB9-5D7BBD21E7EA}"/>
              </a:ext>
            </a:extLst>
          </p:cNvPr>
          <p:cNvSpPr/>
          <p:nvPr/>
        </p:nvSpPr>
        <p:spPr>
          <a:xfrm>
            <a:off x="914400" y="5257800"/>
            <a:ext cx="7549978" cy="10668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IT" sz="1800" dirty="0">
                <a:solidFill>
                  <a:srgbClr val="000000"/>
                </a:solidFill>
                <a:latin typeface="News Gothic MT" panose="020B0503020103020203" pitchFamily="34" charset="0"/>
              </a:rPr>
              <a:t>Two questions: </a:t>
            </a:r>
          </a:p>
          <a:p>
            <a:pPr eaLnBrk="1" hangingPunct="1">
              <a:buFontTx/>
              <a:buAutoNum type="arabicPeriod"/>
            </a:pPr>
            <a:r>
              <a:rPr lang="en-US" altLang="en-IT" sz="1800" dirty="0">
                <a:solidFill>
                  <a:srgbClr val="000000"/>
                </a:solidFill>
                <a:latin typeface="News Gothic MT" panose="020B0503020103020203" pitchFamily="34" charset="0"/>
              </a:rPr>
              <a:t>How do we fix our software?</a:t>
            </a:r>
          </a:p>
          <a:p>
            <a:pPr eaLnBrk="1" hangingPunct="1">
              <a:buFontTx/>
              <a:buAutoNum type="arabicPeriod"/>
            </a:pPr>
            <a:r>
              <a:rPr lang="en-US" altLang="en-IT" sz="1800" dirty="0">
                <a:solidFill>
                  <a:srgbClr val="000000"/>
                </a:solidFill>
                <a:latin typeface="News Gothic MT" panose="020B0503020103020203" pitchFamily="34" charset="0"/>
              </a:rPr>
              <a:t>How do we know our software is “bad”… when it works fine</a:t>
            </a:r>
            <a:r>
              <a:rPr lang="en-US" altLang="en-IT" sz="1800" dirty="0">
                <a:solidFill>
                  <a:srgbClr val="FF0000"/>
                </a:solidFill>
                <a:latin typeface="News Gothic MT" panose="020B0503020103020203" pitchFamily="34" charset="0"/>
              </a:rPr>
              <a:t>(</a:t>
            </a:r>
            <a:r>
              <a:rPr lang="en-US" altLang="en-IT" sz="1800" dirty="0" err="1">
                <a:solidFill>
                  <a:srgbClr val="FF0000"/>
                </a:solidFill>
                <a:latin typeface="News Gothic MT" panose="020B0503020103020203" pitchFamily="34" charset="0"/>
              </a:rPr>
              <a:t>ish</a:t>
            </a:r>
            <a:r>
              <a:rPr lang="en-US" altLang="en-IT" sz="1800" dirty="0">
                <a:solidFill>
                  <a:srgbClr val="FF0000"/>
                </a:solidFill>
                <a:latin typeface="News Gothic MT" panose="020B0503020103020203" pitchFamily="34" charset="0"/>
              </a:rPr>
              <a:t>)</a:t>
            </a:r>
            <a:r>
              <a:rPr lang="en-US" altLang="en-IT" sz="1800" dirty="0">
                <a:solidFill>
                  <a:srgbClr val="000000"/>
                </a:solidFill>
                <a:latin typeface="News Gothic MT" panose="020B0503020103020203" pitchFamily="34" charset="0"/>
              </a:rPr>
              <a:t>!</a:t>
            </a:r>
          </a:p>
        </p:txBody>
      </p:sp>
      <p:sp>
        <p:nvSpPr>
          <p:cNvPr id="18437" name="Footer Placeholder 4">
            <a:extLst>
              <a:ext uri="{FF2B5EF4-FFF2-40B4-BE49-F238E27FC236}">
                <a16:creationId xmlns:a16="http://schemas.microsoft.com/office/drawing/2014/main" id="{CC0D5B4E-F46F-B279-CEF8-8AD5DAFC7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0" y="6640513"/>
            <a:ext cx="5629275" cy="217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bg1"/>
                </a:solidFill>
                <a:latin typeface="News Gothic MT" pitchFamily="-109" charset="0"/>
                <a:ea typeface="ＭＳ Ｐゴシック" pitchFamily="-109" charset="-128"/>
                <a:cs typeface="ＭＳ Ｐゴシック" pitchFamily="-109" charset="-128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eaLnBrk="1" hangingPunct="1"/>
            <a:endParaRPr lang="en-US" altLang="en-IT" sz="1200">
              <a:solidFill>
                <a:schemeClr val="bg1"/>
              </a:solidFill>
              <a:latin typeface="News Gothic MT" panose="020B0503020103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3388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43B486D6-6B40-734B-D3A1-A516884E0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75" y="107950"/>
            <a:ext cx="8042275" cy="882650"/>
          </a:xfrm>
        </p:spPr>
        <p:txBody>
          <a:bodyPr/>
          <a:lstStyle/>
          <a:p>
            <a:pPr eaLnBrk="1" hangingPunct="1"/>
            <a:r>
              <a:rPr lang="en-US" altLang="en-IT" dirty="0">
                <a:ea typeface="ＭＳ Ｐゴシック" panose="020B0600070205080204" pitchFamily="34" charset="-128"/>
              </a:rPr>
              <a:t>Refactoring: a Refresh</a:t>
            </a:r>
          </a:p>
        </p:txBody>
      </p:sp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id="{8922409B-8FD0-344F-64DE-171CB25AFE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275" y="990600"/>
            <a:ext cx="8042275" cy="4953000"/>
          </a:xfrm>
        </p:spPr>
        <p:txBody>
          <a:bodyPr/>
          <a:lstStyle/>
          <a:p>
            <a:pPr eaLnBrk="1" hangingPunct="1"/>
            <a:r>
              <a:rPr lang="en-US" altLang="en-IT" dirty="0">
                <a:ea typeface="ＭＳ Ｐゴシック" panose="020B0600070205080204" pitchFamily="34" charset="-128"/>
              </a:rPr>
              <a:t>Definition: Refactoring modifies software to improve its readability, maintainability, and extensibility </a:t>
            </a:r>
            <a:r>
              <a:rPr lang="en-US" altLang="en-IT" u="sng" dirty="0">
                <a:ea typeface="ＭＳ Ｐゴシック" panose="020B0600070205080204" pitchFamily="34" charset="-128"/>
              </a:rPr>
              <a:t>without changing what it actually does</a:t>
            </a:r>
            <a:r>
              <a:rPr lang="en-US" altLang="en-IT" dirty="0">
                <a:ea typeface="ＭＳ Ｐゴシック" panose="020B0600070205080204" pitchFamily="34" charset="-128"/>
              </a:rPr>
              <a:t>.</a:t>
            </a:r>
          </a:p>
          <a:p>
            <a:pPr eaLnBrk="1" hangingPunct="1"/>
            <a:r>
              <a:rPr lang="en-US" altLang="en-IT" dirty="0">
                <a:ea typeface="ＭＳ Ｐゴシック" panose="020B0600070205080204" pitchFamily="34" charset="-128"/>
              </a:rPr>
              <a:t>External behavior does NOT change</a:t>
            </a:r>
          </a:p>
          <a:p>
            <a:pPr eaLnBrk="1" hangingPunct="1"/>
            <a:r>
              <a:rPr lang="en-US" altLang="en-IT" dirty="0">
                <a:ea typeface="ＭＳ Ｐゴシック" panose="020B0600070205080204" pitchFamily="34" charset="-128"/>
              </a:rPr>
              <a:t>Internal structure is </a:t>
            </a:r>
            <a:r>
              <a:rPr lang="en-US" altLang="en-IT" u="sng" dirty="0">
                <a:ea typeface="ＭＳ Ｐゴシック" panose="020B0600070205080204" pitchFamily="34" charset="-128"/>
              </a:rPr>
              <a:t>improved</a:t>
            </a:r>
          </a:p>
        </p:txBody>
      </p:sp>
      <p:sp>
        <p:nvSpPr>
          <p:cNvPr id="19460" name="Footer Placeholder 3">
            <a:extLst>
              <a:ext uri="{FF2B5EF4-FFF2-40B4-BE49-F238E27FC236}">
                <a16:creationId xmlns:a16="http://schemas.microsoft.com/office/drawing/2014/main" id="{2C27F6E3-2CC0-9D64-F9FF-9F3048947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0" y="6640513"/>
            <a:ext cx="5629275" cy="217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bg1"/>
                </a:solidFill>
                <a:latin typeface="News Gothic MT" pitchFamily="-109" charset="0"/>
                <a:ea typeface="ＭＳ Ｐゴシック" pitchFamily="-109" charset="-128"/>
                <a:cs typeface="ＭＳ Ｐゴシック" pitchFamily="-109" charset="-128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eaLnBrk="1" hangingPunct="1"/>
            <a:endParaRPr lang="en-US" altLang="en-IT" sz="1200">
              <a:solidFill>
                <a:schemeClr val="bg1"/>
              </a:solidFill>
              <a:latin typeface="News Gothic MT" panose="020B0503020103020203" pitchFamily="34" charset="0"/>
            </a:endParaRPr>
          </a:p>
        </p:txBody>
      </p:sp>
      <p:pic>
        <p:nvPicPr>
          <p:cNvPr id="19461" name="Picture 4" descr="irreg0687.jpg">
            <a:extLst>
              <a:ext uri="{FF2B5EF4-FFF2-40B4-BE49-F238E27FC236}">
                <a16:creationId xmlns:a16="http://schemas.microsoft.com/office/drawing/2014/main" id="{7CFEB4B5-047E-6E0F-1B63-A37CED1914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581400"/>
            <a:ext cx="8001000" cy="284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9">
            <a:extLst>
              <a:ext uri="{FF2B5EF4-FFF2-40B4-BE49-F238E27FC236}">
                <a16:creationId xmlns:a16="http://schemas.microsoft.com/office/drawing/2014/main" id="{376E4CC1-0B70-547A-4D08-9243D7941A2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453665E3-4955-C14A-84A5-9B99CD3356EF}" type="slidenum">
              <a:rPr lang="en-US" altLang="en-US" sz="1000">
                <a:solidFill>
                  <a:srgbClr val="000000"/>
                </a:solidFill>
              </a:rPr>
              <a:pPr/>
              <a:t>9</a:t>
            </a:fld>
            <a:endParaRPr lang="en-US" altLang="en-US" sz="1000">
              <a:solidFill>
                <a:srgbClr val="000000"/>
              </a:solidFill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0869A5C7-A975-577C-3ABC-679D23A5665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0000FF"/>
                </a:solidFill>
              </a:rPr>
              <a:t>General Idea</a:t>
            </a:r>
            <a:endParaRPr lang="en-US" altLang="en-US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7571" name="Rectangle 3">
            <a:extLst>
              <a:ext uri="{FF2B5EF4-FFF2-40B4-BE49-F238E27FC236}">
                <a16:creationId xmlns:a16="http://schemas.microsoft.com/office/drawing/2014/main" id="{BCD3976F-2349-F56E-6F44-42261104FF4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93675" y="660400"/>
            <a:ext cx="8966200" cy="58293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latin typeface="+mn-lt"/>
              </a:rPr>
              <a:t>Developers continuously modify, enhance and adapt software.</a:t>
            </a:r>
          </a:p>
          <a:p>
            <a:pPr>
              <a:defRPr/>
            </a:pPr>
            <a:r>
              <a:rPr lang="en-US" altLang="en-US" dirty="0">
                <a:latin typeface="+mn-lt"/>
              </a:rPr>
              <a:t>As software evolves and strays away from its original design, three things happen.</a:t>
            </a:r>
          </a:p>
          <a:p>
            <a:pPr lvl="1">
              <a:defRPr/>
            </a:pPr>
            <a:r>
              <a:rPr lang="en-US" altLang="en-US" dirty="0">
                <a:latin typeface="+mn-lt"/>
              </a:rPr>
              <a:t>Decreased understandability </a:t>
            </a:r>
          </a:p>
          <a:p>
            <a:pPr lvl="1">
              <a:defRPr/>
            </a:pPr>
            <a:r>
              <a:rPr lang="en-US" altLang="en-US" dirty="0">
                <a:latin typeface="+mn-lt"/>
              </a:rPr>
              <a:t>Decreased reliability</a:t>
            </a:r>
          </a:p>
          <a:p>
            <a:pPr lvl="1">
              <a:defRPr/>
            </a:pPr>
            <a:r>
              <a:rPr lang="en-US" altLang="en-US" dirty="0">
                <a:latin typeface="+mn-lt"/>
              </a:rPr>
              <a:t>Increased maintenance cost</a:t>
            </a:r>
          </a:p>
          <a:p>
            <a:pPr>
              <a:defRPr/>
            </a:pPr>
            <a:r>
              <a:rPr lang="en-US" altLang="en-US" dirty="0">
                <a:latin typeface="+mn-lt"/>
              </a:rPr>
              <a:t>Decreased understandability is due to</a:t>
            </a:r>
          </a:p>
          <a:p>
            <a:pPr lvl="1">
              <a:defRPr/>
            </a:pPr>
            <a:r>
              <a:rPr lang="en-US" altLang="en-US" dirty="0">
                <a:latin typeface="+mn-lt"/>
              </a:rPr>
              <a:t>Increased complexity of code</a:t>
            </a:r>
          </a:p>
          <a:p>
            <a:pPr lvl="1">
              <a:defRPr/>
            </a:pPr>
            <a:r>
              <a:rPr lang="en-US" altLang="en-US" dirty="0">
                <a:latin typeface="+mn-lt"/>
              </a:rPr>
              <a:t>Out-of-date documentation</a:t>
            </a:r>
          </a:p>
          <a:p>
            <a:pPr lvl="1">
              <a:defRPr/>
            </a:pPr>
            <a:r>
              <a:rPr lang="en-US" altLang="en-US" dirty="0">
                <a:latin typeface="+mn-lt"/>
              </a:rPr>
              <a:t>Code not conforming to standards</a:t>
            </a:r>
          </a:p>
          <a:p>
            <a:pPr marL="457200" lvl="1" indent="0">
              <a:buFontTx/>
              <a:buNone/>
              <a:defRPr/>
            </a:pPr>
            <a:endParaRPr lang="en-US" altLang="en-US" sz="2800" dirty="0">
              <a:latin typeface="Times New Roman" pitchFamily="18" charset="0"/>
            </a:endParaRPr>
          </a:p>
          <a:p>
            <a:pPr marL="0" indent="0">
              <a:buFontTx/>
              <a:buNone/>
              <a:defRPr/>
            </a:pPr>
            <a:endParaRPr lang="en-US" altLang="en-US" sz="3200" dirty="0">
              <a:latin typeface="Times New Roman" pitchFamily="18" charset="0"/>
            </a:endParaRP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9">
            <a:extLst>
              <a:ext uri="{FF2B5EF4-FFF2-40B4-BE49-F238E27FC236}">
                <a16:creationId xmlns:a16="http://schemas.microsoft.com/office/drawing/2014/main" id="{CE60B63E-FB50-49AA-0195-BF675C5C046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C54A52C8-9969-4A41-BADD-4D7A821CD966}" type="slidenum">
              <a:rPr lang="en-US" altLang="en-US" sz="1000">
                <a:solidFill>
                  <a:srgbClr val="000000"/>
                </a:solidFill>
              </a:rPr>
              <a:pPr/>
              <a:t>10</a:t>
            </a:fld>
            <a:endParaRPr lang="en-US" altLang="en-US" sz="1000">
              <a:solidFill>
                <a:srgbClr val="000000"/>
              </a:solidFill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D8EDE47C-D49C-5ED3-B7A2-352253ED577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solidFill>
                  <a:srgbClr val="0000FF"/>
                </a:solidFill>
                <a:latin typeface="+mn-lt"/>
              </a:rPr>
              <a:t>General Idea</a:t>
            </a:r>
          </a:p>
        </p:txBody>
      </p:sp>
      <p:sp>
        <p:nvSpPr>
          <p:cNvPr id="237571" name="Rectangle 3">
            <a:extLst>
              <a:ext uri="{FF2B5EF4-FFF2-40B4-BE49-F238E27FC236}">
                <a16:creationId xmlns:a16="http://schemas.microsoft.com/office/drawing/2014/main" id="{E08A3345-1170-537D-61F8-C88B8A65B4F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93675" y="660400"/>
            <a:ext cx="8966200" cy="58293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latin typeface="+mn-lt"/>
              </a:rPr>
              <a:t>Decrease the complexity of software by improving its internal quality by  restructuring the software.</a:t>
            </a:r>
          </a:p>
          <a:p>
            <a:pPr>
              <a:defRPr/>
            </a:pPr>
            <a:r>
              <a:rPr lang="en-US" altLang="en-US" dirty="0">
                <a:latin typeface="+mn-lt"/>
              </a:rPr>
              <a:t>Restructuring applied on object-oriented software is called refactoring.</a:t>
            </a:r>
          </a:p>
          <a:p>
            <a:pPr>
              <a:defRPr/>
            </a:pPr>
            <a:r>
              <a:rPr lang="en-US" altLang="en-US" dirty="0">
                <a:latin typeface="+mn-lt"/>
              </a:rPr>
              <a:t>Restructuring means reorganizing software (source code + documentation) to give it a different look, or structure.</a:t>
            </a:r>
          </a:p>
          <a:p>
            <a:pPr>
              <a:defRPr/>
            </a:pPr>
            <a:endParaRPr lang="en-US" altLang="en-US" sz="3200" dirty="0">
              <a:latin typeface="+mn-lt"/>
            </a:endParaRPr>
          </a:p>
          <a:p>
            <a:pPr marL="0" indent="0">
              <a:buFontTx/>
              <a:buNone/>
              <a:defRPr/>
            </a:pPr>
            <a:endParaRPr lang="en-US" altLang="en-US" sz="3200" dirty="0">
              <a:latin typeface="+mn-lt"/>
            </a:endParaRP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9">
            <a:extLst>
              <a:ext uri="{FF2B5EF4-FFF2-40B4-BE49-F238E27FC236}">
                <a16:creationId xmlns:a16="http://schemas.microsoft.com/office/drawing/2014/main" id="{9219CA95-2B9F-D873-32B5-CAC1DF9C70F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BD3CDEDA-93D5-974F-B97E-4FDE47407725}" type="slidenum">
              <a:rPr lang="en-US" altLang="en-US" sz="1000">
                <a:solidFill>
                  <a:srgbClr val="000000"/>
                </a:solidFill>
              </a:rPr>
              <a:pPr/>
              <a:t>11</a:t>
            </a:fld>
            <a:endParaRPr lang="en-US" altLang="en-US" sz="1000">
              <a:solidFill>
                <a:srgbClr val="000000"/>
              </a:solidFill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C32C4495-A6AC-D7C5-E91F-55AE483B8B6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solidFill>
                  <a:srgbClr val="0000FF"/>
                </a:solidFill>
                <a:latin typeface="+mn-lt"/>
              </a:rPr>
              <a:t>General Idea</a:t>
            </a:r>
          </a:p>
        </p:txBody>
      </p:sp>
      <p:sp>
        <p:nvSpPr>
          <p:cNvPr id="237571" name="Rectangle 3">
            <a:extLst>
              <a:ext uri="{FF2B5EF4-FFF2-40B4-BE49-F238E27FC236}">
                <a16:creationId xmlns:a16="http://schemas.microsoft.com/office/drawing/2014/main" id="{FE86C71A-8520-CD0E-9328-091A0D50D05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93675" y="660400"/>
            <a:ext cx="8966200" cy="58293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latin typeface="+mn-lt"/>
              </a:rPr>
              <a:t>Source code is restructured to improve some of its non-functional requirements:</a:t>
            </a:r>
          </a:p>
          <a:p>
            <a:pPr lvl="1">
              <a:defRPr/>
            </a:pPr>
            <a:r>
              <a:rPr lang="en-US" altLang="en-US" dirty="0">
                <a:latin typeface="+mn-lt"/>
              </a:rPr>
              <a:t>Readability			</a:t>
            </a:r>
          </a:p>
          <a:p>
            <a:pPr lvl="1">
              <a:defRPr/>
            </a:pPr>
            <a:r>
              <a:rPr lang="en-US" altLang="en-US" dirty="0">
                <a:latin typeface="+mn-lt"/>
              </a:rPr>
              <a:t>Extensibility</a:t>
            </a:r>
          </a:p>
          <a:p>
            <a:pPr lvl="1">
              <a:defRPr/>
            </a:pPr>
            <a:r>
              <a:rPr lang="en-US" altLang="en-US" dirty="0">
                <a:latin typeface="+mn-lt"/>
              </a:rPr>
              <a:t>Maintainability</a:t>
            </a:r>
          </a:p>
          <a:p>
            <a:pPr lvl="1">
              <a:defRPr/>
            </a:pPr>
            <a:r>
              <a:rPr lang="en-US" altLang="en-US" dirty="0">
                <a:latin typeface="+mn-lt"/>
              </a:rPr>
              <a:t>Modularity</a:t>
            </a:r>
          </a:p>
          <a:p>
            <a:pPr>
              <a:defRPr/>
            </a:pPr>
            <a:r>
              <a:rPr lang="en-US" altLang="en-US" dirty="0">
                <a:latin typeface="+mn-lt"/>
              </a:rPr>
              <a:t>Restructuring does not modify the software’s functionalities.</a:t>
            </a:r>
          </a:p>
          <a:p>
            <a:pPr>
              <a:defRPr/>
            </a:pPr>
            <a:r>
              <a:rPr lang="en-US" altLang="en-US" dirty="0">
                <a:latin typeface="+mn-lt"/>
              </a:rPr>
              <a:t>Restructuring can be performed </a:t>
            </a:r>
            <a:r>
              <a:rPr lang="en-US" altLang="en-US" i="1" dirty="0">
                <a:latin typeface="+mn-lt"/>
              </a:rPr>
              <a:t>while</a:t>
            </a:r>
            <a:r>
              <a:rPr lang="en-US" altLang="en-US" dirty="0">
                <a:latin typeface="+mn-lt"/>
              </a:rPr>
              <a:t> adding new features. </a:t>
            </a:r>
          </a:p>
          <a:p>
            <a:pPr marL="457200" lvl="1" indent="0">
              <a:buFontTx/>
              <a:buNone/>
              <a:defRPr/>
            </a:pPr>
            <a:endParaRPr lang="en-US" altLang="en-US" sz="2800" dirty="0">
              <a:latin typeface="+mn-lt"/>
            </a:endParaRPr>
          </a:p>
          <a:p>
            <a:pPr marL="0" indent="0">
              <a:buFontTx/>
              <a:buNone/>
              <a:defRPr/>
            </a:pPr>
            <a:endParaRPr lang="en-US" altLang="en-US" sz="3200" dirty="0">
              <a:latin typeface="+mn-lt"/>
            </a:endParaRP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9">
            <a:extLst>
              <a:ext uri="{FF2B5EF4-FFF2-40B4-BE49-F238E27FC236}">
                <a16:creationId xmlns:a16="http://schemas.microsoft.com/office/drawing/2014/main" id="{29F963F6-1337-4908-7541-6CDBDF5D6F3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4407A98E-6AB1-0E46-A74C-DA95AB93E966}" type="slidenum">
              <a:rPr lang="en-US" altLang="en-US" sz="1000">
                <a:solidFill>
                  <a:srgbClr val="000000"/>
                </a:solidFill>
              </a:rPr>
              <a:pPr/>
              <a:t>12</a:t>
            </a:fld>
            <a:endParaRPr lang="en-US" altLang="en-US" sz="1000">
              <a:solidFill>
                <a:srgbClr val="000000"/>
              </a:solidFill>
            </a:endParaRP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7C29A651-0FB9-76DC-6A0D-287B9A01E37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0000FF"/>
                </a:solidFill>
              </a:rPr>
              <a:t>General Idea</a:t>
            </a:r>
            <a:endParaRPr lang="en-US" altLang="en-US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7571" name="Rectangle 3">
            <a:extLst>
              <a:ext uri="{FF2B5EF4-FFF2-40B4-BE49-F238E27FC236}">
                <a16:creationId xmlns:a16="http://schemas.microsoft.com/office/drawing/2014/main" id="{48975EA9-2733-00F9-2C16-6182B2A473D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93675" y="660400"/>
            <a:ext cx="8966200" cy="5829300"/>
          </a:xfrm>
        </p:spPr>
        <p:txBody>
          <a:bodyPr/>
          <a:lstStyle/>
          <a:p>
            <a:pPr>
              <a:defRPr/>
            </a:pPr>
            <a:r>
              <a:rPr lang="en-US" altLang="en-US" sz="2800" dirty="0">
                <a:latin typeface="+mn-lt"/>
              </a:rPr>
              <a:t>Software restructuring is informally stated as the modifications of software to make it</a:t>
            </a:r>
          </a:p>
          <a:p>
            <a:pPr lvl="1">
              <a:defRPr/>
            </a:pPr>
            <a:r>
              <a:rPr lang="en-US" altLang="en-US" dirty="0">
                <a:latin typeface="+mn-lt"/>
              </a:rPr>
              <a:t>easier to understand;</a:t>
            </a:r>
          </a:p>
          <a:p>
            <a:pPr lvl="1">
              <a:defRPr/>
            </a:pPr>
            <a:r>
              <a:rPr lang="en-US" altLang="en-US" dirty="0">
                <a:latin typeface="+mn-lt"/>
              </a:rPr>
              <a:t>easier to change;</a:t>
            </a:r>
          </a:p>
          <a:p>
            <a:pPr lvl="1">
              <a:defRPr/>
            </a:pPr>
            <a:r>
              <a:rPr lang="en-US" altLang="en-US" dirty="0">
                <a:latin typeface="+mn-lt"/>
              </a:rPr>
              <a:t>easier to change its  documentation; </a:t>
            </a:r>
          </a:p>
          <a:p>
            <a:pPr lvl="1">
              <a:defRPr/>
            </a:pPr>
            <a:r>
              <a:rPr lang="en-US" altLang="en-US" dirty="0">
                <a:latin typeface="+mn-lt"/>
              </a:rPr>
              <a:t>less susceptible to faults when changes are made to it.</a:t>
            </a:r>
          </a:p>
          <a:p>
            <a:pPr>
              <a:defRPr/>
            </a:pPr>
            <a:endParaRPr lang="en-US" altLang="en-US" sz="2000" dirty="0">
              <a:latin typeface="+mn-lt"/>
            </a:endParaRPr>
          </a:p>
          <a:p>
            <a:pPr marL="0" indent="0">
              <a:buFontTx/>
              <a:buNone/>
              <a:defRPr/>
            </a:pPr>
            <a:endParaRPr lang="en-US" altLang="en-US" sz="3200" dirty="0">
              <a:latin typeface="Times New Roman" pitchFamily="18" charset="0"/>
            </a:endParaRP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9">
            <a:extLst>
              <a:ext uri="{FF2B5EF4-FFF2-40B4-BE49-F238E27FC236}">
                <a16:creationId xmlns:a16="http://schemas.microsoft.com/office/drawing/2014/main" id="{AF7B9704-9FC8-9695-7024-09D9AEAA2E7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86D2A326-FF3B-3943-9356-0B07A2E7AA03}" type="slidenum">
              <a:rPr lang="en-US" altLang="en-US" sz="1000">
                <a:solidFill>
                  <a:srgbClr val="000000"/>
                </a:solidFill>
              </a:rPr>
              <a:pPr/>
              <a:t>13</a:t>
            </a:fld>
            <a:endParaRPr lang="en-US" altLang="en-US" sz="1000">
              <a:solidFill>
                <a:srgbClr val="000000"/>
              </a:solidFill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5BED04E4-A582-E4DB-C92B-2D11F598C10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0000FF"/>
                </a:solidFill>
              </a:rPr>
              <a:t>General Idea</a:t>
            </a:r>
            <a:endParaRPr lang="en-US" altLang="en-US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7571" name="Rectangle 3">
            <a:extLst>
              <a:ext uri="{FF2B5EF4-FFF2-40B4-BE49-F238E27FC236}">
                <a16:creationId xmlns:a16="http://schemas.microsoft.com/office/drawing/2014/main" id="{221A6698-4C05-5E3F-B98C-E899A215427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93675" y="660400"/>
            <a:ext cx="8966200" cy="58293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latin typeface="+mn-lt"/>
              </a:rPr>
              <a:t>A higher level goal of restructuring is to increase the software value</a:t>
            </a:r>
          </a:p>
          <a:p>
            <a:pPr lvl="1">
              <a:defRPr/>
            </a:pPr>
            <a:r>
              <a:rPr lang="en-US" altLang="en-US" dirty="0">
                <a:latin typeface="+mn-lt"/>
              </a:rPr>
              <a:t>external software value: fewer faults in software is seen to be better by customers</a:t>
            </a:r>
          </a:p>
          <a:p>
            <a:pPr lvl="1">
              <a:defRPr/>
            </a:pPr>
            <a:r>
              <a:rPr lang="en-US" altLang="en-US" dirty="0">
                <a:latin typeface="+mn-lt"/>
              </a:rPr>
              <a:t>internal software value: a well-structured system is less expensive to maintain</a:t>
            </a:r>
          </a:p>
          <a:p>
            <a:pPr>
              <a:defRPr/>
            </a:pPr>
            <a:r>
              <a:rPr lang="en-US" altLang="en-US" dirty="0">
                <a:latin typeface="+mn-lt"/>
              </a:rPr>
              <a:t>Simple examples of restructuring</a:t>
            </a:r>
          </a:p>
          <a:p>
            <a:pPr lvl="1">
              <a:defRPr/>
            </a:pPr>
            <a:r>
              <a:rPr lang="en-US" altLang="en-US" dirty="0">
                <a:latin typeface="+mn-lt"/>
              </a:rPr>
              <a:t>Pretty printing</a:t>
            </a:r>
          </a:p>
          <a:p>
            <a:pPr lvl="1">
              <a:defRPr/>
            </a:pPr>
            <a:r>
              <a:rPr lang="en-US" altLang="en-US" dirty="0">
                <a:latin typeface="+mn-lt"/>
              </a:rPr>
              <a:t>Meaningful names for variables</a:t>
            </a:r>
          </a:p>
          <a:p>
            <a:pPr lvl="1">
              <a:defRPr/>
            </a:pPr>
            <a:r>
              <a:rPr lang="en-US" altLang="en-US" dirty="0">
                <a:latin typeface="+mn-lt"/>
              </a:rPr>
              <a:t>One statement per line of source code</a:t>
            </a:r>
          </a:p>
          <a:p>
            <a:pPr marL="0" indent="0">
              <a:buFontTx/>
              <a:buNone/>
              <a:defRPr/>
            </a:pPr>
            <a:endParaRPr lang="en-US" altLang="en-US" sz="3200" dirty="0">
              <a:latin typeface="+mn-lt"/>
            </a:endParaRP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9">
            <a:extLst>
              <a:ext uri="{FF2B5EF4-FFF2-40B4-BE49-F238E27FC236}">
                <a16:creationId xmlns:a16="http://schemas.microsoft.com/office/drawing/2014/main" id="{D104BFF2-D7E4-C0CB-02CF-8DB6B959690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81AC7317-B814-094A-9A12-F2C8E3A1667B}" type="slidenum">
              <a:rPr lang="en-US" altLang="en-US" sz="1000">
                <a:solidFill>
                  <a:srgbClr val="000000"/>
                </a:solidFill>
              </a:rPr>
              <a:pPr/>
              <a:t>14</a:t>
            </a:fld>
            <a:endParaRPr lang="en-US" altLang="en-US" sz="1000">
              <a:solidFill>
                <a:srgbClr val="000000"/>
              </a:solidFill>
            </a:endParaRP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52A90985-7DF4-E699-EE30-BCC7FCDEB87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0000FF"/>
                </a:solidFill>
              </a:rPr>
              <a:t>General Idea</a:t>
            </a:r>
            <a:endParaRPr lang="en-US" altLang="en-US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7571" name="Rectangle 3">
            <a:extLst>
              <a:ext uri="{FF2B5EF4-FFF2-40B4-BE49-F238E27FC236}">
                <a16:creationId xmlns:a16="http://schemas.microsoft.com/office/drawing/2014/main" id="{5B5AAB2D-DA9F-B9D3-03C7-1E052AB16F5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93675" y="660400"/>
            <a:ext cx="8966200" cy="58293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latin typeface="+mn-lt"/>
              </a:rPr>
              <a:t>Characteristics of restructuring and refactoring</a:t>
            </a:r>
            <a:endParaRPr lang="en-US" altLang="en-US" sz="3200" dirty="0">
              <a:latin typeface="+mn-lt"/>
            </a:endParaRPr>
          </a:p>
          <a:p>
            <a:pPr lvl="1">
              <a:defRPr/>
            </a:pPr>
            <a:r>
              <a:rPr lang="en-US" altLang="en-US" dirty="0">
                <a:latin typeface="+mn-lt"/>
              </a:rPr>
              <a:t>The objective of restructuring and refactoring is to improve the internal and external values of software.</a:t>
            </a:r>
          </a:p>
          <a:p>
            <a:pPr lvl="1">
              <a:defRPr/>
            </a:pPr>
            <a:r>
              <a:rPr lang="en-US" altLang="en-US" dirty="0">
                <a:latin typeface="+mn-lt"/>
              </a:rPr>
              <a:t>Restructuring preserves the external behavior of the original program.</a:t>
            </a:r>
          </a:p>
          <a:p>
            <a:pPr lvl="1">
              <a:defRPr/>
            </a:pPr>
            <a:r>
              <a:rPr lang="en-US" altLang="en-US" dirty="0">
                <a:latin typeface="+mn-lt"/>
              </a:rPr>
              <a:t>Restructuring can be performed without adding new requirements.</a:t>
            </a:r>
          </a:p>
          <a:p>
            <a:pPr lvl="1">
              <a:defRPr/>
            </a:pPr>
            <a:r>
              <a:rPr lang="en-US" altLang="en-US" dirty="0">
                <a:latin typeface="+mn-lt"/>
              </a:rPr>
              <a:t>Restructuring generally produces a program in the same language. </a:t>
            </a:r>
          </a:p>
          <a:p>
            <a:pPr lvl="2">
              <a:defRPr/>
            </a:pPr>
            <a:r>
              <a:rPr lang="en-US" altLang="en-US" dirty="0">
                <a:latin typeface="+mn-lt"/>
              </a:rPr>
              <a:t>Example: a C program is restructured into another (more modular) C program.</a:t>
            </a:r>
          </a:p>
          <a:p>
            <a:pPr lvl="1">
              <a:defRPr/>
            </a:pPr>
            <a:endParaRPr lang="en-US" altLang="en-US" dirty="0">
              <a:latin typeface="+mn-lt"/>
            </a:endParaRPr>
          </a:p>
          <a:p>
            <a:pPr lvl="1">
              <a:defRPr/>
            </a:pPr>
            <a:endParaRPr lang="en-US" altLang="en-US" sz="2800" dirty="0">
              <a:latin typeface="+mn-lt"/>
            </a:endParaRPr>
          </a:p>
          <a:p>
            <a:pPr marL="457200" lvl="1" indent="0">
              <a:buFontTx/>
              <a:buNone/>
              <a:defRPr/>
            </a:pPr>
            <a:endParaRPr lang="en-US" altLang="en-US" sz="2800" dirty="0">
              <a:latin typeface="+mn-lt"/>
            </a:endParaRPr>
          </a:p>
          <a:p>
            <a:pPr>
              <a:defRPr/>
            </a:pPr>
            <a:endParaRPr lang="en-US" altLang="en-US" sz="2800" dirty="0">
              <a:latin typeface="+mn-lt"/>
            </a:endParaRPr>
          </a:p>
          <a:p>
            <a:pPr marL="0" indent="0">
              <a:buFontTx/>
              <a:buNone/>
              <a:defRPr/>
            </a:pPr>
            <a:endParaRPr lang="en-US" altLang="en-US" sz="3200" dirty="0">
              <a:latin typeface="+mn-lt"/>
            </a:endParaRP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B67C5-31C6-A99F-CF0D-457525C84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T"/>
          </a:p>
        </p:txBody>
      </p:sp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43A8E52-C2A2-8E82-88A1-2173368768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08473" y="365919"/>
            <a:ext cx="9960946" cy="4897001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86DA6-BA02-52DA-E700-8A3AE1E51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A1A45-1AA6-8F4C-A975-4B507946389E}" type="datetime1">
              <a:rPr lang="en-US" altLang="en-IT" smtClean="0"/>
              <a:pPr/>
              <a:t>9/21/26</a:t>
            </a:fld>
            <a:endParaRPr lang="en-US" alt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E525B1-110E-2118-B017-4BCB9BA3C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77CA2B-7F9A-8E31-BCA2-93BC81F7C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C4C0B-9C68-4D4E-969D-EF427990E9A7}" type="slidenum">
              <a:rPr lang="en-US" altLang="en-IT" smtClean="0"/>
              <a:pPr/>
              <a:t>15</a:t>
            </a:fld>
            <a:endParaRPr lang="en-US" altLang="en-IT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8832BD-3F68-C017-BAF1-D07076BA74AA}"/>
              </a:ext>
            </a:extLst>
          </p:cNvPr>
          <p:cNvSpPr/>
          <p:nvPr/>
        </p:nvSpPr>
        <p:spPr bwMode="auto">
          <a:xfrm>
            <a:off x="446049" y="5386041"/>
            <a:ext cx="8285356" cy="1349298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IT" sz="20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10000"/>
                  </a:schemeClr>
                </a:solidFill>
                <a:effectLst/>
                <a:latin typeface="Times New Roman" pitchFamily="18" charset="0"/>
              </a:rPr>
              <a:t>~50 suggestions over 250 LoC</a:t>
            </a:r>
          </a:p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IT" dirty="0">
                <a:solidFill>
                  <a:schemeClr val="accent5">
                    <a:lumMod val="10000"/>
                  </a:schemeClr>
                </a:solidFill>
              </a:rPr>
              <a:t>49x valuable refactorings, can auto-apply</a:t>
            </a:r>
          </a:p>
          <a:p>
            <a:pPr marR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IT" sz="2000" b="1" i="1" u="sng" strike="noStrike" cap="none" normalizeH="0" baseline="0" dirty="0">
                <a:ln>
                  <a:noFill/>
                </a:ln>
                <a:solidFill>
                  <a:schemeClr val="accent5">
                    <a:lumMod val="10000"/>
                  </a:schemeClr>
                </a:solidFill>
                <a:effectLst/>
                <a:latin typeface="Times New Roman" pitchFamily="18" charset="0"/>
              </a:rPr>
              <a:t>“</a:t>
            </a:r>
            <a:r>
              <a:rPr kumimoji="0" lang="en-GB" sz="2000" b="1" i="1" u="sng" strike="noStrike" cap="none" normalizeH="0" baseline="0" dirty="0">
                <a:ln>
                  <a:noFill/>
                </a:ln>
                <a:solidFill>
                  <a:schemeClr val="accent5">
                    <a:lumMod val="10000"/>
                  </a:schemeClr>
                </a:solidFill>
                <a:effectLst/>
                <a:latin typeface="Times New Roman" pitchFamily="18" charset="0"/>
              </a:rPr>
              <a:t>However, human programmers are still needed to oversee these changes and determine their significance</a:t>
            </a:r>
            <a:r>
              <a:rPr kumimoji="0" lang="en-GB" sz="2000" b="1" i="1" strike="noStrike" cap="none" normalizeH="0" baseline="0" dirty="0">
                <a:ln>
                  <a:noFill/>
                </a:ln>
                <a:solidFill>
                  <a:schemeClr val="accent5">
                    <a:lumMod val="10000"/>
                  </a:schemeClr>
                </a:solidFill>
                <a:effectLst/>
                <a:latin typeface="Times New Roman" pitchFamily="18" charset="0"/>
              </a:rPr>
              <a:t>. </a:t>
            </a:r>
            <a:r>
              <a:rPr kumimoji="0" lang="en-IT" sz="2000" b="1" i="1" strike="noStrike" cap="none" normalizeH="0" baseline="0" dirty="0">
                <a:ln>
                  <a:noFill/>
                </a:ln>
                <a:solidFill>
                  <a:schemeClr val="accent5">
                    <a:lumMod val="10000"/>
                  </a:schemeClr>
                </a:solidFill>
                <a:effectLst/>
                <a:latin typeface="Times New Roman" pitchFamily="18" charset="0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810243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9">
            <a:extLst>
              <a:ext uri="{FF2B5EF4-FFF2-40B4-BE49-F238E27FC236}">
                <a16:creationId xmlns:a16="http://schemas.microsoft.com/office/drawing/2014/main" id="{E48B9AED-4FE6-B2EF-6392-922A622F53B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5351354E-9401-8A42-AAC5-6ACB6ED5F625}" type="slidenum">
              <a:rPr lang="en-US" altLang="en-US" sz="1000">
                <a:solidFill>
                  <a:srgbClr val="000000"/>
                </a:solidFill>
              </a:rPr>
              <a:pPr/>
              <a:t>16</a:t>
            </a:fld>
            <a:endParaRPr lang="en-US" altLang="en-US" sz="1000">
              <a:solidFill>
                <a:srgbClr val="000000"/>
              </a:solidFill>
            </a:endParaRPr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34254510-A7F5-1810-96F6-4B84F24D179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CA" altLang="en-US" dirty="0">
                <a:solidFill>
                  <a:srgbClr val="00B050"/>
                </a:solidFill>
              </a:rPr>
              <a:t>Identify what to refactor</a:t>
            </a:r>
            <a:endParaRPr lang="en-US" altLang="en-US" dirty="0">
              <a:solidFill>
                <a:srgbClr val="00B05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7C29E03F-A3A1-EF77-8B03-8B73915403D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93675" y="660400"/>
            <a:ext cx="8966200" cy="5829300"/>
          </a:xfrm>
        </p:spPr>
        <p:txBody>
          <a:bodyPr/>
          <a:lstStyle/>
          <a:p>
            <a:pPr>
              <a:defRPr/>
            </a:pPr>
            <a:r>
              <a:rPr lang="en-CA" altLang="en-US" dirty="0">
                <a:latin typeface="Arial" charset="0"/>
              </a:rPr>
              <a:t>The programmer identifies what to refactor from a set of high-level software artifacts.</a:t>
            </a:r>
            <a:endParaRPr lang="en-CA" altLang="en-US" sz="2000" dirty="0">
              <a:latin typeface="Arial" charset="0"/>
            </a:endParaRPr>
          </a:p>
          <a:p>
            <a:pPr lvl="1">
              <a:defRPr/>
            </a:pPr>
            <a:r>
              <a:rPr lang="en-US" altLang="en-US" dirty="0">
                <a:latin typeface="Arial" charset="0"/>
              </a:rPr>
              <a:t> source code;</a:t>
            </a:r>
          </a:p>
          <a:p>
            <a:pPr lvl="1">
              <a:defRPr/>
            </a:pPr>
            <a:r>
              <a:rPr lang="en-US" altLang="en-US" dirty="0">
                <a:latin typeface="Arial" charset="0"/>
              </a:rPr>
              <a:t> design documents; and</a:t>
            </a:r>
          </a:p>
          <a:p>
            <a:pPr lvl="1">
              <a:defRPr/>
            </a:pPr>
            <a:r>
              <a:rPr lang="en-US" altLang="en-US" dirty="0">
                <a:latin typeface="Arial" charset="0"/>
              </a:rPr>
              <a:t> requirements documents.</a:t>
            </a:r>
          </a:p>
          <a:p>
            <a:pPr>
              <a:defRPr/>
            </a:pPr>
            <a:r>
              <a:rPr lang="en-US" altLang="en-US" dirty="0">
                <a:latin typeface="Arial" charset="0"/>
              </a:rPr>
              <a:t>Next, focus on specific portions of the chosen artifact for refactoring.</a:t>
            </a:r>
            <a:endParaRPr lang="en-US" altLang="en-US" sz="2000" dirty="0">
              <a:latin typeface="Arial" charset="0"/>
            </a:endParaRPr>
          </a:p>
          <a:p>
            <a:pPr lvl="1">
              <a:defRPr/>
            </a:pPr>
            <a:r>
              <a:rPr lang="en-US" altLang="en-US" dirty="0">
                <a:latin typeface="Arial" charset="0"/>
              </a:rPr>
              <a:t>Specific modules, functions, classes, methods, and data can be identified for refactoring.</a:t>
            </a:r>
          </a:p>
          <a:p>
            <a:pPr marL="457200" lvl="1" indent="0">
              <a:buFontTx/>
              <a:buNone/>
              <a:defRPr/>
            </a:pPr>
            <a:endParaRPr lang="en-US" altLang="en-US" dirty="0">
              <a:latin typeface="Arial" charset="0"/>
            </a:endParaRPr>
          </a:p>
          <a:p>
            <a:pPr lvl="1">
              <a:defRPr/>
            </a:pPr>
            <a:endParaRPr lang="en-CA" altLang="en-US" sz="2800" dirty="0">
              <a:latin typeface="Arial" charset="0"/>
            </a:endParaRPr>
          </a:p>
          <a:p>
            <a:pPr>
              <a:defRPr/>
            </a:pPr>
            <a:endParaRPr lang="en-US" altLang="en-US" sz="3200" dirty="0">
              <a:latin typeface="Times New Roman" pitchFamily="18" charset="0"/>
            </a:endParaRP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9">
            <a:extLst>
              <a:ext uri="{FF2B5EF4-FFF2-40B4-BE49-F238E27FC236}">
                <a16:creationId xmlns:a16="http://schemas.microsoft.com/office/drawing/2014/main" id="{A700178F-224F-357F-9177-027B93733B1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A4A6257F-1555-2E45-BA11-8A0574CA67CE}" type="slidenum">
              <a:rPr lang="en-US" altLang="en-US" sz="1000">
                <a:solidFill>
                  <a:srgbClr val="000000"/>
                </a:solidFill>
              </a:rPr>
              <a:pPr/>
              <a:t>17</a:t>
            </a:fld>
            <a:endParaRPr lang="en-US" altLang="en-US" sz="1000">
              <a:solidFill>
                <a:srgbClr val="000000"/>
              </a:solidFill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B6F4578E-036A-92DE-E2D6-3D8B093C972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CA" altLang="en-US" dirty="0">
                <a:solidFill>
                  <a:srgbClr val="00B050"/>
                </a:solidFill>
              </a:rPr>
              <a:t>Identify what to refactor</a:t>
            </a:r>
            <a:endParaRPr lang="en-US" altLang="en-US" dirty="0">
              <a:solidFill>
                <a:srgbClr val="00B05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1576F1A8-C5EA-3CD7-7AFF-25B1315DDC1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93675" y="660400"/>
            <a:ext cx="8966200" cy="58293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latin typeface="Arial" charset="0"/>
              </a:rPr>
              <a:t>The concept of </a:t>
            </a:r>
            <a:r>
              <a:rPr lang="en-US" altLang="en-US" dirty="0">
                <a:solidFill>
                  <a:srgbClr val="0000FF"/>
                </a:solidFill>
                <a:latin typeface="Arial" charset="0"/>
              </a:rPr>
              <a:t>code smell</a:t>
            </a:r>
            <a:r>
              <a:rPr lang="en-US" altLang="en-US" dirty="0">
                <a:latin typeface="Arial" charset="0"/>
              </a:rPr>
              <a:t> is applied to source code to detect what should be refactored.</a:t>
            </a:r>
          </a:p>
          <a:p>
            <a:pPr>
              <a:defRPr/>
            </a:pPr>
            <a:r>
              <a:rPr lang="en-US" altLang="en-US" dirty="0">
                <a:latin typeface="Arial" charset="0"/>
              </a:rPr>
              <a:t>A </a:t>
            </a:r>
            <a:r>
              <a:rPr lang="en-US" altLang="en-US" dirty="0">
                <a:solidFill>
                  <a:srgbClr val="0000FF"/>
                </a:solidFill>
                <a:latin typeface="Arial" charset="0"/>
              </a:rPr>
              <a:t>code smell</a:t>
            </a:r>
            <a:r>
              <a:rPr lang="en-US" altLang="en-US" dirty="0">
                <a:latin typeface="Arial" charset="0"/>
              </a:rPr>
              <a:t> is any symptom in source code that possibly indicates a deeper problem. </a:t>
            </a:r>
          </a:p>
          <a:p>
            <a:pPr>
              <a:defRPr/>
            </a:pPr>
            <a:r>
              <a:rPr lang="en-US" altLang="en-US" dirty="0">
                <a:latin typeface="Arial" charset="0"/>
              </a:rPr>
              <a:t>Examples of code smell are:</a:t>
            </a:r>
          </a:p>
          <a:p>
            <a:pPr lvl="1">
              <a:defRPr/>
            </a:pPr>
            <a:r>
              <a:rPr lang="en-US" altLang="en-US" sz="2800" dirty="0">
                <a:latin typeface="Arial" charset="0"/>
              </a:rPr>
              <a:t> </a:t>
            </a:r>
            <a:r>
              <a:rPr lang="en-US" altLang="en-US" dirty="0">
                <a:latin typeface="Arial" charset="0"/>
              </a:rPr>
              <a:t>duplicate code;</a:t>
            </a:r>
          </a:p>
          <a:p>
            <a:pPr lvl="1">
              <a:defRPr/>
            </a:pPr>
            <a:r>
              <a:rPr lang="en-US" altLang="en-US" dirty="0">
                <a:latin typeface="Arial" charset="0"/>
              </a:rPr>
              <a:t> long parameter list;</a:t>
            </a:r>
          </a:p>
          <a:p>
            <a:pPr lvl="1">
              <a:defRPr/>
            </a:pPr>
            <a:r>
              <a:rPr lang="en-US" altLang="en-US" dirty="0">
                <a:latin typeface="Arial" charset="0"/>
              </a:rPr>
              <a:t> long methods;</a:t>
            </a:r>
          </a:p>
          <a:p>
            <a:pPr lvl="1">
              <a:defRPr/>
            </a:pPr>
            <a:r>
              <a:rPr lang="en-US" altLang="en-US" dirty="0">
                <a:latin typeface="Arial" charset="0"/>
              </a:rPr>
              <a:t> large classes;</a:t>
            </a:r>
          </a:p>
          <a:p>
            <a:pPr lvl="1">
              <a:defRPr/>
            </a:pPr>
            <a:r>
              <a:rPr lang="en-US" altLang="en-US" dirty="0">
                <a:latin typeface="Arial" charset="0"/>
              </a:rPr>
              <a:t> message chain.</a:t>
            </a:r>
          </a:p>
          <a:p>
            <a:pPr marL="457200" lvl="1" indent="0">
              <a:buFontTx/>
              <a:buNone/>
              <a:defRPr/>
            </a:pPr>
            <a:endParaRPr lang="en-US" altLang="en-US" sz="2800" dirty="0">
              <a:latin typeface="Arial" charset="0"/>
            </a:endParaRPr>
          </a:p>
          <a:p>
            <a:pPr lvl="1">
              <a:defRPr/>
            </a:pPr>
            <a:endParaRPr lang="en-CA" altLang="en-US" sz="2800" dirty="0">
              <a:latin typeface="Arial" charset="0"/>
            </a:endParaRPr>
          </a:p>
          <a:p>
            <a:pPr>
              <a:defRPr/>
            </a:pPr>
            <a:endParaRPr lang="en-US" altLang="en-US" sz="3200" dirty="0">
              <a:latin typeface="Times New Roman" pitchFamily="18" charset="0"/>
            </a:endParaRP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9">
            <a:extLst>
              <a:ext uri="{FF2B5EF4-FFF2-40B4-BE49-F238E27FC236}">
                <a16:creationId xmlns:a16="http://schemas.microsoft.com/office/drawing/2014/main" id="{778E9130-045D-45E7-566A-EE73E0C2A45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9AA20144-2DC9-BA4F-8616-337C39E2B544}" type="slidenum">
              <a:rPr lang="en-US" altLang="en-US" sz="1000">
                <a:solidFill>
                  <a:srgbClr val="000000"/>
                </a:solidFill>
              </a:rPr>
              <a:pPr/>
              <a:t>18</a:t>
            </a:fld>
            <a:endParaRPr lang="en-US" altLang="en-US" sz="1000">
              <a:solidFill>
                <a:srgbClr val="000000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425D3789-C949-D180-3748-A6BE1F72083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CA" altLang="en-US" dirty="0">
                <a:solidFill>
                  <a:srgbClr val="00B050"/>
                </a:solidFill>
              </a:rPr>
              <a:t>Identify what to refactor</a:t>
            </a:r>
            <a:endParaRPr lang="en-US" altLang="en-US" dirty="0">
              <a:solidFill>
                <a:srgbClr val="00B05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CE62920C-41F4-C909-F327-E8AC18A1EC8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93675" y="660400"/>
            <a:ext cx="8966200" cy="5829300"/>
          </a:xfrm>
        </p:spPr>
        <p:txBody>
          <a:bodyPr/>
          <a:lstStyle/>
          <a:p>
            <a:pPr>
              <a:defRPr/>
            </a:pPr>
            <a:r>
              <a:rPr lang="en-US" altLang="en-US" sz="3200" dirty="0">
                <a:latin typeface="Arial" charset="0"/>
              </a:rPr>
              <a:t> </a:t>
            </a:r>
            <a:r>
              <a:rPr lang="en-US" altLang="en-US" dirty="0">
                <a:latin typeface="Arial" charset="0"/>
              </a:rPr>
              <a:t>Entities to be refactored at the design level</a:t>
            </a:r>
            <a:endParaRPr lang="en-US" altLang="en-US" sz="2000" dirty="0">
              <a:latin typeface="Arial" charset="0"/>
            </a:endParaRPr>
          </a:p>
          <a:p>
            <a:pPr lvl="1">
              <a:defRPr/>
            </a:pPr>
            <a:r>
              <a:rPr lang="en-US" altLang="en-US" dirty="0">
                <a:latin typeface="Arial" charset="0"/>
              </a:rPr>
              <a:t> software architecture;</a:t>
            </a:r>
          </a:p>
          <a:p>
            <a:pPr lvl="2">
              <a:defRPr/>
            </a:pPr>
            <a:r>
              <a:rPr lang="en-US" altLang="en-US" dirty="0">
                <a:latin typeface="Arial" charset="0"/>
              </a:rPr>
              <a:t>class diagram;</a:t>
            </a:r>
          </a:p>
          <a:p>
            <a:pPr lvl="2">
              <a:defRPr/>
            </a:pPr>
            <a:r>
              <a:rPr lang="en-US" altLang="en-US" dirty="0" err="1">
                <a:latin typeface="Arial" charset="0"/>
              </a:rPr>
              <a:t>statechart</a:t>
            </a:r>
            <a:r>
              <a:rPr lang="en-US" altLang="en-US" dirty="0">
                <a:latin typeface="Arial" charset="0"/>
              </a:rPr>
              <a:t> diagram; and</a:t>
            </a:r>
          </a:p>
          <a:p>
            <a:pPr lvl="2">
              <a:defRPr/>
            </a:pPr>
            <a:r>
              <a:rPr lang="en-US" altLang="en-US" dirty="0">
                <a:latin typeface="Arial" charset="0"/>
              </a:rPr>
              <a:t>activity diagrams;</a:t>
            </a:r>
          </a:p>
          <a:p>
            <a:pPr lvl="1">
              <a:defRPr/>
            </a:pPr>
            <a:r>
              <a:rPr lang="en-US" altLang="en-US" dirty="0">
                <a:latin typeface="Arial" charset="0"/>
              </a:rPr>
              <a:t> global control flow; and</a:t>
            </a:r>
          </a:p>
          <a:p>
            <a:pPr lvl="1">
              <a:defRPr/>
            </a:pPr>
            <a:r>
              <a:rPr lang="en-US" altLang="en-US" dirty="0">
                <a:latin typeface="Arial" charset="0"/>
              </a:rPr>
              <a:t> database schemas.</a:t>
            </a:r>
          </a:p>
          <a:p>
            <a:pPr>
              <a:defRPr/>
            </a:pPr>
            <a:endParaRPr lang="en-US" altLang="en-US" sz="2800" dirty="0">
              <a:latin typeface="Arial" charset="0"/>
            </a:endParaRPr>
          </a:p>
          <a:p>
            <a:pPr marL="457200" lvl="1" indent="0">
              <a:buFontTx/>
              <a:buNone/>
              <a:defRPr/>
            </a:pPr>
            <a:endParaRPr lang="en-US" altLang="en-US" sz="2800" dirty="0">
              <a:latin typeface="Arial" charset="0"/>
            </a:endParaRPr>
          </a:p>
          <a:p>
            <a:pPr lvl="1">
              <a:defRPr/>
            </a:pPr>
            <a:endParaRPr lang="en-CA" altLang="en-US" sz="2800" dirty="0">
              <a:latin typeface="Arial" charset="0"/>
            </a:endParaRPr>
          </a:p>
          <a:p>
            <a:pPr>
              <a:defRPr/>
            </a:pPr>
            <a:endParaRPr lang="en-US" altLang="en-US" sz="3200" dirty="0">
              <a:latin typeface="Times New Roman" pitchFamily="18" charset="0"/>
            </a:endParaRP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9">
            <a:extLst>
              <a:ext uri="{FF2B5EF4-FFF2-40B4-BE49-F238E27FC236}">
                <a16:creationId xmlns:a16="http://schemas.microsoft.com/office/drawing/2014/main" id="{DC634F1B-3517-4E62-F18F-0108B0D717F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BE004D98-B804-8047-B0B3-0E6A68044463}" type="slidenum">
              <a:rPr lang="en-US" altLang="en-US" sz="1000">
                <a:solidFill>
                  <a:srgbClr val="000000"/>
                </a:solidFill>
              </a:rPr>
              <a:pPr/>
              <a:t>19</a:t>
            </a:fld>
            <a:endParaRPr lang="en-US" altLang="en-US" sz="1000">
              <a:solidFill>
                <a:srgbClr val="000000"/>
              </a:solidFill>
            </a:endParaRP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7C7F643B-D3FD-571F-FDD0-2D679923DA7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CA" altLang="en-US" dirty="0">
                <a:solidFill>
                  <a:srgbClr val="00B050"/>
                </a:solidFill>
              </a:rPr>
              <a:t>Determine which </a:t>
            </a:r>
            <a:r>
              <a:rPr lang="en-CA" altLang="en-US" dirty="0" err="1">
                <a:solidFill>
                  <a:srgbClr val="00B050"/>
                </a:solidFill>
              </a:rPr>
              <a:t>refactorings</a:t>
            </a:r>
            <a:r>
              <a:rPr lang="en-CA" altLang="en-US" dirty="0">
                <a:solidFill>
                  <a:srgbClr val="00B050"/>
                </a:solidFill>
              </a:rPr>
              <a:t> to apply</a:t>
            </a:r>
            <a:endParaRPr lang="en-US" altLang="en-US" dirty="0">
              <a:solidFill>
                <a:srgbClr val="00B05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79F718FC-98D2-EBB1-C89F-B3BBA832AC6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93675" y="660400"/>
            <a:ext cx="8966200" cy="582930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  <a:defRPr/>
            </a:pPr>
            <a:r>
              <a:rPr lang="en-US" altLang="en-US" sz="3200" dirty="0">
                <a:latin typeface="Arial" charset="0"/>
              </a:rPr>
              <a:t> </a:t>
            </a:r>
            <a:r>
              <a:rPr lang="en-CA" altLang="en-US" dirty="0">
                <a:latin typeface="Arial" charset="0"/>
              </a:rPr>
              <a:t>Common </a:t>
            </a:r>
            <a:r>
              <a:rPr lang="en-CA" altLang="en-US" dirty="0" err="1">
                <a:latin typeface="Arial" charset="0"/>
              </a:rPr>
              <a:t>refactorings</a:t>
            </a:r>
            <a:r>
              <a:rPr lang="en-CA" altLang="en-US" dirty="0">
                <a:latin typeface="Arial" charset="0"/>
              </a:rPr>
              <a:t> are</a:t>
            </a:r>
            <a:r>
              <a:rPr lang="en-US" altLang="en-US" dirty="0">
                <a:latin typeface="Arial" charset="0"/>
              </a:rPr>
              <a:t> </a:t>
            </a:r>
            <a:endParaRPr lang="en-US" altLang="en-US" sz="1600" dirty="0">
              <a:latin typeface="Arial" charset="0"/>
            </a:endParaRPr>
          </a:p>
          <a:p>
            <a:pPr lvl="1">
              <a:defRPr/>
            </a:pPr>
            <a:r>
              <a:rPr lang="en-US" altLang="en-US" dirty="0">
                <a:latin typeface="+mn-lt"/>
              </a:rPr>
              <a:t>R1: </a:t>
            </a:r>
            <a:r>
              <a:rPr lang="en-US" altLang="en-US" dirty="0">
                <a:solidFill>
                  <a:srgbClr val="FF00FF"/>
                </a:solidFill>
                <a:latin typeface="+mn-lt"/>
              </a:rPr>
              <a:t>Rename</a:t>
            </a:r>
            <a:r>
              <a:rPr lang="en-US" altLang="en-US" dirty="0">
                <a:latin typeface="+mn-lt"/>
              </a:rPr>
              <a:t> method </a:t>
            </a:r>
            <a:r>
              <a:rPr lang="en-US" altLang="en-US" i="1" dirty="0">
                <a:solidFill>
                  <a:srgbClr val="FF0000"/>
                </a:solidFill>
                <a:latin typeface="+mn-lt"/>
              </a:rPr>
              <a:t>print</a:t>
            </a:r>
            <a:r>
              <a:rPr lang="en-US" altLang="en-US" dirty="0">
                <a:latin typeface="+mn-lt"/>
              </a:rPr>
              <a:t> to </a:t>
            </a:r>
            <a:r>
              <a:rPr lang="en-US" altLang="en-US" i="1" dirty="0">
                <a:solidFill>
                  <a:srgbClr val="00B050"/>
                </a:solidFill>
                <a:latin typeface="+mn-lt"/>
              </a:rPr>
              <a:t>process</a:t>
            </a:r>
            <a:r>
              <a:rPr lang="en-US" altLang="en-US" dirty="0">
                <a:latin typeface="+mn-lt"/>
              </a:rPr>
              <a:t> in class </a:t>
            </a:r>
            <a:r>
              <a:rPr lang="en-US" altLang="en-US" i="1" dirty="0" err="1">
                <a:solidFill>
                  <a:srgbClr val="FF0000"/>
                </a:solidFill>
                <a:latin typeface="+mn-lt"/>
              </a:rPr>
              <a:t>PrintServer</a:t>
            </a:r>
            <a:r>
              <a:rPr lang="en-US" altLang="en-US" i="1" dirty="0">
                <a:latin typeface="+mn-lt"/>
              </a:rPr>
              <a:t>.</a:t>
            </a:r>
          </a:p>
          <a:p>
            <a:pPr lvl="1">
              <a:defRPr/>
            </a:pPr>
            <a:r>
              <a:rPr lang="en-US" altLang="en-US" dirty="0">
                <a:latin typeface="+mn-lt"/>
              </a:rPr>
              <a:t>R2: </a:t>
            </a:r>
            <a:r>
              <a:rPr lang="en-US" altLang="en-US" dirty="0">
                <a:solidFill>
                  <a:srgbClr val="FF00FF"/>
                </a:solidFill>
                <a:latin typeface="+mn-lt"/>
              </a:rPr>
              <a:t>Rename</a:t>
            </a:r>
            <a:r>
              <a:rPr lang="en-US" altLang="en-US" dirty="0">
                <a:latin typeface="+mn-lt"/>
              </a:rPr>
              <a:t> method </a:t>
            </a:r>
            <a:r>
              <a:rPr lang="en-US" altLang="en-US" i="1" dirty="0">
                <a:solidFill>
                  <a:srgbClr val="FF0000"/>
                </a:solidFill>
                <a:latin typeface="+mn-lt"/>
              </a:rPr>
              <a:t>print</a:t>
            </a:r>
            <a:r>
              <a:rPr lang="en-US" altLang="en-US" dirty="0">
                <a:latin typeface="+mn-lt"/>
              </a:rPr>
              <a:t> to </a:t>
            </a:r>
            <a:r>
              <a:rPr lang="en-US" altLang="en-US" i="1" dirty="0">
                <a:solidFill>
                  <a:srgbClr val="00B050"/>
                </a:solidFill>
                <a:latin typeface="+mn-lt"/>
              </a:rPr>
              <a:t>process</a:t>
            </a:r>
            <a:r>
              <a:rPr lang="en-US" altLang="en-US" dirty="0">
                <a:latin typeface="+mn-lt"/>
              </a:rPr>
              <a:t> in class </a:t>
            </a:r>
            <a:r>
              <a:rPr lang="en-US" altLang="en-US" i="1" dirty="0" err="1">
                <a:solidFill>
                  <a:srgbClr val="FF0000"/>
                </a:solidFill>
                <a:latin typeface="+mn-lt"/>
              </a:rPr>
              <a:t>FileServer</a:t>
            </a:r>
            <a:r>
              <a:rPr lang="en-US" altLang="en-US" dirty="0">
                <a:latin typeface="+mn-lt"/>
              </a:rPr>
              <a:t>. </a:t>
            </a:r>
            <a:r>
              <a:rPr lang="en-US" altLang="en-US" i="1" dirty="0">
                <a:latin typeface="+mn-lt"/>
              </a:rPr>
              <a:t> </a:t>
            </a:r>
            <a:r>
              <a:rPr lang="en-US" altLang="en-US" dirty="0">
                <a:latin typeface="+mn-lt"/>
              </a:rPr>
              <a:t>(R1 and R2 are to be done together.)</a:t>
            </a:r>
          </a:p>
          <a:p>
            <a:pPr lvl="1">
              <a:defRPr/>
            </a:pPr>
            <a:r>
              <a:rPr lang="en-US" altLang="en-US" dirty="0">
                <a:latin typeface="+mn-lt"/>
              </a:rPr>
              <a:t>R3: </a:t>
            </a:r>
            <a:r>
              <a:rPr lang="en-US" altLang="en-US" dirty="0">
                <a:solidFill>
                  <a:srgbClr val="FF00FF"/>
                </a:solidFill>
                <a:latin typeface="+mn-lt"/>
              </a:rPr>
              <a:t>Create</a:t>
            </a:r>
            <a:r>
              <a:rPr lang="en-US" altLang="en-US" dirty="0">
                <a:latin typeface="+mn-lt"/>
              </a:rPr>
              <a:t> a superclass </a:t>
            </a:r>
            <a:r>
              <a:rPr lang="en-US" altLang="en-US" i="1" dirty="0">
                <a:solidFill>
                  <a:srgbClr val="00B050"/>
                </a:solidFill>
                <a:latin typeface="+mn-lt"/>
              </a:rPr>
              <a:t>Server</a:t>
            </a:r>
            <a:r>
              <a:rPr lang="en-US" altLang="en-US" dirty="0">
                <a:latin typeface="+mn-lt"/>
              </a:rPr>
              <a:t> from </a:t>
            </a:r>
            <a:r>
              <a:rPr lang="en-US" altLang="en-US" i="1" dirty="0" err="1">
                <a:solidFill>
                  <a:srgbClr val="FF0000"/>
                </a:solidFill>
                <a:latin typeface="+mn-lt"/>
              </a:rPr>
              <a:t>PrintServer</a:t>
            </a:r>
            <a:r>
              <a:rPr lang="en-US" altLang="en-US" dirty="0">
                <a:latin typeface="+mn-lt"/>
              </a:rPr>
              <a:t> and </a:t>
            </a:r>
            <a:r>
              <a:rPr lang="en-US" altLang="en-US" i="1" dirty="0" err="1">
                <a:solidFill>
                  <a:srgbClr val="FF0000"/>
                </a:solidFill>
                <a:latin typeface="+mn-lt"/>
              </a:rPr>
              <a:t>FileServer</a:t>
            </a:r>
            <a:r>
              <a:rPr lang="en-US" altLang="en-US" dirty="0">
                <a:latin typeface="+mn-lt"/>
              </a:rPr>
              <a:t>.</a:t>
            </a:r>
          </a:p>
          <a:p>
            <a:pPr lvl="1">
              <a:defRPr/>
            </a:pPr>
            <a:r>
              <a:rPr lang="en-US" altLang="en-US" dirty="0">
                <a:latin typeface="+mn-lt"/>
              </a:rPr>
              <a:t>R4: </a:t>
            </a:r>
            <a:r>
              <a:rPr lang="en-US" altLang="en-US" dirty="0">
                <a:solidFill>
                  <a:srgbClr val="FF00FF"/>
                </a:solidFill>
                <a:latin typeface="+mn-lt"/>
              </a:rPr>
              <a:t>Pull up</a:t>
            </a:r>
            <a:r>
              <a:rPr lang="en-US" altLang="en-US" dirty="0">
                <a:latin typeface="+mn-lt"/>
              </a:rPr>
              <a:t> method </a:t>
            </a:r>
            <a:r>
              <a:rPr lang="en-US" altLang="en-US" i="1" dirty="0">
                <a:solidFill>
                  <a:srgbClr val="00B050"/>
                </a:solidFill>
                <a:latin typeface="+mn-lt"/>
              </a:rPr>
              <a:t>accept</a:t>
            </a:r>
            <a:r>
              <a:rPr lang="en-US" altLang="en-US" dirty="0">
                <a:latin typeface="+mn-lt"/>
              </a:rPr>
              <a:t> from </a:t>
            </a:r>
            <a:r>
              <a:rPr lang="en-US" altLang="en-US" i="1" dirty="0" err="1">
                <a:solidFill>
                  <a:srgbClr val="FF0000"/>
                </a:solidFill>
                <a:latin typeface="+mn-lt"/>
              </a:rPr>
              <a:t>PrintServer</a:t>
            </a:r>
            <a:r>
              <a:rPr lang="en-US" altLang="en-US" dirty="0">
                <a:latin typeface="+mn-lt"/>
              </a:rPr>
              <a:t> and </a:t>
            </a:r>
            <a:r>
              <a:rPr lang="en-US" altLang="en-US" i="1" dirty="0" err="1">
                <a:solidFill>
                  <a:srgbClr val="FF0000"/>
                </a:solidFill>
                <a:latin typeface="+mn-lt"/>
              </a:rPr>
              <a:t>FileServer</a:t>
            </a:r>
            <a:r>
              <a:rPr lang="en-US" altLang="en-US" dirty="0">
                <a:latin typeface="+mn-lt"/>
              </a:rPr>
              <a:t> to the superclass </a:t>
            </a:r>
            <a:r>
              <a:rPr lang="en-US" altLang="en-US" i="1" dirty="0">
                <a:solidFill>
                  <a:srgbClr val="00B050"/>
                </a:solidFill>
                <a:latin typeface="+mn-lt"/>
              </a:rPr>
              <a:t>Server</a:t>
            </a:r>
            <a:r>
              <a:rPr lang="en-US" altLang="en-US" dirty="0">
                <a:latin typeface="+mn-lt"/>
              </a:rPr>
              <a:t>.</a:t>
            </a:r>
          </a:p>
          <a:p>
            <a:pPr lvl="1">
              <a:defRPr/>
            </a:pPr>
            <a:r>
              <a:rPr lang="en-US" altLang="en-US" dirty="0">
                <a:latin typeface="+mn-lt"/>
              </a:rPr>
              <a:t>R5: </a:t>
            </a:r>
            <a:r>
              <a:rPr lang="en-US" altLang="en-US" dirty="0">
                <a:solidFill>
                  <a:srgbClr val="FF00FF"/>
                </a:solidFill>
                <a:latin typeface="+mn-lt"/>
              </a:rPr>
              <a:t>Move</a:t>
            </a:r>
            <a:r>
              <a:rPr lang="en-US" altLang="en-US" dirty="0">
                <a:latin typeface="+mn-lt"/>
              </a:rPr>
              <a:t> method </a:t>
            </a:r>
            <a:r>
              <a:rPr lang="en-US" altLang="en-US" i="1" dirty="0">
                <a:solidFill>
                  <a:srgbClr val="00B050"/>
                </a:solidFill>
                <a:latin typeface="+mn-lt"/>
              </a:rPr>
              <a:t>accept</a:t>
            </a:r>
            <a:r>
              <a:rPr lang="en-US" altLang="en-US" dirty="0">
                <a:latin typeface="+mn-lt"/>
              </a:rPr>
              <a:t> from </a:t>
            </a:r>
            <a:r>
              <a:rPr lang="en-US" altLang="en-US" i="1" dirty="0" err="1">
                <a:solidFill>
                  <a:srgbClr val="FF0000"/>
                </a:solidFill>
                <a:latin typeface="+mn-lt"/>
              </a:rPr>
              <a:t>PrintServer</a:t>
            </a:r>
            <a:r>
              <a:rPr lang="en-US" altLang="en-US" dirty="0">
                <a:latin typeface="+mn-lt"/>
              </a:rPr>
              <a:t> to class </a:t>
            </a:r>
            <a:r>
              <a:rPr lang="en-US" altLang="en-US" i="1" dirty="0">
                <a:solidFill>
                  <a:srgbClr val="00B050"/>
                </a:solidFill>
                <a:latin typeface="+mn-lt"/>
              </a:rPr>
              <a:t>Packet</a:t>
            </a:r>
            <a:r>
              <a:rPr lang="en-US" altLang="en-US" dirty="0">
                <a:solidFill>
                  <a:srgbClr val="00B050"/>
                </a:solidFill>
                <a:latin typeface="+mn-lt"/>
              </a:rPr>
              <a:t>,</a:t>
            </a:r>
            <a:r>
              <a:rPr lang="en-US" altLang="en-US" dirty="0">
                <a:latin typeface="+mn-lt"/>
              </a:rPr>
              <a:t> so that data packets themselves will decide what actions to take.</a:t>
            </a:r>
          </a:p>
          <a:p>
            <a:pPr lvl="1">
              <a:defRPr/>
            </a:pPr>
            <a:r>
              <a:rPr lang="en-US" altLang="en-US" dirty="0"/>
              <a:t>R6: </a:t>
            </a:r>
            <a:r>
              <a:rPr lang="en-US" altLang="en-US" dirty="0">
                <a:solidFill>
                  <a:srgbClr val="FF00FF"/>
                </a:solidFill>
              </a:rPr>
              <a:t>Move</a:t>
            </a:r>
            <a:r>
              <a:rPr lang="en-US" altLang="en-US" dirty="0"/>
              <a:t> method </a:t>
            </a:r>
            <a:r>
              <a:rPr lang="en-US" altLang="en-US" i="1" dirty="0">
                <a:solidFill>
                  <a:srgbClr val="00B050"/>
                </a:solidFill>
              </a:rPr>
              <a:t>accept</a:t>
            </a:r>
            <a:r>
              <a:rPr lang="en-US" altLang="en-US" dirty="0"/>
              <a:t> from </a:t>
            </a:r>
            <a:r>
              <a:rPr lang="en-US" altLang="en-US" i="1" dirty="0" err="1">
                <a:solidFill>
                  <a:srgbClr val="FF0000"/>
                </a:solidFill>
              </a:rPr>
              <a:t>FileServer</a:t>
            </a:r>
            <a:r>
              <a:rPr lang="en-US" altLang="en-US" dirty="0"/>
              <a:t> to </a:t>
            </a:r>
            <a:r>
              <a:rPr lang="en-US" altLang="en-US" i="1" dirty="0">
                <a:solidFill>
                  <a:srgbClr val="00B050"/>
                </a:solidFill>
              </a:rPr>
              <a:t>Packet</a:t>
            </a:r>
            <a:r>
              <a:rPr lang="en-US" altLang="en-US" dirty="0"/>
              <a:t>. </a:t>
            </a:r>
          </a:p>
          <a:p>
            <a:pPr lvl="1">
              <a:defRPr/>
            </a:pPr>
            <a:r>
              <a:rPr lang="en-US" altLang="en-US" dirty="0"/>
              <a:t>R7: </a:t>
            </a:r>
            <a:r>
              <a:rPr lang="en-US" altLang="en-US" dirty="0">
                <a:solidFill>
                  <a:srgbClr val="FF00FF"/>
                </a:solidFill>
              </a:rPr>
              <a:t>Encapsulate</a:t>
            </a:r>
            <a:r>
              <a:rPr lang="en-US" altLang="en-US" dirty="0"/>
              <a:t> field </a:t>
            </a:r>
            <a:r>
              <a:rPr lang="en-US" altLang="en-US" dirty="0">
                <a:solidFill>
                  <a:srgbClr val="00B0F0"/>
                </a:solidFill>
              </a:rPr>
              <a:t>receiver</a:t>
            </a:r>
            <a:r>
              <a:rPr lang="en-US" altLang="en-US" dirty="0"/>
              <a:t> in </a:t>
            </a:r>
            <a:r>
              <a:rPr lang="en-US" altLang="en-US" i="1" dirty="0">
                <a:solidFill>
                  <a:srgbClr val="00B050"/>
                </a:solidFill>
              </a:rPr>
              <a:t>Packet</a:t>
            </a:r>
            <a:r>
              <a:rPr lang="en-US" altLang="en-US" dirty="0"/>
              <a:t> so that another class cannot directly access this field.</a:t>
            </a:r>
          </a:p>
          <a:p>
            <a:pPr lvl="1">
              <a:defRPr/>
            </a:pPr>
            <a:r>
              <a:rPr lang="en-US" altLang="en-US" dirty="0"/>
              <a:t>R8: </a:t>
            </a:r>
            <a:r>
              <a:rPr lang="en-US" altLang="en-US" dirty="0">
                <a:solidFill>
                  <a:srgbClr val="FF00FF"/>
                </a:solidFill>
              </a:rPr>
              <a:t>Add parameter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rgbClr val="00B050"/>
                </a:solidFill>
              </a:rPr>
              <a:t>p</a:t>
            </a:r>
            <a:r>
              <a:rPr lang="en-US" altLang="en-US" dirty="0"/>
              <a:t> of type </a:t>
            </a:r>
            <a:r>
              <a:rPr lang="en-US" altLang="en-US" i="1" dirty="0">
                <a:solidFill>
                  <a:srgbClr val="00B050"/>
                </a:solidFill>
              </a:rPr>
              <a:t>Packet</a:t>
            </a:r>
            <a:r>
              <a:rPr lang="en-US" altLang="en-US" dirty="0"/>
              <a:t> to method </a:t>
            </a:r>
            <a:r>
              <a:rPr lang="en-US" altLang="en-US" i="1" dirty="0">
                <a:solidFill>
                  <a:srgbClr val="00B050"/>
                </a:solidFill>
              </a:rPr>
              <a:t>print</a:t>
            </a:r>
            <a:r>
              <a:rPr lang="en-US" altLang="en-US" dirty="0"/>
              <a:t> in </a:t>
            </a:r>
            <a:r>
              <a:rPr lang="en-US" altLang="en-US" dirty="0" err="1">
                <a:solidFill>
                  <a:srgbClr val="FF0000"/>
                </a:solidFill>
              </a:rPr>
              <a:t>PrintServer</a:t>
            </a:r>
            <a:r>
              <a:rPr lang="en-US" altLang="en-US" dirty="0"/>
              <a:t> to print the contents of a  packet.</a:t>
            </a:r>
          </a:p>
          <a:p>
            <a:pPr lvl="1">
              <a:defRPr/>
            </a:pPr>
            <a:r>
              <a:rPr lang="en-US" altLang="en-US" dirty="0"/>
              <a:t>R9: </a:t>
            </a:r>
            <a:r>
              <a:rPr lang="en-US" altLang="en-US" dirty="0">
                <a:solidFill>
                  <a:srgbClr val="FF00FF"/>
                </a:solidFill>
              </a:rPr>
              <a:t>Add parameter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rgbClr val="00B050"/>
                </a:solidFill>
              </a:rPr>
              <a:t>p</a:t>
            </a:r>
            <a:r>
              <a:rPr lang="en-US" altLang="en-US" dirty="0"/>
              <a:t> of type </a:t>
            </a:r>
            <a:r>
              <a:rPr lang="en-US" altLang="en-US" i="1" dirty="0">
                <a:solidFill>
                  <a:srgbClr val="00B050"/>
                </a:solidFill>
              </a:rPr>
              <a:t>Packet</a:t>
            </a:r>
            <a:r>
              <a:rPr lang="en-US" altLang="en-US" dirty="0"/>
              <a:t> to method </a:t>
            </a:r>
            <a:r>
              <a:rPr lang="en-US" altLang="en-US" i="1" dirty="0">
                <a:solidFill>
                  <a:srgbClr val="00B050"/>
                </a:solidFill>
              </a:rPr>
              <a:t>save</a:t>
            </a:r>
            <a:r>
              <a:rPr lang="en-US" altLang="en-US" dirty="0"/>
              <a:t> in class </a:t>
            </a:r>
            <a:r>
              <a:rPr lang="en-US" altLang="en-US" i="1" dirty="0" err="1">
                <a:solidFill>
                  <a:srgbClr val="FF0000"/>
                </a:solidFill>
              </a:rPr>
              <a:t>FileServer</a:t>
            </a:r>
            <a:r>
              <a:rPr lang="en-US" altLang="en-US" dirty="0"/>
              <a:t> so that the contents of a  packet can be printed.</a:t>
            </a:r>
            <a:endParaRPr lang="en-CA" altLang="en-US" dirty="0"/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12998CE7-555E-402D-FCB3-5D5D7F286CA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-6350" y="-3967"/>
            <a:ext cx="9144000" cy="487362"/>
          </a:xfrm>
        </p:spPr>
        <p:txBody>
          <a:bodyPr/>
          <a:lstStyle/>
          <a:p>
            <a:r>
              <a:rPr lang="en-CA" altLang="en-US" dirty="0">
                <a:solidFill>
                  <a:srgbClr val="00B050"/>
                </a:solidFill>
              </a:rPr>
              <a:t>Determine which </a:t>
            </a:r>
            <a:r>
              <a:rPr lang="en-CA" altLang="en-US" dirty="0" err="1">
                <a:solidFill>
                  <a:srgbClr val="00B050"/>
                </a:solidFill>
              </a:rPr>
              <a:t>refactorings</a:t>
            </a:r>
            <a:r>
              <a:rPr lang="en-CA" altLang="en-US" dirty="0">
                <a:solidFill>
                  <a:srgbClr val="00B050"/>
                </a:solidFill>
              </a:rPr>
              <a:t> to apply.</a:t>
            </a: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02CE7484-9062-BE1D-E23A-AE0E138BE4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0AAA3EB3-3606-A343-893A-4E7E7C706DAC}" type="slidenum">
              <a:rPr lang="en-US" altLang="en-US" sz="1000">
                <a:solidFill>
                  <a:srgbClr val="000000"/>
                </a:solidFill>
              </a:rPr>
              <a:pPr/>
              <a:t>20</a:t>
            </a:fld>
            <a:endParaRPr lang="en-US" altLang="en-US" sz="1000">
              <a:solidFill>
                <a:srgbClr val="000000"/>
              </a:solidFill>
            </a:endParaRPr>
          </a:p>
        </p:txBody>
      </p:sp>
      <p:pic>
        <p:nvPicPr>
          <p:cNvPr id="18436" name="Picture 2" descr="C:\DataFebruary7\ASAGAR\PAPER\MYBOOK2\SEVBOOK\REFACT\refacex11.xfig.eps">
            <a:extLst>
              <a:ext uri="{FF2B5EF4-FFF2-40B4-BE49-F238E27FC236}">
                <a16:creationId xmlns:a16="http://schemas.microsoft.com/office/drawing/2014/main" id="{2466075A-9DB7-41D3-0DD7-C5F05FF62B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163" y="1355725"/>
            <a:ext cx="7319962" cy="380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7" name="TextBox 4">
            <a:extLst>
              <a:ext uri="{FF2B5EF4-FFF2-40B4-BE49-F238E27FC236}">
                <a16:creationId xmlns:a16="http://schemas.microsoft.com/office/drawing/2014/main" id="{21F49E94-CF57-E62F-C572-0740E91E14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050" y="5330825"/>
            <a:ext cx="6409383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CA" altLang="en-US" b="0" dirty="0">
                <a:solidFill>
                  <a:srgbClr val="0000FF"/>
                </a:solidFill>
              </a:rPr>
              <a:t>Class diagram of a Local Area Network (LAN) simulator [6]</a:t>
            </a:r>
          </a:p>
          <a:p>
            <a:r>
              <a:rPr lang="en-CA" altLang="en-US" b="0" dirty="0">
                <a:solidFill>
                  <a:srgbClr val="0000FF"/>
                </a:solidFill>
              </a:rPr>
              <a:t>                  (©[2007] Springer).</a:t>
            </a: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9">
            <a:extLst>
              <a:ext uri="{FF2B5EF4-FFF2-40B4-BE49-F238E27FC236}">
                <a16:creationId xmlns:a16="http://schemas.microsoft.com/office/drawing/2014/main" id="{D4DA7F10-A705-8376-F445-6F33B3C5AC9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74525469-3D7C-7342-AEFA-B503ED5031E5}" type="slidenum">
              <a:rPr lang="en-US" altLang="en-US" sz="1000">
                <a:solidFill>
                  <a:srgbClr val="000000"/>
                </a:solidFill>
              </a:rPr>
              <a:pPr/>
              <a:t>21</a:t>
            </a:fld>
            <a:endParaRPr lang="en-US" altLang="en-US" sz="1000">
              <a:solidFill>
                <a:srgbClr val="000000"/>
              </a:solidFill>
            </a:endParaRP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FDAA5A84-1E12-A332-6EA6-6B7E92942A5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CA" altLang="en-US" dirty="0">
                <a:solidFill>
                  <a:srgbClr val="00B050"/>
                </a:solidFill>
              </a:rPr>
              <a:t>Determine which </a:t>
            </a:r>
            <a:r>
              <a:rPr lang="en-CA" altLang="en-US" dirty="0" err="1">
                <a:solidFill>
                  <a:srgbClr val="00B050"/>
                </a:solidFill>
              </a:rPr>
              <a:t>refactorings</a:t>
            </a:r>
            <a:r>
              <a:rPr lang="en-CA" altLang="en-US" dirty="0">
                <a:solidFill>
                  <a:srgbClr val="00B050"/>
                </a:solidFill>
              </a:rPr>
              <a:t> to apply</a:t>
            </a:r>
            <a:endParaRPr lang="en-US" altLang="en-US" dirty="0">
              <a:solidFill>
                <a:srgbClr val="00B05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F7F9909C-E470-ABE7-E92E-107F94D5055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93675" y="660400"/>
            <a:ext cx="8966200" cy="582930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  <a:defRPr/>
            </a:pPr>
            <a:r>
              <a:rPr lang="en-US" altLang="en-US" dirty="0">
                <a:solidFill>
                  <a:srgbClr val="FF00FF"/>
                </a:solidFill>
                <a:latin typeface="Arial" charset="0"/>
              </a:rPr>
              <a:t>R1—R9</a:t>
            </a:r>
            <a:r>
              <a:rPr lang="en-US" altLang="en-US" dirty="0">
                <a:latin typeface="Arial" charset="0"/>
              </a:rPr>
              <a:t> indicate that  a large number of </a:t>
            </a:r>
            <a:r>
              <a:rPr lang="en-US" altLang="en-US" dirty="0" err="1">
                <a:latin typeface="Arial" charset="0"/>
              </a:rPr>
              <a:t>refactorings</a:t>
            </a:r>
            <a:r>
              <a:rPr lang="en-US" altLang="en-US" dirty="0">
                <a:latin typeface="Arial" charset="0"/>
              </a:rPr>
              <a:t> can be identified even for a small system.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altLang="en-US" dirty="0">
                <a:latin typeface="+mn-lt"/>
              </a:rPr>
              <a:t>A subset of the entire set of </a:t>
            </a:r>
            <a:r>
              <a:rPr lang="en-US" altLang="en-US" dirty="0" err="1">
                <a:latin typeface="+mn-lt"/>
              </a:rPr>
              <a:t>refactorings</a:t>
            </a:r>
            <a:r>
              <a:rPr lang="en-US" altLang="en-US" dirty="0">
                <a:latin typeface="+mn-lt"/>
              </a:rPr>
              <a:t> need to be carefully chosen because of the following reasons.</a:t>
            </a:r>
            <a:endParaRPr lang="en-US" altLang="en-US" sz="1600" dirty="0">
              <a:latin typeface="Arial" charset="0"/>
            </a:endParaRPr>
          </a:p>
          <a:p>
            <a:pPr lvl="1">
              <a:defRPr/>
            </a:pPr>
            <a:r>
              <a:rPr lang="en-US" altLang="en-US" dirty="0"/>
              <a:t>Some </a:t>
            </a:r>
            <a:r>
              <a:rPr lang="en-US" altLang="en-US" dirty="0" err="1"/>
              <a:t>refactorings</a:t>
            </a:r>
            <a:r>
              <a:rPr lang="en-US" altLang="en-US" dirty="0"/>
              <a:t> must be applied together.</a:t>
            </a:r>
          </a:p>
          <a:p>
            <a:pPr lvl="2">
              <a:defRPr/>
            </a:pPr>
            <a:r>
              <a:rPr lang="en-US" altLang="en-US" dirty="0">
                <a:latin typeface="+mn-lt"/>
              </a:rPr>
              <a:t>Example: R1 and R2 are to be applied together.</a:t>
            </a:r>
          </a:p>
          <a:p>
            <a:pPr lvl="1">
              <a:defRPr/>
            </a:pPr>
            <a:r>
              <a:rPr lang="en-US" altLang="en-US" dirty="0">
                <a:latin typeface="+mn-lt"/>
              </a:rPr>
              <a:t>Some </a:t>
            </a:r>
            <a:r>
              <a:rPr lang="en-US" altLang="en-US" dirty="0" err="1">
                <a:latin typeface="+mn-lt"/>
              </a:rPr>
              <a:t>refactorings</a:t>
            </a:r>
            <a:r>
              <a:rPr lang="en-US" altLang="en-US" dirty="0">
                <a:latin typeface="+mn-lt"/>
              </a:rPr>
              <a:t> must be applied in certain orders.</a:t>
            </a:r>
          </a:p>
          <a:p>
            <a:pPr lvl="2">
              <a:defRPr/>
            </a:pPr>
            <a:r>
              <a:rPr lang="en-US" altLang="en-US" dirty="0">
                <a:latin typeface="+mn-lt"/>
              </a:rPr>
              <a:t>Example: R1 and R2 must precede R3.</a:t>
            </a:r>
          </a:p>
          <a:p>
            <a:pPr lvl="1">
              <a:defRPr/>
            </a:pPr>
            <a:r>
              <a:rPr lang="en-US" altLang="en-US" dirty="0">
                <a:latin typeface="+mn-lt"/>
              </a:rPr>
              <a:t>Some </a:t>
            </a:r>
            <a:r>
              <a:rPr lang="en-US" altLang="en-US" dirty="0" err="1">
                <a:latin typeface="+mn-lt"/>
              </a:rPr>
              <a:t>refactorings</a:t>
            </a:r>
            <a:r>
              <a:rPr lang="en-US" altLang="en-US" dirty="0">
                <a:latin typeface="+mn-lt"/>
              </a:rPr>
              <a:t> can be individually applied, but they must follow an order if applied together.</a:t>
            </a:r>
          </a:p>
          <a:p>
            <a:pPr lvl="2">
              <a:defRPr/>
            </a:pPr>
            <a:r>
              <a:rPr lang="en-US" altLang="en-US" dirty="0">
                <a:latin typeface="+mn-lt"/>
              </a:rPr>
              <a:t>Example: R1 and R8 can be applied in isolation. However, if both of them are to be applied, then R1 must occur before R8.</a:t>
            </a:r>
          </a:p>
          <a:p>
            <a:pPr lvl="1">
              <a:defRPr/>
            </a:pPr>
            <a:r>
              <a:rPr lang="en-US" altLang="en-US" dirty="0">
                <a:latin typeface="+mn-lt"/>
              </a:rPr>
              <a:t>Some </a:t>
            </a:r>
            <a:r>
              <a:rPr lang="en-US" altLang="en-US" dirty="0" err="1">
                <a:latin typeface="+mn-lt"/>
              </a:rPr>
              <a:t>refactorings</a:t>
            </a:r>
            <a:r>
              <a:rPr lang="en-US" altLang="en-US" dirty="0">
                <a:latin typeface="+mn-lt"/>
              </a:rPr>
              <a:t> are mutually exclusive.</a:t>
            </a:r>
          </a:p>
          <a:p>
            <a:pPr lvl="2">
              <a:defRPr/>
            </a:pPr>
            <a:r>
              <a:rPr lang="en-US" altLang="en-US" dirty="0">
                <a:latin typeface="+mn-lt"/>
              </a:rPr>
              <a:t>Example: R4 and R6 are mutually exclusive.</a:t>
            </a:r>
            <a:endParaRPr lang="en-CA" altLang="en-US" dirty="0">
              <a:latin typeface="+mn-lt"/>
            </a:endParaRPr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9">
            <a:extLst>
              <a:ext uri="{FF2B5EF4-FFF2-40B4-BE49-F238E27FC236}">
                <a16:creationId xmlns:a16="http://schemas.microsoft.com/office/drawing/2014/main" id="{6EAA9E8A-A5CE-23E0-346E-9B2A8B9F542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E0D5E0B0-56DD-C043-AFD6-778805B97845}" type="slidenum">
              <a:rPr lang="en-US" altLang="en-US" sz="1000">
                <a:solidFill>
                  <a:srgbClr val="000000"/>
                </a:solidFill>
              </a:rPr>
              <a:pPr/>
              <a:t>22</a:t>
            </a:fld>
            <a:endParaRPr lang="en-US" altLang="en-US" sz="1000">
              <a:solidFill>
                <a:srgbClr val="000000"/>
              </a:solidFill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42A95126-6F1A-E893-6A77-7F58D4D0940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CA" altLang="en-US" dirty="0">
                <a:solidFill>
                  <a:srgbClr val="00B050"/>
                </a:solidFill>
              </a:rPr>
              <a:t>Determine which </a:t>
            </a:r>
            <a:r>
              <a:rPr lang="en-CA" altLang="en-US" dirty="0" err="1">
                <a:solidFill>
                  <a:srgbClr val="00B050"/>
                </a:solidFill>
              </a:rPr>
              <a:t>refactorings</a:t>
            </a:r>
            <a:r>
              <a:rPr lang="en-CA" altLang="en-US" dirty="0">
                <a:solidFill>
                  <a:srgbClr val="00B050"/>
                </a:solidFill>
              </a:rPr>
              <a:t> to apply</a:t>
            </a:r>
            <a:endParaRPr lang="en-US" altLang="en-US" dirty="0">
              <a:solidFill>
                <a:srgbClr val="00B05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B3E0BE81-7954-F709-53A0-1E0D5061390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93675" y="660400"/>
            <a:ext cx="8966200" cy="582930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  <a:defRPr/>
            </a:pPr>
            <a:r>
              <a:rPr lang="en-US" altLang="en-US" dirty="0">
                <a:latin typeface="Arial" charset="0"/>
              </a:rPr>
              <a:t>Tool support is needed to identify a feasible subset of </a:t>
            </a:r>
            <a:r>
              <a:rPr lang="en-US" altLang="en-US" dirty="0" err="1">
                <a:latin typeface="Arial" charset="0"/>
              </a:rPr>
              <a:t>refactorings</a:t>
            </a:r>
            <a:r>
              <a:rPr lang="en-US" altLang="en-US" dirty="0">
                <a:latin typeface="Arial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altLang="en-US" dirty="0">
                <a:latin typeface="+mn-lt"/>
              </a:rPr>
              <a:t>The following two techniques can be used to analyze a set of </a:t>
            </a:r>
            <a:r>
              <a:rPr lang="en-US" altLang="en-US" dirty="0" err="1">
                <a:latin typeface="+mn-lt"/>
              </a:rPr>
              <a:t>refactorings</a:t>
            </a:r>
            <a:r>
              <a:rPr lang="en-US" altLang="en-US" dirty="0">
                <a:latin typeface="+mn-lt"/>
              </a:rPr>
              <a:t> to select a feasible subset.</a:t>
            </a:r>
            <a:endParaRPr lang="en-US" altLang="en-US" sz="1600" dirty="0">
              <a:latin typeface="Arial" charset="0"/>
            </a:endParaRPr>
          </a:p>
          <a:p>
            <a:pPr lvl="1">
              <a:defRPr/>
            </a:pPr>
            <a:r>
              <a:rPr lang="en-US" altLang="en-US" dirty="0"/>
              <a:t>Critical pair analysis  </a:t>
            </a:r>
          </a:p>
          <a:p>
            <a:pPr lvl="2">
              <a:defRPr/>
            </a:pPr>
            <a:r>
              <a:rPr lang="en-US" altLang="en-US" dirty="0">
                <a:latin typeface="+mn-lt"/>
              </a:rPr>
              <a:t>Given a set of </a:t>
            </a:r>
            <a:r>
              <a:rPr lang="en-US" altLang="en-US" dirty="0" err="1">
                <a:latin typeface="+mn-lt"/>
              </a:rPr>
              <a:t>refactorings</a:t>
            </a:r>
            <a:r>
              <a:rPr lang="en-US" altLang="en-US" dirty="0">
                <a:latin typeface="+mn-lt"/>
              </a:rPr>
              <a:t>, analyze each pair for conflicts. A pair is said to be conflicting if both elements cannot be applied together.</a:t>
            </a:r>
          </a:p>
          <a:p>
            <a:pPr lvl="3">
              <a:defRPr/>
            </a:pPr>
            <a:r>
              <a:rPr lang="en-US" altLang="en-US" dirty="0">
                <a:latin typeface="+mn-lt"/>
              </a:rPr>
              <a:t>Example: R4 and R6 constitute a conflicting pair.</a:t>
            </a:r>
          </a:p>
          <a:p>
            <a:pPr lvl="1">
              <a:defRPr/>
            </a:pPr>
            <a:r>
              <a:rPr lang="en-US" altLang="en-US" dirty="0">
                <a:latin typeface="+mn-lt"/>
              </a:rPr>
              <a:t>Sequential dependency analysis  </a:t>
            </a:r>
          </a:p>
          <a:p>
            <a:pPr lvl="2">
              <a:defRPr/>
            </a:pPr>
            <a:r>
              <a:rPr lang="en-US" altLang="en-US" dirty="0">
                <a:latin typeface="+mn-lt"/>
              </a:rPr>
              <a:t>In order to apply a refactoring, one or more </a:t>
            </a:r>
            <a:r>
              <a:rPr lang="en-US" altLang="en-US" dirty="0" err="1">
                <a:latin typeface="+mn-lt"/>
              </a:rPr>
              <a:t>refactorings</a:t>
            </a:r>
            <a:r>
              <a:rPr lang="en-US" altLang="en-US" dirty="0">
                <a:latin typeface="+mn-lt"/>
              </a:rPr>
              <a:t> must be applied before.</a:t>
            </a:r>
          </a:p>
          <a:p>
            <a:pPr lvl="2">
              <a:defRPr/>
            </a:pPr>
            <a:r>
              <a:rPr lang="en-US" altLang="en-US" dirty="0">
                <a:latin typeface="+mn-lt"/>
              </a:rPr>
              <a:t>If one refactoring has already been applied, a mutually exclusive refactoring cannot be applied anymore.</a:t>
            </a:r>
          </a:p>
          <a:p>
            <a:pPr lvl="3">
              <a:defRPr/>
            </a:pPr>
            <a:r>
              <a:rPr lang="en-US" altLang="en-US" dirty="0">
                <a:latin typeface="+mn-lt"/>
              </a:rPr>
              <a:t>Example: </a:t>
            </a:r>
            <a:r>
              <a:rPr lang="en-CA" dirty="0"/>
              <a:t>after applying R1, R2, and R3,  R4 becomes applicable. Now, if R4 is applied, then R6 is not applicable anymore.</a:t>
            </a:r>
            <a:endParaRPr lang="en-US" altLang="en-US" dirty="0">
              <a:latin typeface="+mn-lt"/>
            </a:endParaRPr>
          </a:p>
          <a:p>
            <a:pPr lvl="2">
              <a:defRPr/>
            </a:pPr>
            <a:endParaRPr lang="en-US" altLang="en-US" dirty="0">
              <a:latin typeface="+mn-lt"/>
            </a:endParaRPr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F40399-2716-545D-F7C7-B286133286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0241EA-7553-2D4E-BCE7-0B597DE59345}" type="slidenum">
              <a:rPr lang="en-US" altLang="en-US" smtClean="0"/>
              <a:pPr/>
              <a:t>23</a:t>
            </a:fld>
            <a:endParaRPr lang="en-US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B236EA-0D6C-31E2-7158-7B4B3DD2A99F}"/>
              </a:ext>
            </a:extLst>
          </p:cNvPr>
          <p:cNvSpPr txBox="1"/>
          <p:nvPr/>
        </p:nvSpPr>
        <p:spPr>
          <a:xfrm>
            <a:off x="1365032" y="256479"/>
            <a:ext cx="641393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4000" dirty="0">
                <a:solidFill>
                  <a:schemeClr val="accent5">
                    <a:lumMod val="10000"/>
                  </a:schemeClr>
                </a:solidFill>
              </a:rPr>
              <a:t>Can an LLM help with this?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E814C2-1DEE-FC73-BF98-09AF5D372B28}"/>
              </a:ext>
            </a:extLst>
          </p:cNvPr>
          <p:cNvSpPr txBox="1"/>
          <p:nvPr/>
        </p:nvSpPr>
        <p:spPr>
          <a:xfrm>
            <a:off x="356838" y="1264637"/>
            <a:ext cx="8241479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>
                <a:solidFill>
                  <a:schemeClr val="accent5">
                    <a:lumMod val="10000"/>
                  </a:schemeClr>
                </a:solidFill>
              </a:rPr>
              <a:t>N</a:t>
            </a:r>
            <a:r>
              <a:rPr lang="en-IT" sz="4000" dirty="0">
                <a:solidFill>
                  <a:schemeClr val="accent5">
                    <a:lumMod val="10000"/>
                  </a:schemeClr>
                </a:solidFill>
              </a:rPr>
              <a:t>ope.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T" sz="2400" b="0" dirty="0">
                <a:solidFill>
                  <a:schemeClr val="accent5">
                    <a:lumMod val="10000"/>
                  </a:schemeClr>
                </a:solidFill>
              </a:rPr>
              <a:t>It can propose options of consequence for you to evaluate;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T" sz="2400" b="0" dirty="0">
              <a:solidFill>
                <a:schemeClr val="accent5">
                  <a:lumMod val="10000"/>
                </a:schemeClr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T" sz="2400" b="0" dirty="0">
                <a:solidFill>
                  <a:schemeClr val="accent5">
                    <a:lumMod val="10000"/>
                  </a:schemeClr>
                </a:solidFill>
              </a:rPr>
              <a:t>It can guess consequences by figuring out code (re-)structure;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T" sz="2400" b="0" dirty="0">
              <a:solidFill>
                <a:schemeClr val="accent5">
                  <a:lumMod val="10000"/>
                </a:schemeClr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T" sz="2400" b="0" dirty="0">
                <a:solidFill>
                  <a:schemeClr val="accent5">
                    <a:lumMod val="10000"/>
                  </a:schemeClr>
                </a:solidFill>
              </a:rPr>
              <a:t>It cannot ideally execute the code to evaluate the impacts (e.g., the refactoring </a:t>
            </a:r>
            <a:r>
              <a:rPr lang="en-IT" sz="2400" u="sng" dirty="0">
                <a:solidFill>
                  <a:schemeClr val="accent5">
                    <a:lumMod val="10000"/>
                  </a:schemeClr>
                </a:solidFill>
              </a:rPr>
              <a:t>preserves sw. behavior</a:t>
            </a:r>
            <a:r>
              <a:rPr lang="en-IT" sz="2400" b="0" dirty="0">
                <a:solidFill>
                  <a:schemeClr val="accent5">
                    <a:lumMod val="10000"/>
                  </a:schemeClr>
                </a:solidFill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442614852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9">
            <a:extLst>
              <a:ext uri="{FF2B5EF4-FFF2-40B4-BE49-F238E27FC236}">
                <a16:creationId xmlns:a16="http://schemas.microsoft.com/office/drawing/2014/main" id="{B479C12A-E052-50BD-AFFF-5F1969AC189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D52F8FA6-81A2-FA42-9CFA-A0DEE61F6C1C}" type="slidenum">
              <a:rPr lang="en-US" altLang="en-US" sz="1000">
                <a:solidFill>
                  <a:srgbClr val="000000"/>
                </a:solidFill>
              </a:rPr>
              <a:pPr/>
              <a:t>24</a:t>
            </a:fld>
            <a:endParaRPr lang="en-US" altLang="en-US" sz="1000">
              <a:solidFill>
                <a:srgbClr val="000000"/>
              </a:solidFill>
            </a:endParaRPr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225B9FC0-2260-9AD9-65DD-3F43FCF7E5F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160338"/>
            <a:ext cx="9144000" cy="830262"/>
          </a:xfrm>
        </p:spPr>
        <p:txBody>
          <a:bodyPr/>
          <a:lstStyle/>
          <a:p>
            <a:pPr marL="342900" indent="-342900"/>
            <a:r>
              <a:rPr lang="en-CA" altLang="en-US" dirty="0"/>
              <a:t>Ensure that refactoring preserves  the  software’s behavior.</a:t>
            </a:r>
          </a:p>
        </p:txBody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A410481A-624B-0206-C88E-91DCC6F90A6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93675" y="1050925"/>
            <a:ext cx="9056688" cy="5438775"/>
          </a:xfrm>
        </p:spPr>
        <p:txBody>
          <a:bodyPr/>
          <a:lstStyle/>
          <a:p>
            <a:pPr marL="457200" lvl="1" indent="-457200">
              <a:buSzPct val="75000"/>
              <a:buFont typeface="Arial" panose="020B0604020202020204" pitchFamily="34" charset="0"/>
              <a:buChar char="•"/>
              <a:defRPr/>
            </a:pPr>
            <a:r>
              <a:rPr lang="en-CA" altLang="en-US" sz="2400" dirty="0">
                <a:latin typeface="Arial" charset="0"/>
              </a:rPr>
              <a:t>Ideally, the input/output behavior of a program </a:t>
            </a:r>
            <a:r>
              <a:rPr lang="en-CA" altLang="en-US" sz="2400" i="1" dirty="0">
                <a:solidFill>
                  <a:srgbClr val="00B050"/>
                </a:solidFill>
                <a:latin typeface="Arial" charset="0"/>
              </a:rPr>
              <a:t>after</a:t>
            </a:r>
            <a:r>
              <a:rPr lang="en-CA" altLang="en-US" sz="2400" dirty="0">
                <a:latin typeface="Arial" charset="0"/>
              </a:rPr>
              <a:t> refactoring is the same as the behavior </a:t>
            </a:r>
            <a:r>
              <a:rPr lang="en-CA" altLang="en-US" sz="2400" i="1" dirty="0">
                <a:solidFill>
                  <a:srgbClr val="FF0000"/>
                </a:solidFill>
                <a:latin typeface="Arial" charset="0"/>
              </a:rPr>
              <a:t>before</a:t>
            </a:r>
            <a:r>
              <a:rPr lang="en-CA" altLang="en-US" sz="2400" dirty="0">
                <a:latin typeface="Arial" charset="0"/>
              </a:rPr>
              <a:t> refactoring.</a:t>
            </a:r>
          </a:p>
          <a:p>
            <a:pPr marL="457200" lvl="1" indent="-457200">
              <a:buSzPct val="75000"/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Arial" charset="0"/>
              </a:rPr>
              <a:t>In many applications, preservation of non-functional requirements is necessary.</a:t>
            </a:r>
          </a:p>
          <a:p>
            <a:pPr marL="457200" lvl="1" indent="-457200">
              <a:buSzPct val="75000"/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Arial" charset="0"/>
              </a:rPr>
              <a:t>A non-exclusive list of such non-functional requirements is as follows: </a:t>
            </a:r>
          </a:p>
          <a:p>
            <a:pPr lvl="1">
              <a:defRPr/>
            </a:pPr>
            <a:r>
              <a:rPr lang="en-US" altLang="en-US" dirty="0">
                <a:solidFill>
                  <a:srgbClr val="00B050"/>
                </a:solidFill>
              </a:rPr>
              <a:t>Temporal constraints:</a:t>
            </a:r>
            <a:r>
              <a:rPr lang="en-US" altLang="en-US" dirty="0"/>
              <a:t> A temporal constraint over a sequence of operations is that the operations occur in a certain order. </a:t>
            </a:r>
          </a:p>
          <a:p>
            <a:pPr lvl="2">
              <a:defRPr/>
            </a:pPr>
            <a:r>
              <a:rPr lang="en-US" altLang="en-US" dirty="0"/>
              <a:t>For real-time systems, </a:t>
            </a:r>
            <a:r>
              <a:rPr lang="en-US" altLang="en-US" dirty="0" err="1"/>
              <a:t>refactorings</a:t>
            </a:r>
            <a:r>
              <a:rPr lang="en-US" altLang="en-US" dirty="0"/>
              <a:t> should preserve temporal constraints.</a:t>
            </a:r>
          </a:p>
          <a:p>
            <a:pPr lvl="1">
              <a:defRPr/>
            </a:pPr>
            <a:r>
              <a:rPr lang="en-US" altLang="en-US" dirty="0">
                <a:solidFill>
                  <a:srgbClr val="00B050"/>
                </a:solidFill>
              </a:rPr>
              <a:t>Resource constraints:</a:t>
            </a:r>
            <a:r>
              <a:rPr lang="en-US" altLang="en-US" dirty="0"/>
              <a:t> The software after refactoring does not demand more resources: memory, energy, communication bandwidth, and so on.</a:t>
            </a:r>
          </a:p>
          <a:p>
            <a:pPr lvl="1">
              <a:defRPr/>
            </a:pPr>
            <a:r>
              <a:rPr lang="en-US" altLang="en-US" dirty="0">
                <a:solidFill>
                  <a:srgbClr val="00B050"/>
                </a:solidFill>
              </a:rPr>
              <a:t>Safety constraints: </a:t>
            </a:r>
            <a:r>
              <a:rPr lang="en-US" altLang="en-US" dirty="0"/>
              <a:t>It is important that the software does not lose its safety properties after refactoring.</a:t>
            </a:r>
          </a:p>
          <a:p>
            <a:pPr marL="914400" lvl="2" indent="0">
              <a:buFontTx/>
              <a:buNone/>
              <a:defRPr/>
            </a:pPr>
            <a:endParaRPr lang="en-CA" altLang="en-US" sz="2400" dirty="0">
              <a:latin typeface="Arial" charset="0"/>
            </a:endParaRPr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19">
            <a:extLst>
              <a:ext uri="{FF2B5EF4-FFF2-40B4-BE49-F238E27FC236}">
                <a16:creationId xmlns:a16="http://schemas.microsoft.com/office/drawing/2014/main" id="{65C486D0-25D8-6ADF-A503-22012B81A5A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CCAF7A0A-98FA-1C46-9A1E-4EF4A1BED251}" type="slidenum">
              <a:rPr lang="en-US" altLang="en-US" sz="1000">
                <a:solidFill>
                  <a:srgbClr val="000000"/>
                </a:solidFill>
              </a:rPr>
              <a:pPr/>
              <a:t>25</a:t>
            </a:fld>
            <a:endParaRPr lang="en-US" altLang="en-US" sz="1000">
              <a:solidFill>
                <a:srgbClr val="000000"/>
              </a:solidFill>
            </a:endParaRPr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CD6EBC8D-1EA1-F3A4-1B81-2591F66E90C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160338"/>
            <a:ext cx="9144000" cy="830262"/>
          </a:xfrm>
        </p:spPr>
        <p:txBody>
          <a:bodyPr/>
          <a:lstStyle/>
          <a:p>
            <a:pPr marL="342900" indent="-342900"/>
            <a:r>
              <a:rPr lang="en-CA" altLang="en-US" dirty="0"/>
              <a:t>Ensure that refactoring preserves  </a:t>
            </a:r>
            <a:br>
              <a:rPr lang="en-CA" altLang="en-US" dirty="0"/>
            </a:br>
            <a:r>
              <a:rPr lang="en-CA" altLang="en-US" dirty="0"/>
              <a:t>the software’s behavior.</a:t>
            </a:r>
          </a:p>
        </p:txBody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D8E66218-CDA8-B2DA-1132-6555C493E38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93675" y="1050925"/>
            <a:ext cx="9056688" cy="5438775"/>
          </a:xfrm>
        </p:spPr>
        <p:txBody>
          <a:bodyPr/>
          <a:lstStyle/>
          <a:p>
            <a:pPr marL="457200" lvl="1" indent="-457200">
              <a:buSzPct val="75000"/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Arial" charset="0"/>
              </a:rPr>
              <a:t>Two pragmatic ways of showing that refactoring preserves the software’s behavior.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endParaRPr lang="en-US" altLang="en-US" sz="1600" dirty="0">
              <a:latin typeface="Arial" charset="0"/>
            </a:endParaRPr>
          </a:p>
          <a:p>
            <a:pPr lvl="1">
              <a:defRPr/>
            </a:pPr>
            <a:r>
              <a:rPr lang="en-US" altLang="en-US" dirty="0">
                <a:latin typeface="Arial" charset="0"/>
              </a:rPr>
              <a:t>Testing</a:t>
            </a:r>
          </a:p>
          <a:p>
            <a:pPr lvl="2">
              <a:defRPr/>
            </a:pPr>
            <a:r>
              <a:rPr lang="en-US" altLang="en-US" dirty="0">
                <a:latin typeface="Arial" charset="0"/>
              </a:rPr>
              <a:t>Exhaustively test the software </a:t>
            </a:r>
            <a:r>
              <a:rPr lang="en-US" altLang="en-US" i="1" dirty="0">
                <a:latin typeface="Arial" charset="0"/>
              </a:rPr>
              <a:t>before</a:t>
            </a:r>
            <a:r>
              <a:rPr lang="en-US" altLang="en-US" dirty="0">
                <a:latin typeface="Arial" charset="0"/>
              </a:rPr>
              <a:t> and </a:t>
            </a:r>
            <a:r>
              <a:rPr lang="en-US" altLang="en-US" i="1" dirty="0">
                <a:latin typeface="Arial" charset="0"/>
              </a:rPr>
              <a:t>after</a:t>
            </a:r>
            <a:r>
              <a:rPr lang="en-US" altLang="en-US" dirty="0">
                <a:latin typeface="Arial" charset="0"/>
              </a:rPr>
              <a:t> applying </a:t>
            </a:r>
            <a:r>
              <a:rPr lang="en-US" altLang="en-US" dirty="0" err="1">
                <a:latin typeface="Arial" charset="0"/>
              </a:rPr>
              <a:t>refactorings</a:t>
            </a:r>
            <a:r>
              <a:rPr lang="en-US" altLang="en-US" dirty="0">
                <a:latin typeface="Arial" charset="0"/>
              </a:rPr>
              <a:t>, and compare the  observed behavior on a test-by-test basis.</a:t>
            </a:r>
          </a:p>
          <a:p>
            <a:pPr marL="914400" lvl="2" indent="0">
              <a:buFontTx/>
              <a:buNone/>
              <a:defRPr/>
            </a:pPr>
            <a:endParaRPr lang="en-US" altLang="en-US" dirty="0">
              <a:latin typeface="Arial" charset="0"/>
            </a:endParaRPr>
          </a:p>
          <a:p>
            <a:pPr lvl="1">
              <a:defRPr/>
            </a:pPr>
            <a:r>
              <a:rPr lang="en-US" altLang="en-US" dirty="0">
                <a:latin typeface="Arial" charset="0"/>
              </a:rPr>
              <a:t>Verification of preservation of call sequence</a:t>
            </a:r>
          </a:p>
          <a:p>
            <a:pPr lvl="2">
              <a:defRPr/>
            </a:pPr>
            <a:r>
              <a:rPr lang="en-US" altLang="en-US" dirty="0">
                <a:latin typeface="Arial" charset="0"/>
              </a:rPr>
              <a:t>Ensure that the  sequence(s) of method calls are preserved in the refactored program.</a:t>
            </a:r>
            <a:endParaRPr lang="en-US" altLang="en-US" dirty="0"/>
          </a:p>
          <a:p>
            <a:pPr marL="914400" lvl="2" indent="0">
              <a:buFontTx/>
              <a:buNone/>
              <a:defRPr/>
            </a:pPr>
            <a:endParaRPr lang="en-CA" altLang="en-US" sz="2400" dirty="0">
              <a:latin typeface="Arial" charset="0"/>
            </a:endParaRPr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900BC8DB-0344-0765-D4CE-3E8C6F33429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-6350" y="-3967"/>
            <a:ext cx="9144000" cy="487362"/>
          </a:xfrm>
        </p:spPr>
        <p:txBody>
          <a:bodyPr/>
          <a:lstStyle/>
          <a:p>
            <a:r>
              <a:rPr lang="en-CA" altLang="en-US" sz="2800" dirty="0"/>
              <a:t>Apply the </a:t>
            </a:r>
            <a:r>
              <a:rPr lang="en-CA" altLang="en-US" sz="2800" dirty="0" err="1"/>
              <a:t>refactorings</a:t>
            </a:r>
            <a:r>
              <a:rPr lang="en-CA" altLang="en-US" sz="2800" dirty="0"/>
              <a:t> to chosen entities</a:t>
            </a:r>
            <a:endParaRPr lang="en-CA" altLang="en-US" sz="2800" dirty="0">
              <a:solidFill>
                <a:srgbClr val="00B050"/>
              </a:solidFill>
            </a:endParaRPr>
          </a:p>
        </p:txBody>
      </p:sp>
      <p:sp>
        <p:nvSpPr>
          <p:cNvPr id="24579" name="Slide Number Placeholder 3">
            <a:extLst>
              <a:ext uri="{FF2B5EF4-FFF2-40B4-BE49-F238E27FC236}">
                <a16:creationId xmlns:a16="http://schemas.microsoft.com/office/drawing/2014/main" id="{83A34466-8CDE-2E56-F3D7-A4ADB6A140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80A98AFF-2535-084E-85E7-4D245F7630E7}" type="slidenum">
              <a:rPr lang="en-US" altLang="en-US" sz="1000">
                <a:solidFill>
                  <a:srgbClr val="000000"/>
                </a:solidFill>
              </a:rPr>
              <a:pPr/>
              <a:t>26</a:t>
            </a:fld>
            <a:endParaRPr lang="en-US" altLang="en-US" sz="1000">
              <a:solidFill>
                <a:srgbClr val="000000"/>
              </a:solidFill>
            </a:endParaRPr>
          </a:p>
        </p:txBody>
      </p:sp>
      <p:pic>
        <p:nvPicPr>
          <p:cNvPr id="24580" name="Picture 2" descr="C:\DataFebruary7\ASAGAR\PAPER\MYBOOK2\SEVBOOK\REFACT\refacex12.xfig.eps">
            <a:extLst>
              <a:ext uri="{FF2B5EF4-FFF2-40B4-BE49-F238E27FC236}">
                <a16:creationId xmlns:a16="http://schemas.microsoft.com/office/drawing/2014/main" id="{449A9EF1-DEDD-4F53-FB03-1E66795862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4438" y="688975"/>
            <a:ext cx="6313487" cy="508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9">
            <a:extLst>
              <a:ext uri="{FF2B5EF4-FFF2-40B4-BE49-F238E27FC236}">
                <a16:creationId xmlns:a16="http://schemas.microsoft.com/office/drawing/2014/main" id="{CE2A9053-A012-B21E-7178-A9C2A06864C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829C91CE-3E24-A940-9827-1B2A9CB01FB9}" type="slidenum">
              <a:rPr lang="en-US" altLang="en-US" sz="1000">
                <a:solidFill>
                  <a:srgbClr val="000000"/>
                </a:solidFill>
              </a:rPr>
              <a:pPr/>
              <a:t>27</a:t>
            </a:fld>
            <a:endParaRPr lang="en-US" altLang="en-US" sz="1000">
              <a:solidFill>
                <a:srgbClr val="000000"/>
              </a:solidFill>
            </a:endParaRPr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9FFD3D18-A3C2-2198-8BDD-8B9CEB624B5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198438"/>
            <a:ext cx="9144000" cy="777875"/>
          </a:xfrm>
        </p:spPr>
        <p:txBody>
          <a:bodyPr/>
          <a:lstStyle/>
          <a:p>
            <a:pPr marL="342900" indent="-342900"/>
            <a:r>
              <a:rPr lang="en-CA" altLang="en-US" dirty="0"/>
              <a:t>Evaluate the impacts of the </a:t>
            </a:r>
            <a:br>
              <a:rPr lang="en-CA" altLang="en-US" dirty="0"/>
            </a:br>
            <a:r>
              <a:rPr lang="en-CA" altLang="en-US" dirty="0" err="1"/>
              <a:t>Refactorings</a:t>
            </a:r>
            <a:r>
              <a:rPr lang="en-CA" altLang="en-US" dirty="0"/>
              <a:t> on Quality</a:t>
            </a:r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6C1880B0-DB6B-5A8C-0CE7-23E2F786D67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93675" y="1062038"/>
            <a:ext cx="8966200" cy="5427662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  <a:defRPr/>
            </a:pPr>
            <a:r>
              <a:rPr lang="en-CA" altLang="en-US" dirty="0" err="1">
                <a:latin typeface="Arial" charset="0"/>
              </a:rPr>
              <a:t>Refactorings</a:t>
            </a:r>
            <a:r>
              <a:rPr lang="en-CA" altLang="en-US" dirty="0">
                <a:latin typeface="Arial" charset="0"/>
              </a:rPr>
              <a:t> impact both </a:t>
            </a:r>
            <a:r>
              <a:rPr lang="en-CA" altLang="en-US" i="1" dirty="0">
                <a:solidFill>
                  <a:srgbClr val="00B050"/>
                </a:solidFill>
                <a:latin typeface="Arial" charset="0"/>
              </a:rPr>
              <a:t>internal</a:t>
            </a:r>
            <a:r>
              <a:rPr lang="en-CA" altLang="en-US" dirty="0">
                <a:latin typeface="Arial" charset="0"/>
              </a:rPr>
              <a:t> and </a:t>
            </a:r>
            <a:r>
              <a:rPr lang="en-CA" altLang="en-US" i="1" dirty="0">
                <a:solidFill>
                  <a:srgbClr val="00B050"/>
                </a:solidFill>
                <a:latin typeface="Arial" charset="0"/>
              </a:rPr>
              <a:t>external</a:t>
            </a:r>
            <a:r>
              <a:rPr lang="en-CA" altLang="en-US" dirty="0">
                <a:latin typeface="Arial" charset="0"/>
              </a:rPr>
              <a:t> qualities of software.</a:t>
            </a:r>
          </a:p>
          <a:p>
            <a:pPr marL="0" indent="0">
              <a:buFontTx/>
              <a:buNone/>
              <a:defRPr/>
            </a:pPr>
            <a:endParaRPr lang="en-US" altLang="en-US" dirty="0">
              <a:latin typeface="Arial" charset="0"/>
            </a:endParaRP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altLang="en-US" dirty="0">
                <a:latin typeface="Arial" charset="0"/>
              </a:rPr>
              <a:t>Some examples of </a:t>
            </a:r>
            <a:r>
              <a:rPr lang="en-US" altLang="en-US" i="1" dirty="0">
                <a:solidFill>
                  <a:srgbClr val="00B050"/>
                </a:solidFill>
                <a:latin typeface="Arial" charset="0"/>
              </a:rPr>
              <a:t>internal</a:t>
            </a:r>
            <a:r>
              <a:rPr lang="en-US" altLang="en-US" dirty="0">
                <a:latin typeface="Arial" charset="0"/>
              </a:rPr>
              <a:t> qualities of software are</a:t>
            </a:r>
          </a:p>
          <a:p>
            <a:pPr lvl="1">
              <a:defRPr/>
            </a:pPr>
            <a:r>
              <a:rPr lang="en-CA" dirty="0"/>
              <a:t>size, complexity, coupling, cohesion, and testability</a:t>
            </a:r>
          </a:p>
          <a:p>
            <a:pPr>
              <a:defRPr/>
            </a:pPr>
            <a:r>
              <a:rPr lang="en-US" dirty="0"/>
              <a:t>Some examples of </a:t>
            </a:r>
            <a:r>
              <a:rPr lang="en-US" i="1" dirty="0">
                <a:solidFill>
                  <a:srgbClr val="00B050"/>
                </a:solidFill>
              </a:rPr>
              <a:t>external</a:t>
            </a:r>
            <a:r>
              <a:rPr lang="en-US" dirty="0"/>
              <a:t> qualities of software are</a:t>
            </a:r>
            <a:endParaRPr lang="en-CA" dirty="0"/>
          </a:p>
          <a:p>
            <a:pPr lvl="1">
              <a:defRPr/>
            </a:pPr>
            <a:r>
              <a:rPr lang="en-CA" dirty="0"/>
              <a:t>performance, reusability, maintainability, extensibility, robustness, and scalability</a:t>
            </a:r>
          </a:p>
          <a:p>
            <a:pPr>
              <a:defRPr/>
            </a:pPr>
            <a:endParaRPr lang="en-US" altLang="en-US" dirty="0">
              <a:latin typeface="+mn-lt"/>
            </a:endParaRPr>
          </a:p>
        </p:txBody>
      </p:sp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9">
            <a:extLst>
              <a:ext uri="{FF2B5EF4-FFF2-40B4-BE49-F238E27FC236}">
                <a16:creationId xmlns:a16="http://schemas.microsoft.com/office/drawing/2014/main" id="{6F9C4C85-AA38-246B-36CD-DEC0923265A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52F9C423-E96F-8D43-AE90-49A623FB9CBE}" type="slidenum">
              <a:rPr lang="en-US" altLang="en-US" sz="1000">
                <a:solidFill>
                  <a:srgbClr val="000000"/>
                </a:solidFill>
              </a:rPr>
              <a:pPr/>
              <a:t>28</a:t>
            </a:fld>
            <a:endParaRPr lang="en-US" altLang="en-US" sz="1000">
              <a:solidFill>
                <a:srgbClr val="000000"/>
              </a:solidFill>
            </a:endParaRP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98962729-A6AE-7A32-289F-55C83CF6163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198438"/>
            <a:ext cx="9144000" cy="777875"/>
          </a:xfrm>
        </p:spPr>
        <p:txBody>
          <a:bodyPr/>
          <a:lstStyle/>
          <a:p>
            <a:pPr marL="342900" indent="-342900"/>
            <a:r>
              <a:rPr lang="en-CA" altLang="en-US" dirty="0"/>
              <a:t>Evaluate the impacts of the </a:t>
            </a:r>
            <a:br>
              <a:rPr lang="en-CA" altLang="en-US" dirty="0"/>
            </a:br>
            <a:r>
              <a:rPr lang="en-CA" altLang="en-US" dirty="0" err="1"/>
              <a:t>Refactorings</a:t>
            </a:r>
            <a:r>
              <a:rPr lang="en-CA" altLang="en-US" dirty="0"/>
              <a:t> on Quality</a:t>
            </a:r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FB68225C-2514-397B-70AF-93AC0521FB6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93675" y="1062038"/>
            <a:ext cx="8966200" cy="5427662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latin typeface="+mn-lt"/>
              </a:rPr>
              <a:t>In general, refactoring techniques are </a:t>
            </a:r>
            <a:r>
              <a:rPr lang="en-US" altLang="en-US" dirty="0">
                <a:solidFill>
                  <a:srgbClr val="00B050"/>
                </a:solidFill>
                <a:latin typeface="+mn-lt"/>
              </a:rPr>
              <a:t>highly specialized</a:t>
            </a:r>
            <a:r>
              <a:rPr lang="en-US" altLang="en-US" dirty="0">
                <a:latin typeface="+mn-lt"/>
              </a:rPr>
              <a:t>, with one technique improving a </a:t>
            </a:r>
            <a:r>
              <a:rPr lang="en-US" altLang="en-US" dirty="0">
                <a:solidFill>
                  <a:srgbClr val="00B050"/>
                </a:solidFill>
                <a:latin typeface="+mn-lt"/>
              </a:rPr>
              <a:t>small number</a:t>
            </a:r>
            <a:r>
              <a:rPr lang="en-US" altLang="en-US" dirty="0">
                <a:latin typeface="+mn-lt"/>
              </a:rPr>
              <a:t> of quality attributes.</a:t>
            </a:r>
          </a:p>
          <a:p>
            <a:pPr marL="0" indent="0">
              <a:buFontTx/>
              <a:buNone/>
              <a:defRPr/>
            </a:pPr>
            <a:endParaRPr lang="en-US" altLang="en-US" dirty="0">
              <a:latin typeface="+mn-lt"/>
            </a:endParaRPr>
          </a:p>
          <a:p>
            <a:pPr>
              <a:defRPr/>
            </a:pPr>
            <a:r>
              <a:rPr lang="en-US" altLang="en-US" dirty="0">
                <a:latin typeface="+mn-lt"/>
              </a:rPr>
              <a:t>For example, </a:t>
            </a:r>
          </a:p>
          <a:p>
            <a:pPr lvl="1">
              <a:defRPr/>
            </a:pPr>
            <a:r>
              <a:rPr lang="en-US" altLang="en-US" dirty="0">
                <a:latin typeface="+mn-lt"/>
              </a:rPr>
              <a:t>some </a:t>
            </a:r>
            <a:r>
              <a:rPr lang="en-US" altLang="en-US" dirty="0" err="1">
                <a:latin typeface="+mn-lt"/>
              </a:rPr>
              <a:t>refactorings</a:t>
            </a:r>
            <a:r>
              <a:rPr lang="en-US" altLang="en-US" dirty="0">
                <a:latin typeface="+mn-lt"/>
              </a:rPr>
              <a:t> eliminate code duplication;</a:t>
            </a:r>
          </a:p>
          <a:p>
            <a:pPr lvl="1">
              <a:defRPr/>
            </a:pPr>
            <a:r>
              <a:rPr lang="en-US" altLang="en-US" dirty="0">
                <a:latin typeface="+mn-lt"/>
              </a:rPr>
              <a:t>some raise reusability;</a:t>
            </a:r>
          </a:p>
          <a:p>
            <a:pPr lvl="1">
              <a:defRPr/>
            </a:pPr>
            <a:r>
              <a:rPr lang="en-US" altLang="en-US" dirty="0">
                <a:latin typeface="+mn-lt"/>
              </a:rPr>
              <a:t>some improve performance; and</a:t>
            </a:r>
          </a:p>
          <a:p>
            <a:pPr lvl="1">
              <a:defRPr/>
            </a:pPr>
            <a:r>
              <a:rPr lang="en-US" altLang="en-US" dirty="0">
                <a:latin typeface="+mn-lt"/>
              </a:rPr>
              <a:t>some improve maintainability.</a:t>
            </a:r>
          </a:p>
          <a:p>
            <a:pPr>
              <a:defRPr/>
            </a:pPr>
            <a:endParaRPr lang="en-US" altLang="en-US" dirty="0">
              <a:latin typeface="+mn-lt"/>
            </a:endParaRPr>
          </a:p>
        </p:txBody>
      </p: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19">
            <a:extLst>
              <a:ext uri="{FF2B5EF4-FFF2-40B4-BE49-F238E27FC236}">
                <a16:creationId xmlns:a16="http://schemas.microsoft.com/office/drawing/2014/main" id="{AACE20ED-FD84-8873-A7C9-F873AD62B15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8394639E-8467-0F4A-B6C1-EBB3F9135468}" type="slidenum">
              <a:rPr lang="en-US" altLang="en-US" sz="1000">
                <a:solidFill>
                  <a:srgbClr val="000000"/>
                </a:solidFill>
              </a:rPr>
              <a:pPr/>
              <a:t>29</a:t>
            </a:fld>
            <a:endParaRPr lang="en-US" altLang="en-US" sz="1000">
              <a:solidFill>
                <a:srgbClr val="000000"/>
              </a:solidFill>
            </a:endParaRPr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57CE3A2F-4549-C9F4-CD56-2E6E4AA8D85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198438"/>
            <a:ext cx="9144000" cy="777875"/>
          </a:xfrm>
        </p:spPr>
        <p:txBody>
          <a:bodyPr/>
          <a:lstStyle/>
          <a:p>
            <a:pPr marL="342900" indent="-342900"/>
            <a:r>
              <a:rPr lang="en-CA" altLang="en-US" dirty="0"/>
              <a:t>Evaluate the impacts of the </a:t>
            </a:r>
            <a:br>
              <a:rPr lang="en-CA" altLang="en-US" dirty="0"/>
            </a:br>
            <a:r>
              <a:rPr lang="en-CA" altLang="en-US" dirty="0" err="1"/>
              <a:t>Refactorings</a:t>
            </a:r>
            <a:r>
              <a:rPr lang="en-CA" altLang="en-US" dirty="0"/>
              <a:t> on Quality</a:t>
            </a:r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F67024C8-3667-D118-6F43-368C07D7353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93675" y="1062038"/>
            <a:ext cx="8966200" cy="5427662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latin typeface="+mn-lt"/>
              </a:rPr>
              <a:t>By measuring the impacts of </a:t>
            </a:r>
            <a:r>
              <a:rPr lang="en-US" altLang="en-US" dirty="0" err="1">
                <a:latin typeface="+mn-lt"/>
              </a:rPr>
              <a:t>refactorings</a:t>
            </a:r>
            <a:r>
              <a:rPr lang="en-US" altLang="en-US" dirty="0">
                <a:latin typeface="+mn-lt"/>
              </a:rPr>
              <a:t> on internal qualities, their impacts on external qualities can be measured.</a:t>
            </a:r>
          </a:p>
          <a:p>
            <a:pPr>
              <a:defRPr/>
            </a:pPr>
            <a:r>
              <a:rPr lang="en-US" altLang="en-US" dirty="0">
                <a:latin typeface="+mn-lt"/>
              </a:rPr>
              <a:t>Example of measuring external qualities</a:t>
            </a:r>
          </a:p>
          <a:p>
            <a:pPr lvl="1">
              <a:defRPr/>
            </a:pPr>
            <a:r>
              <a:rPr lang="en-CA" dirty="0"/>
              <a:t>Some examples of software metrics are coupling, cohesion, and size.</a:t>
            </a:r>
          </a:p>
          <a:p>
            <a:pPr lvl="1">
              <a:defRPr/>
            </a:pPr>
            <a:r>
              <a:rPr lang="en-CA" dirty="0"/>
              <a:t>Decreased coupling, increased cohesion, and decreased size are likely to make a software system more maintainable.</a:t>
            </a:r>
          </a:p>
          <a:p>
            <a:pPr lvl="1">
              <a:defRPr/>
            </a:pPr>
            <a:r>
              <a:rPr lang="en-CA" dirty="0"/>
              <a:t>To assess the impact of a refactoring technique for better maintainability, one can evaluate the metrics before refactoring and after refactoring, and compare them.</a:t>
            </a:r>
            <a:endParaRPr lang="en-US" altLang="en-US" dirty="0">
              <a:latin typeface="+mn-lt"/>
            </a:endParaRPr>
          </a:p>
        </p:txBody>
      </p:sp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19">
            <a:extLst>
              <a:ext uri="{FF2B5EF4-FFF2-40B4-BE49-F238E27FC236}">
                <a16:creationId xmlns:a16="http://schemas.microsoft.com/office/drawing/2014/main" id="{63D801B9-35C5-B92E-8A3D-CDA3EC6E052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FE8D5718-0A79-0843-86C0-4056C513E481}" type="slidenum">
              <a:rPr lang="en-US" altLang="en-US" sz="1000">
                <a:solidFill>
                  <a:srgbClr val="000000"/>
                </a:solidFill>
              </a:rPr>
              <a:pPr/>
              <a:t>30</a:t>
            </a:fld>
            <a:endParaRPr lang="en-US" altLang="en-US" sz="1000">
              <a:solidFill>
                <a:srgbClr val="000000"/>
              </a:solidFill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CC1DFF37-06EB-F270-8D13-2458A46488A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marL="342900" indent="-342900"/>
            <a:r>
              <a:rPr lang="en-CA" altLang="en-US" dirty="0"/>
              <a:t>Maintain consistency</a:t>
            </a:r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029DD968-4810-E086-D18E-C56D606393A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93675" y="660400"/>
            <a:ext cx="8966200" cy="5829300"/>
          </a:xfrm>
        </p:spPr>
        <p:txBody>
          <a:bodyPr/>
          <a:lstStyle/>
          <a:p>
            <a:r>
              <a:rPr lang="en-CA" altLang="en-US" dirty="0"/>
              <a:t>Rather than evaluate the impacts </a:t>
            </a:r>
            <a:r>
              <a:rPr lang="en-CA" altLang="en-US" i="1" dirty="0">
                <a:solidFill>
                  <a:srgbClr val="00B050"/>
                </a:solidFill>
              </a:rPr>
              <a:t>after applying </a:t>
            </a:r>
            <a:r>
              <a:rPr lang="en-CA" altLang="en-US" i="1" dirty="0" err="1">
                <a:solidFill>
                  <a:srgbClr val="00B050"/>
                </a:solidFill>
              </a:rPr>
              <a:t>refactorings</a:t>
            </a:r>
            <a:r>
              <a:rPr lang="en-CA" altLang="en-US" dirty="0"/>
              <a:t>, one  selects </a:t>
            </a:r>
            <a:r>
              <a:rPr lang="en-CA" altLang="en-US" dirty="0" err="1"/>
              <a:t>refactorings</a:t>
            </a:r>
            <a:r>
              <a:rPr lang="en-CA" altLang="en-US" dirty="0"/>
              <a:t>  such that the program </a:t>
            </a:r>
            <a:r>
              <a:rPr lang="en-CA" altLang="en-US" i="1" dirty="0">
                <a:solidFill>
                  <a:srgbClr val="00B050"/>
                </a:solidFill>
              </a:rPr>
              <a:t>aft</a:t>
            </a:r>
            <a:r>
              <a:rPr lang="en-CA" altLang="en-US" dirty="0">
                <a:solidFill>
                  <a:srgbClr val="00B050"/>
                </a:solidFill>
              </a:rPr>
              <a:t>er </a:t>
            </a:r>
            <a:r>
              <a:rPr lang="en-CA" altLang="en-US" dirty="0"/>
              <a:t>refactoring possesses better quality attributes.</a:t>
            </a:r>
          </a:p>
          <a:p>
            <a:r>
              <a:rPr lang="en-CA" altLang="en-US" dirty="0"/>
              <a:t>The concept of </a:t>
            </a:r>
            <a:r>
              <a:rPr lang="en-CA" altLang="en-US" dirty="0">
                <a:solidFill>
                  <a:srgbClr val="00B050"/>
                </a:solidFill>
              </a:rPr>
              <a:t>soft-goal graph</a:t>
            </a:r>
            <a:r>
              <a:rPr lang="en-CA" altLang="en-US" dirty="0"/>
              <a:t>  helps selecting </a:t>
            </a:r>
            <a:r>
              <a:rPr lang="en-CA" altLang="en-US" dirty="0" err="1"/>
              <a:t>refactorings</a:t>
            </a:r>
            <a:r>
              <a:rPr lang="en-CA" altLang="en-US" dirty="0"/>
              <a:t>. </a:t>
            </a:r>
          </a:p>
          <a:p>
            <a:r>
              <a:rPr lang="en-CA" altLang="en-US" dirty="0"/>
              <a:t>Example: A soft-goal graph for quality attribute </a:t>
            </a:r>
            <a:r>
              <a:rPr lang="en-CA" altLang="en-US" i="1" dirty="0"/>
              <a:t>“maintainability”</a:t>
            </a:r>
            <a:r>
              <a:rPr lang="en-CA" altLang="en-US" dirty="0"/>
              <a:t> is a hierarchical graph rooted at the desired change in the attribute, for example, high maintainability. </a:t>
            </a:r>
          </a:p>
          <a:p>
            <a:r>
              <a:rPr lang="en-CA" altLang="en-US" dirty="0"/>
              <a:t>The internal nodes represent successive refinements of the attribute and are basically the soft goals.</a:t>
            </a:r>
          </a:p>
          <a:p>
            <a:r>
              <a:rPr lang="en-CA" altLang="en-US" dirty="0"/>
              <a:t>The leaf nodes represent refactoring transformations which  contribute positively/negatively to soft-goals which appear above them in the hierarchy.</a:t>
            </a:r>
          </a:p>
          <a:p>
            <a:pPr marL="0" indent="0">
              <a:buNone/>
            </a:pPr>
            <a:endParaRPr lang="en-US" altLang="en-US" dirty="0"/>
          </a:p>
        </p:txBody>
      </p:sp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AB7BA803-183D-9291-0054-00151193A96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-6350" y="-3967"/>
            <a:ext cx="9144000" cy="487362"/>
          </a:xfrm>
        </p:spPr>
        <p:txBody>
          <a:bodyPr/>
          <a:lstStyle/>
          <a:p>
            <a:r>
              <a:rPr lang="en-CA" altLang="en-US" dirty="0"/>
              <a:t>Maintain consistency</a:t>
            </a:r>
            <a:endParaRPr lang="en-CA" altLang="en-US" dirty="0">
              <a:solidFill>
                <a:srgbClr val="00B050"/>
              </a:solidFill>
            </a:endParaRPr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6672E953-73B7-355F-412F-B24F12D49C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C9ACFA51-2465-E144-A2F0-44792CF75FAB}" type="slidenum">
              <a:rPr lang="en-US" altLang="en-US" sz="1000">
                <a:solidFill>
                  <a:srgbClr val="000000"/>
                </a:solidFill>
              </a:rPr>
              <a:pPr/>
              <a:t>31</a:t>
            </a:fld>
            <a:endParaRPr lang="en-US" altLang="en-US" sz="1000">
              <a:solidFill>
                <a:srgbClr val="000000"/>
              </a:solidFill>
            </a:endParaRPr>
          </a:p>
        </p:txBody>
      </p:sp>
      <p:pic>
        <p:nvPicPr>
          <p:cNvPr id="31748" name="Picture 2" descr="C:\DataFebruary7\ASAGAR\PAPER\MYBOOK2\SEVBOOK\REFACT\softgoal.xfig.eps">
            <a:extLst>
              <a:ext uri="{FF2B5EF4-FFF2-40B4-BE49-F238E27FC236}">
                <a16:creationId xmlns:a16="http://schemas.microsoft.com/office/drawing/2014/main" id="{0F4097A2-027C-B6E5-A37A-AA29BC8373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663" y="644525"/>
            <a:ext cx="6843712" cy="4975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9" name="TextBox 2">
            <a:extLst>
              <a:ext uri="{FF2B5EF4-FFF2-40B4-BE49-F238E27FC236}">
                <a16:creationId xmlns:a16="http://schemas.microsoft.com/office/drawing/2014/main" id="{7597244D-7A16-D3CB-E479-F64ECA7150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088" y="5772150"/>
            <a:ext cx="558050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CA" altLang="en-US" b="0" dirty="0">
                <a:solidFill>
                  <a:srgbClr val="0000FF"/>
                </a:solidFill>
              </a:rPr>
              <a:t>An example of a soft goal graph for maintainability, </a:t>
            </a:r>
          </a:p>
          <a:p>
            <a:r>
              <a:rPr lang="en-CA" altLang="en-US" b="0" dirty="0">
                <a:solidFill>
                  <a:srgbClr val="0000FF"/>
                </a:solidFill>
              </a:rPr>
              <a:t>                  with one leaf node [11] (© [2002] IEEE).</a:t>
            </a:r>
            <a:endParaRPr lang="en-CA" altLang="en-US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19">
            <a:extLst>
              <a:ext uri="{FF2B5EF4-FFF2-40B4-BE49-F238E27FC236}">
                <a16:creationId xmlns:a16="http://schemas.microsoft.com/office/drawing/2014/main" id="{0E240ABC-775C-46ED-89CF-07A4F8C6E96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35EF901F-35E6-3C49-92A5-5D811A76ACF8}" type="slidenum">
              <a:rPr lang="en-US" altLang="en-US" sz="1000">
                <a:solidFill>
                  <a:srgbClr val="000000"/>
                </a:solidFill>
              </a:rPr>
              <a:pPr/>
              <a:t>32</a:t>
            </a:fld>
            <a:endParaRPr lang="en-US" altLang="en-US" sz="1000">
              <a:solidFill>
                <a:srgbClr val="000000"/>
              </a:solidFill>
            </a:endParaRPr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4D0133D6-566F-0A0C-AEEC-A086AB73541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Formalisms for Refactoring</a:t>
            </a:r>
          </a:p>
        </p:txBody>
      </p:sp>
      <p:sp>
        <p:nvSpPr>
          <p:cNvPr id="237571" name="Rectangle 3">
            <a:extLst>
              <a:ext uri="{FF2B5EF4-FFF2-40B4-BE49-F238E27FC236}">
                <a16:creationId xmlns:a16="http://schemas.microsoft.com/office/drawing/2014/main" id="{4F3DD7A5-40E8-7F07-7B47-35C7CA78303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93675" y="660400"/>
            <a:ext cx="8966200" cy="5829300"/>
          </a:xfrm>
        </p:spPr>
        <p:txBody>
          <a:bodyPr/>
          <a:lstStyle/>
          <a:p>
            <a:pPr>
              <a:defRPr/>
            </a:pPr>
            <a:r>
              <a:rPr lang="en-US" altLang="en-US" sz="3200" dirty="0">
                <a:latin typeface="Times New Roman" pitchFamily="18" charset="0"/>
              </a:rPr>
              <a:t>Three key formalisms for refactoring are:</a:t>
            </a:r>
          </a:p>
          <a:p>
            <a:pPr lvl="1">
              <a:defRPr/>
            </a:pPr>
            <a:r>
              <a:rPr lang="en-US" altLang="en-US" sz="2800" dirty="0">
                <a:latin typeface="Times New Roman" pitchFamily="18" charset="0"/>
              </a:rPr>
              <a:t> assertions: </a:t>
            </a:r>
          </a:p>
          <a:p>
            <a:pPr lvl="2">
              <a:defRPr/>
            </a:pPr>
            <a:r>
              <a:rPr lang="en-US" altLang="en-US" sz="2400" dirty="0">
                <a:latin typeface="Times New Roman" pitchFamily="18" charset="0"/>
              </a:rPr>
              <a:t>Assertions are useful in verifying the assumptions made by programmers.</a:t>
            </a:r>
          </a:p>
          <a:p>
            <a:pPr lvl="1">
              <a:defRPr/>
            </a:pPr>
            <a:r>
              <a:rPr lang="en-US" altLang="en-US" sz="2800" dirty="0">
                <a:latin typeface="Times New Roman" pitchFamily="18" charset="0"/>
              </a:rPr>
              <a:t> graph transformation: </a:t>
            </a:r>
          </a:p>
          <a:p>
            <a:pPr lvl="2">
              <a:defRPr/>
            </a:pPr>
            <a:r>
              <a:rPr lang="en-US" altLang="en-US" sz="2400" dirty="0">
                <a:latin typeface="Times New Roman" pitchFamily="18" charset="0"/>
              </a:rPr>
              <a:t>Graph transformation is useful in viewing </a:t>
            </a:r>
            <a:r>
              <a:rPr lang="en-US" altLang="en-US" sz="2400" dirty="0" err="1">
                <a:latin typeface="Times New Roman" pitchFamily="18" charset="0"/>
              </a:rPr>
              <a:t>refactorings</a:t>
            </a:r>
            <a:r>
              <a:rPr lang="en-US" altLang="en-US" sz="2400" dirty="0">
                <a:latin typeface="Times New Roman" pitchFamily="18" charset="0"/>
              </a:rPr>
              <a:t> as applications of transformation rules.</a:t>
            </a:r>
          </a:p>
          <a:p>
            <a:pPr lvl="1">
              <a:defRPr/>
            </a:pPr>
            <a:r>
              <a:rPr lang="en-US" altLang="en-US" sz="2800" dirty="0">
                <a:latin typeface="Times New Roman" pitchFamily="18" charset="0"/>
              </a:rPr>
              <a:t> metrics:</a:t>
            </a:r>
          </a:p>
          <a:p>
            <a:pPr lvl="2">
              <a:defRPr/>
            </a:pPr>
            <a:r>
              <a:rPr lang="en-US" altLang="en-US" sz="2400" dirty="0">
                <a:latin typeface="Times New Roman" pitchFamily="18" charset="0"/>
              </a:rPr>
              <a:t>Metrics are useful in quantifying to what extent the internal and external properties of software entities have changed. </a:t>
            </a:r>
          </a:p>
          <a:p>
            <a:pPr marL="0" indent="0">
              <a:buFontTx/>
              <a:buNone/>
              <a:defRPr/>
            </a:pPr>
            <a:endParaRPr lang="en-US" altLang="en-US" sz="3200" dirty="0">
              <a:latin typeface="Times New Roman" pitchFamily="18" charset="0"/>
            </a:endParaRPr>
          </a:p>
        </p:txBody>
      </p:sp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19">
            <a:extLst>
              <a:ext uri="{FF2B5EF4-FFF2-40B4-BE49-F238E27FC236}">
                <a16:creationId xmlns:a16="http://schemas.microsoft.com/office/drawing/2014/main" id="{96C9BC24-2879-45A8-5D8E-58F52F9DB2B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3AD28E78-AA69-6943-A47C-BD1DFB1A266C}" type="slidenum">
              <a:rPr lang="en-US" altLang="en-US" sz="1000">
                <a:solidFill>
                  <a:srgbClr val="000000"/>
                </a:solidFill>
              </a:rPr>
              <a:pPr/>
              <a:t>33</a:t>
            </a:fld>
            <a:endParaRPr lang="en-US" altLang="en-US" sz="1000">
              <a:solidFill>
                <a:srgbClr val="000000"/>
              </a:solidFill>
            </a:endParaRP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7967C42A-AEDD-DA98-9F1C-5818EABCC98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Assertions  </a:t>
            </a:r>
          </a:p>
        </p:txBody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C5C9E7E8-27BE-3CF6-2599-EBCEB3964F5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93675" y="660400"/>
            <a:ext cx="8966200" cy="5829300"/>
          </a:xfrm>
        </p:spPr>
        <p:txBody>
          <a:bodyPr/>
          <a:lstStyle/>
          <a:p>
            <a:r>
              <a:rPr lang="en-US" altLang="en-US" sz="3200">
                <a:latin typeface="Times New Roman" panose="02020603050405020304" pitchFamily="18" charset="0"/>
              </a:rPr>
              <a:t>Programmers make assumptions about the behavior of programs at specific points, and those assumptions can be tested by means of assertions.</a:t>
            </a:r>
          </a:p>
          <a:p>
            <a:r>
              <a:rPr lang="en-US" altLang="en-US" sz="3200">
                <a:latin typeface="Times New Roman" panose="02020603050405020304" pitchFamily="18" charset="0"/>
              </a:rPr>
              <a:t>An assertion is specified as a Boolean expression which evaluates to true or false. </a:t>
            </a:r>
          </a:p>
          <a:p>
            <a:r>
              <a:rPr lang="en-US" altLang="en-US" sz="3200">
                <a:latin typeface="Times New Roman" panose="02020603050405020304" pitchFamily="18" charset="0"/>
              </a:rPr>
              <a:t>Three kinds of assertions:</a:t>
            </a:r>
          </a:p>
          <a:p>
            <a:pPr lvl="1"/>
            <a:r>
              <a:rPr lang="en-US" altLang="en-US" sz="2800">
                <a:latin typeface="Times New Roman" panose="02020603050405020304" pitchFamily="18" charset="0"/>
              </a:rPr>
              <a:t>invariants; </a:t>
            </a:r>
          </a:p>
          <a:p>
            <a:pPr lvl="1"/>
            <a:r>
              <a:rPr lang="en-US" altLang="en-US" sz="2800">
                <a:latin typeface="Times New Roman" panose="02020603050405020304" pitchFamily="18" charset="0"/>
              </a:rPr>
              <a:t>preconditions; and</a:t>
            </a:r>
          </a:p>
          <a:p>
            <a:pPr lvl="1"/>
            <a:r>
              <a:rPr lang="en-US" altLang="en-US" sz="2800">
                <a:latin typeface="Times New Roman" panose="02020603050405020304" pitchFamily="18" charset="0"/>
              </a:rPr>
              <a:t>postconditions.</a:t>
            </a:r>
          </a:p>
        </p:txBody>
      </p:sp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9">
            <a:extLst>
              <a:ext uri="{FF2B5EF4-FFF2-40B4-BE49-F238E27FC236}">
                <a16:creationId xmlns:a16="http://schemas.microsoft.com/office/drawing/2014/main" id="{459B9B64-9D51-AD6B-E9E6-CED1ECD21D9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3CC2125C-7407-A247-974C-3156C7986350}" type="slidenum">
              <a:rPr lang="en-US" altLang="en-US" sz="1000">
                <a:solidFill>
                  <a:srgbClr val="000000"/>
                </a:solidFill>
              </a:rPr>
              <a:pPr/>
              <a:t>34</a:t>
            </a:fld>
            <a:endParaRPr lang="en-US" altLang="en-US" sz="1000">
              <a:solidFill>
                <a:srgbClr val="000000"/>
              </a:solidFill>
            </a:endParaRP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8F26525B-2754-25FC-F0AF-78469B2A8F0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Assertions  </a:t>
            </a:r>
          </a:p>
        </p:txBody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53CA0F75-21B8-1000-5DA8-755E2D90C65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93675" y="660400"/>
            <a:ext cx="8966200" cy="5829300"/>
          </a:xfrm>
        </p:spPr>
        <p:txBody>
          <a:bodyPr/>
          <a:lstStyle/>
          <a:p>
            <a:r>
              <a:rPr lang="en-US" altLang="en-US" sz="3200" dirty="0">
                <a:latin typeface="Times New Roman" panose="02020603050405020304" pitchFamily="18" charset="0"/>
              </a:rPr>
              <a:t>Invariant </a:t>
            </a:r>
          </a:p>
          <a:p>
            <a:pPr lvl="1"/>
            <a:r>
              <a:rPr lang="en-US" altLang="en-US" sz="2800" dirty="0">
                <a:latin typeface="Times New Roman" panose="02020603050405020304" pitchFamily="18" charset="0"/>
              </a:rPr>
              <a:t> An </a:t>
            </a:r>
            <a:r>
              <a:rPr lang="en-US" altLang="en-US" sz="2800" i="1" dirty="0">
                <a:solidFill>
                  <a:srgbClr val="00B050"/>
                </a:solidFill>
                <a:latin typeface="Times New Roman" panose="02020603050405020304" pitchFamily="18" charset="0"/>
              </a:rPr>
              <a:t>invariant</a:t>
            </a:r>
            <a:r>
              <a:rPr lang="en-US" altLang="en-US" sz="2800" dirty="0">
                <a:latin typeface="Times New Roman" panose="02020603050405020304" pitchFamily="18" charset="0"/>
              </a:rPr>
              <a:t> is an assertion that evaluates to </a:t>
            </a:r>
            <a:r>
              <a:rPr lang="en-US" altLang="en-US" sz="2800" i="1" dirty="0">
                <a:solidFill>
                  <a:srgbClr val="00B050"/>
                </a:solidFill>
                <a:latin typeface="Times New Roman" panose="02020603050405020304" pitchFamily="18" charset="0"/>
              </a:rPr>
              <a:t>true</a:t>
            </a:r>
            <a:r>
              <a:rPr lang="en-US" altLang="en-US" sz="2800" dirty="0">
                <a:latin typeface="Times New Roman" panose="02020603050405020304" pitchFamily="18" charset="0"/>
              </a:rPr>
              <a:t> wherever it is invoked in the program.</a:t>
            </a:r>
          </a:p>
          <a:p>
            <a:pPr lvl="1"/>
            <a:r>
              <a:rPr lang="en-US" altLang="en-US" sz="2800" dirty="0">
                <a:latin typeface="Times New Roman" panose="02020603050405020304" pitchFamily="18" charset="0"/>
              </a:rPr>
              <a:t>A </a:t>
            </a:r>
            <a:r>
              <a:rPr lang="en-US" altLang="en-US" sz="2800" i="1" dirty="0">
                <a:solidFill>
                  <a:srgbClr val="00B050"/>
                </a:solidFill>
                <a:latin typeface="Times New Roman" panose="02020603050405020304" pitchFamily="18" charset="0"/>
              </a:rPr>
              <a:t>class invariant</a:t>
            </a:r>
            <a:r>
              <a:rPr lang="en-US" altLang="en-US" sz="2800" dirty="0">
                <a:latin typeface="Times New Roman" panose="02020603050405020304" pitchFamily="18" charset="0"/>
              </a:rPr>
              <a:t> is an invariant that all instances of that class must satisfy.</a:t>
            </a:r>
          </a:p>
          <a:p>
            <a:r>
              <a:rPr lang="en-US" altLang="en-US" sz="3200" dirty="0">
                <a:latin typeface="Times New Roman" panose="02020603050405020304" pitchFamily="18" charset="0"/>
              </a:rPr>
              <a:t>Precondition</a:t>
            </a:r>
          </a:p>
          <a:p>
            <a:pPr lvl="1"/>
            <a:r>
              <a:rPr lang="en-US" altLang="en-US" sz="2800" dirty="0">
                <a:latin typeface="Times New Roman" panose="02020603050405020304" pitchFamily="18" charset="0"/>
              </a:rPr>
              <a:t>A </a:t>
            </a:r>
            <a:r>
              <a:rPr lang="en-US" altLang="en-US" sz="2800" i="1" dirty="0">
                <a:solidFill>
                  <a:srgbClr val="00B050"/>
                </a:solidFill>
                <a:latin typeface="Times New Roman" panose="02020603050405020304" pitchFamily="18" charset="0"/>
              </a:rPr>
              <a:t>precondition</a:t>
            </a:r>
            <a:r>
              <a:rPr lang="en-US" altLang="en-US" sz="2800" dirty="0">
                <a:latin typeface="Times New Roman" panose="02020603050405020304" pitchFamily="18" charset="0"/>
              </a:rPr>
              <a:t> is a condition that must be satisfied </a:t>
            </a:r>
            <a:r>
              <a:rPr lang="en-US" altLang="en-US" sz="2800" i="1" dirty="0">
                <a:solidFill>
                  <a:srgbClr val="00B050"/>
                </a:solidFill>
                <a:latin typeface="Times New Roman" panose="02020603050405020304" pitchFamily="18" charset="0"/>
              </a:rPr>
              <a:t>before</a:t>
            </a:r>
            <a:r>
              <a:rPr lang="en-US" altLang="en-US" sz="2800" dirty="0">
                <a:latin typeface="Times New Roman" panose="02020603050405020304" pitchFamily="18" charset="0"/>
              </a:rPr>
              <a:t> a computation is performed.</a:t>
            </a:r>
          </a:p>
          <a:p>
            <a:r>
              <a:rPr lang="en-US" altLang="en-US" sz="3200" dirty="0">
                <a:latin typeface="Times New Roman" panose="02020603050405020304" pitchFamily="18" charset="0"/>
              </a:rPr>
              <a:t>Postcondition</a:t>
            </a:r>
          </a:p>
          <a:p>
            <a:pPr lvl="1"/>
            <a:r>
              <a:rPr lang="en-US" altLang="en-US" sz="2800" dirty="0">
                <a:latin typeface="Times New Roman" panose="02020603050405020304" pitchFamily="18" charset="0"/>
              </a:rPr>
              <a:t>A </a:t>
            </a:r>
            <a:r>
              <a:rPr lang="en-US" altLang="en-US" sz="2800" i="1" dirty="0">
                <a:solidFill>
                  <a:srgbClr val="00B050"/>
                </a:solidFill>
                <a:latin typeface="Times New Roman" panose="02020603050405020304" pitchFamily="18" charset="0"/>
              </a:rPr>
              <a:t>postcondition</a:t>
            </a:r>
            <a:r>
              <a:rPr lang="en-US" altLang="en-US" sz="2800" dirty="0">
                <a:latin typeface="Times New Roman" panose="02020603050405020304" pitchFamily="18" charset="0"/>
              </a:rPr>
              <a:t> is a condition that must be satisfied </a:t>
            </a:r>
            <a:r>
              <a:rPr lang="en-US" altLang="en-US" sz="2800" i="1" dirty="0">
                <a:solidFill>
                  <a:srgbClr val="00B050"/>
                </a:solidFill>
                <a:latin typeface="Times New Roman" panose="02020603050405020304" pitchFamily="18" charset="0"/>
              </a:rPr>
              <a:t>after</a:t>
            </a:r>
            <a:r>
              <a:rPr lang="en-US" altLang="en-US" sz="2800" dirty="0">
                <a:latin typeface="Times New Roman" panose="02020603050405020304" pitchFamily="18" charset="0"/>
              </a:rPr>
              <a:t> a computation is performed.</a:t>
            </a:r>
          </a:p>
        </p:txBody>
      </p:sp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19">
            <a:extLst>
              <a:ext uri="{FF2B5EF4-FFF2-40B4-BE49-F238E27FC236}">
                <a16:creationId xmlns:a16="http://schemas.microsoft.com/office/drawing/2014/main" id="{5E1F9398-0DB6-BA2D-72ED-B47093E3CD4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36730479-D7D0-CA4B-AA83-B3B7498DA81C}" type="slidenum">
              <a:rPr lang="en-US" altLang="en-US" sz="1000">
                <a:solidFill>
                  <a:srgbClr val="000000"/>
                </a:solidFill>
              </a:rPr>
              <a:pPr/>
              <a:t>35</a:t>
            </a:fld>
            <a:endParaRPr lang="en-US" altLang="en-US" sz="1000">
              <a:solidFill>
                <a:srgbClr val="000000"/>
              </a:solidFill>
            </a:endParaRPr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87B4A1E8-034D-AABF-0F45-6D064869BA1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Assertions  </a:t>
            </a:r>
          </a:p>
        </p:txBody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24711ACA-2AE5-8A98-3154-247BDFB4095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93675" y="660400"/>
            <a:ext cx="8966200" cy="5829300"/>
          </a:xfrm>
        </p:spPr>
        <p:txBody>
          <a:bodyPr/>
          <a:lstStyle/>
          <a:p>
            <a:r>
              <a:rPr lang="en-US" altLang="en-US" sz="3200">
                <a:latin typeface="Times New Roman" panose="02020603050405020304" pitchFamily="18" charset="0"/>
              </a:rPr>
              <a:t>Invariants, preconditions, and postconditions can be applied to test the behavior preserving property of refactorings.</a:t>
            </a:r>
          </a:p>
          <a:p>
            <a:r>
              <a:rPr lang="en-US" altLang="en-US" sz="3200">
                <a:latin typeface="Times New Roman" panose="02020603050405020304" pitchFamily="18" charset="0"/>
              </a:rPr>
              <a:t>Examples of invariant in the context of transformation of database schema is:</a:t>
            </a:r>
          </a:p>
          <a:p>
            <a:pPr lvl="1"/>
            <a:r>
              <a:rPr lang="en-US" altLang="en-US" sz="2800">
                <a:latin typeface="Times New Roman" panose="02020603050405020304" pitchFamily="18" charset="0"/>
              </a:rPr>
              <a:t>All instance variables of a class, whether defined or inherited, have distinct names.</a:t>
            </a:r>
          </a:p>
          <a:p>
            <a:pPr lvl="1"/>
            <a:r>
              <a:rPr lang="en-US" altLang="en-US" sz="2800">
                <a:latin typeface="Times New Roman" panose="02020603050405020304" pitchFamily="18" charset="0"/>
              </a:rPr>
              <a:t>All methods of a class, whether defined or inherited, have distinct names.</a:t>
            </a:r>
          </a:p>
          <a:p>
            <a:r>
              <a:rPr lang="en-US" altLang="en-US" sz="3200" i="1">
                <a:solidFill>
                  <a:srgbClr val="FF0000"/>
                </a:solidFill>
                <a:latin typeface="Times New Roman" panose="02020603050405020304" pitchFamily="18" charset="0"/>
              </a:rPr>
              <a:t>Note:</a:t>
            </a:r>
            <a:r>
              <a:rPr lang="en-US" altLang="en-US" sz="3200">
                <a:latin typeface="Times New Roman" panose="02020603050405020304" pitchFamily="18" charset="0"/>
              </a:rPr>
              <a:t> Static checking of preconditions, postconditions, and invariants is computationally expensive.</a:t>
            </a:r>
          </a:p>
          <a:p>
            <a:pPr lvl="1"/>
            <a:endParaRPr lang="en-US" altLang="en-US" sz="28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19">
            <a:extLst>
              <a:ext uri="{FF2B5EF4-FFF2-40B4-BE49-F238E27FC236}">
                <a16:creationId xmlns:a16="http://schemas.microsoft.com/office/drawing/2014/main" id="{B25783DD-B92D-4BD4-F054-1EE5EDAAD44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AFA1E368-C863-2A4F-B91E-F2DA66FA9440}" type="slidenum">
              <a:rPr lang="en-US" altLang="en-US" sz="1000">
                <a:solidFill>
                  <a:srgbClr val="000000"/>
                </a:solidFill>
              </a:rPr>
              <a:pPr/>
              <a:t>36</a:t>
            </a:fld>
            <a:endParaRPr lang="en-US" altLang="en-US" sz="1000">
              <a:solidFill>
                <a:srgbClr val="000000"/>
              </a:solidFill>
            </a:endParaRP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20B96DB3-EC89-8677-BFAA-7817C6732DF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Graph Transformation  </a:t>
            </a:r>
          </a:p>
        </p:txBody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9AC07EDD-9E3B-6668-62FB-C2CF7DD4EA5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93675" y="660400"/>
            <a:ext cx="8966200" cy="5829300"/>
          </a:xfrm>
        </p:spPr>
        <p:txBody>
          <a:bodyPr/>
          <a:lstStyle/>
          <a:p>
            <a:r>
              <a:rPr lang="en-CA" altLang="en-US" sz="2800"/>
              <a:t>Programs, class diagrams, and statecharts can be viewed as </a:t>
            </a:r>
            <a:r>
              <a:rPr lang="en-CA" altLang="en-US" sz="2800">
                <a:solidFill>
                  <a:srgbClr val="00B050"/>
                </a:solidFill>
              </a:rPr>
              <a:t>graphs</a:t>
            </a:r>
            <a:r>
              <a:rPr lang="en-CA" altLang="en-US" sz="2800"/>
              <a:t>, and refactorings can be viewed as </a:t>
            </a:r>
            <a:r>
              <a:rPr lang="en-CA" altLang="en-US" sz="2800">
                <a:solidFill>
                  <a:srgbClr val="00B050"/>
                </a:solidFill>
              </a:rPr>
              <a:t>graph production rules</a:t>
            </a:r>
            <a:r>
              <a:rPr lang="en-CA" altLang="en-US" sz="2800"/>
              <a:t>.</a:t>
            </a:r>
          </a:p>
          <a:p>
            <a:r>
              <a:rPr lang="en-CA" altLang="en-US" sz="2800"/>
              <a:t>Classes (C), method signatures (M), block structures (B), variables (V), parameters (P), and expressions (E) are represented by </a:t>
            </a:r>
            <a:r>
              <a:rPr lang="en-CA" altLang="en-US" sz="2800">
                <a:solidFill>
                  <a:srgbClr val="00B050"/>
                </a:solidFill>
              </a:rPr>
              <a:t>typed nodes</a:t>
            </a:r>
            <a:r>
              <a:rPr lang="en-CA" altLang="en-US" sz="2800"/>
              <a:t> in a graph.</a:t>
            </a:r>
          </a:p>
          <a:p>
            <a:r>
              <a:rPr lang="en-CA" altLang="en-US" sz="2800"/>
              <a:t>The possible relationships among the nodes are:</a:t>
            </a:r>
          </a:p>
          <a:p>
            <a:pPr lvl="1"/>
            <a:r>
              <a:rPr lang="en-CA" altLang="en-US"/>
              <a:t>method lookup (l);			-- inheritance (i);</a:t>
            </a:r>
          </a:p>
          <a:p>
            <a:pPr lvl="1"/>
            <a:r>
              <a:rPr lang="en-CA" altLang="en-US"/>
              <a:t>membership (m);			-- (sub)type (t);</a:t>
            </a:r>
          </a:p>
          <a:p>
            <a:pPr lvl="1"/>
            <a:r>
              <a:rPr lang="en-CA" altLang="en-US"/>
              <a:t>expression (e);			-- actual parameter (ap);</a:t>
            </a:r>
          </a:p>
          <a:p>
            <a:pPr lvl="1"/>
            <a:r>
              <a:rPr lang="en-CA" altLang="en-US"/>
              <a:t>formal parameter (fp);		-- cascaded expression (•);</a:t>
            </a:r>
          </a:p>
          <a:p>
            <a:pPr lvl="1"/>
            <a:r>
              <a:rPr lang="en-CA" altLang="en-US"/>
              <a:t>call (c);				-- variable access (a); and </a:t>
            </a:r>
          </a:p>
          <a:p>
            <a:pPr lvl="1"/>
            <a:r>
              <a:rPr lang="en-CA" altLang="en-US"/>
              <a:t>update (u).</a:t>
            </a:r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>
            <a:extLst>
              <a:ext uri="{FF2B5EF4-FFF2-40B4-BE49-F238E27FC236}">
                <a16:creationId xmlns:a16="http://schemas.microsoft.com/office/drawing/2014/main" id="{62B65729-7E67-C564-B969-0F8E48866D8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-6350" y="-3967"/>
            <a:ext cx="9144000" cy="487362"/>
          </a:xfrm>
        </p:spPr>
        <p:txBody>
          <a:bodyPr/>
          <a:lstStyle/>
          <a:p>
            <a:r>
              <a:rPr lang="en-US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Graph Transformation</a:t>
            </a:r>
            <a:endParaRPr lang="en-CA" altLang="en-US" dirty="0">
              <a:solidFill>
                <a:srgbClr val="0000FF"/>
              </a:solidFill>
            </a:endParaRPr>
          </a:p>
        </p:txBody>
      </p:sp>
      <p:sp>
        <p:nvSpPr>
          <p:cNvPr id="38915" name="Slide Number Placeholder 3">
            <a:extLst>
              <a:ext uri="{FF2B5EF4-FFF2-40B4-BE49-F238E27FC236}">
                <a16:creationId xmlns:a16="http://schemas.microsoft.com/office/drawing/2014/main" id="{6C8E18CB-7C28-CF91-1726-F80C30648A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2C2C640C-7905-9D4B-BFAE-E9CBFE45F065}" type="slidenum">
              <a:rPr lang="en-US" altLang="en-US" sz="1000">
                <a:solidFill>
                  <a:srgbClr val="000000"/>
                </a:solidFill>
              </a:rPr>
              <a:pPr/>
              <a:t>37</a:t>
            </a:fld>
            <a:endParaRPr lang="en-US" altLang="en-US" sz="1000">
              <a:solidFill>
                <a:srgbClr val="000000"/>
              </a:solidFill>
            </a:endParaRPr>
          </a:p>
        </p:txBody>
      </p:sp>
      <p:pic>
        <p:nvPicPr>
          <p:cNvPr id="38916" name="Picture 2" descr="C:\DataFebruary7\ASAGAR\PAPER\MYBOOK2\SEVBOOK\REFACT\graph1.xfig.eps">
            <a:extLst>
              <a:ext uri="{FF2B5EF4-FFF2-40B4-BE49-F238E27FC236}">
                <a16:creationId xmlns:a16="http://schemas.microsoft.com/office/drawing/2014/main" id="{0F4FF928-98E6-E73F-6206-A597C17CC2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5350" y="1104900"/>
            <a:ext cx="4546600" cy="299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7" name="TextBox 2">
            <a:extLst>
              <a:ext uri="{FF2B5EF4-FFF2-40B4-BE49-F238E27FC236}">
                <a16:creationId xmlns:a16="http://schemas.microsoft.com/office/drawing/2014/main" id="{CE922EF2-B68E-8FE7-DA8D-E7337EC9E1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3300" y="4572000"/>
            <a:ext cx="75803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CA" altLang="en-US" b="0" dirty="0">
                <a:solidFill>
                  <a:srgbClr val="0000FF"/>
                </a:solidFill>
              </a:rPr>
              <a:t>An example of a program graph [13] (© [2006] Elsevier).</a:t>
            </a:r>
            <a:endParaRPr lang="en-CA" altLang="en-US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>
            <a:extLst>
              <a:ext uri="{FF2B5EF4-FFF2-40B4-BE49-F238E27FC236}">
                <a16:creationId xmlns:a16="http://schemas.microsoft.com/office/drawing/2014/main" id="{3D6F8128-A6EA-E38B-E69A-9403D7C2EEF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-6350" y="-3967"/>
            <a:ext cx="9144000" cy="487362"/>
          </a:xfrm>
        </p:spPr>
        <p:txBody>
          <a:bodyPr/>
          <a:lstStyle/>
          <a:p>
            <a:r>
              <a:rPr lang="en-US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Formalisms for Refactoring</a:t>
            </a:r>
            <a:endParaRPr lang="en-CA" altLang="en-US" dirty="0">
              <a:solidFill>
                <a:srgbClr val="0000FF"/>
              </a:solidFill>
            </a:endParaRPr>
          </a:p>
        </p:txBody>
      </p:sp>
      <p:sp>
        <p:nvSpPr>
          <p:cNvPr id="39939" name="Slide Number Placeholder 3">
            <a:extLst>
              <a:ext uri="{FF2B5EF4-FFF2-40B4-BE49-F238E27FC236}">
                <a16:creationId xmlns:a16="http://schemas.microsoft.com/office/drawing/2014/main" id="{2C90313B-4625-0FF4-9FEC-7F35F08AE2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E5FB5957-B72F-8045-9CB2-8E8D7BF6C816}" type="slidenum">
              <a:rPr lang="en-US" altLang="en-US" sz="1000">
                <a:solidFill>
                  <a:srgbClr val="000000"/>
                </a:solidFill>
              </a:rPr>
              <a:pPr/>
              <a:t>38</a:t>
            </a:fld>
            <a:endParaRPr lang="en-US" altLang="en-US" sz="1000">
              <a:solidFill>
                <a:srgbClr val="000000"/>
              </a:solidFill>
            </a:endParaRPr>
          </a:p>
        </p:txBody>
      </p:sp>
      <p:pic>
        <p:nvPicPr>
          <p:cNvPr id="39940" name="Picture 2" descr="C:\DataFebruary7\ASAGAR\PAPER\MYBOOK2\SEVBOOK\REFACT\graph2.xfig.eps">
            <a:extLst>
              <a:ext uri="{FF2B5EF4-FFF2-40B4-BE49-F238E27FC236}">
                <a16:creationId xmlns:a16="http://schemas.microsoft.com/office/drawing/2014/main" id="{9DEE2A8D-0F2A-9E9D-2607-CD04AC4D18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9000" y="623888"/>
            <a:ext cx="4826000" cy="463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1" name="TextBox 2">
            <a:extLst>
              <a:ext uri="{FF2B5EF4-FFF2-40B4-BE49-F238E27FC236}">
                <a16:creationId xmlns:a16="http://schemas.microsoft.com/office/drawing/2014/main" id="{76F1D98F-9798-6F1C-D665-2DCCE91B37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463" y="5472113"/>
            <a:ext cx="845026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CA" altLang="en-US" b="0" dirty="0">
                <a:solidFill>
                  <a:srgbClr val="0000FF"/>
                </a:solidFill>
              </a:rPr>
              <a:t>Program graph obtained after applying push-down-method refactoring to the program graph of the prev. figure (© [2006] Elsevier).</a:t>
            </a:r>
            <a:endParaRPr lang="en-CA" altLang="en-US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D14DDC-1681-5246-D5CC-3623333CB6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0241EA-7553-2D4E-BCE7-0B597DE59345}" type="slidenum">
              <a:rPr lang="en-US" altLang="en-US" smtClean="0"/>
              <a:pPr/>
              <a:t>39</a:t>
            </a:fld>
            <a:endParaRPr lang="en-US" alt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4300429-952F-2A59-5F06-7FACE96A36FA}"/>
              </a:ext>
            </a:extLst>
          </p:cNvPr>
          <p:cNvSpPr txBox="1">
            <a:spLocks/>
          </p:cNvSpPr>
          <p:nvPr/>
        </p:nvSpPr>
        <p:spPr bwMode="auto">
          <a:xfrm>
            <a:off x="-6350" y="-3967"/>
            <a:ext cx="9144000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itchFamily="34" charset="0"/>
                <a:ea typeface="+mj-ea"/>
                <a:cs typeface="+mj-cs"/>
              </a:defRPr>
            </a:lvl1pPr>
            <a:lvl2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itchFamily="34" charset="0"/>
              </a:defRPr>
            </a:lvl2pPr>
            <a:lvl3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itchFamily="34" charset="0"/>
              </a:defRPr>
            </a:lvl3pPr>
            <a:lvl4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itchFamily="34" charset="0"/>
              </a:defRPr>
            </a:lvl4pPr>
            <a:lvl5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itchFamily="34" charset="0"/>
              </a:defRPr>
            </a:lvl5pPr>
            <a:lvl6pPr marL="45720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r>
              <a:rPr lang="en-US" altLang="en-US" sz="4400" kern="0" dirty="0">
                <a:solidFill>
                  <a:srgbClr val="0000FF"/>
                </a:solidFill>
                <a:latin typeface="Times New Roman" panose="02020603050405020304" pitchFamily="18" charset="0"/>
              </a:rPr>
              <a:t>A better way…</a:t>
            </a:r>
            <a:endParaRPr lang="en-CA" altLang="en-US" sz="4400" kern="0" dirty="0">
              <a:solidFill>
                <a:srgbClr val="0000FF"/>
              </a:solidFill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B4829C5-73ED-111A-8421-8A854594D7DC}"/>
              </a:ext>
            </a:extLst>
          </p:cNvPr>
          <p:cNvSpPr txBox="1">
            <a:spLocks/>
          </p:cNvSpPr>
          <p:nvPr/>
        </p:nvSpPr>
        <p:spPr bwMode="auto">
          <a:xfrm>
            <a:off x="6985000" y="6396038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rgbClr val="FAFD00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rgbClr val="FAFD00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rgbClr val="FAFD00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rgbClr val="FAFD00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rgbClr val="FAFD00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rgbClr val="FAFD00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rgbClr val="FAFD00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rgbClr val="FAFD00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rgbClr val="FAFD00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fld id="{E5FB5957-B72F-8045-9CB2-8E8D7BF6C816}" type="slidenum">
              <a:rPr lang="en-US" altLang="en-US" sz="1000" smtClean="0">
                <a:solidFill>
                  <a:srgbClr val="000000"/>
                </a:solidFill>
              </a:rPr>
              <a:pPr/>
              <a:t>39</a:t>
            </a:fld>
            <a:endParaRPr lang="en-US" altLang="en-US" sz="1000">
              <a:solidFill>
                <a:srgbClr val="000000"/>
              </a:solidFill>
            </a:endParaRP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CEF6A243-FB45-554E-C1F4-1C5DFC4429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869" y="1569186"/>
            <a:ext cx="8450262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CA" altLang="en-US" sz="3600" b="0" dirty="0">
                <a:solidFill>
                  <a:srgbClr val="0000FF"/>
                </a:solidFill>
              </a:rPr>
              <a:t>Ok forget formalisms… is there a more “operational” way?</a:t>
            </a:r>
            <a:endParaRPr lang="en-CA" altLang="en-US" sz="36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9660294"/>
      </p:ext>
    </p:ext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ext Placeholder 1">
            <a:extLst>
              <a:ext uri="{FF2B5EF4-FFF2-40B4-BE49-F238E27FC236}">
                <a16:creationId xmlns:a16="http://schemas.microsoft.com/office/drawing/2014/main" id="{77834EBA-71C1-DF97-7C6B-93FF101A9F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3CCFB6-D517-1581-A2A8-5855CF0EAC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0241EA-7553-2D4E-BCE7-0B597DE59345}" type="slidenum">
              <a:rPr lang="en-US" altLang="en-US" smtClean="0"/>
              <a:pPr/>
              <a:t>40</a:t>
            </a:fld>
            <a:endParaRPr lang="en-US" altLang="en-US"/>
          </a:p>
        </p:txBody>
      </p:sp>
      <p:pic>
        <p:nvPicPr>
          <p:cNvPr id="3074" name="Picture 2" descr="Software metrics hierarchy | Download Scientific Diagram">
            <a:extLst>
              <a:ext uri="{FF2B5EF4-FFF2-40B4-BE49-F238E27FC236}">
                <a16:creationId xmlns:a16="http://schemas.microsoft.com/office/drawing/2014/main" id="{06B06B95-DAFE-BCC1-021A-BBB21D11D5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57338"/>
            <a:ext cx="9144000" cy="3741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8182455"/>
      </p:ext>
    </p:extLst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9">
            <a:extLst>
              <a:ext uri="{FF2B5EF4-FFF2-40B4-BE49-F238E27FC236}">
                <a16:creationId xmlns:a16="http://schemas.microsoft.com/office/drawing/2014/main" id="{29F7AC1D-0073-0E2B-3854-8F731210897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47C8496D-C7D9-554F-A538-516698288E50}" type="slidenum">
              <a:rPr lang="en-US" altLang="en-US" sz="1000">
                <a:solidFill>
                  <a:srgbClr val="000000"/>
                </a:solidFill>
              </a:rPr>
              <a:pPr/>
              <a:t>41</a:t>
            </a:fld>
            <a:endParaRPr lang="en-US" altLang="en-US" sz="1000">
              <a:solidFill>
                <a:srgbClr val="000000"/>
              </a:solidFill>
            </a:endParaRPr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8EE8BB46-7424-43C5-F811-BBF35C12F3F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Software Metrics  </a:t>
            </a:r>
          </a:p>
        </p:txBody>
      </p:sp>
      <p:sp>
        <p:nvSpPr>
          <p:cNvPr id="237571" name="Rectangle 3">
            <a:extLst>
              <a:ext uri="{FF2B5EF4-FFF2-40B4-BE49-F238E27FC236}">
                <a16:creationId xmlns:a16="http://schemas.microsoft.com/office/drawing/2014/main" id="{5C8C7F01-4CED-2C7C-9F68-66AAB969C36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93675" y="660400"/>
            <a:ext cx="8966200" cy="5829300"/>
          </a:xfrm>
        </p:spPr>
        <p:txBody>
          <a:bodyPr/>
          <a:lstStyle/>
          <a:p>
            <a:pPr>
              <a:defRPr/>
            </a:pPr>
            <a:r>
              <a:rPr lang="en-US" sz="2800" dirty="0">
                <a:latin typeface="+mn-lt"/>
              </a:rPr>
              <a:t>Software metrics can be used to quantify the internal and external qualities of software.</a:t>
            </a:r>
          </a:p>
          <a:p>
            <a:pPr>
              <a:defRPr/>
            </a:pPr>
            <a:r>
              <a:rPr lang="en-US" sz="2800" dirty="0">
                <a:latin typeface="+mn-lt"/>
              </a:rPr>
              <a:t>A module consists of many components; each component provides a defined functionality used by other components.</a:t>
            </a:r>
          </a:p>
          <a:p>
            <a:pPr>
              <a:defRPr/>
            </a:pPr>
            <a:r>
              <a:rPr lang="en-US" sz="2800" dirty="0">
                <a:latin typeface="+mn-lt"/>
              </a:rPr>
              <a:t>Measure the </a:t>
            </a:r>
            <a:r>
              <a:rPr lang="en-US" sz="2800" i="1" dirty="0">
                <a:solidFill>
                  <a:srgbClr val="00B050"/>
                </a:solidFill>
                <a:latin typeface="+mn-lt"/>
              </a:rPr>
              <a:t>strength of togetherness</a:t>
            </a:r>
            <a:r>
              <a:rPr lang="en-US" sz="2800" dirty="0">
                <a:latin typeface="+mn-lt"/>
              </a:rPr>
              <a:t> of components within a module to decide whether or not some components should stay in the same module.</a:t>
            </a:r>
          </a:p>
        </p:txBody>
      </p:sp>
    </p:spTree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19">
            <a:extLst>
              <a:ext uri="{FF2B5EF4-FFF2-40B4-BE49-F238E27FC236}">
                <a16:creationId xmlns:a16="http://schemas.microsoft.com/office/drawing/2014/main" id="{092F61B1-4644-E1DA-EFAD-1AE04687DDF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3D09D80D-94C8-814B-9341-77E0BF04130F}" type="slidenum">
              <a:rPr lang="en-US" altLang="en-US" sz="1000">
                <a:solidFill>
                  <a:srgbClr val="000000"/>
                </a:solidFill>
              </a:rPr>
              <a:pPr/>
              <a:t>42</a:t>
            </a:fld>
            <a:endParaRPr lang="en-US" altLang="en-US" sz="1000">
              <a:solidFill>
                <a:srgbClr val="000000"/>
              </a:solidFill>
            </a:endParaRPr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0F214299-D55F-C85C-DEA5-3F766FDB753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Software Metrics*   </a:t>
            </a:r>
          </a:p>
        </p:txBody>
      </p:sp>
      <p:sp>
        <p:nvSpPr>
          <p:cNvPr id="237571" name="Rectangle 3">
            <a:extLst>
              <a:ext uri="{FF2B5EF4-FFF2-40B4-BE49-F238E27FC236}">
                <a16:creationId xmlns:a16="http://schemas.microsoft.com/office/drawing/2014/main" id="{64994CA8-FE65-B1F7-54FE-C1799C4FF77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93675" y="660400"/>
            <a:ext cx="8966200" cy="5829300"/>
          </a:xfrm>
        </p:spPr>
        <p:txBody>
          <a:bodyPr/>
          <a:lstStyle/>
          <a:p>
            <a:pPr>
              <a:defRPr/>
            </a:pPr>
            <a:r>
              <a:rPr lang="en-US" sz="2800" dirty="0">
                <a:latin typeface="+mn-lt"/>
              </a:rPr>
              <a:t>Two key metrics considered are:</a:t>
            </a:r>
          </a:p>
          <a:p>
            <a:pPr lvl="1">
              <a:defRPr/>
            </a:pPr>
            <a:r>
              <a:rPr lang="en-US" dirty="0">
                <a:latin typeface="+mn-lt"/>
              </a:rPr>
              <a:t>cohesion; and</a:t>
            </a:r>
          </a:p>
          <a:p>
            <a:pPr lvl="1">
              <a:defRPr/>
            </a:pPr>
            <a:r>
              <a:rPr lang="en-US" dirty="0">
                <a:latin typeface="+mn-lt"/>
              </a:rPr>
              <a:t>coupling.</a:t>
            </a:r>
          </a:p>
          <a:p>
            <a:pPr marL="457200" lvl="1" indent="0">
              <a:buFontTx/>
              <a:buNone/>
              <a:defRPr/>
            </a:pPr>
            <a:endParaRPr lang="en-CA" dirty="0">
              <a:latin typeface="+mn-lt"/>
            </a:endParaRPr>
          </a:p>
          <a:p>
            <a:pPr>
              <a:defRPr/>
            </a:pPr>
            <a:r>
              <a:rPr lang="en-US" dirty="0">
                <a:solidFill>
                  <a:srgbClr val="00B050"/>
                </a:solidFill>
                <a:latin typeface="+mn-lt"/>
              </a:rPr>
              <a:t>Cohesion:</a:t>
            </a:r>
            <a:r>
              <a:rPr lang="en-US" dirty="0">
                <a:latin typeface="+mn-lt"/>
              </a:rPr>
              <a:t> This metric is used to represent the </a:t>
            </a:r>
            <a:r>
              <a:rPr lang="en-US" i="1" dirty="0">
                <a:solidFill>
                  <a:srgbClr val="00B050"/>
                </a:solidFill>
                <a:latin typeface="+mn-lt"/>
              </a:rPr>
              <a:t>strength of togetherness</a:t>
            </a:r>
            <a:r>
              <a:rPr lang="en-US" dirty="0">
                <a:latin typeface="+mn-lt"/>
              </a:rPr>
              <a:t> in the same module.</a:t>
            </a:r>
          </a:p>
          <a:p>
            <a:pPr marL="0" indent="0">
              <a:buFontTx/>
              <a:buNone/>
              <a:defRPr/>
            </a:pPr>
            <a:endParaRPr lang="en-US" dirty="0">
              <a:latin typeface="+mn-lt"/>
            </a:endParaRPr>
          </a:p>
          <a:p>
            <a:pPr>
              <a:defRPr/>
            </a:pPr>
            <a:r>
              <a:rPr lang="en-US" dirty="0">
                <a:solidFill>
                  <a:srgbClr val="FF00FF"/>
                </a:solidFill>
                <a:latin typeface="+mn-lt"/>
              </a:rPr>
              <a:t>Coupling:</a:t>
            </a:r>
            <a:r>
              <a:rPr lang="en-US" dirty="0">
                <a:latin typeface="+mn-lt"/>
              </a:rPr>
              <a:t> This metric is used to represent the </a:t>
            </a:r>
            <a:r>
              <a:rPr lang="en-US" i="1" dirty="0">
                <a:solidFill>
                  <a:srgbClr val="FF00FF"/>
                </a:solidFill>
                <a:latin typeface="+mn-lt"/>
              </a:rPr>
              <a:t>strength of dependency</a:t>
            </a:r>
            <a:r>
              <a:rPr lang="en-US" dirty="0">
                <a:latin typeface="+mn-lt"/>
              </a:rPr>
              <a:t> between separate modules.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A82855-49E7-166E-9657-7BB300DF3F4E}"/>
              </a:ext>
            </a:extLst>
          </p:cNvPr>
          <p:cNvSpPr txBox="1"/>
          <p:nvPr/>
        </p:nvSpPr>
        <p:spPr>
          <a:xfrm>
            <a:off x="25400" y="6396038"/>
            <a:ext cx="50549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dirty="0">
                <a:solidFill>
                  <a:schemeClr val="accent4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 </a:t>
            </a:r>
            <a:r>
              <a:rPr lang="en-GB" dirty="0">
                <a:solidFill>
                  <a:schemeClr val="accent4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lang="en-IT" dirty="0">
                <a:solidFill>
                  <a:schemeClr val="accent4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ore on metrics to follow on next lectures!</a:t>
            </a:r>
          </a:p>
        </p:txBody>
      </p:sp>
    </p:spTree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19">
            <a:extLst>
              <a:ext uri="{FF2B5EF4-FFF2-40B4-BE49-F238E27FC236}">
                <a16:creationId xmlns:a16="http://schemas.microsoft.com/office/drawing/2014/main" id="{FFF7FB6D-72DB-2E1B-ED91-CC11BEE55EC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7BBF4B59-1906-BB4A-9EEC-AC8F8F69AD37}" type="slidenum">
              <a:rPr lang="en-US" altLang="en-US" sz="1000">
                <a:solidFill>
                  <a:srgbClr val="000000"/>
                </a:solidFill>
              </a:rPr>
              <a:pPr/>
              <a:t>43</a:t>
            </a:fld>
            <a:endParaRPr lang="en-US" altLang="en-US" sz="1000">
              <a:solidFill>
                <a:srgbClr val="000000"/>
              </a:solidFill>
            </a:endParaRPr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ABEC636C-8017-707C-3FD9-3A1E4BCC3BD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00B050"/>
                </a:solidFill>
                <a:latin typeface="Times New Roman" panose="02020603050405020304" pitchFamily="18" charset="0"/>
              </a:rPr>
              <a:t>More Examples of Refactoring</a:t>
            </a:r>
          </a:p>
        </p:txBody>
      </p:sp>
      <p:sp>
        <p:nvSpPr>
          <p:cNvPr id="237571" name="Rectangle 3">
            <a:extLst>
              <a:ext uri="{FF2B5EF4-FFF2-40B4-BE49-F238E27FC236}">
                <a16:creationId xmlns:a16="http://schemas.microsoft.com/office/drawing/2014/main" id="{2E8E2ABF-3FEF-EF07-E197-BE2E85F5F76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93675" y="660400"/>
            <a:ext cx="8966200" cy="5829300"/>
          </a:xfrm>
        </p:spPr>
        <p:txBody>
          <a:bodyPr/>
          <a:lstStyle/>
          <a:p>
            <a:pPr>
              <a:defRPr/>
            </a:pPr>
            <a:r>
              <a:rPr lang="en-US" altLang="en-US" sz="2800" dirty="0">
                <a:latin typeface="+mn-lt"/>
              </a:rPr>
              <a:t>More examples  are intuitively explained here.</a:t>
            </a:r>
          </a:p>
          <a:p>
            <a:pPr lvl="1">
              <a:defRPr/>
            </a:pPr>
            <a:r>
              <a:rPr lang="en-US" altLang="en-US" dirty="0">
                <a:latin typeface="+mn-lt"/>
              </a:rPr>
              <a:t>Substitute algorithm;</a:t>
            </a:r>
          </a:p>
          <a:p>
            <a:pPr lvl="1">
              <a:defRPr/>
            </a:pPr>
            <a:r>
              <a:rPr lang="en-US" altLang="en-US" dirty="0">
                <a:latin typeface="+mn-lt"/>
              </a:rPr>
              <a:t>Replace parameter with methods;</a:t>
            </a:r>
          </a:p>
          <a:p>
            <a:pPr lvl="1">
              <a:defRPr/>
            </a:pPr>
            <a:r>
              <a:rPr lang="en-US" altLang="en-US" dirty="0">
                <a:latin typeface="+mn-lt"/>
              </a:rPr>
              <a:t>Push Down Method;</a:t>
            </a:r>
          </a:p>
          <a:p>
            <a:pPr lvl="1">
              <a:defRPr/>
            </a:pPr>
            <a:r>
              <a:rPr lang="en-US" altLang="en-US" dirty="0">
                <a:latin typeface="+mn-lt"/>
              </a:rPr>
              <a:t>Parameterize Methods;</a:t>
            </a:r>
          </a:p>
          <a:p>
            <a:pPr lvl="1">
              <a:defRPr/>
            </a:pPr>
            <a:endParaRPr lang="en-US" altLang="en-US" dirty="0">
              <a:latin typeface="+mn-lt"/>
            </a:endParaRPr>
          </a:p>
          <a:p>
            <a:pPr>
              <a:defRPr/>
            </a:pPr>
            <a:r>
              <a:rPr lang="en-US" altLang="en-US" sz="2800" dirty="0">
                <a:solidFill>
                  <a:srgbClr val="0000FF"/>
                </a:solidFill>
                <a:latin typeface="+mn-lt"/>
              </a:rPr>
              <a:t>Substitute algorithm</a:t>
            </a:r>
          </a:p>
          <a:p>
            <a:pPr lvl="1">
              <a:defRPr/>
            </a:pPr>
            <a:r>
              <a:rPr lang="en-US" altLang="en-US" dirty="0">
                <a:latin typeface="+mn-lt"/>
              </a:rPr>
              <a:t>Replace algorithm X with algorithm Y: (</a:t>
            </a:r>
            <a:r>
              <a:rPr lang="en-US" altLang="en-US" dirty="0" err="1">
                <a:latin typeface="+mn-lt"/>
              </a:rPr>
              <a:t>i</a:t>
            </a:r>
            <a:r>
              <a:rPr lang="en-US" altLang="en-US" dirty="0">
                <a:latin typeface="+mn-lt"/>
              </a:rPr>
              <a:t>) because implementation of  Y is clearer than X; (ii) Y performs better than X; and (iii) standardization bodies want X to be replaced with Y.</a:t>
            </a:r>
          </a:p>
          <a:p>
            <a:pPr lvl="1">
              <a:defRPr/>
            </a:pPr>
            <a:r>
              <a:rPr lang="en-US" altLang="en-US" dirty="0">
                <a:latin typeface="+mn-lt"/>
              </a:rPr>
              <a:t>Algorithm substitution is easier if both X and Y have the same input-output behaviors.</a:t>
            </a:r>
          </a:p>
          <a:p>
            <a:pPr marL="0" indent="0">
              <a:buFontTx/>
              <a:buNone/>
              <a:defRPr/>
            </a:pPr>
            <a:endParaRPr lang="en-US" altLang="en-US" sz="3200" dirty="0">
              <a:latin typeface="Times New Roman" pitchFamily="18" charset="0"/>
            </a:endParaRPr>
          </a:p>
        </p:txBody>
      </p:sp>
    </p:spTree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19">
            <a:extLst>
              <a:ext uri="{FF2B5EF4-FFF2-40B4-BE49-F238E27FC236}">
                <a16:creationId xmlns:a16="http://schemas.microsoft.com/office/drawing/2014/main" id="{B363C9B8-819D-07DD-3CA7-3D154FDC5A4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B17802E5-AED1-084B-A650-0C563A0A4BF7}" type="slidenum">
              <a:rPr lang="en-US" altLang="en-US" sz="1000">
                <a:solidFill>
                  <a:srgbClr val="000000"/>
                </a:solidFill>
              </a:rPr>
              <a:pPr/>
              <a:t>44</a:t>
            </a:fld>
            <a:endParaRPr lang="en-US" altLang="en-US" sz="1000">
              <a:solidFill>
                <a:srgbClr val="000000"/>
              </a:solidFill>
            </a:endParaRPr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0FD0E675-1251-C8E8-128B-390CFA90FD3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00B050"/>
                </a:solidFill>
                <a:latin typeface="Times New Roman" panose="02020603050405020304" pitchFamily="18" charset="0"/>
              </a:rPr>
              <a:t>More Examples of Refactoring</a:t>
            </a:r>
          </a:p>
        </p:txBody>
      </p:sp>
      <p:sp>
        <p:nvSpPr>
          <p:cNvPr id="237571" name="Rectangle 3">
            <a:extLst>
              <a:ext uri="{FF2B5EF4-FFF2-40B4-BE49-F238E27FC236}">
                <a16:creationId xmlns:a16="http://schemas.microsoft.com/office/drawing/2014/main" id="{338E9494-46B2-6C27-36F3-B83FB9BBA94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93675" y="660400"/>
            <a:ext cx="8966200" cy="5829300"/>
          </a:xfrm>
        </p:spPr>
        <p:txBody>
          <a:bodyPr/>
          <a:lstStyle/>
          <a:p>
            <a:pPr>
              <a:defRPr/>
            </a:pPr>
            <a:r>
              <a:rPr lang="en-US" altLang="en-US" sz="2800" dirty="0">
                <a:solidFill>
                  <a:srgbClr val="0000FF"/>
                </a:solidFill>
                <a:latin typeface="+mn-lt"/>
              </a:rPr>
              <a:t>Replace parameters with methods</a:t>
            </a:r>
          </a:p>
          <a:p>
            <a:pPr marL="0" indent="0">
              <a:buFontTx/>
              <a:buNone/>
              <a:defRPr/>
            </a:pPr>
            <a:r>
              <a:rPr lang="en-CA" dirty="0">
                <a:latin typeface="+mn-lt"/>
              </a:rPr>
              <a:t>	Consider the following code segment, where the method 	</a:t>
            </a:r>
            <a:r>
              <a:rPr lang="en-CA" dirty="0" err="1">
                <a:latin typeface="+mn-lt"/>
              </a:rPr>
              <a:t>bodyMassIndex</a:t>
            </a:r>
            <a:r>
              <a:rPr lang="en-CA" dirty="0">
                <a:latin typeface="+mn-lt"/>
              </a:rPr>
              <a:t> has two formal parameters.</a:t>
            </a:r>
          </a:p>
          <a:p>
            <a:pPr marL="0" indent="0">
              <a:buFontTx/>
              <a:buNone/>
              <a:defRPr/>
            </a:pPr>
            <a:r>
              <a:rPr lang="en-CA" dirty="0">
                <a:latin typeface="+mn-lt"/>
              </a:rPr>
              <a:t>	</a:t>
            </a:r>
            <a:r>
              <a:rPr lang="en-CA" sz="2000" dirty="0" err="1">
                <a:solidFill>
                  <a:srgbClr val="0000FF"/>
                </a:solidFill>
                <a:latin typeface="+mn-lt"/>
              </a:rPr>
              <a:t>int</a:t>
            </a:r>
            <a:r>
              <a:rPr lang="en-CA" sz="2000" dirty="0">
                <a:solidFill>
                  <a:srgbClr val="0000FF"/>
                </a:solidFill>
                <a:latin typeface="+mn-lt"/>
              </a:rPr>
              <a:t> person;</a:t>
            </a:r>
          </a:p>
          <a:p>
            <a:pPr marL="0" indent="0">
              <a:buFontTx/>
              <a:buNone/>
              <a:defRPr/>
            </a:pPr>
            <a:r>
              <a:rPr lang="en-CA" sz="2000" dirty="0">
                <a:solidFill>
                  <a:srgbClr val="0000FF"/>
                </a:solidFill>
                <a:latin typeface="+mn-lt"/>
              </a:rPr>
              <a:t>	:</a:t>
            </a:r>
          </a:p>
          <a:p>
            <a:pPr marL="0" indent="0">
              <a:buFontTx/>
              <a:buNone/>
              <a:defRPr/>
            </a:pPr>
            <a:r>
              <a:rPr lang="en-CA" sz="2000" dirty="0">
                <a:solidFill>
                  <a:srgbClr val="0000FF"/>
                </a:solidFill>
                <a:latin typeface="+mn-lt"/>
              </a:rPr>
              <a:t>	// person is initialized here;</a:t>
            </a:r>
          </a:p>
          <a:p>
            <a:pPr marL="0" indent="0">
              <a:buFontTx/>
              <a:buNone/>
              <a:defRPr/>
            </a:pPr>
            <a:r>
              <a:rPr lang="en-CA" sz="2000" dirty="0">
                <a:solidFill>
                  <a:srgbClr val="0000FF"/>
                </a:solidFill>
                <a:latin typeface="+mn-lt"/>
              </a:rPr>
              <a:t>	:</a:t>
            </a:r>
          </a:p>
          <a:p>
            <a:pPr marL="0" indent="0">
              <a:buFontTx/>
              <a:buNone/>
              <a:defRPr/>
            </a:pPr>
            <a:r>
              <a:rPr lang="en-CA" sz="2000" dirty="0">
                <a:solidFill>
                  <a:srgbClr val="0000FF"/>
                </a:solidFill>
                <a:latin typeface="+mn-lt"/>
              </a:rPr>
              <a:t>	</a:t>
            </a:r>
            <a:r>
              <a:rPr lang="en-CA" sz="2000" dirty="0" err="1">
                <a:solidFill>
                  <a:srgbClr val="0000FF"/>
                </a:solidFill>
                <a:latin typeface="+mn-lt"/>
              </a:rPr>
              <a:t>int</a:t>
            </a:r>
            <a:r>
              <a:rPr lang="en-CA" sz="2000" dirty="0">
                <a:solidFill>
                  <a:srgbClr val="0000FF"/>
                </a:solidFill>
                <a:latin typeface="+mn-lt"/>
              </a:rPr>
              <a:t> </a:t>
            </a:r>
            <a:r>
              <a:rPr lang="en-CA" sz="2000" dirty="0" err="1">
                <a:solidFill>
                  <a:srgbClr val="0000FF"/>
                </a:solidFill>
                <a:latin typeface="+mn-lt"/>
              </a:rPr>
              <a:t>bodyMass</a:t>
            </a:r>
            <a:r>
              <a:rPr lang="en-CA" sz="2000" dirty="0">
                <a:solidFill>
                  <a:srgbClr val="0000FF"/>
                </a:solidFill>
                <a:latin typeface="+mn-lt"/>
              </a:rPr>
              <a:t> = </a:t>
            </a:r>
            <a:r>
              <a:rPr lang="en-CA" sz="2000" dirty="0" err="1">
                <a:solidFill>
                  <a:srgbClr val="0000FF"/>
                </a:solidFill>
                <a:latin typeface="+mn-lt"/>
              </a:rPr>
              <a:t>getMass</a:t>
            </a:r>
            <a:r>
              <a:rPr lang="en-CA" sz="2000" dirty="0">
                <a:solidFill>
                  <a:srgbClr val="0000FF"/>
                </a:solidFill>
                <a:latin typeface="+mn-lt"/>
              </a:rPr>
              <a:t>(person);</a:t>
            </a:r>
          </a:p>
          <a:p>
            <a:pPr marL="0" indent="0">
              <a:buFontTx/>
              <a:buNone/>
              <a:defRPr/>
            </a:pPr>
            <a:r>
              <a:rPr lang="en-CA" sz="2000" dirty="0">
                <a:solidFill>
                  <a:srgbClr val="0000FF"/>
                </a:solidFill>
                <a:latin typeface="+mn-lt"/>
              </a:rPr>
              <a:t>	</a:t>
            </a:r>
            <a:r>
              <a:rPr lang="en-CA" sz="2000" dirty="0" err="1">
                <a:solidFill>
                  <a:srgbClr val="0000FF"/>
                </a:solidFill>
                <a:latin typeface="+mn-lt"/>
              </a:rPr>
              <a:t>int</a:t>
            </a:r>
            <a:r>
              <a:rPr lang="en-CA" sz="2000" dirty="0">
                <a:solidFill>
                  <a:srgbClr val="0000FF"/>
                </a:solidFill>
                <a:latin typeface="+mn-lt"/>
              </a:rPr>
              <a:t> height = </a:t>
            </a:r>
            <a:r>
              <a:rPr lang="en-CA" sz="2000" dirty="0" err="1">
                <a:solidFill>
                  <a:srgbClr val="0000FF"/>
                </a:solidFill>
                <a:latin typeface="+mn-lt"/>
              </a:rPr>
              <a:t>getHeight</a:t>
            </a:r>
            <a:r>
              <a:rPr lang="en-CA" sz="2000" dirty="0">
                <a:solidFill>
                  <a:srgbClr val="0000FF"/>
                </a:solidFill>
                <a:latin typeface="+mn-lt"/>
              </a:rPr>
              <a:t>(person);</a:t>
            </a:r>
          </a:p>
          <a:p>
            <a:pPr marL="0" indent="0">
              <a:buFontTx/>
              <a:buNone/>
              <a:defRPr/>
            </a:pPr>
            <a:r>
              <a:rPr lang="en-CA" sz="2000" dirty="0">
                <a:solidFill>
                  <a:srgbClr val="0000FF"/>
                </a:solidFill>
                <a:latin typeface="+mn-lt"/>
              </a:rPr>
              <a:t>	</a:t>
            </a:r>
            <a:r>
              <a:rPr lang="en-CA" sz="2000" dirty="0" err="1">
                <a:solidFill>
                  <a:srgbClr val="0000FF"/>
                </a:solidFill>
                <a:latin typeface="+mn-lt"/>
              </a:rPr>
              <a:t>int</a:t>
            </a:r>
            <a:r>
              <a:rPr lang="en-CA" sz="2000" dirty="0">
                <a:solidFill>
                  <a:srgbClr val="0000FF"/>
                </a:solidFill>
                <a:latin typeface="+mn-lt"/>
              </a:rPr>
              <a:t> BMI = </a:t>
            </a:r>
            <a:r>
              <a:rPr lang="en-CA" sz="2000" dirty="0" err="1">
                <a:solidFill>
                  <a:srgbClr val="0000FF"/>
                </a:solidFill>
                <a:latin typeface="+mn-lt"/>
              </a:rPr>
              <a:t>bodyMassIndex</a:t>
            </a:r>
            <a:r>
              <a:rPr lang="en-CA" sz="2000" dirty="0">
                <a:solidFill>
                  <a:srgbClr val="0000FF"/>
                </a:solidFill>
                <a:latin typeface="+mn-lt"/>
              </a:rPr>
              <a:t>(</a:t>
            </a:r>
            <a:r>
              <a:rPr lang="en-CA" sz="2000" dirty="0" err="1">
                <a:solidFill>
                  <a:srgbClr val="0000FF"/>
                </a:solidFill>
                <a:latin typeface="+mn-lt"/>
              </a:rPr>
              <a:t>bodyMass</a:t>
            </a:r>
            <a:r>
              <a:rPr lang="en-CA" sz="2000" dirty="0">
                <a:solidFill>
                  <a:srgbClr val="0000FF"/>
                </a:solidFill>
                <a:latin typeface="+mn-lt"/>
              </a:rPr>
              <a:t>, height);</a:t>
            </a:r>
          </a:p>
          <a:p>
            <a:pPr marL="0" indent="0">
              <a:buFontTx/>
              <a:buNone/>
              <a:defRPr/>
            </a:pPr>
            <a:r>
              <a:rPr lang="en-CA" dirty="0">
                <a:latin typeface="+mn-lt"/>
              </a:rPr>
              <a:t>	</a:t>
            </a:r>
            <a:r>
              <a:rPr lang="en-CA" dirty="0">
                <a:solidFill>
                  <a:srgbClr val="0000FF"/>
                </a:solidFill>
                <a:latin typeface="+mn-lt"/>
              </a:rPr>
              <a:t>:</a:t>
            </a:r>
          </a:p>
          <a:p>
            <a:pPr marL="0" indent="0">
              <a:buFontTx/>
              <a:buNone/>
              <a:defRPr/>
            </a:pPr>
            <a:r>
              <a:rPr lang="en-CA" dirty="0">
                <a:latin typeface="+mn-lt"/>
              </a:rPr>
              <a:t>	The above code segment can be rewritten such that the 	new </a:t>
            </a:r>
            <a:r>
              <a:rPr lang="en-CA" dirty="0" err="1">
                <a:solidFill>
                  <a:srgbClr val="0000FF"/>
                </a:solidFill>
                <a:latin typeface="+mn-lt"/>
              </a:rPr>
              <a:t>bodyMassIndex</a:t>
            </a:r>
            <a:r>
              <a:rPr lang="en-CA" dirty="0">
                <a:latin typeface="+mn-lt"/>
              </a:rPr>
              <a:t> method accepts </a:t>
            </a:r>
            <a:r>
              <a:rPr lang="en-CA" dirty="0">
                <a:solidFill>
                  <a:srgbClr val="0000FF"/>
                </a:solidFill>
                <a:latin typeface="+mn-lt"/>
              </a:rPr>
              <a:t>one</a:t>
            </a:r>
            <a:r>
              <a:rPr lang="en-CA" dirty="0">
                <a:latin typeface="+mn-lt"/>
              </a:rPr>
              <a:t> formal 	parameter, namely, </a:t>
            </a:r>
            <a:r>
              <a:rPr lang="en-CA" dirty="0">
                <a:solidFill>
                  <a:srgbClr val="00B050"/>
                </a:solidFill>
                <a:latin typeface="+mn-lt"/>
              </a:rPr>
              <a:t>person</a:t>
            </a:r>
            <a:r>
              <a:rPr lang="en-CA" dirty="0">
                <a:latin typeface="+mn-lt"/>
              </a:rPr>
              <a:t>, and internally computes the 	values of </a:t>
            </a:r>
            <a:r>
              <a:rPr lang="en-CA" dirty="0" err="1">
                <a:solidFill>
                  <a:srgbClr val="FF00FF"/>
                </a:solidFill>
              </a:rPr>
              <a:t>bodyMass</a:t>
            </a:r>
            <a:r>
              <a:rPr lang="en-CA" dirty="0"/>
              <a:t> and </a:t>
            </a:r>
            <a:r>
              <a:rPr lang="en-CA" dirty="0">
                <a:solidFill>
                  <a:srgbClr val="FF00FF"/>
                </a:solidFill>
              </a:rPr>
              <a:t>height</a:t>
            </a:r>
            <a:r>
              <a:rPr lang="en-CA" dirty="0"/>
              <a:t>. </a:t>
            </a:r>
            <a:endParaRPr lang="en-CA" dirty="0">
              <a:latin typeface="+mn-lt"/>
            </a:endParaRPr>
          </a:p>
          <a:p>
            <a:pPr>
              <a:defRPr/>
            </a:pPr>
            <a:endParaRPr lang="en-US" altLang="en-US" dirty="0">
              <a:latin typeface="+mn-lt"/>
            </a:endParaRPr>
          </a:p>
        </p:txBody>
      </p:sp>
    </p:spTree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19">
            <a:extLst>
              <a:ext uri="{FF2B5EF4-FFF2-40B4-BE49-F238E27FC236}">
                <a16:creationId xmlns:a16="http://schemas.microsoft.com/office/drawing/2014/main" id="{A0FC1E87-B882-E0E7-5938-F35B2CA998B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0335951C-7A2F-084C-B0F0-DA7733D98E35}" type="slidenum">
              <a:rPr lang="en-US" altLang="en-US" sz="1000">
                <a:solidFill>
                  <a:srgbClr val="000000"/>
                </a:solidFill>
              </a:rPr>
              <a:pPr/>
              <a:t>45</a:t>
            </a:fld>
            <a:endParaRPr lang="en-US" altLang="en-US" sz="1000">
              <a:solidFill>
                <a:srgbClr val="000000"/>
              </a:solidFill>
            </a:endParaRPr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24386CB8-B95F-024D-5306-AFC81FD64F4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00B050"/>
                </a:solidFill>
                <a:latin typeface="Times New Roman" panose="02020603050405020304" pitchFamily="18" charset="0"/>
              </a:rPr>
              <a:t>More Examples of Refactoring</a:t>
            </a:r>
          </a:p>
        </p:txBody>
      </p:sp>
      <p:sp>
        <p:nvSpPr>
          <p:cNvPr id="237571" name="Rectangle 3">
            <a:extLst>
              <a:ext uri="{FF2B5EF4-FFF2-40B4-BE49-F238E27FC236}">
                <a16:creationId xmlns:a16="http://schemas.microsoft.com/office/drawing/2014/main" id="{A8137C6A-EB12-9909-CD35-3C1C8789016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93675" y="660400"/>
            <a:ext cx="8966200" cy="2417763"/>
          </a:xfrm>
        </p:spPr>
        <p:txBody>
          <a:bodyPr/>
          <a:lstStyle/>
          <a:p>
            <a:pPr>
              <a:defRPr/>
            </a:pPr>
            <a:r>
              <a:rPr lang="en-US" altLang="en-US" sz="2800" dirty="0">
                <a:solidFill>
                  <a:srgbClr val="0000FF"/>
                </a:solidFill>
                <a:latin typeface="+mn-lt"/>
              </a:rPr>
              <a:t>Push Down Method</a:t>
            </a:r>
          </a:p>
          <a:p>
            <a:pPr lvl="1">
              <a:defRPr/>
            </a:pPr>
            <a:r>
              <a:rPr lang="en-US" altLang="en-US" dirty="0">
                <a:solidFill>
                  <a:schemeClr val="bg2"/>
                </a:solidFill>
                <a:latin typeface="+mn-lt"/>
              </a:rPr>
              <a:t>Assume that </a:t>
            </a:r>
            <a:r>
              <a:rPr lang="en-US" altLang="en-US" dirty="0">
                <a:solidFill>
                  <a:srgbClr val="00B050"/>
                </a:solidFill>
                <a:latin typeface="+mn-lt"/>
              </a:rPr>
              <a:t>Executive</a:t>
            </a:r>
            <a:r>
              <a:rPr lang="en-US" altLang="en-US" dirty="0">
                <a:solidFill>
                  <a:schemeClr val="bg2"/>
                </a:solidFill>
                <a:latin typeface="+mn-lt"/>
              </a:rPr>
              <a:t> and </a:t>
            </a:r>
            <a:r>
              <a:rPr lang="en-US" altLang="en-US" dirty="0">
                <a:solidFill>
                  <a:srgbClr val="FF0000"/>
                </a:solidFill>
                <a:latin typeface="+mn-lt"/>
              </a:rPr>
              <a:t>Clerk</a:t>
            </a:r>
            <a:r>
              <a:rPr lang="en-US" altLang="en-US" dirty="0">
                <a:solidFill>
                  <a:schemeClr val="bg2"/>
                </a:solidFill>
                <a:latin typeface="+mn-lt"/>
              </a:rPr>
              <a:t> are two subclasses of the superclass </a:t>
            </a:r>
            <a:r>
              <a:rPr lang="en-US" altLang="en-US" dirty="0">
                <a:solidFill>
                  <a:srgbClr val="0000FF"/>
                </a:solidFill>
                <a:latin typeface="+mn-lt"/>
              </a:rPr>
              <a:t>Employee</a:t>
            </a:r>
            <a:r>
              <a:rPr lang="en-US" altLang="en-US" dirty="0">
                <a:solidFill>
                  <a:schemeClr val="bg2"/>
                </a:solidFill>
                <a:latin typeface="+mn-lt"/>
              </a:rPr>
              <a:t>, as shown in Fig. 7.7(a).</a:t>
            </a:r>
          </a:p>
          <a:p>
            <a:pPr lvl="1">
              <a:defRPr/>
            </a:pPr>
            <a:r>
              <a:rPr lang="en-US" altLang="en-US" dirty="0">
                <a:solidFill>
                  <a:schemeClr val="bg2"/>
                </a:solidFill>
                <a:latin typeface="+mn-lt"/>
              </a:rPr>
              <a:t>Method </a:t>
            </a:r>
            <a:r>
              <a:rPr lang="en-US" altLang="en-US" dirty="0" err="1">
                <a:solidFill>
                  <a:srgbClr val="FF00FF"/>
                </a:solidFill>
                <a:latin typeface="+mn-lt"/>
              </a:rPr>
              <a:t>overTimePay</a:t>
            </a:r>
            <a:r>
              <a:rPr lang="en-US" altLang="en-US" dirty="0">
                <a:solidFill>
                  <a:schemeClr val="bg2"/>
                </a:solidFill>
                <a:latin typeface="+mn-lt"/>
              </a:rPr>
              <a:t> has been defined in </a:t>
            </a:r>
            <a:r>
              <a:rPr lang="en-US" altLang="en-US" dirty="0">
                <a:solidFill>
                  <a:srgbClr val="0000FF"/>
                </a:solidFill>
                <a:latin typeface="+mn-lt"/>
              </a:rPr>
              <a:t>Employee</a:t>
            </a:r>
            <a:r>
              <a:rPr lang="en-US" altLang="en-US" dirty="0">
                <a:solidFill>
                  <a:schemeClr val="bg2"/>
                </a:solidFill>
                <a:latin typeface="+mn-lt"/>
              </a:rPr>
              <a:t> class.</a:t>
            </a:r>
          </a:p>
          <a:p>
            <a:pPr lvl="1">
              <a:defRPr/>
            </a:pPr>
            <a:r>
              <a:rPr lang="en-US" altLang="en-US" dirty="0">
                <a:solidFill>
                  <a:schemeClr val="bg2"/>
                </a:solidFill>
                <a:latin typeface="+mn-lt"/>
              </a:rPr>
              <a:t>If  </a:t>
            </a:r>
            <a:r>
              <a:rPr lang="en-US" altLang="en-US" dirty="0" err="1">
                <a:solidFill>
                  <a:srgbClr val="FF00FF"/>
                </a:solidFill>
                <a:latin typeface="+mn-lt"/>
              </a:rPr>
              <a:t>overTimePay</a:t>
            </a:r>
            <a:r>
              <a:rPr lang="en-US" altLang="en-US" dirty="0">
                <a:solidFill>
                  <a:schemeClr val="bg2"/>
                </a:solidFill>
                <a:latin typeface="+mn-lt"/>
              </a:rPr>
              <a:t> is used in the </a:t>
            </a:r>
            <a:r>
              <a:rPr lang="en-US" altLang="en-US" dirty="0">
                <a:solidFill>
                  <a:srgbClr val="FF0000"/>
                </a:solidFill>
                <a:latin typeface="+mn-lt"/>
              </a:rPr>
              <a:t>Clerk</a:t>
            </a:r>
            <a:r>
              <a:rPr lang="en-US" altLang="en-US" dirty="0">
                <a:solidFill>
                  <a:schemeClr val="bg2"/>
                </a:solidFill>
                <a:latin typeface="+mn-lt"/>
              </a:rPr>
              <a:t> class, but not in the </a:t>
            </a:r>
            <a:r>
              <a:rPr lang="en-US" altLang="en-US" dirty="0">
                <a:solidFill>
                  <a:srgbClr val="00B050"/>
                </a:solidFill>
                <a:latin typeface="+mn-lt"/>
              </a:rPr>
              <a:t>Executive</a:t>
            </a:r>
            <a:r>
              <a:rPr lang="en-US" altLang="en-US" dirty="0">
                <a:solidFill>
                  <a:schemeClr val="bg2"/>
                </a:solidFill>
                <a:latin typeface="+mn-lt"/>
              </a:rPr>
              <a:t> class, then the programmer can push down </a:t>
            </a:r>
            <a:r>
              <a:rPr lang="en-US" altLang="en-US" dirty="0" err="1">
                <a:solidFill>
                  <a:srgbClr val="FF00FF"/>
                </a:solidFill>
                <a:latin typeface="+mn-lt"/>
              </a:rPr>
              <a:t>overTimePay</a:t>
            </a:r>
            <a:r>
              <a:rPr lang="en-US" altLang="en-US" dirty="0">
                <a:solidFill>
                  <a:schemeClr val="bg2"/>
                </a:solidFill>
                <a:latin typeface="+mn-lt"/>
              </a:rPr>
              <a:t> to the </a:t>
            </a:r>
            <a:r>
              <a:rPr lang="en-US" altLang="en-US" dirty="0">
                <a:solidFill>
                  <a:srgbClr val="FF0000"/>
                </a:solidFill>
                <a:latin typeface="+mn-lt"/>
              </a:rPr>
              <a:t>Clerk</a:t>
            </a:r>
            <a:r>
              <a:rPr lang="en-US" altLang="en-US" dirty="0">
                <a:solidFill>
                  <a:schemeClr val="bg2"/>
                </a:solidFill>
                <a:latin typeface="+mn-lt"/>
              </a:rPr>
              <a:t> class, is shown in Fig. 7.7(b).</a:t>
            </a:r>
          </a:p>
          <a:p>
            <a:pPr marL="0" indent="0">
              <a:buFontTx/>
              <a:buNone/>
              <a:defRPr/>
            </a:pPr>
            <a:r>
              <a:rPr lang="en-CA" dirty="0">
                <a:latin typeface="+mn-lt"/>
              </a:rPr>
              <a:t>	 </a:t>
            </a:r>
          </a:p>
          <a:p>
            <a:pPr>
              <a:defRPr/>
            </a:pPr>
            <a:endParaRPr lang="en-US" altLang="en-US" dirty="0">
              <a:latin typeface="+mn-lt"/>
            </a:endParaRPr>
          </a:p>
        </p:txBody>
      </p:sp>
      <p:pic>
        <p:nvPicPr>
          <p:cNvPr id="46085" name="Picture 2" descr="C:\DataFebruary7\ASAGAR\PAPER\MYBOOK2\SEVBOOK\REFACT\pushdown.xfig.eps">
            <a:extLst>
              <a:ext uri="{FF2B5EF4-FFF2-40B4-BE49-F238E27FC236}">
                <a16:creationId xmlns:a16="http://schemas.microsoft.com/office/drawing/2014/main" id="{25BF6E2E-CF8F-86E8-398C-329EF6853A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0363" y="3484563"/>
            <a:ext cx="5253037" cy="204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6" name="Rectangle 2">
            <a:extLst>
              <a:ext uri="{FF2B5EF4-FFF2-40B4-BE49-F238E27FC236}">
                <a16:creationId xmlns:a16="http://schemas.microsoft.com/office/drawing/2014/main" id="{817292E9-1F21-0B0F-17C7-3050A25597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25" y="5397500"/>
            <a:ext cx="7948613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r>
              <a:rPr lang="en-CA" altLang="en-US" b="0" dirty="0">
                <a:solidFill>
                  <a:srgbClr val="0000FF"/>
                </a:solidFill>
                <a:latin typeface="+mn-lt"/>
              </a:rPr>
              <a:t>Illustration of the Push Down Method refactoring: </a:t>
            </a:r>
          </a:p>
          <a:p>
            <a:pPr>
              <a:defRPr/>
            </a:pPr>
            <a:r>
              <a:rPr lang="en-CA" altLang="en-US" b="0" dirty="0">
                <a:solidFill>
                  <a:srgbClr val="0000FF"/>
                </a:solidFill>
                <a:latin typeface="+mn-lt"/>
              </a:rPr>
              <a:t>            (a) the class diagram before refactoring; </a:t>
            </a:r>
          </a:p>
          <a:p>
            <a:pPr>
              <a:defRPr/>
            </a:pPr>
            <a:r>
              <a:rPr lang="en-CA" altLang="en-US" b="0" dirty="0">
                <a:solidFill>
                  <a:srgbClr val="0000FF"/>
                </a:solidFill>
                <a:latin typeface="+mn-lt"/>
              </a:rPr>
              <a:t>            (b) the class diagram after refactoring.</a:t>
            </a:r>
            <a:endParaRPr lang="en-CA" altLang="en-US" dirty="0">
              <a:solidFill>
                <a:srgbClr val="0000FF"/>
              </a:solidFill>
              <a:latin typeface="+mn-lt"/>
            </a:endParaRPr>
          </a:p>
        </p:txBody>
      </p:sp>
    </p:spTree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19">
            <a:extLst>
              <a:ext uri="{FF2B5EF4-FFF2-40B4-BE49-F238E27FC236}">
                <a16:creationId xmlns:a16="http://schemas.microsoft.com/office/drawing/2014/main" id="{A560E452-18A4-37BA-A384-DE2D52EFD3A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00E8F6CF-2005-5E44-8315-48DBB3E40B4F}" type="slidenum">
              <a:rPr lang="en-US" altLang="en-US" sz="1000">
                <a:solidFill>
                  <a:srgbClr val="000000"/>
                </a:solidFill>
              </a:rPr>
              <a:pPr/>
              <a:t>46</a:t>
            </a:fld>
            <a:endParaRPr lang="en-US" altLang="en-US" sz="1000">
              <a:solidFill>
                <a:srgbClr val="000000"/>
              </a:solidFill>
            </a:endParaRPr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4BF8B466-84B1-F954-6B9F-7B1275947DB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00B050"/>
                </a:solidFill>
                <a:latin typeface="Times New Roman" panose="02020603050405020304" pitchFamily="18" charset="0"/>
              </a:rPr>
              <a:t>More Examples of Refactoring</a:t>
            </a:r>
          </a:p>
        </p:txBody>
      </p:sp>
      <p:sp>
        <p:nvSpPr>
          <p:cNvPr id="237571" name="Rectangle 3">
            <a:extLst>
              <a:ext uri="{FF2B5EF4-FFF2-40B4-BE49-F238E27FC236}">
                <a16:creationId xmlns:a16="http://schemas.microsoft.com/office/drawing/2014/main" id="{C9E8258A-C6EE-0326-C1DE-85417C9063D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93675" y="660400"/>
            <a:ext cx="8966200" cy="4932363"/>
          </a:xfrm>
        </p:spPr>
        <p:txBody>
          <a:bodyPr/>
          <a:lstStyle/>
          <a:p>
            <a:pPr>
              <a:defRPr/>
            </a:pPr>
            <a:r>
              <a:rPr lang="en-US" altLang="en-US" sz="2800" dirty="0">
                <a:solidFill>
                  <a:srgbClr val="0000FF"/>
                </a:solidFill>
                <a:latin typeface="+mn-lt"/>
              </a:rPr>
              <a:t>Parameterize Methods</a:t>
            </a:r>
          </a:p>
          <a:p>
            <a:pPr lvl="1">
              <a:defRPr/>
            </a:pPr>
            <a:r>
              <a:rPr lang="en-CA" dirty="0">
                <a:solidFill>
                  <a:schemeClr val="bg2">
                    <a:lumMod val="50000"/>
                  </a:schemeClr>
                </a:solidFill>
              </a:rPr>
              <a:t>Sometimes programmers may find multiple methods performing the same computations on different input data sets. </a:t>
            </a:r>
          </a:p>
          <a:p>
            <a:pPr lvl="1">
              <a:defRPr/>
            </a:pPr>
            <a:r>
              <a:rPr lang="en-CA" dirty="0">
                <a:solidFill>
                  <a:schemeClr val="bg2">
                    <a:lumMod val="50000"/>
                  </a:schemeClr>
                </a:solidFill>
              </a:rPr>
              <a:t>Those methods can be replaced with a new method with additional formal parameters, as illustrated in Fig. 7.8.</a:t>
            </a:r>
          </a:p>
          <a:p>
            <a:pPr lvl="1">
              <a:defRPr/>
            </a:pPr>
            <a:r>
              <a:rPr lang="en-CA" dirty="0">
                <a:solidFill>
                  <a:schemeClr val="bg2">
                    <a:lumMod val="50000"/>
                  </a:schemeClr>
                </a:solidFill>
              </a:rPr>
              <a:t>In Fig. 7.8(a), we have the </a:t>
            </a:r>
            <a:r>
              <a:rPr lang="en-CA" dirty="0">
                <a:solidFill>
                  <a:srgbClr val="00B050"/>
                </a:solidFill>
              </a:rPr>
              <a:t>Communication</a:t>
            </a:r>
            <a:r>
              <a:rPr lang="en-CA" dirty="0">
                <a:solidFill>
                  <a:schemeClr val="bg2">
                    <a:lumMod val="50000"/>
                  </a:schemeClr>
                </a:solidFill>
              </a:rPr>
              <a:t> class with </a:t>
            </a:r>
            <a:r>
              <a:rPr lang="en-CA" dirty="0">
                <a:solidFill>
                  <a:srgbClr val="0070C0"/>
                </a:solidFill>
              </a:rPr>
              <a:t>four methods</a:t>
            </a:r>
            <a:r>
              <a:rPr lang="en-CA" dirty="0">
                <a:solidFill>
                  <a:schemeClr val="bg2">
                    <a:lumMod val="50000"/>
                  </a:schemeClr>
                </a:solidFill>
              </a:rPr>
              <a:t>: </a:t>
            </a:r>
            <a:r>
              <a:rPr lang="en-CA" dirty="0" err="1">
                <a:solidFill>
                  <a:srgbClr val="00B050"/>
                </a:solidFill>
              </a:rPr>
              <a:t>bluetoothInterface</a:t>
            </a:r>
            <a:r>
              <a:rPr lang="en-CA" dirty="0">
                <a:solidFill>
                  <a:schemeClr val="bg2">
                    <a:lumMod val="50000"/>
                  </a:schemeClr>
                </a:solidFill>
              </a:rPr>
              <a:t>, </a:t>
            </a:r>
            <a:r>
              <a:rPr lang="en-CA" dirty="0" err="1">
                <a:solidFill>
                  <a:schemeClr val="bg2">
                    <a:lumMod val="50000"/>
                  </a:schemeClr>
                </a:solidFill>
              </a:rPr>
              <a:t>wifiInterface</a:t>
            </a:r>
            <a:r>
              <a:rPr lang="en-CA" dirty="0">
                <a:solidFill>
                  <a:schemeClr val="bg2">
                    <a:lumMod val="50000"/>
                  </a:schemeClr>
                </a:solidFill>
              </a:rPr>
              <a:t>, </a:t>
            </a:r>
            <a:r>
              <a:rPr lang="en-CA" dirty="0" err="1">
                <a:solidFill>
                  <a:srgbClr val="00B050"/>
                </a:solidFill>
              </a:rPr>
              <a:t>threeGInterface</a:t>
            </a:r>
            <a:r>
              <a:rPr lang="en-CA" dirty="0">
                <a:solidFill>
                  <a:schemeClr val="bg2">
                    <a:lumMod val="50000"/>
                  </a:schemeClr>
                </a:solidFill>
              </a:rPr>
              <a:t>, and </a:t>
            </a:r>
            <a:r>
              <a:rPr lang="en-CA" dirty="0" err="1">
                <a:solidFill>
                  <a:srgbClr val="00B050"/>
                </a:solidFill>
              </a:rPr>
              <a:t>fourGInterface</a:t>
            </a:r>
            <a:r>
              <a:rPr lang="en-CA" dirty="0">
                <a:solidFill>
                  <a:schemeClr val="bg2">
                    <a:lumMod val="50000"/>
                  </a:schemeClr>
                </a:solidFill>
              </a:rPr>
              <a:t>.</a:t>
            </a:r>
          </a:p>
          <a:p>
            <a:pPr lvl="1">
              <a:defRPr/>
            </a:pPr>
            <a:r>
              <a:rPr lang="en-CA" dirty="0">
                <a:solidFill>
                  <a:schemeClr val="bg2">
                    <a:lumMod val="50000"/>
                  </a:schemeClr>
                </a:solidFill>
              </a:rPr>
              <a:t>In Fig. 7.8(b), we have the Communication class with </a:t>
            </a:r>
            <a:r>
              <a:rPr lang="en-CA" dirty="0">
                <a:solidFill>
                  <a:srgbClr val="0070C0"/>
                </a:solidFill>
              </a:rPr>
              <a:t>just one method</a:t>
            </a:r>
            <a:r>
              <a:rPr lang="en-CA" dirty="0">
                <a:solidFill>
                  <a:schemeClr val="bg2">
                    <a:lumMod val="50000"/>
                  </a:schemeClr>
                </a:solidFill>
              </a:rPr>
              <a:t>, namely, </a:t>
            </a:r>
            <a:r>
              <a:rPr lang="en-CA" dirty="0" err="1">
                <a:solidFill>
                  <a:srgbClr val="FF00FF"/>
                </a:solidFill>
              </a:rPr>
              <a:t>wirelessInterface</a:t>
            </a:r>
            <a:r>
              <a:rPr lang="en-CA" dirty="0">
                <a:solidFill>
                  <a:schemeClr val="bg2">
                    <a:lumMod val="50000"/>
                  </a:schemeClr>
                </a:solidFill>
              </a:rPr>
              <a:t> with </a:t>
            </a:r>
            <a:r>
              <a:rPr lang="en-CA" dirty="0">
                <a:solidFill>
                  <a:srgbClr val="FF00FF"/>
                </a:solidFill>
              </a:rPr>
              <a:t>one parameter</a:t>
            </a:r>
            <a:r>
              <a:rPr lang="en-CA" dirty="0">
                <a:solidFill>
                  <a:schemeClr val="bg2">
                    <a:lumMod val="50000"/>
                  </a:schemeClr>
                </a:solidFill>
              </a:rPr>
              <a:t>, namely, </a:t>
            </a:r>
            <a:r>
              <a:rPr lang="en-CA" dirty="0">
                <a:solidFill>
                  <a:srgbClr val="FF00FF"/>
                </a:solidFill>
              </a:rPr>
              <a:t>radio</a:t>
            </a:r>
            <a:r>
              <a:rPr lang="en-CA" dirty="0">
                <a:solidFill>
                  <a:schemeClr val="bg2">
                    <a:lumMod val="50000"/>
                  </a:schemeClr>
                </a:solidFill>
              </a:rPr>
              <a:t>.</a:t>
            </a:r>
          </a:p>
          <a:p>
            <a:pPr lvl="1">
              <a:defRPr/>
            </a:pPr>
            <a:r>
              <a:rPr lang="en-CA" dirty="0">
                <a:solidFill>
                  <a:schemeClr val="bg2">
                    <a:lumMod val="50000"/>
                  </a:schemeClr>
                </a:solidFill>
              </a:rPr>
              <a:t>The method </a:t>
            </a:r>
            <a:r>
              <a:rPr lang="en-CA" dirty="0" err="1">
                <a:solidFill>
                  <a:srgbClr val="00B050"/>
                </a:solidFill>
              </a:rPr>
              <a:t>wirelessInterface</a:t>
            </a:r>
            <a:r>
              <a:rPr lang="en-CA" dirty="0">
                <a:solidFill>
                  <a:schemeClr val="bg2">
                    <a:lumMod val="50000"/>
                  </a:schemeClr>
                </a:solidFill>
              </a:rPr>
              <a:t> can be invoked with different values of </a:t>
            </a:r>
            <a:r>
              <a:rPr lang="en-CA" dirty="0">
                <a:solidFill>
                  <a:srgbClr val="FF00FF"/>
                </a:solidFill>
              </a:rPr>
              <a:t>radio</a:t>
            </a:r>
            <a:r>
              <a:rPr lang="en-CA" dirty="0">
                <a:solidFill>
                  <a:schemeClr val="bg2">
                    <a:lumMod val="50000"/>
                  </a:schemeClr>
                </a:solidFill>
              </a:rPr>
              <a:t> so that the </a:t>
            </a:r>
            <a:r>
              <a:rPr lang="en-CA" dirty="0" err="1">
                <a:solidFill>
                  <a:srgbClr val="00B050"/>
                </a:solidFill>
              </a:rPr>
              <a:t>wirelessInterface</a:t>
            </a:r>
            <a:r>
              <a:rPr lang="en-CA" dirty="0">
                <a:solidFill>
                  <a:schemeClr val="bg2">
                    <a:lumMod val="50000"/>
                  </a:schemeClr>
                </a:solidFill>
              </a:rPr>
              <a:t> method can in turn invoke different </a:t>
            </a:r>
            <a:r>
              <a:rPr lang="en-CA" dirty="0">
                <a:solidFill>
                  <a:srgbClr val="FF00FF"/>
                </a:solidFill>
              </a:rPr>
              <a:t>radio</a:t>
            </a:r>
            <a:r>
              <a:rPr lang="en-CA" dirty="0">
                <a:solidFill>
                  <a:schemeClr val="bg2">
                    <a:lumMod val="50000"/>
                  </a:schemeClr>
                </a:solidFill>
              </a:rPr>
              <a:t> interfaces.</a:t>
            </a:r>
          </a:p>
          <a:p>
            <a:pPr marL="0" indent="0">
              <a:buFontTx/>
              <a:buNone/>
              <a:defRPr/>
            </a:pPr>
            <a:endParaRPr lang="en-CA" dirty="0">
              <a:latin typeface="+mn-lt"/>
            </a:endParaRPr>
          </a:p>
          <a:p>
            <a:pPr>
              <a:defRPr/>
            </a:pPr>
            <a:endParaRPr lang="en-US" altLang="en-US" dirty="0">
              <a:latin typeface="+mn-lt"/>
            </a:endParaRPr>
          </a:p>
        </p:txBody>
      </p:sp>
    </p:spTree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19">
            <a:extLst>
              <a:ext uri="{FF2B5EF4-FFF2-40B4-BE49-F238E27FC236}">
                <a16:creationId xmlns:a16="http://schemas.microsoft.com/office/drawing/2014/main" id="{C2F18DD1-B635-7FEE-4F90-F7961300189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4FF7760D-EAB6-444C-95F3-71947CC05B29}" type="slidenum">
              <a:rPr lang="en-US" altLang="en-US" sz="1000">
                <a:solidFill>
                  <a:srgbClr val="000000"/>
                </a:solidFill>
              </a:rPr>
              <a:pPr/>
              <a:t>47</a:t>
            </a:fld>
            <a:endParaRPr lang="en-US" altLang="en-US" sz="1000">
              <a:solidFill>
                <a:srgbClr val="000000"/>
              </a:solidFill>
            </a:endParaRPr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44182CFD-01B0-41C6-394C-BE68918E77A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168275"/>
            <a:ext cx="9144000" cy="654050"/>
          </a:xfrm>
        </p:spPr>
        <p:txBody>
          <a:bodyPr/>
          <a:lstStyle/>
          <a:p>
            <a:pPr marL="342900" indent="-342900"/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Factors Influencing Software Structure</a:t>
            </a:r>
            <a:br>
              <a:rPr lang="en-US" altLang="en-US" sz="2800" dirty="0">
                <a:latin typeface="Times New Roman" panose="02020603050405020304" pitchFamily="18" charset="0"/>
              </a:rPr>
            </a:br>
            <a:endParaRPr lang="en-US" altLang="en-US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7571" name="Rectangle 3">
            <a:extLst>
              <a:ext uri="{FF2B5EF4-FFF2-40B4-BE49-F238E27FC236}">
                <a16:creationId xmlns:a16="http://schemas.microsoft.com/office/drawing/2014/main" id="{0B786AD7-5E71-24F0-5DEE-B7C7F7BECA3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706438"/>
            <a:ext cx="8966200" cy="5829300"/>
          </a:xfrm>
        </p:spPr>
        <p:txBody>
          <a:bodyPr/>
          <a:lstStyle/>
          <a:p>
            <a:pPr>
              <a:defRPr/>
            </a:pPr>
            <a:r>
              <a:rPr lang="en-CA" sz="2800" dirty="0"/>
              <a:t> </a:t>
            </a:r>
            <a:r>
              <a:rPr lang="en-US" altLang="en-US" dirty="0">
                <a:latin typeface="+mn-lt"/>
              </a:rPr>
              <a:t>Code</a:t>
            </a:r>
          </a:p>
          <a:p>
            <a:pPr lvl="1">
              <a:defRPr/>
            </a:pPr>
            <a:r>
              <a:rPr lang="en-US" altLang="en-US" dirty="0">
                <a:latin typeface="+mn-lt"/>
              </a:rPr>
              <a:t>Code quality at all levels of details (e.g. variables, constants, statements, function, and module) impact code understanding.</a:t>
            </a:r>
          </a:p>
          <a:p>
            <a:pPr lvl="1">
              <a:defRPr/>
            </a:pPr>
            <a:r>
              <a:rPr lang="en-US" altLang="en-US" dirty="0">
                <a:latin typeface="+mn-lt"/>
              </a:rPr>
              <a:t>Adherence to coding standards improves code quality.</a:t>
            </a:r>
          </a:p>
          <a:p>
            <a:pPr lvl="1">
              <a:defRPr/>
            </a:pPr>
            <a:r>
              <a:rPr lang="en-US" altLang="en-US" dirty="0">
                <a:latin typeface="+mn-lt"/>
              </a:rPr>
              <a:t>Adoption of common architectural styles enhances code understanding.</a:t>
            </a:r>
          </a:p>
          <a:p>
            <a:pPr>
              <a:defRPr/>
            </a:pPr>
            <a:endParaRPr lang="en-US" altLang="en-US" dirty="0">
              <a:latin typeface="+mn-lt"/>
            </a:endParaRPr>
          </a:p>
          <a:p>
            <a:pPr>
              <a:defRPr/>
            </a:pPr>
            <a:r>
              <a:rPr lang="en-US" altLang="en-US" dirty="0">
                <a:latin typeface="+mn-lt"/>
              </a:rPr>
              <a:t>Documentation</a:t>
            </a:r>
          </a:p>
          <a:p>
            <a:pPr lvl="1">
              <a:defRPr/>
            </a:pPr>
            <a:r>
              <a:rPr lang="en-US" altLang="en-US" dirty="0">
                <a:latin typeface="+mn-lt"/>
              </a:rPr>
              <a:t>Internal documentation (also known as in-line </a:t>
            </a:r>
            <a:r>
              <a:rPr lang="en-US" altLang="en-US" dirty="0" err="1">
                <a:latin typeface="+mn-lt"/>
              </a:rPr>
              <a:t>codumentation</a:t>
            </a:r>
            <a:r>
              <a:rPr lang="en-US" altLang="en-US" dirty="0">
                <a:latin typeface="+mn-lt"/>
              </a:rPr>
              <a:t>)</a:t>
            </a:r>
          </a:p>
          <a:p>
            <a:pPr lvl="1">
              <a:defRPr/>
            </a:pPr>
            <a:r>
              <a:rPr lang="en-US" altLang="en-US" dirty="0">
                <a:latin typeface="+mn-lt"/>
              </a:rPr>
              <a:t>External documentation</a:t>
            </a:r>
          </a:p>
          <a:p>
            <a:pPr lvl="2">
              <a:defRPr/>
            </a:pPr>
            <a:r>
              <a:rPr lang="en-US" altLang="en-US" dirty="0">
                <a:latin typeface="+mn-lt"/>
              </a:rPr>
              <a:t>Requirements documents</a:t>
            </a:r>
          </a:p>
          <a:p>
            <a:pPr lvl="2">
              <a:defRPr/>
            </a:pPr>
            <a:r>
              <a:rPr lang="en-US" altLang="en-US" dirty="0">
                <a:latin typeface="+mn-lt"/>
              </a:rPr>
              <a:t>Design documents</a:t>
            </a:r>
          </a:p>
          <a:p>
            <a:pPr lvl="2">
              <a:defRPr/>
            </a:pPr>
            <a:r>
              <a:rPr lang="en-US" altLang="en-US" dirty="0">
                <a:latin typeface="+mn-lt"/>
              </a:rPr>
              <a:t>User manuals</a:t>
            </a:r>
          </a:p>
          <a:p>
            <a:pPr lvl="2">
              <a:defRPr/>
            </a:pPr>
            <a:r>
              <a:rPr lang="en-US" altLang="en-US" dirty="0">
                <a:latin typeface="+mn-lt"/>
              </a:rPr>
              <a:t>Test cases				 </a:t>
            </a:r>
          </a:p>
        </p:txBody>
      </p:sp>
    </p:spTree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19">
            <a:extLst>
              <a:ext uri="{FF2B5EF4-FFF2-40B4-BE49-F238E27FC236}">
                <a16:creationId xmlns:a16="http://schemas.microsoft.com/office/drawing/2014/main" id="{827E5ACD-D7A7-5FFC-7E90-FBD69E0C4B1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876EB0BC-EE3B-C247-96B5-434DBA0BDB4E}" type="slidenum">
              <a:rPr lang="en-US" altLang="en-US" sz="1000">
                <a:solidFill>
                  <a:srgbClr val="000000"/>
                </a:solidFill>
              </a:rPr>
              <a:pPr/>
              <a:t>48</a:t>
            </a:fld>
            <a:endParaRPr lang="en-US" altLang="en-US" sz="1000">
              <a:solidFill>
                <a:srgbClr val="000000"/>
              </a:solidFill>
            </a:endParaRPr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955FB8F6-9A5C-F36A-2C2D-238B79C1659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168275"/>
            <a:ext cx="9144000" cy="654050"/>
          </a:xfrm>
        </p:spPr>
        <p:txBody>
          <a:bodyPr/>
          <a:lstStyle/>
          <a:p>
            <a:pPr marL="342900" indent="-342900"/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Factors Influencing Software Structure</a:t>
            </a:r>
            <a:br>
              <a:rPr lang="en-US" altLang="en-US" sz="2800" dirty="0">
                <a:latin typeface="Times New Roman" panose="02020603050405020304" pitchFamily="18" charset="0"/>
              </a:rPr>
            </a:br>
            <a:endParaRPr lang="en-US" altLang="en-US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7571" name="Rectangle 3">
            <a:extLst>
              <a:ext uri="{FF2B5EF4-FFF2-40B4-BE49-F238E27FC236}">
                <a16:creationId xmlns:a16="http://schemas.microsoft.com/office/drawing/2014/main" id="{53A5C94C-0FA0-718F-D4A9-48E838D6D31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706438"/>
            <a:ext cx="8966200" cy="5829300"/>
          </a:xfrm>
        </p:spPr>
        <p:txBody>
          <a:bodyPr/>
          <a:lstStyle/>
          <a:p>
            <a:pPr>
              <a:defRPr/>
            </a:pPr>
            <a:r>
              <a:rPr lang="en-CA" sz="2800" dirty="0"/>
              <a:t> </a:t>
            </a:r>
            <a:r>
              <a:rPr lang="en-US" altLang="en-US" dirty="0">
                <a:latin typeface="+mn-lt"/>
              </a:rPr>
              <a:t>Tools – Programming environment</a:t>
            </a:r>
          </a:p>
          <a:p>
            <a:pPr lvl="1">
              <a:defRPr/>
            </a:pPr>
            <a:r>
              <a:rPr lang="en-US" altLang="en-US" dirty="0">
                <a:latin typeface="+mn-lt"/>
              </a:rPr>
              <a:t>Development tools help programmers better understand the code.</a:t>
            </a:r>
          </a:p>
          <a:p>
            <a:pPr lvl="2">
              <a:defRPr/>
            </a:pPr>
            <a:r>
              <a:rPr lang="en-US" altLang="en-US" dirty="0">
                <a:latin typeface="+mn-lt"/>
              </a:rPr>
              <a:t>Tracing of source code help in  understanding the dynamic behavior of the code.</a:t>
            </a:r>
          </a:p>
          <a:p>
            <a:pPr lvl="2">
              <a:defRPr/>
            </a:pPr>
            <a:r>
              <a:rPr lang="en-US" altLang="en-US" dirty="0">
                <a:latin typeface="+mn-lt"/>
              </a:rPr>
              <a:t>Animation of algorithms help in understanding the dynamic strategy adopted in algorithms. </a:t>
            </a:r>
          </a:p>
          <a:p>
            <a:pPr lvl="2">
              <a:defRPr/>
            </a:pPr>
            <a:r>
              <a:rPr lang="en-US" altLang="en-US" dirty="0">
                <a:latin typeface="+mn-lt"/>
              </a:rPr>
              <a:t>Cross referencing of global variables reveal interactions among modules.</a:t>
            </a:r>
          </a:p>
          <a:p>
            <a:pPr lvl="2">
              <a:defRPr/>
            </a:pPr>
            <a:r>
              <a:rPr lang="en-US" altLang="en-US" dirty="0">
                <a:latin typeface="+mn-lt"/>
              </a:rPr>
              <a:t>Tools can reformat code for better readability via pretty printing, highlighting of key words, and color coding of source code.</a:t>
            </a:r>
          </a:p>
          <a:p>
            <a:pPr>
              <a:defRPr/>
            </a:pPr>
            <a:r>
              <a:rPr lang="en-US" altLang="en-US" dirty="0">
                <a:latin typeface="+mn-lt"/>
              </a:rPr>
              <a:t>Programmers</a:t>
            </a:r>
          </a:p>
          <a:p>
            <a:pPr lvl="1">
              <a:defRPr/>
            </a:pPr>
            <a:r>
              <a:rPr lang="en-US" altLang="en-US" dirty="0">
                <a:latin typeface="+mn-lt"/>
              </a:rPr>
              <a:t>Qualities of programmers influence their perception of structure.</a:t>
            </a:r>
          </a:p>
          <a:p>
            <a:pPr lvl="1">
              <a:defRPr/>
            </a:pPr>
            <a:r>
              <a:rPr lang="en-US" altLang="en-US" dirty="0">
                <a:latin typeface="+mn-lt"/>
              </a:rPr>
              <a:t>Examples of programmer qualities</a:t>
            </a:r>
          </a:p>
          <a:p>
            <a:pPr lvl="2">
              <a:defRPr/>
            </a:pPr>
            <a:r>
              <a:rPr lang="en-US" altLang="en-US" dirty="0">
                <a:latin typeface="+mn-lt"/>
              </a:rPr>
              <a:t>Individual capabilities</a:t>
            </a:r>
          </a:p>
          <a:p>
            <a:pPr lvl="2">
              <a:defRPr/>
            </a:pPr>
            <a:r>
              <a:rPr lang="en-US" altLang="en-US" dirty="0">
                <a:latin typeface="+mn-lt"/>
              </a:rPr>
              <a:t>Education</a:t>
            </a:r>
          </a:p>
          <a:p>
            <a:pPr lvl="2">
              <a:defRPr/>
            </a:pPr>
            <a:r>
              <a:rPr lang="en-US" altLang="en-US" dirty="0">
                <a:latin typeface="+mn-lt"/>
              </a:rPr>
              <a:t>Experience and training</a:t>
            </a:r>
          </a:p>
          <a:p>
            <a:pPr lvl="2">
              <a:defRPr/>
            </a:pPr>
            <a:r>
              <a:rPr lang="en-US" altLang="en-US" dirty="0">
                <a:latin typeface="+mn-lt"/>
              </a:rPr>
              <a:t>Aptitude 			 </a:t>
            </a:r>
          </a:p>
        </p:txBody>
      </p:sp>
    </p:spTree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19">
            <a:extLst>
              <a:ext uri="{FF2B5EF4-FFF2-40B4-BE49-F238E27FC236}">
                <a16:creationId xmlns:a16="http://schemas.microsoft.com/office/drawing/2014/main" id="{E6444B69-DBEF-B6B8-1ED9-4483E2907F5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B06FB53A-42E7-A141-805E-83674087A76B}" type="slidenum">
              <a:rPr lang="en-US" altLang="en-US" sz="1000">
                <a:solidFill>
                  <a:srgbClr val="000000"/>
                </a:solidFill>
              </a:rPr>
              <a:pPr/>
              <a:t>49</a:t>
            </a:fld>
            <a:endParaRPr lang="en-US" altLang="en-US" sz="1000">
              <a:solidFill>
                <a:srgbClr val="000000"/>
              </a:solidFill>
            </a:endParaRPr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30095ECA-7124-E81C-A14F-C688B2DE2FB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168275"/>
            <a:ext cx="9144000" cy="654050"/>
          </a:xfrm>
        </p:spPr>
        <p:txBody>
          <a:bodyPr/>
          <a:lstStyle/>
          <a:p>
            <a:pPr marL="342900" indent="-342900"/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Factors Influencing Software Structure</a:t>
            </a:r>
            <a:br>
              <a:rPr lang="en-US" altLang="en-US" sz="2800" dirty="0">
                <a:latin typeface="Times New Roman" panose="02020603050405020304" pitchFamily="18" charset="0"/>
              </a:rPr>
            </a:br>
            <a:endParaRPr lang="en-US" altLang="en-US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7571" name="Rectangle 3">
            <a:extLst>
              <a:ext uri="{FF2B5EF4-FFF2-40B4-BE49-F238E27FC236}">
                <a16:creationId xmlns:a16="http://schemas.microsoft.com/office/drawing/2014/main" id="{99D59075-42EA-04A6-0E9C-9608BB14C63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706438"/>
            <a:ext cx="8966200" cy="58293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latin typeface="+mn-lt"/>
              </a:rPr>
              <a:t>Managers and policies</a:t>
            </a:r>
          </a:p>
          <a:p>
            <a:pPr lvl="1">
              <a:defRPr/>
            </a:pPr>
            <a:r>
              <a:rPr lang="en-US" altLang="en-US" dirty="0">
                <a:latin typeface="+mn-lt"/>
              </a:rPr>
              <a:t>Management can play an influencing role in having a good initial structure and sustain it by designing policies and allocating resources.</a:t>
            </a:r>
          </a:p>
          <a:p>
            <a:pPr lvl="1">
              <a:defRPr/>
            </a:pPr>
            <a:r>
              <a:rPr lang="en-US" altLang="en-US" dirty="0">
                <a:latin typeface="+mn-lt"/>
              </a:rPr>
              <a:t>Examples</a:t>
            </a:r>
          </a:p>
          <a:p>
            <a:pPr lvl="2">
              <a:defRPr/>
            </a:pPr>
            <a:r>
              <a:rPr lang="en-US" altLang="en-US" dirty="0">
                <a:latin typeface="+mn-lt"/>
              </a:rPr>
              <a:t>Management can design general policies  to adhere to standards.</a:t>
            </a:r>
          </a:p>
          <a:p>
            <a:pPr lvl="2">
              <a:defRPr/>
            </a:pPr>
            <a:r>
              <a:rPr lang="en-US" altLang="en-US" dirty="0">
                <a:latin typeface="+mn-lt"/>
              </a:rPr>
              <a:t>Management can tie the annual performance review with the programmer’s adherence to standards. </a:t>
            </a:r>
          </a:p>
          <a:p>
            <a:pPr marL="914400" lvl="2" indent="0">
              <a:buFontTx/>
              <a:buNone/>
              <a:defRPr/>
            </a:pPr>
            <a:endParaRPr lang="en-US" altLang="en-US" dirty="0">
              <a:latin typeface="+mn-lt"/>
            </a:endParaRPr>
          </a:p>
          <a:p>
            <a:pPr>
              <a:defRPr/>
            </a:pPr>
            <a:r>
              <a:rPr lang="en-US" altLang="en-US" dirty="0">
                <a:latin typeface="+mn-lt"/>
              </a:rPr>
              <a:t>Environment</a:t>
            </a:r>
          </a:p>
          <a:p>
            <a:pPr lvl="1">
              <a:defRPr/>
            </a:pPr>
            <a:r>
              <a:rPr lang="en-US" altLang="en-US" dirty="0">
                <a:latin typeface="+mn-lt"/>
              </a:rPr>
              <a:t>This refers to the general working environment of programmers.</a:t>
            </a:r>
          </a:p>
          <a:p>
            <a:pPr lvl="1">
              <a:defRPr/>
            </a:pPr>
            <a:r>
              <a:rPr lang="en-US" altLang="en-US" dirty="0">
                <a:latin typeface="+mn-lt"/>
              </a:rPr>
              <a:t>Example: Physical facilities and availability of resources when needed		 </a:t>
            </a:r>
          </a:p>
        </p:txBody>
      </p:sp>
    </p:spTree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9">
            <a:extLst>
              <a:ext uri="{FF2B5EF4-FFF2-40B4-BE49-F238E27FC236}">
                <a16:creationId xmlns:a16="http://schemas.microsoft.com/office/drawing/2014/main" id="{1FDFB87F-A988-7345-B476-A79E3394E16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2E0BBD72-0E9E-C74E-8BBC-D480FCD8AA9D}" type="slidenum">
              <a:rPr lang="en-US" altLang="en-US" sz="1000">
                <a:solidFill>
                  <a:srgbClr val="000000"/>
                </a:solidFill>
              </a:rPr>
              <a:pPr/>
              <a:t>50</a:t>
            </a:fld>
            <a:endParaRPr lang="en-US" altLang="en-US" sz="1000">
              <a:solidFill>
                <a:srgbClr val="000000"/>
              </a:solidFill>
            </a:endParaRPr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5ED0C8E7-0615-85AA-3FD4-2AA29A53AF5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168275"/>
            <a:ext cx="9144000" cy="654050"/>
          </a:xfrm>
        </p:spPr>
        <p:txBody>
          <a:bodyPr/>
          <a:lstStyle/>
          <a:p>
            <a:pPr marL="342900" indent="-342900"/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Classification of Restructuring Approaches</a:t>
            </a:r>
            <a:br>
              <a:rPr lang="en-US" altLang="en-US" sz="2800" dirty="0">
                <a:latin typeface="Times New Roman" panose="02020603050405020304" pitchFamily="18" charset="0"/>
              </a:rPr>
            </a:br>
            <a:endParaRPr lang="en-US" altLang="en-US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7571" name="Rectangle 3">
            <a:extLst>
              <a:ext uri="{FF2B5EF4-FFF2-40B4-BE49-F238E27FC236}">
                <a16:creationId xmlns:a16="http://schemas.microsoft.com/office/drawing/2014/main" id="{8B0A27C5-27A2-80B8-7FAD-7E31E65C76B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706438"/>
            <a:ext cx="8966200" cy="5770562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Approaches not involving code changes</a:t>
            </a:r>
          </a:p>
          <a:p>
            <a:pPr marL="0" indent="0">
              <a:buFontTx/>
              <a:buNone/>
              <a:defRPr/>
            </a:pPr>
            <a:endParaRPr lang="en-US" sz="2800" dirty="0"/>
          </a:p>
          <a:p>
            <a:pPr lvl="1">
              <a:defRPr/>
            </a:pPr>
            <a:r>
              <a:rPr lang="en-US" dirty="0"/>
              <a:t>Upgrade documentation</a:t>
            </a:r>
          </a:p>
          <a:p>
            <a:pPr lvl="2">
              <a:defRPr/>
            </a:pPr>
            <a:r>
              <a:rPr lang="en-US" dirty="0"/>
              <a:t>Make in-line comments more accurate and readable.</a:t>
            </a:r>
          </a:p>
          <a:p>
            <a:pPr lvl="2">
              <a:defRPr/>
            </a:pPr>
            <a:r>
              <a:rPr lang="en-US" dirty="0"/>
              <a:t>Update comments to reflect code changes.</a:t>
            </a:r>
          </a:p>
          <a:p>
            <a:pPr lvl="2">
              <a:defRPr/>
            </a:pPr>
            <a:r>
              <a:rPr lang="en-US" dirty="0"/>
              <a:t>Update external documentations to make them consistent with code, accurate, and complete.</a:t>
            </a:r>
          </a:p>
          <a:p>
            <a:pPr marL="0" indent="0">
              <a:buFontTx/>
              <a:buNone/>
              <a:defRPr/>
            </a:pPr>
            <a:endParaRPr lang="en-US" altLang="en-US" sz="2000" dirty="0">
              <a:latin typeface="+mn-lt"/>
            </a:endParaRPr>
          </a:p>
        </p:txBody>
      </p:sp>
    </p:spTree>
  </p:cSld>
  <p:clrMapOvr>
    <a:masterClrMapping/>
  </p:clrMapOvr>
  <p:transition spd="med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19">
            <a:extLst>
              <a:ext uri="{FF2B5EF4-FFF2-40B4-BE49-F238E27FC236}">
                <a16:creationId xmlns:a16="http://schemas.microsoft.com/office/drawing/2014/main" id="{8242CF0B-A82B-6A4D-F57A-1258AA8D6FB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5476B530-D38A-6C46-A5D3-C49EED0A63F3}" type="slidenum">
              <a:rPr lang="en-US" altLang="en-US" sz="1000">
                <a:solidFill>
                  <a:srgbClr val="000000"/>
                </a:solidFill>
              </a:rPr>
              <a:pPr/>
              <a:t>51</a:t>
            </a:fld>
            <a:endParaRPr lang="en-US" altLang="en-US" sz="1000">
              <a:solidFill>
                <a:srgbClr val="000000"/>
              </a:solidFill>
            </a:endParaRPr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824C452E-80EE-C6B1-E454-E7D3D2EB656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168275"/>
            <a:ext cx="9144000" cy="654050"/>
          </a:xfrm>
        </p:spPr>
        <p:txBody>
          <a:bodyPr/>
          <a:lstStyle/>
          <a:p>
            <a:pPr marL="342900" indent="-342900"/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Classification of Restructuring Approaches</a:t>
            </a:r>
            <a:br>
              <a:rPr lang="en-US" altLang="en-US" sz="2800" dirty="0">
                <a:latin typeface="Times New Roman" panose="02020603050405020304" pitchFamily="18" charset="0"/>
              </a:rPr>
            </a:br>
            <a:endParaRPr lang="en-US" altLang="en-US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7571" name="Rectangle 3">
            <a:extLst>
              <a:ext uri="{FF2B5EF4-FFF2-40B4-BE49-F238E27FC236}">
                <a16:creationId xmlns:a16="http://schemas.microsoft.com/office/drawing/2014/main" id="{5A282E96-691A-8C21-8B79-3E27C4912C6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706438"/>
            <a:ext cx="8966200" cy="5770562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Approaches involving code changes</a:t>
            </a:r>
          </a:p>
          <a:p>
            <a:pPr lvl="1">
              <a:defRPr/>
            </a:pPr>
            <a:r>
              <a:rPr lang="en-US" dirty="0"/>
              <a:t>Practices: Some examples of restructuring practices are:</a:t>
            </a:r>
          </a:p>
          <a:p>
            <a:pPr lvl="2">
              <a:defRPr/>
            </a:pPr>
            <a:r>
              <a:rPr lang="en-US" altLang="en-US" dirty="0">
                <a:latin typeface="+mn-lt"/>
              </a:rPr>
              <a:t>Restructuring code with preprocessors.</a:t>
            </a:r>
          </a:p>
          <a:p>
            <a:pPr lvl="2">
              <a:defRPr/>
            </a:pPr>
            <a:r>
              <a:rPr lang="en-US" altLang="en-US" dirty="0">
                <a:latin typeface="+mn-lt"/>
              </a:rPr>
              <a:t>Making code understandable by means of inspection.</a:t>
            </a:r>
          </a:p>
          <a:p>
            <a:pPr lvl="2">
              <a:defRPr/>
            </a:pPr>
            <a:r>
              <a:rPr lang="en-US" altLang="en-US" dirty="0">
                <a:latin typeface="+mn-lt"/>
              </a:rPr>
              <a:t>Formatting code by adhering to standards and style guidelines.</a:t>
            </a:r>
          </a:p>
          <a:p>
            <a:pPr lvl="2">
              <a:defRPr/>
            </a:pPr>
            <a:r>
              <a:rPr lang="en-US" altLang="en-US" dirty="0">
                <a:latin typeface="+mn-lt"/>
              </a:rPr>
              <a:t>Restructuring code for reusability.</a:t>
            </a:r>
          </a:p>
          <a:p>
            <a:pPr lvl="1">
              <a:defRPr/>
            </a:pPr>
            <a:r>
              <a:rPr lang="en-US" altLang="en-US" dirty="0">
                <a:latin typeface="+mn-lt"/>
              </a:rPr>
              <a:t>Techniques: Some approaches are based on defined techniques.</a:t>
            </a:r>
          </a:p>
          <a:p>
            <a:pPr lvl="2">
              <a:defRPr/>
            </a:pPr>
            <a:r>
              <a:rPr lang="en-US" altLang="en-US" dirty="0">
                <a:latin typeface="+mn-lt"/>
              </a:rPr>
              <a:t>Incremental restructuring</a:t>
            </a:r>
          </a:p>
          <a:p>
            <a:pPr lvl="2">
              <a:defRPr/>
            </a:pPr>
            <a:r>
              <a:rPr lang="en-US" altLang="en-US" dirty="0" err="1">
                <a:latin typeface="+mn-lt"/>
              </a:rPr>
              <a:t>Goto</a:t>
            </a:r>
            <a:r>
              <a:rPr lang="en-US" altLang="en-US" dirty="0">
                <a:latin typeface="+mn-lt"/>
              </a:rPr>
              <a:t>-less approach</a:t>
            </a:r>
          </a:p>
          <a:p>
            <a:pPr lvl="2">
              <a:defRPr/>
            </a:pPr>
            <a:r>
              <a:rPr lang="en-US" altLang="en-US" dirty="0">
                <a:latin typeface="+mn-lt"/>
              </a:rPr>
              <a:t>Case-statement approach</a:t>
            </a:r>
          </a:p>
          <a:p>
            <a:pPr lvl="2">
              <a:defRPr/>
            </a:pPr>
            <a:r>
              <a:rPr lang="en-US" altLang="en-US" dirty="0">
                <a:latin typeface="+mn-lt"/>
              </a:rPr>
              <a:t>Boolean flag approach</a:t>
            </a:r>
          </a:p>
          <a:p>
            <a:pPr lvl="2">
              <a:defRPr/>
            </a:pPr>
            <a:r>
              <a:rPr lang="en-US" altLang="en-US" dirty="0">
                <a:latin typeface="+mn-lt"/>
              </a:rPr>
              <a:t>Clustering approach</a:t>
            </a:r>
          </a:p>
          <a:p>
            <a:pPr lvl="1">
              <a:defRPr/>
            </a:pPr>
            <a:r>
              <a:rPr lang="en-US" altLang="en-US" dirty="0">
                <a:latin typeface="+mn-lt"/>
              </a:rPr>
              <a:t>Tools</a:t>
            </a:r>
          </a:p>
          <a:p>
            <a:pPr lvl="2">
              <a:defRPr/>
            </a:pPr>
            <a:r>
              <a:rPr lang="en-US" altLang="en-US" i="1" dirty="0">
                <a:latin typeface="+mn-lt"/>
              </a:rPr>
              <a:t>Eclipse ID</a:t>
            </a:r>
            <a:r>
              <a:rPr lang="en-US" altLang="en-US" dirty="0">
                <a:latin typeface="+mn-lt"/>
              </a:rPr>
              <a:t>E, </a:t>
            </a:r>
            <a:r>
              <a:rPr lang="en-US" altLang="en-US" i="1" dirty="0" err="1">
                <a:latin typeface="+mn-lt"/>
              </a:rPr>
              <a:t>IntelliJ</a:t>
            </a:r>
            <a:r>
              <a:rPr lang="en-US" altLang="en-US" i="1" dirty="0">
                <a:latin typeface="+mn-lt"/>
              </a:rPr>
              <a:t> IDEA</a:t>
            </a:r>
            <a:r>
              <a:rPr lang="en-US" altLang="en-US" dirty="0">
                <a:latin typeface="+mn-lt"/>
              </a:rPr>
              <a:t>, </a:t>
            </a:r>
            <a:r>
              <a:rPr lang="en-US" altLang="en-US" i="1" dirty="0" err="1">
                <a:latin typeface="+mn-lt"/>
              </a:rPr>
              <a:t>jFactor</a:t>
            </a:r>
            <a:r>
              <a:rPr lang="en-US" altLang="en-US" dirty="0">
                <a:latin typeface="+mn-lt"/>
              </a:rPr>
              <a:t>, </a:t>
            </a:r>
            <a:r>
              <a:rPr lang="en-US" altLang="en-US" i="1" dirty="0" err="1">
                <a:latin typeface="+mn-lt"/>
              </a:rPr>
              <a:t>Refactorit</a:t>
            </a:r>
            <a:r>
              <a:rPr lang="en-US" altLang="en-US" dirty="0">
                <a:latin typeface="+mn-lt"/>
              </a:rPr>
              <a:t>, and </a:t>
            </a:r>
            <a:r>
              <a:rPr lang="en-US" altLang="en-US" i="1" dirty="0">
                <a:latin typeface="+mn-lt"/>
              </a:rPr>
              <a:t>Clone Doctor</a:t>
            </a:r>
          </a:p>
        </p:txBody>
      </p:sp>
    </p:spTree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19">
            <a:extLst>
              <a:ext uri="{FF2B5EF4-FFF2-40B4-BE49-F238E27FC236}">
                <a16:creationId xmlns:a16="http://schemas.microsoft.com/office/drawing/2014/main" id="{8DC304F1-31A3-15F2-58BE-7E50E5FCE44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6E888280-A46F-D146-95C1-F9633A8494E2}" type="slidenum">
              <a:rPr lang="en-US" altLang="en-US" sz="1000">
                <a:solidFill>
                  <a:srgbClr val="000000"/>
                </a:solidFill>
              </a:rPr>
              <a:pPr/>
              <a:t>52</a:t>
            </a:fld>
            <a:endParaRPr lang="en-US" altLang="en-US" sz="1000">
              <a:solidFill>
                <a:srgbClr val="000000"/>
              </a:solidFill>
            </a:endParaRPr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E4C60EE9-1493-E4F9-9747-BCD8633541E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6363"/>
            <a:ext cx="9144000" cy="671512"/>
          </a:xfrm>
        </p:spPr>
        <p:txBody>
          <a:bodyPr/>
          <a:lstStyle/>
          <a:p>
            <a:pPr marL="342900" indent="-342900"/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Restructuring Techniques</a:t>
            </a:r>
            <a:br>
              <a:rPr lang="en-US" altLang="en-US" sz="2800" dirty="0">
                <a:latin typeface="Times New Roman" panose="02020603050405020304" pitchFamily="18" charset="0"/>
              </a:rPr>
            </a:br>
            <a:endParaRPr lang="en-US" altLang="en-US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7571" name="Rectangle 3">
            <a:extLst>
              <a:ext uri="{FF2B5EF4-FFF2-40B4-BE49-F238E27FC236}">
                <a16:creationId xmlns:a16="http://schemas.microsoft.com/office/drawing/2014/main" id="{004554CD-BAA7-3167-919E-63843CE8BB3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706438"/>
            <a:ext cx="8966200" cy="5770562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  <a:defRPr/>
            </a:pPr>
            <a:r>
              <a:rPr lang="en-US" altLang="en-US" dirty="0">
                <a:latin typeface="+mn-lt"/>
              </a:rPr>
              <a:t>Localization and Information-Hiding Approach</a:t>
            </a:r>
          </a:p>
          <a:p>
            <a:pPr lvl="1">
              <a:defRPr/>
            </a:pPr>
            <a:r>
              <a:rPr lang="en-US" altLang="en-US" dirty="0">
                <a:latin typeface="+mn-lt"/>
              </a:rPr>
              <a:t> Localization</a:t>
            </a:r>
          </a:p>
          <a:p>
            <a:pPr lvl="2">
              <a:defRPr/>
            </a:pPr>
            <a:r>
              <a:rPr lang="en-US" altLang="en-US" dirty="0">
                <a:latin typeface="+mn-lt"/>
              </a:rPr>
              <a:t>It is a process of collecting the logically related computational resources in one physical module.</a:t>
            </a:r>
          </a:p>
          <a:p>
            <a:pPr lvl="3">
              <a:defRPr/>
            </a:pPr>
            <a:r>
              <a:rPr lang="en-US" altLang="en-US" dirty="0">
                <a:latin typeface="+mn-lt"/>
              </a:rPr>
              <a:t>Functions, procedures, operations, and data types are computational resources.</a:t>
            </a:r>
          </a:p>
          <a:p>
            <a:pPr lvl="2">
              <a:defRPr/>
            </a:pPr>
            <a:r>
              <a:rPr lang="en-US" altLang="en-US" dirty="0">
                <a:latin typeface="+mn-lt"/>
              </a:rPr>
              <a:t>By localizing computational resources into separate modules, programmers can restructure a program into a loosely coupled system of sufficiently independent modules.</a:t>
            </a:r>
          </a:p>
          <a:p>
            <a:pPr lvl="2">
              <a:defRPr/>
            </a:pPr>
            <a:r>
              <a:rPr lang="en-US" altLang="en-US" dirty="0">
                <a:latin typeface="+mn-lt"/>
              </a:rPr>
              <a:t>Sometimes, localization is difficult to achieve.</a:t>
            </a:r>
          </a:p>
          <a:p>
            <a:pPr lvl="3">
              <a:defRPr/>
            </a:pPr>
            <a:r>
              <a:rPr lang="en-US" altLang="en-US" dirty="0">
                <a:latin typeface="+mn-lt"/>
              </a:rPr>
              <a:t>A variable may be imported into a module by means of the </a:t>
            </a:r>
            <a:r>
              <a:rPr lang="en-US" altLang="en-US" i="1" dirty="0">
                <a:latin typeface="+mn-lt"/>
              </a:rPr>
              <a:t>include</a:t>
            </a:r>
            <a:r>
              <a:rPr lang="en-US" altLang="en-US" dirty="0">
                <a:latin typeface="+mn-lt"/>
              </a:rPr>
              <a:t> statement. </a:t>
            </a:r>
          </a:p>
          <a:p>
            <a:pPr lvl="3">
              <a:defRPr/>
            </a:pPr>
            <a:r>
              <a:rPr lang="en-US" altLang="en-US" dirty="0">
                <a:latin typeface="+mn-lt"/>
              </a:rPr>
              <a:t>Data sharing among functions is not explicitly represented in source code.</a:t>
            </a:r>
          </a:p>
        </p:txBody>
      </p:sp>
    </p:spTree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19">
            <a:extLst>
              <a:ext uri="{FF2B5EF4-FFF2-40B4-BE49-F238E27FC236}">
                <a16:creationId xmlns:a16="http://schemas.microsoft.com/office/drawing/2014/main" id="{7E7A5F0B-471E-E706-F82D-D3A60805714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81A3A18D-5179-BD4C-A790-AD2E17A37840}" type="slidenum">
              <a:rPr lang="en-US" altLang="en-US" sz="1000">
                <a:solidFill>
                  <a:srgbClr val="000000"/>
                </a:solidFill>
              </a:rPr>
              <a:pPr/>
              <a:t>53</a:t>
            </a:fld>
            <a:endParaRPr lang="en-US" altLang="en-US" sz="1000">
              <a:solidFill>
                <a:srgbClr val="000000"/>
              </a:solidFill>
            </a:endParaRPr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F22C5735-E743-EF07-8708-895E3B594F7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6363"/>
            <a:ext cx="9144000" cy="671512"/>
          </a:xfrm>
        </p:spPr>
        <p:txBody>
          <a:bodyPr/>
          <a:lstStyle/>
          <a:p>
            <a:pPr marL="342900" indent="-342900"/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Restructuring Techniques</a:t>
            </a:r>
            <a:br>
              <a:rPr lang="en-US" altLang="en-US" sz="2800" dirty="0">
                <a:latin typeface="Times New Roman" panose="02020603050405020304" pitchFamily="18" charset="0"/>
              </a:rPr>
            </a:br>
            <a:endParaRPr lang="en-US" altLang="en-US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7571" name="Rectangle 3">
            <a:extLst>
              <a:ext uri="{FF2B5EF4-FFF2-40B4-BE49-F238E27FC236}">
                <a16:creationId xmlns:a16="http://schemas.microsoft.com/office/drawing/2014/main" id="{E7EB490B-6A3A-5B93-B6BA-2D3A747CA75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706438"/>
            <a:ext cx="8966200" cy="5770562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  <a:defRPr/>
            </a:pPr>
            <a:r>
              <a:rPr lang="en-US" altLang="en-US" dirty="0">
                <a:latin typeface="+mn-lt"/>
              </a:rPr>
              <a:t>Localization and Information Hiding Approach</a:t>
            </a:r>
          </a:p>
          <a:p>
            <a:pPr lvl="1">
              <a:defRPr/>
            </a:pPr>
            <a:r>
              <a:rPr lang="en-US" altLang="en-US" dirty="0">
                <a:latin typeface="+mn-lt"/>
              </a:rPr>
              <a:t> Information Hiding</a:t>
            </a:r>
          </a:p>
          <a:p>
            <a:pPr lvl="2">
              <a:defRPr/>
            </a:pPr>
            <a:r>
              <a:rPr lang="en-US" altLang="en-US" dirty="0">
                <a:latin typeface="+mn-lt"/>
              </a:rPr>
              <a:t>The details of implementations of computational resources  can be hidden to make it easier to understand the program.</a:t>
            </a:r>
          </a:p>
          <a:p>
            <a:pPr lvl="2">
              <a:defRPr/>
            </a:pPr>
            <a:r>
              <a:rPr lang="en-US" altLang="en-US" dirty="0">
                <a:latin typeface="+mn-lt"/>
              </a:rPr>
              <a:t>For example, a queue is a high level concept which can be implemented by means of a variety of low level data structures.</a:t>
            </a:r>
          </a:p>
          <a:p>
            <a:pPr lvl="3">
              <a:defRPr/>
            </a:pPr>
            <a:r>
              <a:rPr lang="en-US" altLang="en-US" dirty="0">
                <a:latin typeface="+mn-lt"/>
              </a:rPr>
              <a:t>Singly linked list</a:t>
            </a:r>
          </a:p>
          <a:p>
            <a:pPr lvl="3">
              <a:defRPr/>
            </a:pPr>
            <a:r>
              <a:rPr lang="en-US" altLang="en-US" dirty="0">
                <a:latin typeface="+mn-lt"/>
              </a:rPr>
              <a:t>Doubly linked list</a:t>
            </a:r>
          </a:p>
          <a:p>
            <a:pPr lvl="3">
              <a:defRPr/>
            </a:pPr>
            <a:r>
              <a:rPr lang="en-US" altLang="en-US" dirty="0">
                <a:latin typeface="+mn-lt"/>
              </a:rPr>
              <a:t>Arrays</a:t>
            </a:r>
          </a:p>
          <a:p>
            <a:pPr lvl="2">
              <a:defRPr/>
            </a:pPr>
            <a:r>
              <a:rPr lang="en-US" altLang="en-US" dirty="0">
                <a:latin typeface="+mn-lt"/>
              </a:rPr>
              <a:t>A programmer can design a function by using </a:t>
            </a:r>
            <a:r>
              <a:rPr lang="en-US" altLang="en-US" i="1" dirty="0" err="1">
                <a:solidFill>
                  <a:srgbClr val="00B050"/>
                </a:solidFill>
                <a:latin typeface="+mn-lt"/>
              </a:rPr>
              <a:t>enqueue</a:t>
            </a:r>
            <a:r>
              <a:rPr lang="en-US" altLang="en-US" dirty="0">
                <a:latin typeface="+mn-lt"/>
              </a:rPr>
              <a:t> and </a:t>
            </a:r>
            <a:r>
              <a:rPr lang="en-US" altLang="en-US" i="1" dirty="0" err="1">
                <a:solidFill>
                  <a:srgbClr val="00B050"/>
                </a:solidFill>
                <a:latin typeface="+mn-lt"/>
              </a:rPr>
              <a:t>dequeue</a:t>
            </a:r>
            <a:r>
              <a:rPr lang="en-US" altLang="en-US" dirty="0">
                <a:latin typeface="+mn-lt"/>
              </a:rPr>
              <a:t> calls without any concern for their actual implementations.</a:t>
            </a:r>
          </a:p>
          <a:p>
            <a:pPr marL="457200" lvl="1" indent="0">
              <a:buFontTx/>
              <a:buNone/>
              <a:defRPr/>
            </a:pPr>
            <a:endParaRPr lang="en-US" altLang="en-US" dirty="0">
              <a:latin typeface="+mn-lt"/>
            </a:endParaRPr>
          </a:p>
        </p:txBody>
      </p:sp>
    </p:spTree>
  </p:cSld>
  <p:clrMapOvr>
    <a:masterClrMapping/>
  </p:clrMapOvr>
  <p:transition spd="med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19">
            <a:extLst>
              <a:ext uri="{FF2B5EF4-FFF2-40B4-BE49-F238E27FC236}">
                <a16:creationId xmlns:a16="http://schemas.microsoft.com/office/drawing/2014/main" id="{30C95EBB-D71D-2F2F-2715-6F454FF0E06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8708452A-713C-E640-9F2B-D8D4291CAFA7}" type="slidenum">
              <a:rPr lang="en-US" altLang="en-US" sz="1000">
                <a:solidFill>
                  <a:srgbClr val="000000"/>
                </a:solidFill>
              </a:rPr>
              <a:pPr/>
              <a:t>54</a:t>
            </a:fld>
            <a:endParaRPr lang="en-US" altLang="en-US" sz="1000">
              <a:solidFill>
                <a:srgbClr val="000000"/>
              </a:solidFill>
            </a:endParaRPr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6C239765-4DB4-C6C4-1F88-158BF3BA414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6363"/>
            <a:ext cx="9144000" cy="671512"/>
          </a:xfrm>
        </p:spPr>
        <p:txBody>
          <a:bodyPr/>
          <a:lstStyle/>
          <a:p>
            <a:pPr marL="342900" indent="-342900"/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Restructuring Techniques</a:t>
            </a:r>
            <a:br>
              <a:rPr lang="en-US" altLang="en-US" sz="2800" dirty="0">
                <a:latin typeface="Times New Roman" panose="02020603050405020304" pitchFamily="18" charset="0"/>
              </a:rPr>
            </a:br>
            <a:endParaRPr lang="en-US" altLang="en-US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7571" name="Rectangle 3">
            <a:extLst>
              <a:ext uri="{FF2B5EF4-FFF2-40B4-BE49-F238E27FC236}">
                <a16:creationId xmlns:a16="http://schemas.microsoft.com/office/drawing/2014/main" id="{C2F87C3F-7802-C8F9-229D-EEFC2D9C43D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706438"/>
            <a:ext cx="8966200" cy="5770562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  <a:defRPr/>
            </a:pPr>
            <a:r>
              <a:rPr lang="en-US" altLang="en-US" dirty="0">
                <a:latin typeface="+mn-lt"/>
              </a:rPr>
              <a:t>Localization and Information Hiding Approach</a:t>
            </a:r>
          </a:p>
          <a:p>
            <a:pPr lvl="1">
              <a:defRPr/>
            </a:pPr>
            <a:r>
              <a:rPr lang="en-US" altLang="en-US" dirty="0">
                <a:latin typeface="+mn-lt"/>
              </a:rPr>
              <a:t>A restructuring process based on  localization of variables and functions</a:t>
            </a:r>
          </a:p>
          <a:p>
            <a:pPr lvl="2">
              <a:defRPr/>
            </a:pPr>
            <a:r>
              <a:rPr lang="en-US" altLang="en-US" dirty="0">
                <a:latin typeface="+mn-lt"/>
              </a:rPr>
              <a:t>Localization of variables</a:t>
            </a:r>
          </a:p>
          <a:p>
            <a:pPr lvl="3">
              <a:defRPr/>
            </a:pPr>
            <a:r>
              <a:rPr lang="en-US" altLang="en-US" dirty="0">
                <a:latin typeface="+mn-lt"/>
              </a:rPr>
              <a:t>Organize global variables and functions which refer to those global variables into package-like groups.</a:t>
            </a:r>
          </a:p>
          <a:p>
            <a:pPr lvl="3">
              <a:defRPr/>
            </a:pPr>
            <a:r>
              <a:rPr lang="en-US" altLang="en-US" dirty="0">
                <a:latin typeface="+mn-lt"/>
              </a:rPr>
              <a:t>This organization can be achieved by applying the concept of </a:t>
            </a:r>
            <a:r>
              <a:rPr lang="en-US" altLang="en-US" dirty="0">
                <a:solidFill>
                  <a:srgbClr val="FF00FF"/>
                </a:solidFill>
                <a:latin typeface="+mn-lt"/>
              </a:rPr>
              <a:t>closure</a:t>
            </a:r>
            <a:r>
              <a:rPr lang="en-US" altLang="en-US" dirty="0">
                <a:latin typeface="+mn-lt"/>
              </a:rPr>
              <a:t> of functions to a set of global variables.</a:t>
            </a:r>
          </a:p>
          <a:p>
            <a:pPr lvl="3">
              <a:defRPr/>
            </a:pPr>
            <a:r>
              <a:rPr lang="en-US" altLang="en-US" dirty="0">
                <a:latin typeface="+mn-lt"/>
              </a:rPr>
              <a:t>This leads to groups of functions and global variables referred to by those functions.</a:t>
            </a:r>
          </a:p>
          <a:p>
            <a:pPr lvl="2">
              <a:defRPr/>
            </a:pPr>
            <a:r>
              <a:rPr lang="en-US" altLang="en-US" dirty="0">
                <a:latin typeface="+mn-lt"/>
              </a:rPr>
              <a:t>Localization of functions</a:t>
            </a:r>
          </a:p>
          <a:p>
            <a:pPr lvl="3">
              <a:defRPr/>
            </a:pPr>
            <a:r>
              <a:rPr lang="en-US" altLang="en-US" dirty="0">
                <a:latin typeface="+mn-lt"/>
              </a:rPr>
              <a:t>Put locally called functions and the calling function in the same group.</a:t>
            </a:r>
          </a:p>
          <a:p>
            <a:pPr lvl="2">
              <a:defRPr/>
            </a:pPr>
            <a:r>
              <a:rPr lang="en-US" altLang="en-US" dirty="0">
                <a:latin typeface="+mn-lt"/>
              </a:rPr>
              <a:t>Information hiding and hierarchical structuring</a:t>
            </a:r>
          </a:p>
          <a:p>
            <a:pPr lvl="3">
              <a:defRPr/>
            </a:pPr>
            <a:r>
              <a:rPr lang="en-US" altLang="en-US" dirty="0">
                <a:latin typeface="+mn-lt"/>
              </a:rPr>
              <a:t>Organize groups of functions into hierarchical package structures based on the visibility of functions within groups.</a:t>
            </a:r>
          </a:p>
          <a:p>
            <a:pPr lvl="3">
              <a:defRPr/>
            </a:pPr>
            <a:r>
              <a:rPr lang="en-US" altLang="en-US" dirty="0">
                <a:latin typeface="+mn-lt"/>
              </a:rPr>
              <a:t>Those functions and variables which are only externally referable and visible to other packages constitute the package specification.</a:t>
            </a:r>
          </a:p>
        </p:txBody>
      </p:sp>
    </p:spTree>
  </p:cSld>
  <p:clrMapOvr>
    <a:masterClrMapping/>
  </p:clrMapOvr>
  <p:transition spd="med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19">
            <a:extLst>
              <a:ext uri="{FF2B5EF4-FFF2-40B4-BE49-F238E27FC236}">
                <a16:creationId xmlns:a16="http://schemas.microsoft.com/office/drawing/2014/main" id="{23901911-A69F-7799-292F-6771720CDC4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CE2C5EA3-D2C9-5C4F-B8E3-92E8215C5692}" type="slidenum">
              <a:rPr lang="en-US" altLang="en-US" sz="1000">
                <a:solidFill>
                  <a:srgbClr val="000000"/>
                </a:solidFill>
              </a:rPr>
              <a:pPr/>
              <a:t>55</a:t>
            </a:fld>
            <a:endParaRPr lang="en-US" altLang="en-US" sz="1000">
              <a:solidFill>
                <a:srgbClr val="000000"/>
              </a:solidFill>
            </a:endParaRPr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AF8505F0-1458-1306-FE82-CF8F8713C3E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6363"/>
            <a:ext cx="9144000" cy="671512"/>
          </a:xfrm>
        </p:spPr>
        <p:txBody>
          <a:bodyPr/>
          <a:lstStyle/>
          <a:p>
            <a:pPr marL="342900" indent="-342900"/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Restructuring Techniques</a:t>
            </a:r>
            <a:br>
              <a:rPr lang="en-US" altLang="en-US" sz="2800" dirty="0">
                <a:latin typeface="Times New Roman" panose="02020603050405020304" pitchFamily="18" charset="0"/>
              </a:rPr>
            </a:br>
            <a:endParaRPr lang="en-US" altLang="en-US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7571" name="Rectangle 3">
            <a:extLst>
              <a:ext uri="{FF2B5EF4-FFF2-40B4-BE49-F238E27FC236}">
                <a16:creationId xmlns:a16="http://schemas.microsoft.com/office/drawing/2014/main" id="{077EEBC2-E5B2-445C-8443-209C62488E3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52400" y="706438"/>
            <a:ext cx="8813800" cy="2478087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  <a:defRPr/>
            </a:pPr>
            <a:r>
              <a:rPr lang="en-US" altLang="en-US" dirty="0">
                <a:latin typeface="+mn-lt"/>
              </a:rPr>
              <a:t>System Sandwich Approach</a:t>
            </a:r>
          </a:p>
          <a:p>
            <a:pPr lvl="1">
              <a:defRPr/>
            </a:pPr>
            <a:r>
              <a:rPr lang="en-US" altLang="en-US" dirty="0">
                <a:latin typeface="+mn-lt"/>
              </a:rPr>
              <a:t>This approach is applied to those software which cannot be restructured with any hope, but need to be retained for their outputs.</a:t>
            </a:r>
          </a:p>
          <a:p>
            <a:pPr lvl="1">
              <a:defRPr/>
            </a:pPr>
            <a:r>
              <a:rPr lang="en-US" altLang="en-US" dirty="0">
                <a:latin typeface="+mn-lt"/>
              </a:rPr>
              <a:t>As illustrated in the figure below, write a new front-end interface and a new back-end data base so that:</a:t>
            </a:r>
          </a:p>
          <a:p>
            <a:pPr lvl="2">
              <a:defRPr/>
            </a:pPr>
            <a:r>
              <a:rPr lang="en-US" altLang="en-US" dirty="0">
                <a:latin typeface="+mn-lt"/>
              </a:rPr>
              <a:t>it is easy to interface with the program; and</a:t>
            </a:r>
          </a:p>
          <a:p>
            <a:pPr lvl="2">
              <a:defRPr/>
            </a:pPr>
            <a:r>
              <a:rPr lang="en-US" altLang="en-US" dirty="0">
                <a:latin typeface="+mn-lt"/>
              </a:rPr>
              <a:t>the program’s outputs are recorded in a more structured way.</a:t>
            </a:r>
          </a:p>
        </p:txBody>
      </p:sp>
      <p:pic>
        <p:nvPicPr>
          <p:cNvPr id="63493" name="Picture 2" descr="C:\DataFebruary7\ASAGAR\PAPER\MYBOOK2\SEVBOOK\REFACT\sandwich.xfig.eps">
            <a:extLst>
              <a:ext uri="{FF2B5EF4-FFF2-40B4-BE49-F238E27FC236}">
                <a16:creationId xmlns:a16="http://schemas.microsoft.com/office/drawing/2014/main" id="{B77FD2D0-29B1-7A0B-5FCE-B618A44C4A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2750" y="3475038"/>
            <a:ext cx="5418138" cy="1868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EB5720F7-C881-CF19-2EBE-C11C857EF7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063" y="5668963"/>
            <a:ext cx="788987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r>
              <a:rPr lang="en-CA" altLang="en-US" b="0" dirty="0">
                <a:solidFill>
                  <a:srgbClr val="0000FF"/>
                </a:solidFill>
                <a:latin typeface="+mn-lt"/>
              </a:rPr>
              <a:t>System sandwich approach to software restructuring. The arrows represent the flow of data and/or commands.</a:t>
            </a:r>
            <a:endParaRPr lang="en-CA" altLang="en-US" dirty="0">
              <a:solidFill>
                <a:srgbClr val="0000FF"/>
              </a:solidFill>
              <a:latin typeface="+mn-lt"/>
            </a:endParaRPr>
          </a:p>
        </p:txBody>
      </p:sp>
    </p:spTree>
  </p:cSld>
  <p:clrMapOvr>
    <a:masterClrMapping/>
  </p:clrMapOvr>
  <p:transition spd="med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19">
            <a:extLst>
              <a:ext uri="{FF2B5EF4-FFF2-40B4-BE49-F238E27FC236}">
                <a16:creationId xmlns:a16="http://schemas.microsoft.com/office/drawing/2014/main" id="{BC9245E5-9050-4B2E-6CF3-D0E3A4D4804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3F9E9E25-745C-7342-B1C2-EE9FDE0B3DBB}" type="slidenum">
              <a:rPr lang="en-US" altLang="en-US" sz="1000">
                <a:solidFill>
                  <a:srgbClr val="000000"/>
                </a:solidFill>
              </a:rPr>
              <a:pPr/>
              <a:t>56</a:t>
            </a:fld>
            <a:endParaRPr lang="en-US" altLang="en-US" sz="1000">
              <a:solidFill>
                <a:srgbClr val="000000"/>
              </a:solidFill>
            </a:endParaRP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5420A4AE-1E91-A459-2F21-9A04039F7FB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6363"/>
            <a:ext cx="9144000" cy="671512"/>
          </a:xfrm>
        </p:spPr>
        <p:txBody>
          <a:bodyPr/>
          <a:lstStyle/>
          <a:p>
            <a:pPr marL="342900" indent="-342900"/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Restructuring Techniques</a:t>
            </a:r>
            <a:br>
              <a:rPr lang="en-US" altLang="en-US" sz="2800" dirty="0">
                <a:latin typeface="Times New Roman" panose="02020603050405020304" pitchFamily="18" charset="0"/>
              </a:rPr>
            </a:br>
            <a:endParaRPr lang="en-US" altLang="en-US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7571" name="Rectangle 3">
            <a:extLst>
              <a:ext uri="{FF2B5EF4-FFF2-40B4-BE49-F238E27FC236}">
                <a16:creationId xmlns:a16="http://schemas.microsoft.com/office/drawing/2014/main" id="{AF9B5449-5CB1-3E91-5C1F-9AEA39AA4CF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706438"/>
            <a:ext cx="8966200" cy="5770562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  <a:defRPr/>
            </a:pPr>
            <a:r>
              <a:rPr lang="en-US" altLang="en-US" dirty="0">
                <a:latin typeface="+mn-lt"/>
              </a:rPr>
              <a:t>Clustering Approach</a:t>
            </a:r>
          </a:p>
          <a:p>
            <a:pPr lvl="1">
              <a:defRPr/>
            </a:pPr>
            <a:r>
              <a:rPr lang="en-US" altLang="en-US" dirty="0">
                <a:latin typeface="+mn-lt"/>
              </a:rPr>
              <a:t>Software modularization is an important design step. </a:t>
            </a:r>
          </a:p>
          <a:p>
            <a:pPr marL="457200" lvl="1" indent="0">
              <a:buFontTx/>
              <a:buNone/>
              <a:defRPr/>
            </a:pPr>
            <a:endParaRPr lang="en-US" altLang="en-US" dirty="0">
              <a:latin typeface="+mn-lt"/>
            </a:endParaRPr>
          </a:p>
          <a:p>
            <a:pPr lvl="1">
              <a:defRPr/>
            </a:pPr>
            <a:r>
              <a:rPr lang="en-US" altLang="en-US" dirty="0">
                <a:latin typeface="+mn-lt"/>
              </a:rPr>
              <a:t> A program can be </a:t>
            </a:r>
            <a:r>
              <a:rPr lang="en-US" altLang="en-US" dirty="0" err="1">
                <a:latin typeface="+mn-lt"/>
              </a:rPr>
              <a:t>remodularized</a:t>
            </a:r>
            <a:r>
              <a:rPr lang="en-US" altLang="en-US" dirty="0">
                <a:latin typeface="+mn-lt"/>
              </a:rPr>
              <a:t> in two ways.</a:t>
            </a:r>
          </a:p>
          <a:p>
            <a:pPr lvl="2">
              <a:defRPr/>
            </a:pPr>
            <a:r>
              <a:rPr lang="en-US" altLang="en-US" dirty="0">
                <a:latin typeface="+mn-lt"/>
              </a:rPr>
              <a:t>System level </a:t>
            </a:r>
            <a:r>
              <a:rPr lang="en-US" altLang="en-US" dirty="0" err="1">
                <a:latin typeface="+mn-lt"/>
              </a:rPr>
              <a:t>remodularization</a:t>
            </a:r>
            <a:endParaRPr lang="en-US" altLang="en-US" dirty="0">
              <a:latin typeface="+mn-lt"/>
            </a:endParaRPr>
          </a:p>
          <a:p>
            <a:pPr lvl="3">
              <a:defRPr/>
            </a:pPr>
            <a:r>
              <a:rPr lang="en-US" altLang="en-US" dirty="0">
                <a:latin typeface="+mn-lt"/>
              </a:rPr>
              <a:t>This is a top-down approach.</a:t>
            </a:r>
          </a:p>
          <a:p>
            <a:pPr lvl="3">
              <a:defRPr/>
            </a:pPr>
            <a:r>
              <a:rPr lang="en-US" altLang="en-US" dirty="0">
                <a:latin typeface="+mn-lt"/>
              </a:rPr>
              <a:t>Partition the program into smaller modules, as illustrated in Fig. 7.12.</a:t>
            </a:r>
          </a:p>
          <a:p>
            <a:pPr marL="1371600" lvl="3" indent="0">
              <a:buFontTx/>
              <a:buNone/>
              <a:defRPr/>
            </a:pPr>
            <a:endParaRPr lang="en-US" altLang="en-US" dirty="0">
              <a:latin typeface="+mn-lt"/>
            </a:endParaRPr>
          </a:p>
          <a:p>
            <a:pPr lvl="2">
              <a:defRPr/>
            </a:pPr>
            <a:r>
              <a:rPr lang="en-US" altLang="en-US" dirty="0">
                <a:latin typeface="+mn-lt"/>
              </a:rPr>
              <a:t>Entity level </a:t>
            </a:r>
            <a:r>
              <a:rPr lang="en-US" altLang="en-US" dirty="0" err="1">
                <a:latin typeface="+mn-lt"/>
              </a:rPr>
              <a:t>remodularization</a:t>
            </a:r>
            <a:endParaRPr lang="en-US" altLang="en-US" dirty="0">
              <a:latin typeface="+mn-lt"/>
            </a:endParaRPr>
          </a:p>
          <a:p>
            <a:pPr lvl="3">
              <a:defRPr/>
            </a:pPr>
            <a:r>
              <a:rPr lang="en-US" altLang="en-US" dirty="0">
                <a:latin typeface="+mn-lt"/>
              </a:rPr>
              <a:t>This is a bottom-up approach.</a:t>
            </a:r>
          </a:p>
          <a:p>
            <a:pPr lvl="3">
              <a:defRPr/>
            </a:pPr>
            <a:r>
              <a:rPr lang="en-US" altLang="en-US" dirty="0">
                <a:latin typeface="+mn-lt"/>
              </a:rPr>
              <a:t>Group a  program’s entities to form larger modules.</a:t>
            </a:r>
          </a:p>
          <a:p>
            <a:pPr marL="457200" lvl="1" indent="0">
              <a:buFontTx/>
              <a:buNone/>
              <a:defRPr/>
            </a:pPr>
            <a:endParaRPr lang="en-US" altLang="en-US" dirty="0">
              <a:latin typeface="+mn-lt"/>
            </a:endParaRPr>
          </a:p>
        </p:txBody>
      </p:sp>
    </p:spTree>
  </p:cSld>
  <p:clrMapOvr>
    <a:masterClrMapping/>
  </p:clrMapOvr>
  <p:transition spd="med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>
            <a:extLst>
              <a:ext uri="{FF2B5EF4-FFF2-40B4-BE49-F238E27FC236}">
                <a16:creationId xmlns:a16="http://schemas.microsoft.com/office/drawing/2014/main" id="{10DF8DE8-7CFA-CCC0-3433-301388EC3E5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92075"/>
            <a:ext cx="9144000" cy="758825"/>
          </a:xfrm>
        </p:spPr>
        <p:txBody>
          <a:bodyPr/>
          <a:lstStyle/>
          <a:p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Restructuring Technique</a:t>
            </a:r>
            <a:r>
              <a:rPr lang="en-US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s</a:t>
            </a:r>
            <a:br>
              <a:rPr lang="en-US" altLang="en-US" dirty="0">
                <a:latin typeface="Times New Roman" panose="02020603050405020304" pitchFamily="18" charset="0"/>
              </a:rPr>
            </a:br>
            <a:endParaRPr lang="en-CA" altLang="en-US" dirty="0">
              <a:solidFill>
                <a:srgbClr val="0000FF"/>
              </a:solidFill>
            </a:endParaRPr>
          </a:p>
        </p:txBody>
      </p:sp>
      <p:sp>
        <p:nvSpPr>
          <p:cNvPr id="65539" name="Slide Number Placeholder 3">
            <a:extLst>
              <a:ext uri="{FF2B5EF4-FFF2-40B4-BE49-F238E27FC236}">
                <a16:creationId xmlns:a16="http://schemas.microsoft.com/office/drawing/2014/main" id="{5081AB82-2949-11EE-3407-2FAF34AC9D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518BF8DB-98EB-4A45-888D-A2CCF0CAFE13}" type="slidenum">
              <a:rPr lang="en-US" altLang="en-US" sz="1000">
                <a:solidFill>
                  <a:srgbClr val="000000"/>
                </a:solidFill>
              </a:rPr>
              <a:pPr/>
              <a:t>57</a:t>
            </a:fld>
            <a:endParaRPr lang="en-US" altLang="en-US" sz="1000">
              <a:solidFill>
                <a:srgbClr val="000000"/>
              </a:solidFill>
            </a:endParaRPr>
          </a:p>
        </p:txBody>
      </p:sp>
      <p:pic>
        <p:nvPicPr>
          <p:cNvPr id="65540" name="Picture 2" descr="C:\DataFebruary7\ASAGAR\PAPER\MYBOOK2\SEVBOOK\REFACT\modsystemlev.xfig.eps">
            <a:extLst>
              <a:ext uri="{FF2B5EF4-FFF2-40B4-BE49-F238E27FC236}">
                <a16:creationId xmlns:a16="http://schemas.microsoft.com/office/drawing/2014/main" id="{07928A1B-7BCC-480C-9D48-B4B671C3D2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588" y="850900"/>
            <a:ext cx="6129337" cy="394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5541" name="Rectangle 2">
            <a:extLst>
              <a:ext uri="{FF2B5EF4-FFF2-40B4-BE49-F238E27FC236}">
                <a16:creationId xmlns:a16="http://schemas.microsoft.com/office/drawing/2014/main" id="{A478DF5F-4E78-0208-6410-698112B8E6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925" y="4922838"/>
            <a:ext cx="7608888" cy="1322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CA" altLang="en-US" b="0" dirty="0">
                <a:solidFill>
                  <a:srgbClr val="0000FF"/>
                </a:solidFill>
              </a:rPr>
              <a:t>	Illustration of system level </a:t>
            </a:r>
            <a:r>
              <a:rPr lang="en-CA" altLang="en-US" b="0" dirty="0" err="1">
                <a:solidFill>
                  <a:srgbClr val="0000FF"/>
                </a:solidFill>
              </a:rPr>
              <a:t>remodularization</a:t>
            </a:r>
            <a:r>
              <a:rPr lang="en-CA" altLang="en-US" b="0" dirty="0">
                <a:solidFill>
                  <a:srgbClr val="0000FF"/>
                </a:solidFill>
              </a:rPr>
              <a:t>. </a:t>
            </a:r>
          </a:p>
          <a:p>
            <a:r>
              <a:rPr lang="en-CA" altLang="en-US" b="0" dirty="0">
                <a:solidFill>
                  <a:srgbClr val="0000FF"/>
                </a:solidFill>
              </a:rPr>
              <a:t>                    Bullets represent low level entities.</a:t>
            </a:r>
          </a:p>
          <a:p>
            <a:r>
              <a:rPr lang="en-CA" altLang="en-US" b="0" dirty="0">
                <a:solidFill>
                  <a:srgbClr val="0000FF"/>
                </a:solidFill>
              </a:rPr>
              <a:t>                    Dotted shapes represent modules. </a:t>
            </a:r>
          </a:p>
          <a:p>
            <a:r>
              <a:rPr lang="en-CA" altLang="en-US" b="0" dirty="0">
                <a:solidFill>
                  <a:srgbClr val="0000FF"/>
                </a:solidFill>
              </a:rPr>
              <a:t>                    Arrows represent progression from one level to the next.</a:t>
            </a:r>
            <a:endParaRPr lang="en-CA" altLang="en-US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ransition spd="med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19">
            <a:extLst>
              <a:ext uri="{FF2B5EF4-FFF2-40B4-BE49-F238E27FC236}">
                <a16:creationId xmlns:a16="http://schemas.microsoft.com/office/drawing/2014/main" id="{C480653E-E527-9F19-D9AB-2065CAF72F8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D2C489D0-B3C2-CB47-88B4-048736FF536E}" type="slidenum">
              <a:rPr lang="en-US" altLang="en-US" sz="1000">
                <a:solidFill>
                  <a:srgbClr val="000000"/>
                </a:solidFill>
              </a:rPr>
              <a:pPr/>
              <a:t>58</a:t>
            </a:fld>
            <a:endParaRPr lang="en-US" altLang="en-US" sz="1000">
              <a:solidFill>
                <a:srgbClr val="000000"/>
              </a:solidFill>
            </a:endParaRPr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777B1B7C-157E-9F92-4F85-813F239F9FB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6363"/>
            <a:ext cx="9144000" cy="671512"/>
          </a:xfrm>
        </p:spPr>
        <p:txBody>
          <a:bodyPr/>
          <a:lstStyle/>
          <a:p>
            <a:pPr marL="342900" indent="-342900"/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Restructuring Techniques</a:t>
            </a:r>
            <a:br>
              <a:rPr lang="en-US" altLang="en-US" sz="2800" dirty="0">
                <a:latin typeface="Times New Roman" panose="02020603050405020304" pitchFamily="18" charset="0"/>
              </a:rPr>
            </a:br>
            <a:endParaRPr lang="en-US" altLang="en-US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7571" name="Rectangle 3">
            <a:extLst>
              <a:ext uri="{FF2B5EF4-FFF2-40B4-BE49-F238E27FC236}">
                <a16:creationId xmlns:a16="http://schemas.microsoft.com/office/drawing/2014/main" id="{E029DE7E-849F-CE4D-1BA0-157AEDFD649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706438"/>
            <a:ext cx="8966200" cy="5770562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  <a:defRPr/>
            </a:pPr>
            <a:r>
              <a:rPr lang="en-US" altLang="en-US" dirty="0">
                <a:latin typeface="+mn-lt"/>
              </a:rPr>
              <a:t>Clustering Approach (Contd.)</a:t>
            </a:r>
          </a:p>
          <a:p>
            <a:pPr lvl="1">
              <a:defRPr/>
            </a:pPr>
            <a:r>
              <a:rPr lang="en-US" altLang="en-US" dirty="0">
                <a:latin typeface="+mn-lt"/>
              </a:rPr>
              <a:t>The concept of clustering is key to modularization.</a:t>
            </a:r>
          </a:p>
          <a:p>
            <a:pPr lvl="1">
              <a:defRPr/>
            </a:pPr>
            <a:r>
              <a:rPr lang="en-US" altLang="en-US" dirty="0">
                <a:latin typeface="+mn-lt"/>
              </a:rPr>
              <a:t>Clusters are defined as continuous regions of space containing a relatively high density of points, separated from other such regions by regions containing a relatively low density of points.</a:t>
            </a:r>
          </a:p>
          <a:p>
            <a:pPr lvl="1">
              <a:defRPr/>
            </a:pPr>
            <a:r>
              <a:rPr lang="en-US" altLang="en-US" dirty="0">
                <a:latin typeface="+mn-lt"/>
              </a:rPr>
              <a:t>Modularization is defined as the clustering of large amount of entities in groups in such a way that the entities in one group are more closely related, based on some </a:t>
            </a:r>
            <a:r>
              <a:rPr lang="en-US" altLang="en-US" dirty="0">
                <a:solidFill>
                  <a:srgbClr val="FF00FF"/>
                </a:solidFill>
                <a:latin typeface="+mn-lt"/>
              </a:rPr>
              <a:t>similarity metrics</a:t>
            </a:r>
            <a:r>
              <a:rPr lang="en-US" altLang="en-US" dirty="0">
                <a:latin typeface="+mn-lt"/>
              </a:rPr>
              <a:t>.</a:t>
            </a:r>
          </a:p>
          <a:p>
            <a:pPr lvl="1">
              <a:defRPr/>
            </a:pPr>
            <a:r>
              <a:rPr lang="en-US" altLang="en-US" dirty="0">
                <a:latin typeface="+mn-lt"/>
              </a:rPr>
              <a:t>While applying the idea of clustering, two factors are taken into account:</a:t>
            </a:r>
          </a:p>
          <a:p>
            <a:pPr lvl="2">
              <a:defRPr/>
            </a:pPr>
            <a:r>
              <a:rPr lang="en-US" altLang="en-US" dirty="0">
                <a:latin typeface="+mn-lt"/>
              </a:rPr>
              <a:t>What similarity metrics to consider?</a:t>
            </a:r>
          </a:p>
          <a:p>
            <a:pPr marL="1828800" lvl="4" indent="0">
              <a:buFont typeface="Wingdings" pitchFamily="2" charset="2"/>
              <a:buNone/>
              <a:defRPr/>
            </a:pPr>
            <a:endParaRPr lang="en-US" altLang="en-US" dirty="0">
              <a:latin typeface="+mn-lt"/>
            </a:endParaRPr>
          </a:p>
          <a:p>
            <a:pPr lvl="2">
              <a:defRPr/>
            </a:pPr>
            <a:r>
              <a:rPr lang="en-US" altLang="en-US" dirty="0">
                <a:latin typeface="+mn-lt"/>
              </a:rPr>
              <a:t>What clustering algorithm to use?</a:t>
            </a:r>
          </a:p>
          <a:p>
            <a:pPr lvl="2">
              <a:defRPr/>
            </a:pPr>
            <a:endParaRPr lang="en-US" altLang="en-US" dirty="0">
              <a:latin typeface="+mn-lt"/>
            </a:endParaRPr>
          </a:p>
          <a:p>
            <a:pPr lvl="2">
              <a:defRPr/>
            </a:pPr>
            <a:endParaRPr lang="en-US" altLang="en-US" dirty="0">
              <a:latin typeface="+mn-lt"/>
            </a:endParaRPr>
          </a:p>
          <a:p>
            <a:pPr lvl="1">
              <a:defRPr/>
            </a:pPr>
            <a:endParaRPr lang="en-US" altLang="en-US" dirty="0">
              <a:latin typeface="+mn-lt"/>
            </a:endParaRPr>
          </a:p>
        </p:txBody>
      </p:sp>
    </p:spTree>
  </p:cSld>
  <p:clrMapOvr>
    <a:masterClrMapping/>
  </p:clrMapOvr>
  <p:transition spd="med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19">
            <a:extLst>
              <a:ext uri="{FF2B5EF4-FFF2-40B4-BE49-F238E27FC236}">
                <a16:creationId xmlns:a16="http://schemas.microsoft.com/office/drawing/2014/main" id="{4C1EDE84-8A1B-5547-AC65-DFEBA1013E4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80A8A684-4B6E-4D44-8BBB-5E08A946D9A9}" type="slidenum">
              <a:rPr lang="en-US" altLang="en-US" sz="1000">
                <a:solidFill>
                  <a:srgbClr val="000000"/>
                </a:solidFill>
              </a:rPr>
              <a:pPr/>
              <a:t>59</a:t>
            </a:fld>
            <a:endParaRPr lang="en-US" altLang="en-US" sz="1000">
              <a:solidFill>
                <a:srgbClr val="000000"/>
              </a:solidFill>
            </a:endParaRPr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55512376-EE1D-0E8E-0F03-66B5DDA6BFD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6363"/>
            <a:ext cx="9144000" cy="671512"/>
          </a:xfrm>
        </p:spPr>
        <p:txBody>
          <a:bodyPr/>
          <a:lstStyle/>
          <a:p>
            <a:pPr marL="342900" indent="-342900"/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Restructuring Techniques</a:t>
            </a:r>
            <a:br>
              <a:rPr lang="en-US" altLang="en-US" sz="2800" dirty="0">
                <a:latin typeface="Times New Roman" panose="02020603050405020304" pitchFamily="18" charset="0"/>
              </a:rPr>
            </a:br>
            <a:endParaRPr lang="en-US" altLang="en-US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7571" name="Rectangle 3">
            <a:extLst>
              <a:ext uri="{FF2B5EF4-FFF2-40B4-BE49-F238E27FC236}">
                <a16:creationId xmlns:a16="http://schemas.microsoft.com/office/drawing/2014/main" id="{3FE2E2F3-DEED-19A4-B73F-4A8C6A62200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706438"/>
            <a:ext cx="8966200" cy="5770562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  <a:defRPr/>
            </a:pPr>
            <a:r>
              <a:rPr lang="en-US" altLang="en-US" dirty="0">
                <a:latin typeface="+mn-lt"/>
              </a:rPr>
              <a:t>Clustering Approach (Contd.)</a:t>
            </a:r>
          </a:p>
          <a:p>
            <a:pPr lvl="1">
              <a:defRPr/>
            </a:pPr>
            <a:r>
              <a:rPr lang="en-US" altLang="en-US" dirty="0">
                <a:latin typeface="+mn-lt"/>
              </a:rPr>
              <a:t> Similarity metrics</a:t>
            </a:r>
          </a:p>
          <a:p>
            <a:pPr lvl="2">
              <a:defRPr/>
            </a:pPr>
            <a:r>
              <a:rPr lang="en-US" altLang="en-US" dirty="0">
                <a:latin typeface="+mn-lt"/>
              </a:rPr>
              <a:t>Distance measures </a:t>
            </a:r>
          </a:p>
          <a:p>
            <a:pPr lvl="3">
              <a:defRPr/>
            </a:pPr>
            <a:r>
              <a:rPr lang="en-US" altLang="en-US" dirty="0">
                <a:latin typeface="+mn-lt"/>
              </a:rPr>
              <a:t>Euclidean distance</a:t>
            </a:r>
          </a:p>
          <a:p>
            <a:pPr lvl="3">
              <a:defRPr/>
            </a:pPr>
            <a:r>
              <a:rPr lang="en-US" altLang="en-US" dirty="0">
                <a:latin typeface="+mn-lt"/>
              </a:rPr>
              <a:t>Manhattan distance</a:t>
            </a:r>
          </a:p>
          <a:p>
            <a:pPr lvl="2">
              <a:defRPr/>
            </a:pPr>
            <a:r>
              <a:rPr lang="en-US" altLang="en-US" dirty="0">
                <a:latin typeface="+mn-lt"/>
              </a:rPr>
              <a:t>Association coefficients</a:t>
            </a:r>
          </a:p>
          <a:p>
            <a:pPr lvl="3">
              <a:defRPr/>
            </a:pPr>
            <a:r>
              <a:rPr lang="en-US" altLang="en-US" dirty="0">
                <a:latin typeface="+mn-lt"/>
              </a:rPr>
              <a:t>Simple matching coefficient</a:t>
            </a:r>
          </a:p>
          <a:p>
            <a:pPr lvl="3">
              <a:defRPr/>
            </a:pPr>
            <a:r>
              <a:rPr lang="en-US" altLang="en-US" dirty="0" err="1">
                <a:latin typeface="+mn-lt"/>
              </a:rPr>
              <a:t>Jaccard</a:t>
            </a:r>
            <a:r>
              <a:rPr lang="en-US" altLang="en-US" dirty="0">
                <a:latin typeface="+mn-lt"/>
              </a:rPr>
              <a:t> coefficient</a:t>
            </a:r>
          </a:p>
          <a:p>
            <a:pPr lvl="1">
              <a:defRPr/>
            </a:pPr>
            <a:r>
              <a:rPr lang="en-US" altLang="en-US" dirty="0">
                <a:latin typeface="+mn-lt"/>
              </a:rPr>
              <a:t>Examples of association coefficients</a:t>
            </a:r>
          </a:p>
          <a:p>
            <a:pPr lvl="2">
              <a:defRPr/>
            </a:pPr>
            <a:r>
              <a:rPr lang="en-US" altLang="en-US" dirty="0">
                <a:latin typeface="+mn-lt"/>
              </a:rPr>
              <a:t>Let x and y be two entities. Let:</a:t>
            </a:r>
          </a:p>
          <a:p>
            <a:pPr marL="1371600" lvl="3" indent="0">
              <a:buFontTx/>
              <a:buNone/>
              <a:defRPr/>
            </a:pPr>
            <a:r>
              <a:rPr lang="en-US" altLang="en-US" dirty="0">
                <a:latin typeface="+mn-lt"/>
              </a:rPr>
              <a:t> a = # of features present for both x and y.</a:t>
            </a:r>
          </a:p>
          <a:p>
            <a:pPr marL="1371600" lvl="3" indent="0">
              <a:buFontTx/>
              <a:buNone/>
              <a:defRPr/>
            </a:pPr>
            <a:r>
              <a:rPr lang="en-US" altLang="en-US" dirty="0">
                <a:latin typeface="+mn-lt"/>
              </a:rPr>
              <a:t> b = # of features present for x but not y.</a:t>
            </a:r>
          </a:p>
          <a:p>
            <a:pPr marL="1371600" lvl="3" indent="0">
              <a:buFontTx/>
              <a:buNone/>
              <a:defRPr/>
            </a:pPr>
            <a:r>
              <a:rPr lang="en-US" altLang="en-US" dirty="0">
                <a:latin typeface="+mn-lt"/>
              </a:rPr>
              <a:t> c = # of features present for y but not x.</a:t>
            </a:r>
          </a:p>
          <a:p>
            <a:pPr marL="1371600" lvl="3" indent="0">
              <a:buFontTx/>
              <a:buNone/>
              <a:defRPr/>
            </a:pPr>
            <a:r>
              <a:rPr lang="en-US" altLang="en-US" dirty="0">
                <a:latin typeface="+mn-lt"/>
              </a:rPr>
              <a:t> d = # of features </a:t>
            </a:r>
            <a:r>
              <a:rPr lang="en-US" altLang="en-US" dirty="0">
                <a:solidFill>
                  <a:srgbClr val="FF0000"/>
                </a:solidFill>
                <a:latin typeface="+mn-lt"/>
              </a:rPr>
              <a:t>not</a:t>
            </a:r>
            <a:r>
              <a:rPr lang="en-US" altLang="en-US" dirty="0">
                <a:latin typeface="+mn-lt"/>
              </a:rPr>
              <a:t> present for both x and y.</a:t>
            </a:r>
          </a:p>
          <a:p>
            <a:pPr lvl="2">
              <a:buFont typeface="Arial" panose="020B0604020202020204" pitchFamily="34" charset="0"/>
              <a:buChar char="•"/>
              <a:defRPr/>
            </a:pPr>
            <a:r>
              <a:rPr lang="en-US" altLang="en-US" dirty="0">
                <a:latin typeface="+mn-lt"/>
              </a:rPr>
              <a:t>Simple matching coefficient: simple(x, y) = (a + d)/(a + b + c + d).</a:t>
            </a:r>
          </a:p>
          <a:p>
            <a:pPr lvl="2">
              <a:buFont typeface="Arial" panose="020B0604020202020204" pitchFamily="34" charset="0"/>
              <a:buChar char="•"/>
              <a:defRPr/>
            </a:pPr>
            <a:r>
              <a:rPr lang="en-US" altLang="en-US" dirty="0" err="1">
                <a:latin typeface="+mn-lt"/>
              </a:rPr>
              <a:t>Jaccard</a:t>
            </a:r>
            <a:r>
              <a:rPr lang="en-US" altLang="en-US" dirty="0">
                <a:latin typeface="+mn-lt"/>
              </a:rPr>
              <a:t> coefficient: </a:t>
            </a:r>
            <a:r>
              <a:rPr lang="en-US" altLang="en-US" dirty="0" err="1">
                <a:latin typeface="+mn-lt"/>
              </a:rPr>
              <a:t>Jaccard</a:t>
            </a:r>
            <a:r>
              <a:rPr lang="en-US" altLang="en-US" dirty="0">
                <a:latin typeface="+mn-lt"/>
              </a:rPr>
              <a:t>(x, y) = a/(a + b + c).  </a:t>
            </a:r>
          </a:p>
          <a:p>
            <a:pPr lvl="2">
              <a:defRPr/>
            </a:pPr>
            <a:endParaRPr lang="en-US" altLang="en-US" dirty="0">
              <a:latin typeface="+mn-lt"/>
            </a:endParaRPr>
          </a:p>
          <a:p>
            <a:pPr lvl="1">
              <a:defRPr/>
            </a:pPr>
            <a:endParaRPr lang="en-US" altLang="en-US" dirty="0">
              <a:latin typeface="+mn-lt"/>
            </a:endParaRPr>
          </a:p>
        </p:txBody>
      </p:sp>
    </p:spTree>
  </p:cSld>
  <p:clrMapOvr>
    <a:masterClrMapping/>
  </p:clrMapOvr>
  <p:transition spd="med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19">
            <a:extLst>
              <a:ext uri="{FF2B5EF4-FFF2-40B4-BE49-F238E27FC236}">
                <a16:creationId xmlns:a16="http://schemas.microsoft.com/office/drawing/2014/main" id="{B2184E76-8338-15FE-5A1E-011FCC4FE0A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A26146B4-AB50-F84F-AD70-1AA725C8CC9D}" type="slidenum">
              <a:rPr lang="en-US" altLang="en-US" sz="1000">
                <a:solidFill>
                  <a:srgbClr val="000000"/>
                </a:solidFill>
              </a:rPr>
              <a:pPr/>
              <a:t>60</a:t>
            </a:fld>
            <a:endParaRPr lang="en-US" altLang="en-US" sz="1000">
              <a:solidFill>
                <a:srgbClr val="000000"/>
              </a:solidFill>
            </a:endParaRPr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F15F735C-8DEE-345B-B4DA-49057E66578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6363"/>
            <a:ext cx="9144000" cy="671512"/>
          </a:xfrm>
        </p:spPr>
        <p:txBody>
          <a:bodyPr/>
          <a:lstStyle/>
          <a:p>
            <a:pPr marL="342900" indent="-342900"/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Restructuring Techniques</a:t>
            </a:r>
            <a:br>
              <a:rPr lang="en-US" altLang="en-US" sz="2800" dirty="0">
                <a:latin typeface="Times New Roman" panose="02020603050405020304" pitchFamily="18" charset="0"/>
              </a:rPr>
            </a:br>
            <a:endParaRPr lang="en-US" altLang="en-US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7571" name="Rectangle 3">
            <a:extLst>
              <a:ext uri="{FF2B5EF4-FFF2-40B4-BE49-F238E27FC236}">
                <a16:creationId xmlns:a16="http://schemas.microsoft.com/office/drawing/2014/main" id="{53354EF6-6F11-4855-6E38-BA37DE87989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706438"/>
            <a:ext cx="8966200" cy="5770562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  <a:defRPr/>
            </a:pPr>
            <a:r>
              <a:rPr lang="en-US" altLang="en-US" dirty="0">
                <a:latin typeface="+mn-lt"/>
              </a:rPr>
              <a:t>Clustering Approach (Contd.)</a:t>
            </a:r>
          </a:p>
          <a:p>
            <a:pPr lvl="1">
              <a:defRPr/>
            </a:pPr>
            <a:r>
              <a:rPr lang="en-US" altLang="en-US" dirty="0">
                <a:latin typeface="+mn-lt"/>
              </a:rPr>
              <a:t> Clustering algorithms: </a:t>
            </a:r>
            <a:r>
              <a:rPr lang="en-US" altLang="en-US" dirty="0">
                <a:solidFill>
                  <a:srgbClr val="FF00FF"/>
                </a:solidFill>
                <a:latin typeface="+mn-lt"/>
              </a:rPr>
              <a:t>three broad techniques</a:t>
            </a:r>
            <a:r>
              <a:rPr lang="en-US" altLang="en-US" dirty="0">
                <a:latin typeface="+mn-lt"/>
              </a:rPr>
              <a:t> applied.</a:t>
            </a:r>
          </a:p>
          <a:p>
            <a:pPr lvl="2">
              <a:defRPr/>
            </a:pPr>
            <a:r>
              <a:rPr lang="en-US" altLang="en-US" dirty="0">
                <a:latin typeface="+mn-lt"/>
              </a:rPr>
              <a:t>Graph theoretical algorithms</a:t>
            </a:r>
          </a:p>
          <a:p>
            <a:pPr lvl="2">
              <a:defRPr/>
            </a:pPr>
            <a:r>
              <a:rPr lang="en-US" altLang="en-US" dirty="0">
                <a:latin typeface="+mn-lt"/>
              </a:rPr>
              <a:t>Construction algorithms</a:t>
            </a:r>
          </a:p>
          <a:p>
            <a:pPr lvl="2">
              <a:defRPr/>
            </a:pPr>
            <a:r>
              <a:rPr lang="en-US" altLang="en-US" dirty="0">
                <a:latin typeface="+mn-lt"/>
              </a:rPr>
              <a:t>Optimization algorithms (aka iterative and improvement algorithms)</a:t>
            </a:r>
          </a:p>
          <a:p>
            <a:pPr lvl="2">
              <a:defRPr/>
            </a:pPr>
            <a:r>
              <a:rPr lang="en-US" altLang="en-US" dirty="0">
                <a:latin typeface="+mn-lt"/>
              </a:rPr>
              <a:t>Hierarchical algorithms </a:t>
            </a:r>
          </a:p>
          <a:p>
            <a:pPr lvl="3">
              <a:defRPr/>
            </a:pPr>
            <a:r>
              <a:rPr lang="en-US" altLang="en-US" dirty="0">
                <a:latin typeface="+mn-lt"/>
              </a:rPr>
              <a:t>Divisive algorithms            (See Figure 7.12) </a:t>
            </a:r>
          </a:p>
          <a:p>
            <a:pPr lvl="3">
              <a:defRPr/>
            </a:pPr>
            <a:r>
              <a:rPr lang="en-US" altLang="en-US" dirty="0">
                <a:latin typeface="+mn-lt"/>
              </a:rPr>
              <a:t>Agglomerative algorithms (See Figure 7.13)</a:t>
            </a:r>
          </a:p>
          <a:p>
            <a:pPr lvl="3">
              <a:defRPr/>
            </a:pPr>
            <a:endParaRPr lang="en-US" altLang="en-US" dirty="0">
              <a:latin typeface="+mn-lt"/>
            </a:endParaRPr>
          </a:p>
          <a:p>
            <a:pPr lvl="2">
              <a:defRPr/>
            </a:pPr>
            <a:endParaRPr lang="en-US" altLang="en-US" dirty="0">
              <a:latin typeface="+mn-lt"/>
            </a:endParaRPr>
          </a:p>
          <a:p>
            <a:pPr lvl="2">
              <a:defRPr/>
            </a:pPr>
            <a:r>
              <a:rPr lang="en-US" altLang="en-US" dirty="0">
                <a:latin typeface="+mn-lt"/>
              </a:rPr>
              <a:t>The clustering produced by a hierarchical algorithm can be visualized in a </a:t>
            </a:r>
            <a:r>
              <a:rPr lang="en-US" altLang="en-US" i="1" dirty="0" err="1">
                <a:solidFill>
                  <a:srgbClr val="FF00FF"/>
                </a:solidFill>
                <a:latin typeface="+mn-lt"/>
              </a:rPr>
              <a:t>dendogram</a:t>
            </a:r>
            <a:r>
              <a:rPr lang="en-US" altLang="en-US" dirty="0">
                <a:latin typeface="+mn-lt"/>
              </a:rPr>
              <a:t>.</a:t>
            </a:r>
          </a:p>
          <a:p>
            <a:pPr lvl="3">
              <a:defRPr/>
            </a:pPr>
            <a:r>
              <a:rPr lang="en-US" altLang="en-US" dirty="0">
                <a:latin typeface="+mn-lt"/>
              </a:rPr>
              <a:t>The </a:t>
            </a:r>
            <a:r>
              <a:rPr lang="en-US" altLang="en-US" dirty="0" err="1">
                <a:latin typeface="+mn-lt"/>
              </a:rPr>
              <a:t>dendogram</a:t>
            </a:r>
            <a:r>
              <a:rPr lang="en-US" altLang="en-US" dirty="0">
                <a:latin typeface="+mn-lt"/>
              </a:rPr>
              <a:t> representation of the hierarchy in Fig. 12 has been shown in Fig. 7.14.</a:t>
            </a:r>
          </a:p>
          <a:p>
            <a:pPr lvl="2">
              <a:defRPr/>
            </a:pPr>
            <a:endParaRPr lang="en-US" altLang="en-US" dirty="0">
              <a:latin typeface="+mn-lt"/>
            </a:endParaRPr>
          </a:p>
          <a:p>
            <a:pPr lvl="1">
              <a:defRPr/>
            </a:pPr>
            <a:endParaRPr lang="en-US" altLang="en-US" dirty="0">
              <a:latin typeface="+mn-lt"/>
            </a:endParaRPr>
          </a:p>
        </p:txBody>
      </p:sp>
    </p:spTree>
  </p:cSld>
  <p:clrMapOvr>
    <a:masterClrMapping/>
  </p:clrMapOvr>
  <p:transition spd="med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19">
            <a:extLst>
              <a:ext uri="{FF2B5EF4-FFF2-40B4-BE49-F238E27FC236}">
                <a16:creationId xmlns:a16="http://schemas.microsoft.com/office/drawing/2014/main" id="{BB34DB51-1789-C7A9-A42D-9F9AE264919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774E5E57-82AE-3545-A995-B1076AB5D52D}" type="slidenum">
              <a:rPr lang="en-US" altLang="en-US" sz="1000">
                <a:solidFill>
                  <a:srgbClr val="000000"/>
                </a:solidFill>
              </a:rPr>
              <a:pPr/>
              <a:t>61</a:t>
            </a:fld>
            <a:endParaRPr lang="en-US" altLang="en-US" sz="1000">
              <a:solidFill>
                <a:srgbClr val="000000"/>
              </a:solidFill>
            </a:endParaRPr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9DE6533F-03CA-D824-7EEE-58151730A43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6363"/>
            <a:ext cx="9144000" cy="671512"/>
          </a:xfrm>
        </p:spPr>
        <p:txBody>
          <a:bodyPr/>
          <a:lstStyle/>
          <a:p>
            <a:pPr marL="342900" indent="-342900"/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Restructuring Techniques</a:t>
            </a:r>
            <a:br>
              <a:rPr lang="en-US" altLang="en-US" sz="2800" dirty="0">
                <a:latin typeface="Times New Roman" panose="02020603050405020304" pitchFamily="18" charset="0"/>
              </a:rPr>
            </a:br>
            <a:endParaRPr lang="en-US" altLang="en-US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7571" name="Rectangle 3">
            <a:extLst>
              <a:ext uri="{FF2B5EF4-FFF2-40B4-BE49-F238E27FC236}">
                <a16:creationId xmlns:a16="http://schemas.microsoft.com/office/drawing/2014/main" id="{93796927-4B72-7D1B-50D4-C8D46108907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706438"/>
            <a:ext cx="8966200" cy="109220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  <a:defRPr/>
            </a:pPr>
            <a:r>
              <a:rPr lang="en-US" altLang="en-US" dirty="0">
                <a:latin typeface="+mn-lt"/>
              </a:rPr>
              <a:t>Clustering Approach (Contd.)</a:t>
            </a:r>
          </a:p>
          <a:p>
            <a:pPr lvl="1">
              <a:defRPr/>
            </a:pPr>
            <a:r>
              <a:rPr lang="en-US" altLang="en-US" dirty="0">
                <a:latin typeface="+mn-lt"/>
              </a:rPr>
              <a:t>  The general structure of an agglomerative algorithm  </a:t>
            </a:r>
          </a:p>
          <a:p>
            <a:pPr lvl="3">
              <a:defRPr/>
            </a:pPr>
            <a:endParaRPr lang="en-US" altLang="en-US" dirty="0">
              <a:latin typeface="+mn-lt"/>
            </a:endParaRPr>
          </a:p>
          <a:p>
            <a:pPr lvl="2">
              <a:defRPr/>
            </a:pPr>
            <a:endParaRPr lang="en-US" altLang="en-US" dirty="0">
              <a:latin typeface="+mn-l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3797BF-84F9-5C54-8E07-B2E3413EFF8D}"/>
              </a:ext>
            </a:extLst>
          </p:cNvPr>
          <p:cNvSpPr/>
          <p:nvPr/>
        </p:nvSpPr>
        <p:spPr>
          <a:xfrm>
            <a:off x="563563" y="1839913"/>
            <a:ext cx="8580437" cy="2862262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indent="-457200">
              <a:buFontTx/>
              <a:buAutoNum type="arabicPeriod"/>
              <a:defRPr/>
            </a:pPr>
            <a:r>
              <a:rPr lang="en-CA" b="0" dirty="0">
                <a:solidFill>
                  <a:srgbClr val="000000"/>
                </a:solidFill>
                <a:latin typeface="+mn-lt"/>
              </a:rPr>
              <a:t>IF there are N entities, begin with N clusters such that each </a:t>
            </a:r>
          </a:p>
          <a:p>
            <a:pPr>
              <a:defRPr/>
            </a:pPr>
            <a:r>
              <a:rPr lang="en-CA" b="0" dirty="0">
                <a:solidFill>
                  <a:srgbClr val="000000"/>
                </a:solidFill>
                <a:latin typeface="+mn-lt"/>
              </a:rPr>
              <a:t>            cluster contains a unique entity.</a:t>
            </a:r>
          </a:p>
          <a:p>
            <a:pPr>
              <a:defRPr/>
            </a:pPr>
            <a:r>
              <a:rPr lang="en-CA" b="0" dirty="0">
                <a:solidFill>
                  <a:srgbClr val="000000"/>
                </a:solidFill>
                <a:latin typeface="+mn-lt"/>
              </a:rPr>
              <a:t>      Compute the similarities between the clusters.</a:t>
            </a:r>
          </a:p>
          <a:p>
            <a:pPr>
              <a:defRPr/>
            </a:pPr>
            <a:endParaRPr lang="en-CA" b="0" dirty="0">
              <a:solidFill>
                <a:srgbClr val="000000"/>
              </a:solidFill>
              <a:latin typeface="+mn-lt"/>
            </a:endParaRPr>
          </a:p>
          <a:p>
            <a:pPr>
              <a:defRPr/>
            </a:pPr>
            <a:r>
              <a:rPr lang="en-CA" b="0" dirty="0">
                <a:solidFill>
                  <a:srgbClr val="000000"/>
                </a:solidFill>
                <a:latin typeface="+mn-lt"/>
              </a:rPr>
              <a:t>2.   WHILE there is more than a cluster</a:t>
            </a:r>
          </a:p>
          <a:p>
            <a:pPr>
              <a:defRPr/>
            </a:pPr>
            <a:r>
              <a:rPr lang="en-CA" b="0" dirty="0">
                <a:solidFill>
                  <a:srgbClr val="000000"/>
                </a:solidFill>
                <a:latin typeface="+mn-lt"/>
              </a:rPr>
              <a:t>      DO</a:t>
            </a:r>
          </a:p>
          <a:p>
            <a:pPr>
              <a:defRPr/>
            </a:pPr>
            <a:r>
              <a:rPr lang="en-CA" b="0" dirty="0">
                <a:solidFill>
                  <a:srgbClr val="000000"/>
                </a:solidFill>
                <a:latin typeface="+mn-lt"/>
              </a:rPr>
              <a:t>           Find the most similar pair of clusters and merge them into a single cluster.</a:t>
            </a:r>
          </a:p>
          <a:p>
            <a:pPr>
              <a:defRPr/>
            </a:pPr>
            <a:r>
              <a:rPr lang="en-CA" b="0" dirty="0">
                <a:solidFill>
                  <a:srgbClr val="000000"/>
                </a:solidFill>
                <a:latin typeface="+mn-lt"/>
              </a:rPr>
              <a:t>           </a:t>
            </a:r>
            <a:r>
              <a:rPr lang="en-CA" b="0" dirty="0" err="1">
                <a:solidFill>
                  <a:srgbClr val="000000"/>
                </a:solidFill>
                <a:latin typeface="+mn-lt"/>
              </a:rPr>
              <a:t>Recompute</a:t>
            </a:r>
            <a:r>
              <a:rPr lang="en-CA" b="0" dirty="0">
                <a:solidFill>
                  <a:srgbClr val="000000"/>
                </a:solidFill>
                <a:latin typeface="+mn-lt"/>
              </a:rPr>
              <a:t> the similarities between the clusters.</a:t>
            </a:r>
          </a:p>
          <a:p>
            <a:pPr>
              <a:defRPr/>
            </a:pPr>
            <a:r>
              <a:rPr lang="en-CA" b="0" dirty="0">
                <a:solidFill>
                  <a:srgbClr val="000000"/>
                </a:solidFill>
                <a:latin typeface="+mn-lt"/>
              </a:rPr>
              <a:t>      END</a:t>
            </a:r>
            <a:endParaRPr lang="en-CA" dirty="0">
              <a:solidFill>
                <a:srgbClr val="000000"/>
              </a:solidFill>
              <a:latin typeface="+mn-lt"/>
            </a:endParaRPr>
          </a:p>
        </p:txBody>
      </p:sp>
    </p:spTree>
  </p:cSld>
  <p:clrMapOvr>
    <a:masterClrMapping/>
  </p:clrMapOvr>
  <p:transition spd="med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tle 1">
            <a:extLst>
              <a:ext uri="{FF2B5EF4-FFF2-40B4-BE49-F238E27FC236}">
                <a16:creationId xmlns:a16="http://schemas.microsoft.com/office/drawing/2014/main" id="{22CE9C97-2711-B99C-1E83-C4AF0A08469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82563"/>
            <a:ext cx="9144000" cy="685800"/>
          </a:xfrm>
        </p:spPr>
        <p:txBody>
          <a:bodyPr/>
          <a:lstStyle/>
          <a:p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Restructuring Techniques</a:t>
            </a:r>
            <a:br>
              <a:rPr lang="en-US" altLang="en-US" dirty="0">
                <a:latin typeface="Times New Roman" panose="02020603050405020304" pitchFamily="18" charset="0"/>
              </a:rPr>
            </a:br>
            <a:endParaRPr lang="en-CA" altLang="en-US" dirty="0">
              <a:solidFill>
                <a:srgbClr val="0000FF"/>
              </a:solidFill>
            </a:endParaRPr>
          </a:p>
        </p:txBody>
      </p:sp>
      <p:sp>
        <p:nvSpPr>
          <p:cNvPr id="70659" name="Slide Number Placeholder 3">
            <a:extLst>
              <a:ext uri="{FF2B5EF4-FFF2-40B4-BE49-F238E27FC236}">
                <a16:creationId xmlns:a16="http://schemas.microsoft.com/office/drawing/2014/main" id="{19E92339-1B05-C785-0F6B-B18B4098D5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83CE7F1C-A71C-6D48-8E10-DA193F895B6A}" type="slidenum">
              <a:rPr lang="en-US" altLang="en-US" sz="1000">
                <a:solidFill>
                  <a:srgbClr val="000000"/>
                </a:solidFill>
              </a:rPr>
              <a:pPr/>
              <a:t>62</a:t>
            </a:fld>
            <a:endParaRPr lang="en-US" altLang="en-US" sz="1000">
              <a:solidFill>
                <a:srgbClr val="000000"/>
              </a:solidFill>
            </a:endParaRPr>
          </a:p>
        </p:txBody>
      </p:sp>
      <p:pic>
        <p:nvPicPr>
          <p:cNvPr id="70660" name="Picture 2" descr="C:\DataFebruary7\ASAGAR\PAPER\MYBOOK2\SEVBOOK\REFACT\modsystemlev.xfig.eps">
            <a:extLst>
              <a:ext uri="{FF2B5EF4-FFF2-40B4-BE49-F238E27FC236}">
                <a16:creationId xmlns:a16="http://schemas.microsoft.com/office/drawing/2014/main" id="{EF512151-C2BE-5EDE-8036-BC9CDE9FCE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788" y="1209675"/>
            <a:ext cx="4956175" cy="3189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661" name="Rectangle 2">
            <a:extLst>
              <a:ext uri="{FF2B5EF4-FFF2-40B4-BE49-F238E27FC236}">
                <a16:creationId xmlns:a16="http://schemas.microsoft.com/office/drawing/2014/main" id="{E3252512-3430-798B-2E7E-B13D765116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125" y="4770438"/>
            <a:ext cx="7608888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CA" altLang="en-US" b="0" dirty="0">
                <a:solidFill>
                  <a:srgbClr val="0000FF"/>
                </a:solidFill>
              </a:rPr>
              <a:t>Illustration of system level </a:t>
            </a:r>
            <a:r>
              <a:rPr lang="en-CA" altLang="en-US" b="0" dirty="0" err="1">
                <a:solidFill>
                  <a:srgbClr val="0000FF"/>
                </a:solidFill>
              </a:rPr>
              <a:t>remodularization</a:t>
            </a:r>
            <a:r>
              <a:rPr lang="en-CA" altLang="en-US" b="0" dirty="0">
                <a:solidFill>
                  <a:srgbClr val="0000FF"/>
                </a:solidFill>
              </a:rPr>
              <a:t>. </a:t>
            </a:r>
          </a:p>
          <a:p>
            <a:r>
              <a:rPr lang="en-CA" altLang="en-US" b="0" dirty="0">
                <a:solidFill>
                  <a:srgbClr val="0000FF"/>
                </a:solidFill>
              </a:rPr>
              <a:t>                    Bullets represent low level entities.</a:t>
            </a:r>
          </a:p>
          <a:p>
            <a:r>
              <a:rPr lang="en-CA" altLang="en-US" b="0" dirty="0">
                <a:solidFill>
                  <a:srgbClr val="0000FF"/>
                </a:solidFill>
              </a:rPr>
              <a:t>                    Dotted shapes represent modules. </a:t>
            </a:r>
          </a:p>
          <a:p>
            <a:r>
              <a:rPr lang="en-CA" altLang="en-US" b="0" dirty="0">
                <a:solidFill>
                  <a:srgbClr val="0000FF"/>
                </a:solidFill>
              </a:rPr>
              <a:t>                    Arrows represent progression from one level </a:t>
            </a:r>
          </a:p>
          <a:p>
            <a:r>
              <a:rPr lang="en-CA" altLang="en-US" b="0" dirty="0">
                <a:solidFill>
                  <a:srgbClr val="0000FF"/>
                </a:solidFill>
              </a:rPr>
              <a:t>                    to the next.</a:t>
            </a:r>
            <a:endParaRPr lang="en-CA" altLang="en-US" dirty="0">
              <a:solidFill>
                <a:srgbClr val="0000FF"/>
              </a:solidFill>
            </a:endParaRPr>
          </a:p>
        </p:txBody>
      </p:sp>
      <p:pic>
        <p:nvPicPr>
          <p:cNvPr id="70662" name="Picture 2" descr="C:\DataFebruary7\ASAGAR\PAPER\MYBOOK2\SEVBOOK\REFACT\dendogram.xfig.eps">
            <a:extLst>
              <a:ext uri="{FF2B5EF4-FFF2-40B4-BE49-F238E27FC236}">
                <a16:creationId xmlns:a16="http://schemas.microsoft.com/office/drawing/2014/main" id="{F58A29FF-287F-C712-B7DC-E0BE303206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8100" y="1185863"/>
            <a:ext cx="2405063" cy="267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663" name="Rectangle 2">
            <a:extLst>
              <a:ext uri="{FF2B5EF4-FFF2-40B4-BE49-F238E27FC236}">
                <a16:creationId xmlns:a16="http://schemas.microsoft.com/office/drawing/2014/main" id="{C4C71CAD-F79D-E966-E77E-B2B329EE03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9638" y="4073525"/>
            <a:ext cx="346075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CA" altLang="en-US" b="0" dirty="0" err="1">
                <a:solidFill>
                  <a:srgbClr val="0000FF"/>
                </a:solidFill>
              </a:rPr>
              <a:t>Dendogram</a:t>
            </a:r>
            <a:r>
              <a:rPr lang="en-CA" altLang="en-US" b="0" dirty="0">
                <a:solidFill>
                  <a:srgbClr val="0000FF"/>
                </a:solidFill>
              </a:rPr>
              <a:t> representation of the </a:t>
            </a:r>
            <a:r>
              <a:rPr lang="en-CA" altLang="en-US" b="0" dirty="0" err="1">
                <a:solidFill>
                  <a:srgbClr val="0000FF"/>
                </a:solidFill>
              </a:rPr>
              <a:t>remodularisation</a:t>
            </a:r>
            <a:endParaRPr lang="en-CA" altLang="en-US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ransition spd="med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itle 1">
            <a:extLst>
              <a:ext uri="{FF2B5EF4-FFF2-40B4-BE49-F238E27FC236}">
                <a16:creationId xmlns:a16="http://schemas.microsoft.com/office/drawing/2014/main" id="{A0C07514-7A2B-D9A5-F080-70A03CB749C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36525"/>
            <a:ext cx="9144000" cy="655638"/>
          </a:xfrm>
        </p:spPr>
        <p:txBody>
          <a:bodyPr/>
          <a:lstStyle/>
          <a:p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Restructuring Techniques</a:t>
            </a:r>
            <a:br>
              <a:rPr lang="en-US" altLang="en-US" dirty="0">
                <a:latin typeface="Times New Roman" panose="02020603050405020304" pitchFamily="18" charset="0"/>
              </a:rPr>
            </a:br>
            <a:endParaRPr lang="en-CA" altLang="en-US" dirty="0"/>
          </a:p>
        </p:txBody>
      </p:sp>
      <p:sp>
        <p:nvSpPr>
          <p:cNvPr id="71683" name="Slide Number Placeholder 3">
            <a:extLst>
              <a:ext uri="{FF2B5EF4-FFF2-40B4-BE49-F238E27FC236}">
                <a16:creationId xmlns:a16="http://schemas.microsoft.com/office/drawing/2014/main" id="{8ABC317C-4F46-2705-1D76-59D4DDDE0D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64285657-AE04-0D42-8A04-8C2150E3F814}" type="slidenum">
              <a:rPr lang="en-US" altLang="en-US" sz="1000">
                <a:solidFill>
                  <a:srgbClr val="000000"/>
                </a:solidFill>
              </a:rPr>
              <a:pPr/>
              <a:t>63</a:t>
            </a:fld>
            <a:endParaRPr lang="en-US" altLang="en-US" sz="1000">
              <a:solidFill>
                <a:srgbClr val="000000"/>
              </a:solidFill>
            </a:endParaRPr>
          </a:p>
        </p:txBody>
      </p:sp>
      <p:pic>
        <p:nvPicPr>
          <p:cNvPr id="71684" name="Picture 2" descr="C:\DataFebruary7\ASAGAR\PAPER\MYBOOK2\SEVBOOK\REFACT\modentitylev.xfig.eps">
            <a:extLst>
              <a:ext uri="{FF2B5EF4-FFF2-40B4-BE49-F238E27FC236}">
                <a16:creationId xmlns:a16="http://schemas.microsoft.com/office/drawing/2014/main" id="{6B255D8F-E6BE-4A8E-9D7F-B2C2E8AF54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900" y="1090613"/>
            <a:ext cx="5997575" cy="3929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685" name="Rectangle 2">
            <a:extLst>
              <a:ext uri="{FF2B5EF4-FFF2-40B4-BE49-F238E27FC236}">
                <a16:creationId xmlns:a16="http://schemas.microsoft.com/office/drawing/2014/main" id="{E54C4F34-F8E1-DC56-D3B0-AE087FEB39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2488" y="5232400"/>
            <a:ext cx="7226300" cy="101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CA" altLang="en-US" b="0" dirty="0">
                <a:solidFill>
                  <a:srgbClr val="0000FF"/>
                </a:solidFill>
              </a:rPr>
              <a:t>Illustration of entity level </a:t>
            </a:r>
            <a:r>
              <a:rPr lang="en-CA" altLang="en-US" b="0" dirty="0" err="1">
                <a:solidFill>
                  <a:srgbClr val="0000FF"/>
                </a:solidFill>
              </a:rPr>
              <a:t>remodularization</a:t>
            </a:r>
            <a:r>
              <a:rPr lang="en-CA" altLang="en-US" b="0" dirty="0">
                <a:solidFill>
                  <a:srgbClr val="0000FF"/>
                </a:solidFill>
              </a:rPr>
              <a:t>. </a:t>
            </a:r>
          </a:p>
          <a:p>
            <a:r>
              <a:rPr lang="en-CA" altLang="en-US" b="0" dirty="0">
                <a:solidFill>
                  <a:srgbClr val="0000FF"/>
                </a:solidFill>
              </a:rPr>
              <a:t>                    Bullets represent low level entities.</a:t>
            </a:r>
          </a:p>
          <a:p>
            <a:r>
              <a:rPr lang="en-CA" altLang="en-US" b="0" dirty="0">
                <a:solidFill>
                  <a:srgbClr val="0000FF"/>
                </a:solidFill>
              </a:rPr>
              <a:t>                    Dotted shapes represent modules.</a:t>
            </a:r>
            <a:endParaRPr lang="en-CA" altLang="en-US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ransition spd="med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19">
            <a:extLst>
              <a:ext uri="{FF2B5EF4-FFF2-40B4-BE49-F238E27FC236}">
                <a16:creationId xmlns:a16="http://schemas.microsoft.com/office/drawing/2014/main" id="{A677F33B-2E00-2F87-7365-11FCE4E5851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A38D36A3-1D21-1649-A77F-AF24A1904FDB}" type="slidenum">
              <a:rPr lang="en-US" altLang="en-US" sz="1000">
                <a:solidFill>
                  <a:srgbClr val="000000"/>
                </a:solidFill>
              </a:rPr>
              <a:pPr/>
              <a:t>64</a:t>
            </a:fld>
            <a:endParaRPr lang="en-US" altLang="en-US" sz="1000">
              <a:solidFill>
                <a:srgbClr val="000000"/>
              </a:solidFill>
            </a:endParaRPr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41C3F6D4-F770-6968-0E25-6FB7055F8BA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6363"/>
            <a:ext cx="9144000" cy="671512"/>
          </a:xfrm>
        </p:spPr>
        <p:txBody>
          <a:bodyPr/>
          <a:lstStyle/>
          <a:p>
            <a:pPr marL="342900" indent="-342900"/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Restructuring Techniques</a:t>
            </a:r>
            <a:br>
              <a:rPr lang="en-US" altLang="en-US" sz="2800" dirty="0">
                <a:latin typeface="Times New Roman" panose="02020603050405020304" pitchFamily="18" charset="0"/>
              </a:rPr>
            </a:br>
            <a:endParaRPr lang="en-US" altLang="en-US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7571" name="Rectangle 3">
            <a:extLst>
              <a:ext uri="{FF2B5EF4-FFF2-40B4-BE49-F238E27FC236}">
                <a16:creationId xmlns:a16="http://schemas.microsoft.com/office/drawing/2014/main" id="{4175F9D4-EE63-7A8F-020C-B5E2DCFF0C0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706438"/>
            <a:ext cx="9144000" cy="5770562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en-US" dirty="0">
                <a:latin typeface="+mn-lt"/>
              </a:rPr>
              <a:t>Program Slicing Approach </a:t>
            </a:r>
          </a:p>
          <a:p>
            <a:pPr>
              <a:defRPr/>
            </a:pPr>
            <a:r>
              <a:rPr lang="en-US" altLang="en-US" dirty="0">
                <a:solidFill>
                  <a:srgbClr val="000000"/>
                </a:solidFill>
                <a:latin typeface="+mn-lt"/>
              </a:rPr>
              <a:t>Two kinds of program slicing</a:t>
            </a:r>
          </a:p>
          <a:p>
            <a:pPr lvl="2">
              <a:defRPr/>
            </a:pPr>
            <a:r>
              <a:rPr lang="en-US" altLang="en-US" dirty="0">
                <a:solidFill>
                  <a:srgbClr val="00B050"/>
                </a:solidFill>
                <a:latin typeface="+mn-lt"/>
              </a:rPr>
              <a:t>Backward slicing</a:t>
            </a:r>
            <a:r>
              <a:rPr lang="en-US" altLang="en-US" dirty="0">
                <a:latin typeface="+mn-lt"/>
              </a:rPr>
              <a:t>: The set of statements that can affect the value of a variable at some point of interest in a program is called a backward slice.</a:t>
            </a:r>
          </a:p>
          <a:p>
            <a:pPr lvl="2">
              <a:defRPr/>
            </a:pPr>
            <a:r>
              <a:rPr lang="en-US" altLang="en-US" dirty="0">
                <a:solidFill>
                  <a:srgbClr val="00B050"/>
                </a:solidFill>
                <a:latin typeface="+mn-lt"/>
              </a:rPr>
              <a:t>Forward slicing</a:t>
            </a:r>
            <a:r>
              <a:rPr lang="en-US" altLang="en-US" dirty="0">
                <a:latin typeface="+mn-lt"/>
              </a:rPr>
              <a:t>: The set of statements that are likely to be affected by the value of a variable at some point of interest in a program is called  a forward slide.</a:t>
            </a:r>
          </a:p>
          <a:p>
            <a:pPr lvl="1">
              <a:defRPr/>
            </a:pPr>
            <a:r>
              <a:rPr lang="en-US" altLang="en-US" dirty="0">
                <a:solidFill>
                  <a:srgbClr val="000000"/>
                </a:solidFill>
                <a:latin typeface="+mn-lt"/>
              </a:rPr>
              <a:t>A key idea in program slicing</a:t>
            </a:r>
          </a:p>
          <a:p>
            <a:pPr lvl="2">
              <a:defRPr/>
            </a:pPr>
            <a:r>
              <a:rPr lang="en-US" altLang="en-US" dirty="0">
                <a:solidFill>
                  <a:srgbClr val="000000"/>
                </a:solidFill>
                <a:latin typeface="+mn-lt"/>
              </a:rPr>
              <a:t> Identify and extract a cohesive subset of statements from a program.</a:t>
            </a:r>
          </a:p>
          <a:p>
            <a:pPr lvl="1">
              <a:defRPr/>
            </a:pPr>
            <a:r>
              <a:rPr lang="en-US" altLang="en-US" dirty="0">
                <a:solidFill>
                  <a:srgbClr val="000000"/>
                </a:solidFill>
                <a:latin typeface="+mn-lt"/>
              </a:rPr>
              <a:t>Therefore, if a module supports multiple functionalities, a portion of the code can be extracted to form a new module.</a:t>
            </a:r>
          </a:p>
          <a:p>
            <a:pPr lvl="1">
              <a:defRPr/>
            </a:pPr>
            <a:r>
              <a:rPr lang="en-US" altLang="en-US" dirty="0">
                <a:solidFill>
                  <a:srgbClr val="000000"/>
                </a:solidFill>
                <a:latin typeface="+mn-lt"/>
              </a:rPr>
              <a:t>Large functions can be decomposed into smaller functions by means of program slicing to restructure programs.</a:t>
            </a:r>
          </a:p>
          <a:p>
            <a:pPr lvl="1">
              <a:defRPr/>
            </a:pPr>
            <a:endParaRPr lang="en-US" altLang="en-US" dirty="0">
              <a:latin typeface="+mn-lt"/>
            </a:endParaRPr>
          </a:p>
          <a:p>
            <a:pPr lvl="1">
              <a:defRPr/>
            </a:pPr>
            <a:endParaRPr lang="en-US" altLang="en-US" dirty="0">
              <a:latin typeface="+mn-lt"/>
            </a:endParaRPr>
          </a:p>
          <a:p>
            <a:pPr lvl="1">
              <a:defRPr/>
            </a:pPr>
            <a:endParaRPr lang="en-US" altLang="en-US" dirty="0">
              <a:latin typeface="+mn-lt"/>
            </a:endParaRPr>
          </a:p>
        </p:txBody>
      </p:sp>
    </p:spTree>
  </p:cSld>
  <p:clrMapOvr>
    <a:masterClrMapping/>
  </p:clrMapOvr>
  <p:transition spd="med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0D4117AB-DAF7-9BB4-85A0-BE2ECEEC5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IT">
                <a:ea typeface="ＭＳ Ｐゴシック" panose="020B0600070205080204" pitchFamily="34" charset="-128"/>
              </a:rPr>
              <a:t>Danger!</a:t>
            </a: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FFDE9528-88F7-9D2A-6364-F4E9E886F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IT" dirty="0">
                <a:ea typeface="ＭＳ Ｐゴシック" panose="020B0600070205080204" pitchFamily="34" charset="-128"/>
              </a:rPr>
              <a:t>Refactoring LIKELY introduces problems, because anytime you modify software you may well introduce bugs!</a:t>
            </a:r>
          </a:p>
          <a:p>
            <a:pPr lvl="1" eaLnBrk="1" hangingPunct="1"/>
            <a:r>
              <a:rPr lang="en-US" altLang="en-IT" dirty="0">
                <a:ea typeface="ＭＳ Ｐゴシック" panose="020B0600070205080204" pitchFamily="34" charset="-128"/>
              </a:rPr>
              <a:t>Refactoring adds risk! </a:t>
            </a:r>
          </a:p>
          <a:p>
            <a:pPr lvl="1" eaLnBrk="1" hangingPunct="1"/>
            <a:r>
              <a:rPr lang="en-US" altLang="en-IT" dirty="0">
                <a:ea typeface="ＭＳ Ｐゴシック" panose="020B0600070205080204" pitchFamily="34" charset="-128"/>
              </a:rPr>
              <a:t>It’s expensive – we’re spending time in development, but not “seeing” any external differences? </a:t>
            </a:r>
          </a:p>
          <a:p>
            <a:pPr lvl="1" eaLnBrk="1" hangingPunct="1"/>
            <a:r>
              <a:rPr lang="en-US" altLang="en-IT" dirty="0">
                <a:ea typeface="ＭＳ Ｐゴシック" panose="020B0600070205080204" pitchFamily="34" charset="-128"/>
              </a:rPr>
              <a:t>And we still must retest?</a:t>
            </a:r>
          </a:p>
          <a:p>
            <a:pPr lvl="1" eaLnBrk="1" hangingPunct="1"/>
            <a:r>
              <a:rPr lang="en-US" altLang="en-IT" dirty="0">
                <a:ea typeface="ＭＳ Ｐゴシック" panose="020B0600070205080204" pitchFamily="34" charset="-128"/>
              </a:rPr>
              <a:t>Why are we doing this?</a:t>
            </a:r>
          </a:p>
        </p:txBody>
      </p:sp>
      <p:sp>
        <p:nvSpPr>
          <p:cNvPr id="22532" name="Footer Placeholder 3">
            <a:extLst>
              <a:ext uri="{FF2B5EF4-FFF2-40B4-BE49-F238E27FC236}">
                <a16:creationId xmlns:a16="http://schemas.microsoft.com/office/drawing/2014/main" id="{FB535478-5069-3832-B921-47FDBB507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IT" sz="1200">
                <a:solidFill>
                  <a:schemeClr val="bg1"/>
                </a:solidFill>
                <a:latin typeface="News Gothic MT" panose="020B0503020103020203" pitchFamily="34" charset="0"/>
              </a:rPr>
              <a:t>Coming up: Motivation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C92EA213-2994-B925-761A-43DA94129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75" y="107950"/>
            <a:ext cx="8042275" cy="958850"/>
          </a:xfrm>
        </p:spPr>
        <p:txBody>
          <a:bodyPr/>
          <a:lstStyle/>
          <a:p>
            <a:pPr eaLnBrk="1" hangingPunct="1"/>
            <a:r>
              <a:rPr lang="en-US" altLang="en-IT" sz="3600">
                <a:ea typeface="ＭＳ Ｐゴシック" panose="020B0600070205080204" pitchFamily="34" charset="-128"/>
              </a:rPr>
              <a:t>How do I identify code to refactor?</a:t>
            </a:r>
          </a:p>
        </p:txBody>
      </p:sp>
      <p:sp>
        <p:nvSpPr>
          <p:cNvPr id="30723" name="Content Placeholder 2">
            <a:extLst>
              <a:ext uri="{FF2B5EF4-FFF2-40B4-BE49-F238E27FC236}">
                <a16:creationId xmlns:a16="http://schemas.microsoft.com/office/drawing/2014/main" id="{081CAE54-D0F1-8A32-FE85-AE2F3330C1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3675" y="1271752"/>
            <a:ext cx="8966200" cy="5259223"/>
          </a:xfrm>
        </p:spPr>
        <p:txBody>
          <a:bodyPr/>
          <a:lstStyle/>
          <a:p>
            <a:pPr eaLnBrk="1" hangingPunct="1"/>
            <a:r>
              <a:rPr lang="en-US" altLang="en-IT" dirty="0">
                <a:ea typeface="ＭＳ Ｐゴシック" panose="020B0600070205080204" pitchFamily="34" charset="-128"/>
              </a:rPr>
              <a:t>Martin Fowler uses “code smells” to identify when to refactor.</a:t>
            </a:r>
          </a:p>
          <a:p>
            <a:pPr eaLnBrk="1" hangingPunct="1"/>
            <a:endParaRPr lang="en-US" altLang="en-IT" dirty="0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IT" dirty="0">
                <a:ea typeface="ＭＳ Ｐゴシック" panose="020B0600070205080204" pitchFamily="34" charset="-128"/>
              </a:rPr>
              <a:t>Code smells are bad things done in code, somewhat like bad patterns in code</a:t>
            </a:r>
          </a:p>
          <a:p>
            <a:pPr eaLnBrk="1" hangingPunct="1"/>
            <a:endParaRPr lang="en-US" altLang="en-IT" dirty="0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IT" dirty="0">
                <a:ea typeface="ＭＳ Ｐゴシック" panose="020B0600070205080204" pitchFamily="34" charset="-128"/>
              </a:rPr>
              <a:t>Many people have tied code smells to the specific </a:t>
            </a:r>
            <a:r>
              <a:rPr lang="en-US" altLang="en-IT" dirty="0" err="1">
                <a:ea typeface="ＭＳ Ｐゴシック" panose="020B0600070205080204" pitchFamily="34" charset="-128"/>
              </a:rPr>
              <a:t>refactorings</a:t>
            </a:r>
            <a:r>
              <a:rPr lang="en-US" altLang="en-IT" dirty="0">
                <a:ea typeface="ＭＳ Ｐゴシック" panose="020B0600070205080204" pitchFamily="34" charset="-128"/>
              </a:rPr>
              <a:t> to fix the smell</a:t>
            </a:r>
          </a:p>
          <a:p>
            <a:pPr eaLnBrk="1" hangingPunct="1"/>
            <a:endParaRPr lang="en-US" altLang="en-IT" dirty="0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en-IT" dirty="0">
              <a:ea typeface="ＭＳ Ｐゴシック" panose="020B0600070205080204" pitchFamily="34" charset="-128"/>
            </a:endParaRPr>
          </a:p>
        </p:txBody>
      </p:sp>
      <p:sp>
        <p:nvSpPr>
          <p:cNvPr id="30724" name="Footer Placeholder 3">
            <a:extLst>
              <a:ext uri="{FF2B5EF4-FFF2-40B4-BE49-F238E27FC236}">
                <a16:creationId xmlns:a16="http://schemas.microsoft.com/office/drawing/2014/main" id="{2BD96FB7-C815-812A-5A85-E8B4A4208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IT" sz="1200">
                <a:solidFill>
                  <a:schemeClr val="bg1"/>
                </a:solidFill>
                <a:latin typeface="News Gothic MT" panose="020B0503020103020203" pitchFamily="34" charset="0"/>
              </a:rPr>
              <a:t>Coming up: Code Smells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4E298-76D0-CCE8-E443-9FF7EF125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T"/>
          </a:p>
        </p:txBody>
      </p:sp>
      <p:pic>
        <p:nvPicPr>
          <p:cNvPr id="5" name="Content Placeholder 4" descr="A collage of images of furniture and chairs&#10;&#10;Description automatically generated">
            <a:extLst>
              <a:ext uri="{FF2B5EF4-FFF2-40B4-BE49-F238E27FC236}">
                <a16:creationId xmlns:a16="http://schemas.microsoft.com/office/drawing/2014/main" id="{96D5191E-2958-F25F-A440-2B894508DD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8000" y="153464"/>
            <a:ext cx="7977526" cy="5800561"/>
          </a:xfrm>
        </p:spPr>
      </p:pic>
    </p:spTree>
    <p:extLst>
      <p:ext uri="{BB962C8B-B14F-4D97-AF65-F5344CB8AC3E}">
        <p14:creationId xmlns:p14="http://schemas.microsoft.com/office/powerpoint/2010/main" val="942766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11AE5-C43A-3DA4-6D8A-2A080604E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T"/>
          </a:p>
        </p:txBody>
      </p:sp>
      <p:pic>
        <p:nvPicPr>
          <p:cNvPr id="5" name="Content Placeholder 4" descr="A close-up of a document&#10;&#10;Description automatically generated">
            <a:extLst>
              <a:ext uri="{FF2B5EF4-FFF2-40B4-BE49-F238E27FC236}">
                <a16:creationId xmlns:a16="http://schemas.microsoft.com/office/drawing/2014/main" id="{525BFC8F-044D-47D1-C46C-BD69E01EFF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548" y="437790"/>
            <a:ext cx="9021452" cy="5756112"/>
          </a:xfrm>
        </p:spPr>
      </p:pic>
    </p:spTree>
    <p:extLst>
      <p:ext uri="{BB962C8B-B14F-4D97-AF65-F5344CB8AC3E}">
        <p14:creationId xmlns:p14="http://schemas.microsoft.com/office/powerpoint/2010/main" val="268838466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EB3A8-AF82-288C-210D-18F7C1930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T"/>
          </a:p>
        </p:txBody>
      </p:sp>
      <p:pic>
        <p:nvPicPr>
          <p:cNvPr id="5" name="Content Placeholder 4" descr="A baby in diaper and a baby in a diaper&#10;&#10;Description automatically generated">
            <a:extLst>
              <a:ext uri="{FF2B5EF4-FFF2-40B4-BE49-F238E27FC236}">
                <a16:creationId xmlns:a16="http://schemas.microsoft.com/office/drawing/2014/main" id="{C83D15BB-D183-70BC-CC41-5DA235C931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655" y="96904"/>
            <a:ext cx="8918092" cy="5474337"/>
          </a:xfrm>
        </p:spPr>
      </p:pic>
    </p:spTree>
    <p:extLst>
      <p:ext uri="{BB962C8B-B14F-4D97-AF65-F5344CB8AC3E}">
        <p14:creationId xmlns:p14="http://schemas.microsoft.com/office/powerpoint/2010/main" val="100732589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white sheet with red text&#10;&#10;Description automatically generated">
            <a:extLst>
              <a:ext uri="{FF2B5EF4-FFF2-40B4-BE49-F238E27FC236}">
                <a16:creationId xmlns:a16="http://schemas.microsoft.com/office/drawing/2014/main" id="{59103D41-34B9-D6F0-465D-8A751B0D20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1062" y="204375"/>
            <a:ext cx="6737771" cy="5706724"/>
          </a:xfrm>
        </p:spPr>
      </p:pic>
    </p:spTree>
    <p:extLst>
      <p:ext uri="{BB962C8B-B14F-4D97-AF65-F5344CB8AC3E}">
        <p14:creationId xmlns:p14="http://schemas.microsoft.com/office/powerpoint/2010/main" val="309322201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09510C84-B3AC-65F7-D511-54899177C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IT">
                <a:ea typeface="ＭＳ Ｐゴシック" panose="020B0600070205080204" pitchFamily="34" charset="-128"/>
              </a:rPr>
              <a:t>Code Smells</a:t>
            </a:r>
          </a:p>
        </p:txBody>
      </p:sp>
      <p:sp>
        <p:nvSpPr>
          <p:cNvPr id="31747" name="Content Placeholder 2">
            <a:extLst>
              <a:ext uri="{FF2B5EF4-FFF2-40B4-BE49-F238E27FC236}">
                <a16:creationId xmlns:a16="http://schemas.microsoft.com/office/drawing/2014/main" id="{39B39364-BB01-6EBA-9809-A9C8922994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IT" b="1">
                <a:ea typeface="ＭＳ Ｐゴシック" panose="020B0600070205080204" pitchFamily="34" charset="-128"/>
              </a:rPr>
              <a:t>Duplicated Code </a:t>
            </a:r>
          </a:p>
          <a:p>
            <a:pPr lvl="1" eaLnBrk="1" hangingPunct="1"/>
            <a:r>
              <a:rPr lang="en-US" altLang="en-IT" b="1">
                <a:ea typeface="ＭＳ Ｐゴシック" panose="020B0600070205080204" pitchFamily="34" charset="-128"/>
              </a:rPr>
              <a:t>bad because if you modify one instance of duplicated code but not the others, you (may) have introduced a bug! </a:t>
            </a:r>
          </a:p>
          <a:p>
            <a:pPr eaLnBrk="1" hangingPunct="1"/>
            <a:r>
              <a:rPr lang="en-US" altLang="en-IT" b="1">
                <a:ea typeface="ＭＳ Ｐゴシック" panose="020B0600070205080204" pitchFamily="34" charset="-128"/>
              </a:rPr>
              <a:t>Long Method </a:t>
            </a:r>
          </a:p>
          <a:p>
            <a:pPr lvl="1" eaLnBrk="1" hangingPunct="1"/>
            <a:r>
              <a:rPr lang="en-US" altLang="en-IT" b="1">
                <a:ea typeface="ＭＳ Ｐゴシック" panose="020B0600070205080204" pitchFamily="34" charset="-128"/>
              </a:rPr>
              <a:t>long methods are more difﬁcult to understand </a:t>
            </a:r>
          </a:p>
          <a:p>
            <a:pPr lvl="1" eaLnBrk="1" hangingPunct="1"/>
            <a:r>
              <a:rPr lang="en-US" altLang="en-IT" b="1">
                <a:ea typeface="ＭＳ Ｐゴシック" panose="020B0600070205080204" pitchFamily="34" charset="-128"/>
              </a:rPr>
              <a:t>performance concerns with respect to lots of short methods are largely obsolete </a:t>
            </a:r>
            <a:endParaRPr lang="en-US" altLang="en-IT">
              <a:ea typeface="ＭＳ Ｐゴシック" panose="020B0600070205080204" pitchFamily="34" charset="-128"/>
            </a:endParaRPr>
          </a:p>
        </p:txBody>
      </p:sp>
      <p:sp>
        <p:nvSpPr>
          <p:cNvPr id="31748" name="Footer Placeholder 3">
            <a:extLst>
              <a:ext uri="{FF2B5EF4-FFF2-40B4-BE49-F238E27FC236}">
                <a16:creationId xmlns:a16="http://schemas.microsoft.com/office/drawing/2014/main" id="{6E2A3809-09E8-2A19-405C-8E5121B79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IT" sz="1200">
                <a:solidFill>
                  <a:schemeClr val="bg1"/>
                </a:solidFill>
                <a:latin typeface="News Gothic MT" panose="020B0503020103020203" pitchFamily="34" charset="0"/>
              </a:rPr>
              <a:t>Coming up: Code Smells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FB523B18-01B3-437A-6FE3-AC63E4AA9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IT">
                <a:ea typeface="ＭＳ Ｐゴシック" panose="020B0600070205080204" pitchFamily="34" charset="-128"/>
              </a:rPr>
              <a:t>Code Smells</a:t>
            </a:r>
          </a:p>
        </p:txBody>
      </p:sp>
      <p:sp>
        <p:nvSpPr>
          <p:cNvPr id="32771" name="Content Placeholder 2">
            <a:extLst>
              <a:ext uri="{FF2B5EF4-FFF2-40B4-BE49-F238E27FC236}">
                <a16:creationId xmlns:a16="http://schemas.microsoft.com/office/drawing/2014/main" id="{F56415A1-58E5-578B-EBEB-D3A0531079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IT" b="1">
                <a:ea typeface="ＭＳ Ｐゴシック" panose="020B0600070205080204" pitchFamily="34" charset="-128"/>
              </a:rPr>
              <a:t>Large Class</a:t>
            </a:r>
          </a:p>
          <a:p>
            <a:pPr lvl="1" eaLnBrk="1" hangingPunct="1"/>
            <a:r>
              <a:rPr lang="en-US" altLang="en-IT" b="1">
                <a:ea typeface="ＭＳ Ｐゴシック" panose="020B0600070205080204" pitchFamily="34" charset="-128"/>
              </a:rPr>
              <a:t>classes try to do too much, which reduces cohesion </a:t>
            </a:r>
          </a:p>
          <a:p>
            <a:pPr eaLnBrk="1" hangingPunct="1"/>
            <a:r>
              <a:rPr lang="en-US" altLang="en-IT" b="1">
                <a:ea typeface="ＭＳ Ｐゴシック" panose="020B0600070205080204" pitchFamily="34" charset="-128"/>
              </a:rPr>
              <a:t>Long Parameter List </a:t>
            </a:r>
          </a:p>
          <a:p>
            <a:pPr lvl="1" eaLnBrk="1" hangingPunct="1"/>
            <a:r>
              <a:rPr lang="en-US" altLang="en-IT" b="1">
                <a:ea typeface="ＭＳ Ｐゴシック" panose="020B0600070205080204" pitchFamily="34" charset="-128"/>
              </a:rPr>
              <a:t>hard to understand, can become inconsistent </a:t>
            </a:r>
          </a:p>
          <a:p>
            <a:pPr eaLnBrk="1" hangingPunct="1"/>
            <a:r>
              <a:rPr lang="en-US" altLang="en-IT" b="1">
                <a:ea typeface="ＭＳ Ｐゴシック" panose="020B0600070205080204" pitchFamily="34" charset="-128"/>
              </a:rPr>
              <a:t>Divergent Change</a:t>
            </a:r>
          </a:p>
          <a:p>
            <a:pPr lvl="1" eaLnBrk="1" hangingPunct="1"/>
            <a:r>
              <a:rPr lang="en-US" altLang="en-IT" b="1">
                <a:ea typeface="ＭＳ Ｐゴシック" panose="020B0600070205080204" pitchFamily="34" charset="-128"/>
              </a:rPr>
              <a:t>Related to cohesion: symptom: one type of change requires changing one subset of methods; another type of change requires changing another subset</a:t>
            </a:r>
            <a:endParaRPr lang="en-US" altLang="en-IT">
              <a:ea typeface="ＭＳ Ｐゴシック" panose="020B0600070205080204" pitchFamily="34" charset="-128"/>
            </a:endParaRPr>
          </a:p>
        </p:txBody>
      </p:sp>
      <p:sp>
        <p:nvSpPr>
          <p:cNvPr id="32772" name="Footer Placeholder 3">
            <a:extLst>
              <a:ext uri="{FF2B5EF4-FFF2-40B4-BE49-F238E27FC236}">
                <a16:creationId xmlns:a16="http://schemas.microsoft.com/office/drawing/2014/main" id="{1F1D3F62-2E6B-0AC4-1E14-2D3232492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IT" sz="1200">
                <a:solidFill>
                  <a:schemeClr val="bg1"/>
                </a:solidFill>
                <a:latin typeface="News Gothic MT" panose="020B0503020103020203" pitchFamily="34" charset="0"/>
              </a:rPr>
              <a:t>Coming up: Code Smells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>
            <a:extLst>
              <a:ext uri="{FF2B5EF4-FFF2-40B4-BE49-F238E27FC236}">
                <a16:creationId xmlns:a16="http://schemas.microsoft.com/office/drawing/2014/main" id="{E34BFB0F-A1F9-04D1-8C02-C80EF0CA2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IT">
                <a:ea typeface="ＭＳ Ｐゴシック" panose="020B0600070205080204" pitchFamily="34" charset="-128"/>
              </a:rPr>
              <a:t>Code Smells</a:t>
            </a:r>
          </a:p>
        </p:txBody>
      </p:sp>
      <p:sp>
        <p:nvSpPr>
          <p:cNvPr id="33795" name="Content Placeholder 2">
            <a:extLst>
              <a:ext uri="{FF2B5EF4-FFF2-40B4-BE49-F238E27FC236}">
                <a16:creationId xmlns:a16="http://schemas.microsoft.com/office/drawing/2014/main" id="{BABDB8D7-CDCD-F708-46BC-301235A44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275" y="1600200"/>
            <a:ext cx="8042275" cy="4800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IT" b="1">
                <a:ea typeface="ＭＳ Ｐゴシック" panose="020B0600070205080204" pitchFamily="34" charset="-128"/>
              </a:rPr>
              <a:t>Lazy Class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IT" b="1">
                <a:ea typeface="ＭＳ Ｐゴシック" panose="020B0600070205080204" pitchFamily="34" charset="-128"/>
              </a:rPr>
              <a:t>A class that no longer “pays its way” 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IT" b="1">
                <a:ea typeface="ＭＳ Ｐゴシック" panose="020B0600070205080204" pitchFamily="34" charset="-128"/>
              </a:rPr>
              <a:t>e.g. may be a class that was downsized by a previous refactoring, or represented planned functionality that did not pan out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IT" b="1">
                <a:ea typeface="ＭＳ Ｐゴシック" panose="020B0600070205080204" pitchFamily="34" charset="-128"/>
              </a:rPr>
              <a:t>Speculative Generality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IT" b="1">
                <a:ea typeface="ＭＳ Ｐゴシック" panose="020B0600070205080204" pitchFamily="34" charset="-128"/>
              </a:rPr>
              <a:t>“Oh I think we need the ability to do this kind of thing someday”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IT" b="1">
                <a:ea typeface="ＭＳ Ｐゴシック" panose="020B0600070205080204" pitchFamily="34" charset="-128"/>
              </a:rPr>
              <a:t>Temporary Field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IT" b="1">
                <a:ea typeface="ＭＳ Ｐゴシック" panose="020B0600070205080204" pitchFamily="34" charset="-128"/>
              </a:rPr>
              <a:t>An attribute of an object is only set in certain circumstances; but an object should need all of its attributes </a:t>
            </a:r>
            <a:endParaRPr lang="en-US" altLang="en-IT">
              <a:ea typeface="ＭＳ Ｐゴシック" panose="020B0600070205080204" pitchFamily="34" charset="-128"/>
            </a:endParaRPr>
          </a:p>
        </p:txBody>
      </p:sp>
      <p:sp>
        <p:nvSpPr>
          <p:cNvPr id="33796" name="Footer Placeholder 3">
            <a:extLst>
              <a:ext uri="{FF2B5EF4-FFF2-40B4-BE49-F238E27FC236}">
                <a16:creationId xmlns:a16="http://schemas.microsoft.com/office/drawing/2014/main" id="{AF555DCF-A69A-B418-9562-BFD859907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IT" sz="1200">
                <a:solidFill>
                  <a:schemeClr val="bg1"/>
                </a:solidFill>
                <a:latin typeface="News Gothic MT" panose="020B0503020103020203" pitchFamily="34" charset="0"/>
              </a:rPr>
              <a:t>Coming up: Code Smells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>
            <a:extLst>
              <a:ext uri="{FF2B5EF4-FFF2-40B4-BE49-F238E27FC236}">
                <a16:creationId xmlns:a16="http://schemas.microsoft.com/office/drawing/2014/main" id="{022D1BCB-D86F-7CB8-467B-3352A4B7C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IT">
                <a:ea typeface="ＭＳ Ｐゴシック" panose="020B0600070205080204" pitchFamily="34" charset="-128"/>
              </a:rPr>
              <a:t>Code Smells</a:t>
            </a:r>
          </a:p>
        </p:txBody>
      </p:sp>
      <p:sp>
        <p:nvSpPr>
          <p:cNvPr id="34819" name="Content Placeholder 2">
            <a:extLst>
              <a:ext uri="{FF2B5EF4-FFF2-40B4-BE49-F238E27FC236}">
                <a16:creationId xmlns:a16="http://schemas.microsoft.com/office/drawing/2014/main" id="{63ACD0F4-23C5-7593-BDDF-CB087551E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275" y="1600200"/>
            <a:ext cx="8042275" cy="4800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IT" b="1">
                <a:ea typeface="ＭＳ Ｐゴシック" panose="020B0600070205080204" pitchFamily="34" charset="-128"/>
              </a:rPr>
              <a:t>Data Class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IT" b="1">
                <a:ea typeface="ＭＳ Ｐゴシック" panose="020B0600070205080204" pitchFamily="34" charset="-128"/>
              </a:rPr>
              <a:t>These are classes that have ﬁelds, getting and setting methods for the ﬁelds, and nothing else; they are data holders, but objects should be about data AND behavior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IT" b="1">
                <a:ea typeface="ＭＳ Ｐゴシック" panose="020B0600070205080204" pitchFamily="34" charset="-128"/>
              </a:rPr>
              <a:t>Refused Bequest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IT" b="1">
                <a:ea typeface="ＭＳ Ｐゴシック" panose="020B0600070205080204" pitchFamily="34" charset="-128"/>
              </a:rPr>
              <a:t>A subclass ignores most of the functionality provided by its superclass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IT" b="1">
                <a:ea typeface="ＭＳ Ｐゴシック" panose="020B0600070205080204" pitchFamily="34" charset="-128"/>
              </a:rPr>
              <a:t>Subclass may not pass the “IS-A” test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IT" b="1">
                <a:ea typeface="ＭＳ Ｐゴシック" panose="020B0600070205080204" pitchFamily="34" charset="-128"/>
              </a:rPr>
              <a:t>Comments (!)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IT" b="1">
                <a:ea typeface="ＭＳ Ｐゴシック" panose="020B0600070205080204" pitchFamily="34" charset="-128"/>
              </a:rPr>
              <a:t>Comments are sometimes used to hide bad code 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IT" b="1">
                <a:ea typeface="ＭＳ Ｐゴシック" panose="020B0600070205080204" pitchFamily="34" charset="-128"/>
              </a:rPr>
              <a:t>“…comments often are used as a deodorant” (!)</a:t>
            </a:r>
            <a:endParaRPr lang="en-US" altLang="en-IT">
              <a:ea typeface="ＭＳ Ｐゴシック" panose="020B0600070205080204" pitchFamily="34" charset="-128"/>
            </a:endParaRPr>
          </a:p>
        </p:txBody>
      </p:sp>
      <p:sp>
        <p:nvSpPr>
          <p:cNvPr id="34820" name="Footer Placeholder 3">
            <a:extLst>
              <a:ext uri="{FF2B5EF4-FFF2-40B4-BE49-F238E27FC236}">
                <a16:creationId xmlns:a16="http://schemas.microsoft.com/office/drawing/2014/main" id="{6C023CAF-6D36-42F6-2447-A00C5D207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IT" sz="1200">
                <a:solidFill>
                  <a:schemeClr val="bg1"/>
                </a:solidFill>
                <a:latin typeface="News Gothic MT" panose="020B0503020103020203" pitchFamily="34" charset="0"/>
              </a:rPr>
              <a:t>Coming up: Many more code smells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:a16="http://schemas.microsoft.com/office/drawing/2014/main" id="{03EC4987-E422-1915-5510-C6D03B08B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IT">
                <a:ea typeface="ＭＳ Ｐゴシック" panose="020B0600070205080204" pitchFamily="34" charset="-128"/>
              </a:rPr>
              <a:t>Many more code smells</a:t>
            </a:r>
          </a:p>
        </p:txBody>
      </p:sp>
      <p:sp>
        <p:nvSpPr>
          <p:cNvPr id="35843" name="Content Placeholder 2">
            <a:extLst>
              <a:ext uri="{FF2B5EF4-FFF2-40B4-BE49-F238E27FC236}">
                <a16:creationId xmlns:a16="http://schemas.microsoft.com/office/drawing/2014/main" id="{295AE5A8-7CDA-AC82-2BA1-0CDDE6A02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IT" dirty="0">
                <a:ea typeface="ＭＳ Ｐゴシック" panose="020B0600070205080204" pitchFamily="34" charset="-128"/>
              </a:rPr>
              <a:t>Many more smells at:</a:t>
            </a:r>
          </a:p>
          <a:p>
            <a:pPr lvl="1" eaLnBrk="1" hangingPunct="1"/>
            <a:r>
              <a:rPr lang="en-US" altLang="en-IT" dirty="0">
                <a:ea typeface="ＭＳ Ｐゴシック" panose="020B0600070205080204" pitchFamily="34" charset="-128"/>
                <a:hlinkClick r:id="rId2"/>
              </a:rPr>
              <a:t>http://c2.com/cgi/wiki?CodeSmell</a:t>
            </a:r>
            <a:endParaRPr lang="en-US" altLang="en-IT" dirty="0">
              <a:ea typeface="ＭＳ Ｐゴシック" panose="020B0600070205080204" pitchFamily="34" charset="-128"/>
            </a:endParaRPr>
          </a:p>
          <a:p>
            <a:pPr lvl="1" eaLnBrk="1" hangingPunct="1"/>
            <a:endParaRPr lang="en-US" altLang="en-IT" dirty="0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IT" dirty="0">
                <a:ea typeface="ＭＳ Ｐゴシック" panose="020B0600070205080204" pitchFamily="34" charset="-128"/>
              </a:rPr>
              <a:t>Given a smell, what </a:t>
            </a:r>
            <a:r>
              <a:rPr lang="en-US" altLang="en-IT" dirty="0" err="1">
                <a:ea typeface="ＭＳ Ｐゴシック" panose="020B0600070205080204" pitchFamily="34" charset="-128"/>
              </a:rPr>
              <a:t>refactorings</a:t>
            </a:r>
            <a:r>
              <a:rPr lang="en-US" altLang="en-IT" dirty="0">
                <a:ea typeface="ＭＳ Ｐゴシック" panose="020B0600070205080204" pitchFamily="34" charset="-128"/>
              </a:rPr>
              <a:t> are likely applicable?</a:t>
            </a:r>
          </a:p>
          <a:p>
            <a:pPr lvl="1" eaLnBrk="1" hangingPunct="1"/>
            <a:r>
              <a:rPr lang="en-US" altLang="en-IT" dirty="0">
                <a:ea typeface="ＭＳ Ｐゴシック" panose="020B0600070205080204" pitchFamily="34" charset="-128"/>
                <a:hlinkClick r:id="rId3"/>
              </a:rPr>
              <a:t>http://wiki.java.net/bin/view/People/SmellsToRefactorings</a:t>
            </a:r>
            <a:endParaRPr lang="en-US" altLang="en-IT" dirty="0">
              <a:ea typeface="ＭＳ Ｐゴシック" panose="020B0600070205080204" pitchFamily="34" charset="-128"/>
            </a:endParaRPr>
          </a:p>
          <a:p>
            <a:pPr lvl="1" eaLnBrk="1" hangingPunct="1"/>
            <a:endParaRPr lang="en-US" altLang="en-IT" dirty="0">
              <a:ea typeface="ＭＳ Ｐゴシック" panose="020B0600070205080204" pitchFamily="34" charset="-128"/>
            </a:endParaRPr>
          </a:p>
          <a:p>
            <a:pPr lvl="1" eaLnBrk="1" hangingPunct="1"/>
            <a:endParaRPr lang="en-US" altLang="en-IT" dirty="0">
              <a:ea typeface="ＭＳ Ｐゴシック" panose="020B0600070205080204" pitchFamily="34" charset="-128"/>
            </a:endParaRPr>
          </a:p>
        </p:txBody>
      </p:sp>
      <p:sp>
        <p:nvSpPr>
          <p:cNvPr id="35844" name="Footer Placeholder 3">
            <a:extLst>
              <a:ext uri="{FF2B5EF4-FFF2-40B4-BE49-F238E27FC236}">
                <a16:creationId xmlns:a16="http://schemas.microsoft.com/office/drawing/2014/main" id="{DFE49C75-555E-7173-C43E-92122B883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IT" sz="1200">
                <a:solidFill>
                  <a:schemeClr val="bg1"/>
                </a:solidFill>
                <a:latin typeface="News Gothic MT" panose="020B0503020103020203" pitchFamily="34" charset="0"/>
              </a:rPr>
              <a:t>Coming up: Why use them?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>
            <a:extLst>
              <a:ext uri="{FF2B5EF4-FFF2-40B4-BE49-F238E27FC236}">
                <a16:creationId xmlns:a16="http://schemas.microsoft.com/office/drawing/2014/main" id="{1957C711-1815-F74E-3B07-03F1C01DA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IT">
                <a:ea typeface="ＭＳ Ｐゴシック" panose="020B0600070205080204" pitchFamily="34" charset="-128"/>
              </a:rPr>
              <a:t>Why use them?</a:t>
            </a:r>
          </a:p>
        </p:txBody>
      </p:sp>
      <p:sp>
        <p:nvSpPr>
          <p:cNvPr id="38915" name="Content Placeholder 2">
            <a:extLst>
              <a:ext uri="{FF2B5EF4-FFF2-40B4-BE49-F238E27FC236}">
                <a16:creationId xmlns:a16="http://schemas.microsoft.com/office/drawing/2014/main" id="{A2C09D79-C850-B18A-6A99-E044044783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IT">
                <a:ea typeface="ＭＳ Ｐゴシック" panose="020B0600070205080204" pitchFamily="34" charset="-128"/>
              </a:rPr>
              <a:t>Code smells and refactoring are techniques to help you discover problems in design and implementation and apply known solutions to these problems</a:t>
            </a:r>
          </a:p>
          <a:p>
            <a:pPr eaLnBrk="1" hangingPunct="1"/>
            <a:endParaRPr lang="en-US" altLang="en-IT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IT">
                <a:ea typeface="ＭＳ Ｐゴシック" panose="020B0600070205080204" pitchFamily="34" charset="-128"/>
              </a:rPr>
              <a:t>Should they be used all the time? You should always think about them, but only apply them when they make sense… sometimes you need a long method… but think about it to make sure!</a:t>
            </a:r>
          </a:p>
        </p:txBody>
      </p:sp>
      <p:sp>
        <p:nvSpPr>
          <p:cNvPr id="38916" name="Footer Placeholder 3">
            <a:extLst>
              <a:ext uri="{FF2B5EF4-FFF2-40B4-BE49-F238E27FC236}">
                <a16:creationId xmlns:a16="http://schemas.microsoft.com/office/drawing/2014/main" id="{909BE8D3-D600-3A1E-55F2-189D0C2A2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IT" sz="1200">
                <a:solidFill>
                  <a:schemeClr val="bg1"/>
                </a:solidFill>
                <a:latin typeface="News Gothic MT" panose="020B0503020103020203" pitchFamily="34" charset="0"/>
              </a:rPr>
              <a:t>Coming up: Adding safety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>
            <a:extLst>
              <a:ext uri="{FF2B5EF4-FFF2-40B4-BE49-F238E27FC236}">
                <a16:creationId xmlns:a16="http://schemas.microsoft.com/office/drawing/2014/main" id="{B95FC8D0-BBA7-B515-E39B-6A0891FDD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IT">
                <a:ea typeface="ＭＳ Ｐゴシック" panose="020B0600070205080204" pitchFamily="34" charset="-128"/>
              </a:rPr>
              <a:t>Adding safety</a:t>
            </a:r>
          </a:p>
        </p:txBody>
      </p:sp>
      <p:sp>
        <p:nvSpPr>
          <p:cNvPr id="39939" name="Content Placeholder 2">
            <a:extLst>
              <a:ext uri="{FF2B5EF4-FFF2-40B4-BE49-F238E27FC236}">
                <a16:creationId xmlns:a16="http://schemas.microsoft.com/office/drawing/2014/main" id="{5CB1393C-7C3B-AE9B-B332-B9B322FE25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IT">
                <a:ea typeface="ＭＳ Ｐゴシック" panose="020B0600070205080204" pitchFamily="34" charset="-128"/>
              </a:rPr>
              <a:t>Remember that making these changes incurs some risk of introducing bugs!</a:t>
            </a:r>
          </a:p>
          <a:p>
            <a:pPr eaLnBrk="1" hangingPunct="1"/>
            <a:r>
              <a:rPr lang="en-US" altLang="en-IT">
                <a:ea typeface="ＭＳ Ｐゴシック" panose="020B0600070205080204" pitchFamily="34" charset="-128"/>
              </a:rPr>
              <a:t>To reduce that risk</a:t>
            </a:r>
          </a:p>
          <a:p>
            <a:pPr lvl="1" eaLnBrk="1" hangingPunct="1"/>
            <a:r>
              <a:rPr lang="en-US" altLang="en-IT">
                <a:ea typeface="ＭＳ Ｐゴシック" panose="020B0600070205080204" pitchFamily="34" charset="-128"/>
              </a:rPr>
              <a:t>You must test constantly – using automated tests wherever possible</a:t>
            </a:r>
          </a:p>
          <a:p>
            <a:pPr lvl="1" eaLnBrk="1" hangingPunct="1"/>
            <a:r>
              <a:rPr lang="en-US" altLang="en-IT">
                <a:ea typeface="ＭＳ Ｐゴシック" panose="020B0600070205080204" pitchFamily="34" charset="-128"/>
              </a:rPr>
              <a:t>Use refactoring patterns – I’ve shown you two… there are more.. many more! </a:t>
            </a:r>
          </a:p>
          <a:p>
            <a:pPr lvl="2" eaLnBrk="1" hangingPunct="1"/>
            <a:r>
              <a:rPr lang="en-US" altLang="en-IT">
                <a:ea typeface="ＭＳ Ｐゴシック" panose="020B0600070205080204" pitchFamily="34" charset="-128"/>
                <a:hlinkClick r:id="rId2"/>
              </a:rPr>
              <a:t>http://www.refactoring.com/catalog/index.html</a:t>
            </a:r>
            <a:endParaRPr lang="en-US" altLang="en-IT">
              <a:ea typeface="ＭＳ Ｐゴシック" panose="020B0600070205080204" pitchFamily="34" charset="-128"/>
            </a:endParaRPr>
          </a:p>
          <a:p>
            <a:pPr lvl="1" eaLnBrk="1" hangingPunct="1"/>
            <a:r>
              <a:rPr lang="en-US" altLang="en-IT">
                <a:ea typeface="ＭＳ Ｐゴシック" panose="020B0600070205080204" pitchFamily="34" charset="-128"/>
              </a:rPr>
              <a:t>Use tools! Netbeans and Eclipse both support basic refactoring (http://wiki.netbeans.org/Refactoring)</a:t>
            </a:r>
          </a:p>
        </p:txBody>
      </p:sp>
      <p:sp>
        <p:nvSpPr>
          <p:cNvPr id="39940" name="Footer Placeholder 3">
            <a:extLst>
              <a:ext uri="{FF2B5EF4-FFF2-40B4-BE49-F238E27FC236}">
                <a16:creationId xmlns:a16="http://schemas.microsoft.com/office/drawing/2014/main" id="{88DA897A-9CE2-5F2A-D320-E6DFD30F6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IT" sz="1200">
                <a:solidFill>
                  <a:schemeClr val="bg1"/>
                </a:solidFill>
                <a:latin typeface="News Gothic MT" panose="020B0503020103020203" pitchFamily="34" charset="0"/>
              </a:rPr>
              <a:t>Coming up: Question from your boss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>
            <a:extLst>
              <a:ext uri="{FF2B5EF4-FFF2-40B4-BE49-F238E27FC236}">
                <a16:creationId xmlns:a16="http://schemas.microsoft.com/office/drawing/2014/main" id="{233CF1AD-7901-7161-6D7E-F54A62A01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IT" dirty="0">
                <a:ea typeface="ＭＳ Ｐゴシック" panose="020B0600070205080204" pitchFamily="34" charset="-128"/>
              </a:rPr>
              <a:t>Question for your boss</a:t>
            </a:r>
          </a:p>
        </p:txBody>
      </p:sp>
      <p:sp>
        <p:nvSpPr>
          <p:cNvPr id="40963" name="Content Placeholder 2">
            <a:extLst>
              <a:ext uri="{FF2B5EF4-FFF2-40B4-BE49-F238E27FC236}">
                <a16:creationId xmlns:a16="http://schemas.microsoft.com/office/drawing/2014/main" id="{D2E5643B-7256-0726-83A5-CE45C09AD2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 2" pitchFamily="2" charset="2"/>
              <a:buNone/>
            </a:pPr>
            <a:r>
              <a:rPr lang="en-US" altLang="en-IT" sz="2000">
                <a:ea typeface="ＭＳ Ｐゴシック" panose="020B0600070205080204" pitchFamily="34" charset="-128"/>
              </a:rPr>
              <a:t>"Refactoring is an overhead activity - I'm paid to write new, revenue generating features." </a:t>
            </a:r>
          </a:p>
          <a:p>
            <a:r>
              <a:rPr lang="en-US" altLang="en-IT" sz="2000">
                <a:ea typeface="ＭＳ Ｐゴシック" panose="020B0600070205080204" pitchFamily="34" charset="-128"/>
              </a:rPr>
              <a:t>Tools/technologies are now available to allow refactoring to be done quickly and relatively painlessly. </a:t>
            </a:r>
          </a:p>
          <a:p>
            <a:r>
              <a:rPr lang="en-US" altLang="en-IT" sz="2000">
                <a:ea typeface="ＭＳ Ｐゴシック" panose="020B0600070205080204" pitchFamily="34" charset="-128"/>
              </a:rPr>
              <a:t>Experiences reported by some object-oriented programmers suggest that the overhead of refactoring is more than compensated by reduced efforts and intervals in other phases of program development. </a:t>
            </a:r>
          </a:p>
          <a:p>
            <a:r>
              <a:rPr lang="en-US" altLang="en-IT" sz="2000">
                <a:ea typeface="ＭＳ Ｐゴシック" panose="020B0600070205080204" pitchFamily="34" charset="-128"/>
              </a:rPr>
              <a:t>While refactoring may seem a bit awkward and an overhead at first, as it becomes part of a software development regimen, it stops feeling like overhead and starts feeling like an essential. </a:t>
            </a:r>
          </a:p>
          <a:p>
            <a:endParaRPr lang="en-US" altLang="en-IT" sz="2000">
              <a:ea typeface="ＭＳ Ｐゴシック" panose="020B0600070205080204" pitchFamily="34" charset="-128"/>
            </a:endParaRPr>
          </a:p>
        </p:txBody>
      </p:sp>
      <p:sp>
        <p:nvSpPr>
          <p:cNvPr id="40964" name="Footer Placeholder 3">
            <a:extLst>
              <a:ext uri="{FF2B5EF4-FFF2-40B4-BE49-F238E27FC236}">
                <a16:creationId xmlns:a16="http://schemas.microsoft.com/office/drawing/2014/main" id="{60F0D708-C6BD-DDF1-AF7B-0FCBCC1C5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IT" sz="1200">
                <a:solidFill>
                  <a:schemeClr val="bg1"/>
                </a:solidFill>
                <a:latin typeface="News Gothic MT" panose="020B0503020103020203" pitchFamily="34" charset="0"/>
              </a:rPr>
              <a:t>Coming up: Summary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37D84C-FC1D-D9A9-EB6E-7DB7C4453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6542088"/>
            <a:ext cx="6477000" cy="315912"/>
          </a:xfrm>
          <a:prstGeom prst="rect">
            <a:avLst/>
          </a:prstGeom>
          <a:noFill/>
          <a:ln>
            <a:noFill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IT" sz="1200">
                <a:solidFill>
                  <a:srgbClr val="FFFFFF"/>
                </a:solidFill>
                <a:latin typeface="News Gothic MT" panose="020B0503020103020203" pitchFamily="34" charset="0"/>
              </a:rPr>
              <a:t>Quoted from: http://st-www.cs.illinois.edu/users/opdyke/wfo.990201.refac.html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>
            <a:extLst>
              <a:ext uri="{FF2B5EF4-FFF2-40B4-BE49-F238E27FC236}">
                <a16:creationId xmlns:a16="http://schemas.microsoft.com/office/drawing/2014/main" id="{233CF1AD-7901-7161-6D7E-F54A62A01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IT" dirty="0">
                <a:ea typeface="ＭＳ Ｐゴシック" panose="020B0600070205080204" pitchFamily="34" charset="-128"/>
              </a:rPr>
              <a:t>Question for your boss</a:t>
            </a:r>
          </a:p>
        </p:txBody>
      </p:sp>
      <p:sp>
        <p:nvSpPr>
          <p:cNvPr id="40963" name="Content Placeholder 2">
            <a:extLst>
              <a:ext uri="{FF2B5EF4-FFF2-40B4-BE49-F238E27FC236}">
                <a16:creationId xmlns:a16="http://schemas.microsoft.com/office/drawing/2014/main" id="{D2E5643B-7256-0726-83A5-CE45C09AD2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 2" pitchFamily="2" charset="2"/>
              <a:buNone/>
            </a:pPr>
            <a:r>
              <a:rPr lang="en-US" altLang="en-IT" sz="2000">
                <a:ea typeface="ＭＳ Ｐゴシック" panose="020B0600070205080204" pitchFamily="34" charset="-128"/>
              </a:rPr>
              <a:t>"Refactoring is an overhead activity - I'm paid to write new, revenue generating features." </a:t>
            </a:r>
          </a:p>
          <a:p>
            <a:r>
              <a:rPr lang="en-US" altLang="en-IT" sz="2000">
                <a:ea typeface="ＭＳ Ｐゴシック" panose="020B0600070205080204" pitchFamily="34" charset="-128"/>
              </a:rPr>
              <a:t>Tools/technologies are now available to allow refactoring to be done quickly and relatively painlessly. </a:t>
            </a:r>
          </a:p>
          <a:p>
            <a:r>
              <a:rPr lang="en-US" altLang="en-IT" sz="2000">
                <a:ea typeface="ＭＳ Ｐゴシック" panose="020B0600070205080204" pitchFamily="34" charset="-128"/>
              </a:rPr>
              <a:t>Experiences reported by some object-oriented programmers suggest that the overhead of refactoring is more than compensated by reduced efforts and intervals in other phases of program development. </a:t>
            </a:r>
          </a:p>
          <a:p>
            <a:r>
              <a:rPr lang="en-US" altLang="en-IT" sz="2000">
                <a:ea typeface="ＭＳ Ｐゴシック" panose="020B0600070205080204" pitchFamily="34" charset="-128"/>
              </a:rPr>
              <a:t>While refactoring may seem a bit awkward and an overhead at first, as it becomes part of a software development regimen, it stops feeling like overhead and starts feeling like an essential. </a:t>
            </a:r>
          </a:p>
          <a:p>
            <a:endParaRPr lang="en-US" altLang="en-IT" sz="2000">
              <a:ea typeface="ＭＳ Ｐゴシック" panose="020B0600070205080204" pitchFamily="34" charset="-128"/>
            </a:endParaRPr>
          </a:p>
        </p:txBody>
      </p:sp>
      <p:sp>
        <p:nvSpPr>
          <p:cNvPr id="40964" name="Footer Placeholder 3">
            <a:extLst>
              <a:ext uri="{FF2B5EF4-FFF2-40B4-BE49-F238E27FC236}">
                <a16:creationId xmlns:a16="http://schemas.microsoft.com/office/drawing/2014/main" id="{60F0D708-C6BD-DDF1-AF7B-0FCBCC1C5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IT" sz="1200">
                <a:solidFill>
                  <a:schemeClr val="bg1"/>
                </a:solidFill>
                <a:latin typeface="News Gothic MT" panose="020B0503020103020203" pitchFamily="34" charset="0"/>
              </a:rPr>
              <a:t>Coming up: Summary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37D84C-FC1D-D9A9-EB6E-7DB7C4453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6542088"/>
            <a:ext cx="6477000" cy="315912"/>
          </a:xfrm>
          <a:prstGeom prst="rect">
            <a:avLst/>
          </a:prstGeom>
          <a:noFill/>
          <a:ln>
            <a:noFill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IT" sz="1200">
                <a:solidFill>
                  <a:srgbClr val="FFFFFF"/>
                </a:solidFill>
                <a:latin typeface="News Gothic MT" panose="020B0503020103020203" pitchFamily="34" charset="0"/>
              </a:rPr>
              <a:t>Quoted from: http://st-www.cs.illinois.edu/users/opdyke/wfo.990201.refac.html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172851-E2D3-32D2-E846-F4BFA046939D}"/>
              </a:ext>
            </a:extLst>
          </p:cNvPr>
          <p:cNvSpPr txBox="1"/>
          <p:nvPr/>
        </p:nvSpPr>
        <p:spPr>
          <a:xfrm>
            <a:off x="3085501" y="4382813"/>
            <a:ext cx="330250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9600" dirty="0">
                <a:solidFill>
                  <a:schemeClr val="bg2">
                    <a:lumMod val="50000"/>
                  </a:schemeClr>
                </a:solidFill>
                <a:sym typeface="Wingdings" pitchFamily="2" charset="2"/>
              </a:rPr>
              <a:t></a:t>
            </a:r>
            <a:r>
              <a:rPr lang="en-IT" sz="9600" dirty="0">
                <a:solidFill>
                  <a:schemeClr val="bg2">
                    <a:lumMod val="50000"/>
                  </a:schemeClr>
                </a:solidFill>
              </a:rPr>
              <a:t>AI!</a:t>
            </a:r>
          </a:p>
        </p:txBody>
      </p:sp>
    </p:spTree>
    <p:extLst>
      <p:ext uri="{BB962C8B-B14F-4D97-AF65-F5344CB8AC3E}">
        <p14:creationId xmlns:p14="http://schemas.microsoft.com/office/powerpoint/2010/main" val="211881100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>
            <a:extLst>
              <a:ext uri="{FF2B5EF4-FFF2-40B4-BE49-F238E27FC236}">
                <a16:creationId xmlns:a16="http://schemas.microsoft.com/office/drawing/2014/main" id="{C807B6AD-8B46-F490-F85C-6C279E764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75" y="107950"/>
            <a:ext cx="8042275" cy="958850"/>
          </a:xfrm>
        </p:spPr>
        <p:txBody>
          <a:bodyPr/>
          <a:lstStyle/>
          <a:p>
            <a:pPr eaLnBrk="1" hangingPunct="1"/>
            <a:r>
              <a:rPr lang="en-US" altLang="en-IT">
                <a:ea typeface="ＭＳ Ｐゴシック" panose="020B0600070205080204" pitchFamily="34" charset="-128"/>
              </a:rPr>
              <a:t>Summary</a:t>
            </a:r>
          </a:p>
        </p:txBody>
      </p:sp>
      <p:sp>
        <p:nvSpPr>
          <p:cNvPr id="41987" name="Content Placeholder 2">
            <a:extLst>
              <a:ext uri="{FF2B5EF4-FFF2-40B4-BE49-F238E27FC236}">
                <a16:creationId xmlns:a16="http://schemas.microsoft.com/office/drawing/2014/main" id="{0DF16C2E-7FC9-B714-2FA1-047BB5B1AF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275" y="1066800"/>
            <a:ext cx="8289925" cy="557371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IT" b="1">
                <a:ea typeface="ＭＳ Ｐゴシック" panose="020B0600070205080204" pitchFamily="34" charset="-128"/>
              </a:rPr>
              <a:t>Refactoring improves the design of software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IT" b="1">
                <a:ea typeface="ＭＳ Ｐゴシック" panose="020B0600070205080204" pitchFamily="34" charset="-128"/>
              </a:rPr>
              <a:t>without refactoring, a design will “decay” as people make changes to a software system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IT" b="1">
                <a:ea typeface="ＭＳ Ｐゴシック" panose="020B0600070205080204" pitchFamily="34" charset="-128"/>
              </a:rPr>
              <a:t>Refactoring makes software easier to understand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IT" b="1">
                <a:ea typeface="ＭＳ Ｐゴシック" panose="020B0600070205080204" pitchFamily="34" charset="-128"/>
              </a:rPr>
              <a:t>because structure is improved, duplicated code is eliminated, etc.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IT" b="1">
                <a:ea typeface="ＭＳ Ｐゴシック" panose="020B0600070205080204" pitchFamily="34" charset="-128"/>
              </a:rPr>
              <a:t>Refactoring helps you find bugs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IT" b="1">
                <a:ea typeface="ＭＳ Ｐゴシック" panose="020B0600070205080204" pitchFamily="34" charset="-128"/>
              </a:rPr>
              <a:t>Refactoring promotes a deep understanding of the code at hand, and this understanding aids the programmer in finding bugs and anticipating potential bugs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IT" b="1">
                <a:ea typeface="ＭＳ Ｐゴシック" panose="020B0600070205080204" pitchFamily="34" charset="-128"/>
              </a:rPr>
              <a:t>Refactoring helps you program faster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IT" b="1">
                <a:ea typeface="ＭＳ Ｐゴシック" panose="020B0600070205080204" pitchFamily="34" charset="-128"/>
              </a:rPr>
              <a:t>because a good design enables progress </a:t>
            </a:r>
            <a:endParaRPr lang="en-US" altLang="en-IT">
              <a:ea typeface="ＭＳ Ｐゴシック" panose="020B0600070205080204" pitchFamily="34" charset="-128"/>
            </a:endParaRPr>
          </a:p>
        </p:txBody>
      </p:sp>
      <p:sp>
        <p:nvSpPr>
          <p:cNvPr id="41988" name="Footer Placeholder 3">
            <a:extLst>
              <a:ext uri="{FF2B5EF4-FFF2-40B4-BE49-F238E27FC236}">
                <a16:creationId xmlns:a16="http://schemas.microsoft.com/office/drawing/2014/main" id="{7C3B2669-6B37-DE06-2E49-9E6C6741E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IT" sz="1200">
                <a:solidFill>
                  <a:schemeClr val="bg1"/>
                </a:solidFill>
                <a:latin typeface="News Gothic MT" panose="020B0503020103020203" pitchFamily="34" charset="0"/>
              </a:rPr>
              <a:t>Coming up: References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>
            <a:extLst>
              <a:ext uri="{FF2B5EF4-FFF2-40B4-BE49-F238E27FC236}">
                <a16:creationId xmlns:a16="http://schemas.microsoft.com/office/drawing/2014/main" id="{4088CD4C-9D2E-38E6-54BA-DFFFF97A5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IT">
                <a:ea typeface="ＭＳ Ｐゴシック" panose="020B0600070205080204" pitchFamily="34" charset="-128"/>
              </a:rPr>
              <a:t>References</a:t>
            </a:r>
          </a:p>
        </p:txBody>
      </p:sp>
      <p:sp>
        <p:nvSpPr>
          <p:cNvPr id="43011" name="Content Placeholder 2">
            <a:extLst>
              <a:ext uri="{FF2B5EF4-FFF2-40B4-BE49-F238E27FC236}">
                <a16:creationId xmlns:a16="http://schemas.microsoft.com/office/drawing/2014/main" id="{E54F1E77-6539-2CF9-FF6E-5D732CE17E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IT">
                <a:ea typeface="ＭＳ Ｐゴシック" panose="020B0600070205080204" pitchFamily="34" charset="-128"/>
              </a:rPr>
              <a:t>Comic from: </a:t>
            </a:r>
            <a:r>
              <a:rPr lang="en-US" altLang="en-IT">
                <a:ea typeface="ＭＳ Ｐゴシック" panose="020B0600070205080204" pitchFamily="34" charset="-128"/>
                <a:hlinkClick r:id="rId2"/>
              </a:rPr>
              <a:t>http://www.irregularwebcomic.net/cgi-bin/comic.pl?comic=687</a:t>
            </a:r>
            <a:endParaRPr lang="en-US" altLang="en-IT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IT">
                <a:ea typeface="ＭＳ Ｐゴシック" panose="020B0600070205080204" pitchFamily="34" charset="-128"/>
                <a:hlinkClick r:id="rId3"/>
              </a:rPr>
              <a:t>http://www.refactoring.com/catalog/index.html</a:t>
            </a:r>
            <a:endParaRPr lang="en-US" altLang="en-IT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IT">
                <a:ea typeface="ＭＳ Ｐゴシック" panose="020B0600070205080204" pitchFamily="34" charset="-128"/>
                <a:hlinkClick r:id="rId4"/>
              </a:rPr>
              <a:t>http://www.cs.colorado.edu/~kena/classes/6448/s05/lectures/lecture18.pdf</a:t>
            </a:r>
            <a:endParaRPr lang="en-US" altLang="en-IT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IT">
                <a:ea typeface="ＭＳ Ｐゴシック" panose="020B0600070205080204" pitchFamily="34" charset="-128"/>
              </a:rPr>
              <a:t>http://www.codeproject.com/KB/architecture/practicalexp.aspx</a:t>
            </a:r>
          </a:p>
          <a:p>
            <a:pPr eaLnBrk="1" hangingPunct="1"/>
            <a:endParaRPr lang="en-US" altLang="en-IT">
              <a:ea typeface="ＭＳ Ｐゴシック" panose="020B0600070205080204" pitchFamily="34" charset="-128"/>
            </a:endParaRPr>
          </a:p>
        </p:txBody>
      </p:sp>
      <p:sp>
        <p:nvSpPr>
          <p:cNvPr id="43012" name="Footer Placeholder 3">
            <a:extLst>
              <a:ext uri="{FF2B5EF4-FFF2-40B4-BE49-F238E27FC236}">
                <a16:creationId xmlns:a16="http://schemas.microsoft.com/office/drawing/2014/main" id="{734D53C7-2C2F-3054-A662-FB7A52EF4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IT" sz="1200">
                <a:solidFill>
                  <a:schemeClr val="bg1"/>
                </a:solidFill>
                <a:latin typeface="News Gothic MT" panose="020B0503020103020203" pitchFamily="34" charset="0"/>
              </a:rPr>
              <a:t>Coming up: In-Class Exercise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Piyu">
  <a:themeElements>
    <a:clrScheme name="">
      <a:dk1>
        <a:srgbClr val="5F5F5F"/>
      </a:dk1>
      <a:lt1>
        <a:srgbClr val="FFFFFF"/>
      </a:lt1>
      <a:dk2>
        <a:srgbClr val="000099"/>
      </a:dk2>
      <a:lt2>
        <a:srgbClr val="FFFF00"/>
      </a:lt2>
      <a:accent1>
        <a:srgbClr val="FF9900"/>
      </a:accent1>
      <a:accent2>
        <a:srgbClr val="66CCFF"/>
      </a:accent2>
      <a:accent3>
        <a:srgbClr val="AAAACA"/>
      </a:accent3>
      <a:accent4>
        <a:srgbClr val="DADADA"/>
      </a:accent4>
      <a:accent5>
        <a:srgbClr val="FFCAAA"/>
      </a:accent5>
      <a:accent6>
        <a:srgbClr val="5CB9E7"/>
      </a:accent6>
      <a:hlink>
        <a:srgbClr val="FF0033"/>
      </a:hlink>
      <a:folHlink>
        <a:srgbClr val="969696"/>
      </a:folHlink>
    </a:clrScheme>
    <a:fontScheme name="1_Piyu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rgbClr val="FAFD00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rgbClr val="FAFD00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intro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ro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7117</TotalTime>
  <Pages>49</Pages>
  <Words>5541</Words>
  <Application>Microsoft Macintosh PowerPoint</Application>
  <PresentationFormat>On-screen Show (4:3)</PresentationFormat>
  <Paragraphs>741</Paragraphs>
  <Slides>81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81</vt:i4>
      </vt:variant>
    </vt:vector>
  </HeadingPairs>
  <TitlesOfParts>
    <vt:vector size="90" baseType="lpstr">
      <vt:lpstr>ＭＳ Ｐゴシック</vt:lpstr>
      <vt:lpstr>Arial</vt:lpstr>
      <vt:lpstr>Arial Black</vt:lpstr>
      <vt:lpstr>Calibri</vt:lpstr>
      <vt:lpstr>News Gothic MT</vt:lpstr>
      <vt:lpstr>Times New Roman</vt:lpstr>
      <vt:lpstr>Wingdings</vt:lpstr>
      <vt:lpstr>Wingdings 2</vt:lpstr>
      <vt:lpstr>1_Piyu</vt:lpstr>
      <vt:lpstr>Software Evolution and Quality: Refactoring and Code Smells Explained</vt:lpstr>
      <vt:lpstr>PowerPoint Presentation</vt:lpstr>
      <vt:lpstr>PowerPoint Presentation</vt:lpstr>
      <vt:lpstr>PowerPoint Presentation</vt:lpstr>
      <vt:lpstr>Why do good developers (and LLMs) write bad software?</vt:lpstr>
      <vt:lpstr>Why do good developers write bad software?</vt:lpstr>
      <vt:lpstr>Why do good developers write bad software?</vt:lpstr>
      <vt:lpstr>Refactoring: a Refresh</vt:lpstr>
      <vt:lpstr>General Idea</vt:lpstr>
      <vt:lpstr>General Idea</vt:lpstr>
      <vt:lpstr>General Idea</vt:lpstr>
      <vt:lpstr>General Idea</vt:lpstr>
      <vt:lpstr>General Idea</vt:lpstr>
      <vt:lpstr>General Idea</vt:lpstr>
      <vt:lpstr>PowerPoint Presentation</vt:lpstr>
      <vt:lpstr>Identify what to refactor</vt:lpstr>
      <vt:lpstr>Identify what to refactor</vt:lpstr>
      <vt:lpstr>Identify what to refactor</vt:lpstr>
      <vt:lpstr>Determine which refactorings to apply</vt:lpstr>
      <vt:lpstr>Determine which refactorings to apply.</vt:lpstr>
      <vt:lpstr>Determine which refactorings to apply</vt:lpstr>
      <vt:lpstr>Determine which refactorings to apply</vt:lpstr>
      <vt:lpstr>PowerPoint Presentation</vt:lpstr>
      <vt:lpstr>Ensure that refactoring preserves  the  software’s behavior.</vt:lpstr>
      <vt:lpstr>Ensure that refactoring preserves   the software’s behavior.</vt:lpstr>
      <vt:lpstr>Apply the refactorings to chosen entities</vt:lpstr>
      <vt:lpstr>Evaluate the impacts of the  Refactorings on Quality</vt:lpstr>
      <vt:lpstr>Evaluate the impacts of the  Refactorings on Quality</vt:lpstr>
      <vt:lpstr>Evaluate the impacts of the  Refactorings on Quality</vt:lpstr>
      <vt:lpstr>Maintain consistency</vt:lpstr>
      <vt:lpstr>Maintain consistency</vt:lpstr>
      <vt:lpstr>Formalisms for Refactoring</vt:lpstr>
      <vt:lpstr>Assertions  </vt:lpstr>
      <vt:lpstr>Assertions  </vt:lpstr>
      <vt:lpstr>Assertions  </vt:lpstr>
      <vt:lpstr>Graph Transformation  </vt:lpstr>
      <vt:lpstr>Graph Transformation</vt:lpstr>
      <vt:lpstr>Formalisms for Refactoring</vt:lpstr>
      <vt:lpstr>PowerPoint Presentation</vt:lpstr>
      <vt:lpstr>PowerPoint Presentation</vt:lpstr>
      <vt:lpstr>Software Metrics  </vt:lpstr>
      <vt:lpstr>Software Metrics*   </vt:lpstr>
      <vt:lpstr>More Examples of Refactoring</vt:lpstr>
      <vt:lpstr>More Examples of Refactoring</vt:lpstr>
      <vt:lpstr>More Examples of Refactoring</vt:lpstr>
      <vt:lpstr>More Examples of Refactoring</vt:lpstr>
      <vt:lpstr>Factors Influencing Software Structure </vt:lpstr>
      <vt:lpstr>Factors Influencing Software Structure </vt:lpstr>
      <vt:lpstr>Factors Influencing Software Structure </vt:lpstr>
      <vt:lpstr>Classification of Restructuring Approaches </vt:lpstr>
      <vt:lpstr>Classification of Restructuring Approaches </vt:lpstr>
      <vt:lpstr>Restructuring Techniques </vt:lpstr>
      <vt:lpstr>Restructuring Techniques </vt:lpstr>
      <vt:lpstr>Restructuring Techniques </vt:lpstr>
      <vt:lpstr>Restructuring Techniques </vt:lpstr>
      <vt:lpstr>Restructuring Techniques </vt:lpstr>
      <vt:lpstr>Restructuring Techniques </vt:lpstr>
      <vt:lpstr>Restructuring Techniques </vt:lpstr>
      <vt:lpstr>Restructuring Techniques </vt:lpstr>
      <vt:lpstr>Restructuring Techniques </vt:lpstr>
      <vt:lpstr>Restructuring Techniques </vt:lpstr>
      <vt:lpstr>Restructuring Techniques </vt:lpstr>
      <vt:lpstr>Restructuring Techniques </vt:lpstr>
      <vt:lpstr>Restructuring Techniques </vt:lpstr>
      <vt:lpstr>Danger!</vt:lpstr>
      <vt:lpstr>How do I identify code to refactor?</vt:lpstr>
      <vt:lpstr>PowerPoint Presentation</vt:lpstr>
      <vt:lpstr>PowerPoint Presentation</vt:lpstr>
      <vt:lpstr>PowerPoint Presentation</vt:lpstr>
      <vt:lpstr>PowerPoint Presentation</vt:lpstr>
      <vt:lpstr>Code Smells</vt:lpstr>
      <vt:lpstr>Code Smells</vt:lpstr>
      <vt:lpstr>Code Smells</vt:lpstr>
      <vt:lpstr>Code Smells</vt:lpstr>
      <vt:lpstr>Many more code smells</vt:lpstr>
      <vt:lpstr>Why use them?</vt:lpstr>
      <vt:lpstr>Adding safety</vt:lpstr>
      <vt:lpstr>Question for your boss</vt:lpstr>
      <vt:lpstr>Question for your boss</vt:lpstr>
      <vt:lpstr>Summary</vt:lpstr>
      <vt:lpstr>References</vt:lpstr>
    </vt:vector>
  </TitlesOfParts>
  <Company>George Mason Unviersity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Evolution and maintenance</dc:title>
  <dc:subject/>
  <dc:creator>Piyu Tripathy and Sagar Naik</dc:creator>
  <cp:keywords/>
  <dc:description/>
  <cp:lastModifiedBy>Damian Andrew Tamburri</cp:lastModifiedBy>
  <cp:revision>488</cp:revision>
  <cp:lastPrinted>1996-04-04T10:27:56Z</cp:lastPrinted>
  <dcterms:created xsi:type="dcterms:W3CDTF">1996-06-15T03:21:08Z</dcterms:created>
  <dcterms:modified xsi:type="dcterms:W3CDTF">2026-09-21T14:20:11Z</dcterms:modified>
</cp:coreProperties>
</file>