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9"/>
  </p:notesMasterIdLst>
  <p:sldIdLst>
    <p:sldId id="295" r:id="rId2"/>
    <p:sldId id="410" r:id="rId3"/>
    <p:sldId id="258" r:id="rId4"/>
    <p:sldId id="433" r:id="rId5"/>
    <p:sldId id="434" r:id="rId6"/>
    <p:sldId id="304" r:id="rId7"/>
    <p:sldId id="274" r:id="rId8"/>
    <p:sldId id="297" r:id="rId9"/>
    <p:sldId id="275" r:id="rId10"/>
    <p:sldId id="281" r:id="rId11"/>
    <p:sldId id="256" r:id="rId12"/>
    <p:sldId id="257" r:id="rId13"/>
    <p:sldId id="305" r:id="rId14"/>
    <p:sldId id="311" r:id="rId15"/>
    <p:sldId id="306" r:id="rId16"/>
    <p:sldId id="307" r:id="rId17"/>
    <p:sldId id="261" r:id="rId18"/>
    <p:sldId id="262" r:id="rId19"/>
    <p:sldId id="308" r:id="rId20"/>
    <p:sldId id="309" r:id="rId21"/>
    <p:sldId id="310" r:id="rId22"/>
    <p:sldId id="298" r:id="rId23"/>
    <p:sldId id="299" r:id="rId24"/>
    <p:sldId id="300" r:id="rId25"/>
    <p:sldId id="301" r:id="rId26"/>
    <p:sldId id="312" r:id="rId27"/>
    <p:sldId id="260" r:id="rId28"/>
    <p:sldId id="302" r:id="rId29"/>
    <p:sldId id="303" r:id="rId30"/>
    <p:sldId id="313" r:id="rId31"/>
    <p:sldId id="314" r:id="rId32"/>
    <p:sldId id="315" r:id="rId33"/>
    <p:sldId id="316" r:id="rId34"/>
    <p:sldId id="270" r:id="rId35"/>
    <p:sldId id="317" r:id="rId36"/>
    <p:sldId id="318" r:id="rId37"/>
    <p:sldId id="319" r:id="rId38"/>
    <p:sldId id="296" r:id="rId39"/>
    <p:sldId id="293" r:id="rId40"/>
    <p:sldId id="264" r:id="rId41"/>
    <p:sldId id="411" r:id="rId42"/>
    <p:sldId id="412" r:id="rId43"/>
    <p:sldId id="419" r:id="rId44"/>
    <p:sldId id="413" r:id="rId45"/>
    <p:sldId id="414" r:id="rId46"/>
    <p:sldId id="415" r:id="rId47"/>
    <p:sldId id="416" r:id="rId48"/>
    <p:sldId id="417" r:id="rId49"/>
    <p:sldId id="418" r:id="rId50"/>
    <p:sldId id="420" r:id="rId51"/>
    <p:sldId id="421" r:id="rId52"/>
    <p:sldId id="422" r:id="rId53"/>
    <p:sldId id="423" r:id="rId54"/>
    <p:sldId id="424" r:id="rId55"/>
    <p:sldId id="425" r:id="rId56"/>
    <p:sldId id="426" r:id="rId57"/>
    <p:sldId id="427" r:id="rId58"/>
    <p:sldId id="428" r:id="rId59"/>
    <p:sldId id="289" r:id="rId60"/>
    <p:sldId id="292" r:id="rId61"/>
    <p:sldId id="263" r:id="rId62"/>
    <p:sldId id="429" r:id="rId63"/>
    <p:sldId id="430" r:id="rId64"/>
    <p:sldId id="431" r:id="rId65"/>
    <p:sldId id="432" r:id="rId66"/>
    <p:sldId id="409" r:id="rId67"/>
    <p:sldId id="283" r:id="rId6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27" autoAdjust="0"/>
    <p:restoredTop sz="94384" autoAdjust="0"/>
  </p:normalViewPr>
  <p:slideViewPr>
    <p:cSldViewPr snapToGrid="0" showGuides="1">
      <p:cViewPr varScale="1">
        <p:scale>
          <a:sx n="120" d="100"/>
          <a:sy n="120" d="100"/>
        </p:scale>
        <p:origin x="704" y="17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3ED994-16FE-413E-ADD7-E6AAC2A0098C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08CBA1-4472-4628-9C68-3F9C170C0C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6285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What is technical</a:t>
            </a:r>
            <a:r>
              <a:rPr lang="en-GB" baseline="0" dirty="0"/>
              <a:t> debt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aseline="0" dirty="0"/>
              <a:t>Work you put off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aseline="0" dirty="0"/>
              <a:t>Initial compromises that come home to roast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aseline="0" dirty="0"/>
              <a:t>That missing documentation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baseline="0" dirty="0"/>
              <a:t>Tools we used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aseline="0" dirty="0"/>
              <a:t>Static Analysis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Issue is that we don’t see over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08CBA1-4472-4628-9C68-3F9C170C0C48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02072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It builds up over time</a:t>
            </a:r>
          </a:p>
          <a:p>
            <a:r>
              <a:rPr lang="en-GB" dirty="0"/>
              <a:t>It is not as</a:t>
            </a:r>
            <a:r>
              <a:rPr lang="en-GB" baseline="0" dirty="0"/>
              <a:t> if we don’t have tools to measure it</a:t>
            </a:r>
          </a:p>
          <a:p>
            <a:r>
              <a:rPr lang="en-GB" baseline="0" dirty="0"/>
              <a:t>However, unless we enforce a zero level in the Microsoft space it has been hard to manage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08CBA1-4472-4628-9C68-3F9C170C0C48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92615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Not your old</a:t>
            </a:r>
            <a:r>
              <a:rPr lang="en-GB" baseline="0" dirty="0"/>
              <a:t> Microsoft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Pick a market leader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Work with the team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Leverage what Roslyn can do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Provide a viable alternative to </a:t>
            </a:r>
            <a:r>
              <a:rPr lang="en-GB" dirty="0" err="1"/>
              <a:t>StyleCop</a:t>
            </a:r>
            <a:r>
              <a:rPr lang="en-GB" dirty="0"/>
              <a:t>/</a:t>
            </a:r>
            <a:r>
              <a:rPr lang="en-GB" dirty="0" err="1"/>
              <a:t>FxCop</a:t>
            </a:r>
            <a:r>
              <a:rPr lang="en-GB" dirty="0"/>
              <a:t> and more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08CBA1-4472-4628-9C68-3F9C170C0C48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8952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08CBA1-4472-4628-9C68-3F9C170C0C48}" type="slidenum">
              <a:rPr lang="en-GB" smtClean="0"/>
              <a:t>67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5552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1850" y="3646446"/>
            <a:ext cx="10515600" cy="1730064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6" name="Text Placeholder 2"/>
          <p:cNvSpPr>
            <a:spLocks noGrp="1"/>
          </p:cNvSpPr>
          <p:nvPr>
            <p:ph type="body" idx="1"/>
          </p:nvPr>
        </p:nvSpPr>
        <p:spPr>
          <a:xfrm>
            <a:off x="831850" y="5403499"/>
            <a:ext cx="10515600" cy="113111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17056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088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423425"/>
            <a:ext cx="12192000" cy="34345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2815" y="3579541"/>
            <a:ext cx="8084635" cy="1852729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62815" y="5459259"/>
            <a:ext cx="8084635" cy="90808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568719" y="2538297"/>
            <a:ext cx="1939059" cy="3829050"/>
          </a:xfrm>
        </p:spPr>
        <p:txBody>
          <a:bodyPr anchor="b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mini-me</a:t>
            </a:r>
          </a:p>
        </p:txBody>
      </p:sp>
    </p:spTree>
    <p:extLst>
      <p:ext uri="{BB962C8B-B14F-4D97-AF65-F5344CB8AC3E}">
        <p14:creationId xmlns:p14="http://schemas.microsoft.com/office/powerpoint/2010/main" val="2127561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423425"/>
            <a:ext cx="12192000" cy="34345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472431" y="1992068"/>
            <a:ext cx="2583003" cy="4698663"/>
          </a:xfrm>
        </p:spPr>
        <p:txBody>
          <a:bodyPr anchor="b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mini-me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62815" y="4152198"/>
            <a:ext cx="7888405" cy="858644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Speaker Name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62815" y="5166960"/>
            <a:ext cx="7888405" cy="1621770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213" y="3577896"/>
            <a:ext cx="327088" cy="327088"/>
          </a:xfrm>
          <a:prstGeom prst="rect">
            <a:avLst/>
          </a:prstGeom>
        </p:spPr>
      </p:pic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3590486" y="3557290"/>
            <a:ext cx="2322258" cy="3683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Twitter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2815" y="3579542"/>
            <a:ext cx="327671" cy="327671"/>
          </a:xfrm>
          <a:prstGeom prst="rect">
            <a:avLst/>
          </a:prstGeom>
        </p:spPr>
      </p:pic>
      <p:sp>
        <p:nvSpPr>
          <p:cNvPr id="14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411302" y="3557290"/>
            <a:ext cx="2772568" cy="3683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Blog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3771" y="3577896"/>
            <a:ext cx="338554" cy="338554"/>
          </a:xfrm>
          <a:prstGeom prst="rect">
            <a:avLst/>
          </a:prstGeom>
        </p:spPr>
      </p:pic>
      <p:sp>
        <p:nvSpPr>
          <p:cNvPr id="16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9682325" y="3557290"/>
            <a:ext cx="2334184" cy="3683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LinkedIn</a:t>
            </a:r>
          </a:p>
        </p:txBody>
      </p:sp>
    </p:spTree>
    <p:extLst>
      <p:ext uri="{BB962C8B-B14F-4D97-AF65-F5344CB8AC3E}">
        <p14:creationId xmlns:p14="http://schemas.microsoft.com/office/powerpoint/2010/main" val="2075430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MV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423425"/>
            <a:ext cx="12192000" cy="34345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472431" y="1992068"/>
            <a:ext cx="2583003" cy="4698663"/>
          </a:xfrm>
        </p:spPr>
        <p:txBody>
          <a:bodyPr anchor="b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mini-me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62815" y="4152198"/>
            <a:ext cx="7888405" cy="858644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Speaker Name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62815" y="5166960"/>
            <a:ext cx="7888405" cy="1621770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213" y="3577896"/>
            <a:ext cx="327088" cy="327088"/>
          </a:xfrm>
          <a:prstGeom prst="rect">
            <a:avLst/>
          </a:prstGeom>
        </p:spPr>
      </p:pic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3590486" y="3557290"/>
            <a:ext cx="2322258" cy="3683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Twitter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2815" y="3579542"/>
            <a:ext cx="327671" cy="327671"/>
          </a:xfrm>
          <a:prstGeom prst="rect">
            <a:avLst/>
          </a:prstGeom>
        </p:spPr>
      </p:pic>
      <p:sp>
        <p:nvSpPr>
          <p:cNvPr id="14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411302" y="3557290"/>
            <a:ext cx="2772568" cy="3683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Blog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3771" y="3577896"/>
            <a:ext cx="338554" cy="338554"/>
          </a:xfrm>
          <a:prstGeom prst="rect">
            <a:avLst/>
          </a:prstGeom>
        </p:spPr>
      </p:pic>
      <p:sp>
        <p:nvSpPr>
          <p:cNvPr id="16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9682325" y="3557290"/>
            <a:ext cx="2334184" cy="3683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LinkedIn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4863" y="4532736"/>
            <a:ext cx="1001646" cy="1573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458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peak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423424"/>
            <a:ext cx="12192000" cy="34345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472432" y="2765502"/>
            <a:ext cx="2157822" cy="3925230"/>
          </a:xfrm>
        </p:spPr>
        <p:txBody>
          <a:bodyPr anchor="b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mini-me</a:t>
            </a:r>
          </a:p>
        </p:txBody>
      </p:sp>
      <p:sp>
        <p:nvSpPr>
          <p:cNvPr id="12" name="Picture Placeholder 5"/>
          <p:cNvSpPr>
            <a:spLocks noGrp="1"/>
          </p:cNvSpPr>
          <p:nvPr>
            <p:ph type="pic" sz="quarter" idx="13" hasCustomPrompt="1"/>
          </p:nvPr>
        </p:nvSpPr>
        <p:spPr>
          <a:xfrm>
            <a:off x="6274783" y="2765502"/>
            <a:ext cx="2157822" cy="3925230"/>
          </a:xfrm>
        </p:spPr>
        <p:txBody>
          <a:bodyPr anchor="b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mini-me</a:t>
            </a:r>
          </a:p>
        </p:txBody>
      </p:sp>
      <p:sp>
        <p:nvSpPr>
          <p:cNvPr id="6" name="Title 1"/>
          <p:cNvSpPr txBox="1">
            <a:spLocks/>
          </p:cNvSpPr>
          <p:nvPr userDrawn="1"/>
        </p:nvSpPr>
        <p:spPr>
          <a:xfrm>
            <a:off x="2713053" y="3579542"/>
            <a:ext cx="3342060" cy="85864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Speaker Name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0"/>
          </p:nvPr>
        </p:nvSpPr>
        <p:spPr>
          <a:xfrm>
            <a:off x="2713053" y="4594303"/>
            <a:ext cx="3342060" cy="1773044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/>
          <p:cNvSpPr txBox="1">
            <a:spLocks/>
          </p:cNvSpPr>
          <p:nvPr userDrawn="1"/>
        </p:nvSpPr>
        <p:spPr>
          <a:xfrm>
            <a:off x="8535424" y="3579542"/>
            <a:ext cx="3342060" cy="85864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Speaker Name</a:t>
            </a:r>
            <a:endParaRPr lang="en-GB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1"/>
          </p:nvPr>
        </p:nvSpPr>
        <p:spPr>
          <a:xfrm>
            <a:off x="8535424" y="4594303"/>
            <a:ext cx="3342060" cy="1773044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89077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5982666"/>
          </a:xfrm>
        </p:spPr>
        <p:txBody>
          <a:bodyPr>
            <a:normAutofit/>
          </a:bodyPr>
          <a:lstStyle>
            <a:lvl1pPr>
              <a:lnSpc>
                <a:spcPct val="125000"/>
              </a:lnSpc>
              <a:defRPr sz="4000"/>
            </a:lvl1pPr>
          </a:lstStyle>
          <a:p>
            <a:r>
              <a:rPr lang="en-US" dirty="0"/>
              <a:t>Click to edit Agenda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9997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831850" y="4653611"/>
            <a:ext cx="10515600" cy="1730064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Citation</a:t>
            </a:r>
            <a:endParaRPr lang="en-GB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543340"/>
            <a:ext cx="10515600" cy="4002156"/>
          </a:xfrm>
        </p:spPr>
        <p:txBody>
          <a:bodyPr anchor="ctr">
            <a:normAutofit/>
          </a:bodyPr>
          <a:lstStyle>
            <a:lvl1pPr marL="0" indent="0">
              <a:buNone/>
              <a:defRPr sz="4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994292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6883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7059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81872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23909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echnolog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Users\rik\Pictures\BizTalk_h_rgb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212" y="4417455"/>
            <a:ext cx="1258375" cy="441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71211" y="1802445"/>
            <a:ext cx="2904905" cy="415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71212" y="3519888"/>
            <a:ext cx="1707731" cy="429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71212" y="2687966"/>
            <a:ext cx="2055340" cy="364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986" y="934265"/>
            <a:ext cx="2850039" cy="42108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211" y="5335488"/>
            <a:ext cx="2122983" cy="42387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924" y="3338479"/>
            <a:ext cx="3682224" cy="2282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674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 userDrawn="1"/>
        </p:nvSpPr>
        <p:spPr>
          <a:xfrm>
            <a:off x="2060979" y="1170679"/>
            <a:ext cx="2496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>
                <a:latin typeface="Segoe UI Light" pitchFamily="34" charset="0"/>
              </a:rPr>
              <a:t>blogs.blackmarble.co.uk</a:t>
            </a:r>
          </a:p>
        </p:txBody>
      </p:sp>
      <p:sp>
        <p:nvSpPr>
          <p:cNvPr id="19" name="TextBox 18"/>
          <p:cNvSpPr txBox="1"/>
          <p:nvPr userDrawn="1"/>
        </p:nvSpPr>
        <p:spPr>
          <a:xfrm>
            <a:off x="2060979" y="2182345"/>
            <a:ext cx="2063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>
                <a:latin typeface="Segoe UI Light" pitchFamily="34" charset="0"/>
              </a:rPr>
              <a:t>+44 (0)1274 300175</a:t>
            </a:r>
          </a:p>
        </p:txBody>
      </p:sp>
      <p:sp>
        <p:nvSpPr>
          <p:cNvPr id="20" name="TextBox 19"/>
          <p:cNvSpPr txBox="1"/>
          <p:nvPr userDrawn="1"/>
        </p:nvSpPr>
        <p:spPr>
          <a:xfrm>
            <a:off x="2060979" y="3188433"/>
            <a:ext cx="1574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>
                <a:latin typeface="Segoe UI Light" pitchFamily="34" charset="0"/>
              </a:rPr>
              <a:t>@</a:t>
            </a:r>
            <a:r>
              <a:rPr lang="en-GB" sz="1800" dirty="0" err="1">
                <a:latin typeface="Segoe UI Light" pitchFamily="34" charset="0"/>
              </a:rPr>
              <a:t>blackmarble</a:t>
            </a:r>
            <a:endParaRPr lang="en-GB" sz="1800" dirty="0">
              <a:latin typeface="Segoe UI Light" pitchFamily="34" charset="0"/>
            </a:endParaRPr>
          </a:p>
        </p:txBody>
      </p:sp>
      <p:sp>
        <p:nvSpPr>
          <p:cNvPr id="21" name="TextBox 20"/>
          <p:cNvSpPr txBox="1"/>
          <p:nvPr userDrawn="1"/>
        </p:nvSpPr>
        <p:spPr>
          <a:xfrm>
            <a:off x="2060979" y="4194521"/>
            <a:ext cx="1831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>
                <a:latin typeface="Segoe UI Light" pitchFamily="34" charset="0"/>
              </a:rPr>
              <a:t>Black Marble Ltd.</a:t>
            </a:r>
          </a:p>
        </p:txBody>
      </p:sp>
      <p:sp>
        <p:nvSpPr>
          <p:cNvPr id="22" name="TextBox 21"/>
          <p:cNvSpPr txBox="1"/>
          <p:nvPr userDrawn="1"/>
        </p:nvSpPr>
        <p:spPr>
          <a:xfrm>
            <a:off x="2060979" y="5200609"/>
            <a:ext cx="1417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>
                <a:latin typeface="Segoe UI Light" pitchFamily="34" charset="0"/>
              </a:rPr>
              <a:t>Black Marble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442" y="4995887"/>
            <a:ext cx="778780" cy="77878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442" y="1977621"/>
            <a:ext cx="778780" cy="7787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442" y="971533"/>
            <a:ext cx="778780" cy="7787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442" y="2983709"/>
            <a:ext cx="778780" cy="7787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442" y="3989797"/>
            <a:ext cx="778780" cy="77878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924" y="3338479"/>
            <a:ext cx="3682224" cy="2282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7375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33939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450921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98878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3763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Rectangle 10"/>
          <p:cNvSpPr/>
          <p:nvPr userDrawn="1"/>
        </p:nvSpPr>
        <p:spPr>
          <a:xfrm>
            <a:off x="0" y="6575822"/>
            <a:ext cx="12192000" cy="29130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0511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0" r:id="rId4"/>
    <p:sldLayoutId id="2147483666" r:id="rId5"/>
    <p:sldLayoutId id="2147483661" r:id="rId6"/>
    <p:sldLayoutId id="2147483665" r:id="rId7"/>
    <p:sldLayoutId id="2147483664" r:id="rId8"/>
    <p:sldLayoutId id="2147483652" r:id="rId9"/>
    <p:sldLayoutId id="2147483653" r:id="rId10"/>
    <p:sldLayoutId id="2147483654" r:id="rId11"/>
    <p:sldLayoutId id="2147483655" r:id="rId12"/>
    <p:sldLayoutId id="2147483662" r:id="rId13"/>
    <p:sldLayoutId id="2147483663" r:id="rId14"/>
    <p:sldLayoutId id="2147483656" r:id="rId15"/>
    <p:sldLayoutId id="2147483657" r:id="rId16"/>
    <p:sldLayoutId id="2147483658" r:id="rId17"/>
    <p:sldLayoutId id="2147483659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1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7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rfennell/Presentations" TargetMode="External"/><Relationship Id="rId3" Type="http://schemas.openxmlformats.org/officeDocument/2006/relationships/hyperlink" Target="http://www.sonarqube.org/" TargetMode="External"/><Relationship Id="rId7" Type="http://schemas.openxmlformats.org/officeDocument/2006/relationships/hyperlink" Target="http://vs.sonarlint.org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blogs.msdn.com/b/visualstudioalmrangers/archive/tags/vsartechnicaldebt/" TargetMode="External"/><Relationship Id="rId5" Type="http://schemas.openxmlformats.org/officeDocument/2006/relationships/hyperlink" Target="https://github.com/SonarSource/sonar-.net-documentation" TargetMode="External"/><Relationship Id="rId4" Type="http://schemas.openxmlformats.org/officeDocument/2006/relationships/hyperlink" Target="http://blogs.msdn.com/b/visualstudioalm/archive/tags/managing+technical+deb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A472C-AEC6-08E6-1391-7B00C30F4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07680"/>
            <a:ext cx="10515600" cy="1730064"/>
          </a:xfrm>
        </p:spPr>
        <p:txBody>
          <a:bodyPr>
            <a:normAutofit fontScale="90000"/>
          </a:bodyPr>
          <a:lstStyle/>
          <a:p>
            <a:r>
              <a:rPr lang="en-IT" dirty="0"/>
              <a:t>Putting it all Together: Technical Debt!*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FD1CB7-4A53-A24A-4A79-D235943212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264733"/>
            <a:ext cx="10515600" cy="1131112"/>
          </a:xfrm>
        </p:spPr>
        <p:txBody>
          <a:bodyPr>
            <a:normAutofit/>
          </a:bodyPr>
          <a:lstStyle/>
          <a:p>
            <a:r>
              <a:rPr lang="en-IT" sz="3200" b="1" dirty="0"/>
              <a:t>Damian A. Tamburri, Ph.D.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8099A0-A09D-ECC0-05E7-FE5E04A1CBB4}"/>
              </a:ext>
            </a:extLst>
          </p:cNvPr>
          <p:cNvSpPr txBox="1"/>
          <p:nvPr/>
        </p:nvSpPr>
        <p:spPr>
          <a:xfrm>
            <a:off x="123986" y="6245817"/>
            <a:ext cx="5501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Many slides courtesy of Prof. Dr. Ir. Philippe Kruchten</a:t>
            </a:r>
          </a:p>
        </p:txBody>
      </p:sp>
    </p:spTree>
    <p:extLst>
      <p:ext uri="{BB962C8B-B14F-4D97-AF65-F5344CB8AC3E}">
        <p14:creationId xmlns:p14="http://schemas.microsoft.com/office/powerpoint/2010/main" val="2988264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Lannister always pays his debts. : r/funny">
            <a:extLst>
              <a:ext uri="{FF2B5EF4-FFF2-40B4-BE49-F238E27FC236}">
                <a16:creationId xmlns:a16="http://schemas.microsoft.com/office/drawing/2014/main" id="{0242E2A1-6E33-7773-64EF-FAA9AC77D6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643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3084920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564" y="2129197"/>
            <a:ext cx="3789218" cy="1916330"/>
          </a:xfrm>
        </p:spPr>
        <p:txBody>
          <a:bodyPr>
            <a:normAutofit/>
          </a:bodyPr>
          <a:lstStyle/>
          <a:p>
            <a:r>
              <a:rPr lang="en-GB" dirty="0"/>
              <a:t>What is technical debt?</a:t>
            </a:r>
          </a:p>
        </p:txBody>
      </p:sp>
      <p:pic>
        <p:nvPicPr>
          <p:cNvPr id="2050" name="Picture 2" descr="early stage technical deb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6472" y="483104"/>
            <a:ext cx="7578435" cy="5943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6028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312F9A8-F14F-080C-B2EC-B4D4C415F0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3311" y="0"/>
            <a:ext cx="6617647" cy="6572243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E4FC18D-F8AD-339B-4E22-665424E6FC58}"/>
              </a:ext>
            </a:extLst>
          </p:cNvPr>
          <p:cNvCxnSpPr/>
          <p:nvPr/>
        </p:nvCxnSpPr>
        <p:spPr>
          <a:xfrm>
            <a:off x="2818356" y="2818356"/>
            <a:ext cx="5849655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36CA147-4A6D-6A3A-06E7-189EF93929DB}"/>
              </a:ext>
            </a:extLst>
          </p:cNvPr>
          <p:cNvSpPr txBox="1"/>
          <p:nvPr/>
        </p:nvSpPr>
        <p:spPr>
          <a:xfrm>
            <a:off x="9628285" y="1456661"/>
            <a:ext cx="256371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Dr. Federica Pepe</a:t>
            </a:r>
          </a:p>
          <a:p>
            <a:r>
              <a:rPr lang="en-GB" dirty="0"/>
              <a:t>W</a:t>
            </a:r>
            <a:r>
              <a:rPr lang="en-IT" dirty="0"/>
              <a:t>ill talk about</a:t>
            </a:r>
          </a:p>
          <a:p>
            <a:r>
              <a:rPr lang="en-IT" dirty="0"/>
              <a:t>Bills-of-Materials (BoM)</a:t>
            </a:r>
          </a:p>
          <a:p>
            <a:r>
              <a:rPr lang="en-IT" dirty="0"/>
              <a:t>&amp; AIBoM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2A918A6-4994-27CA-5CA3-D6D979943DF8}"/>
              </a:ext>
            </a:extLst>
          </p:cNvPr>
          <p:cNvCxnSpPr/>
          <p:nvPr/>
        </p:nvCxnSpPr>
        <p:spPr>
          <a:xfrm flipH="1">
            <a:off x="9431079" y="2656990"/>
            <a:ext cx="808074" cy="161366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7784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8F088-EAC2-9907-1F17-95D6624CD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C767536-8162-5FC8-3A66-EEBF65B5AA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3311" y="0"/>
            <a:ext cx="6617647" cy="65722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AF49B2-4238-8288-50D0-36170A469CE5}"/>
              </a:ext>
            </a:extLst>
          </p:cNvPr>
          <p:cNvSpPr txBox="1"/>
          <p:nvPr/>
        </p:nvSpPr>
        <p:spPr>
          <a:xfrm>
            <a:off x="9628285" y="3200398"/>
            <a:ext cx="23971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Check </a:t>
            </a:r>
            <a:r>
              <a:rPr lang="it-IT" dirty="0" err="1"/>
              <a:t>other</a:t>
            </a:r>
            <a:r>
              <a:rPr lang="it-IT" dirty="0"/>
              <a:t> </a:t>
            </a:r>
            <a:r>
              <a:rPr lang="it-IT" dirty="0" err="1"/>
              <a:t>changes</a:t>
            </a:r>
            <a:r>
              <a:rPr lang="it-IT" dirty="0"/>
              <a:t> and </a:t>
            </a:r>
            <a:r>
              <a:rPr lang="it-IT" dirty="0" err="1"/>
              <a:t>reorderings</a:t>
            </a:r>
            <a:endParaRPr lang="en-IT" dirty="0"/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77128E95-578C-53C3-1808-D1AB96703900}"/>
              </a:ext>
            </a:extLst>
          </p:cNvPr>
          <p:cNvSpPr/>
          <p:nvPr/>
        </p:nvSpPr>
        <p:spPr>
          <a:xfrm>
            <a:off x="9319941" y="1806406"/>
            <a:ext cx="308344" cy="343431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2325455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Debt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400" dirty="0"/>
              <a:t>Whenever code meets functional requirements but is suboptimal or “quick and dirty.”  E.g.:</a:t>
            </a:r>
          </a:p>
          <a:p>
            <a:r>
              <a:rPr lang="en-US" sz="2400" dirty="0"/>
              <a:t>“smelly” code</a:t>
            </a:r>
          </a:p>
          <a:p>
            <a:r>
              <a:rPr lang="en-US" sz="2400" dirty="0"/>
              <a:t>inefficient algorithms</a:t>
            </a:r>
          </a:p>
          <a:p>
            <a:r>
              <a:rPr lang="en-US" sz="2400" dirty="0"/>
              <a:t>sloppy design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Might be fixed at code-review, might generate TODOs or new issues in the issue tracker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Understanding and communicating about technical debt is critical in industry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181600" y="6356350"/>
            <a:ext cx="320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CSCI 5030 – Principles of Software Development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BFBFB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73B20C-5347-4FF9-A9F0-76F937F60217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Technical Debt means you get less done as a code base 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92036" y="1870364"/>
            <a:ext cx="7439891" cy="6650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Sprint 1 – new 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92036" y="2715058"/>
            <a:ext cx="7439891" cy="6650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Sprint 2 – new 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92035" y="3559752"/>
            <a:ext cx="7439891" cy="6650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Sprint 3 – new 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92035" y="4404446"/>
            <a:ext cx="7439891" cy="6650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Sprint 4 – new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92034" y="5249140"/>
            <a:ext cx="7439891" cy="6650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Sprint 5 – new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9488" y="2715058"/>
            <a:ext cx="1482437" cy="66501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Debt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21237" y="3559752"/>
            <a:ext cx="2410688" cy="66501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Debt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1" y="4404446"/>
            <a:ext cx="3131124" cy="66501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Debt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04510" y="5249140"/>
            <a:ext cx="4627416" cy="66501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Debt</a:t>
            </a:r>
          </a:p>
        </p:txBody>
      </p:sp>
    </p:spTree>
    <p:extLst>
      <p:ext uri="{BB962C8B-B14F-4D97-AF65-F5344CB8AC3E}">
        <p14:creationId xmlns:p14="http://schemas.microsoft.com/office/powerpoint/2010/main" val="1959798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6" grpId="0" animBg="1"/>
      <p:bldP spid="12" grpId="0" animBg="1"/>
      <p:bldP spid="13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">
            <a:extLst>
              <a:ext uri="{FF2B5EF4-FFF2-40B4-BE49-F238E27FC236}">
                <a16:creationId xmlns:a16="http://schemas.microsoft.com/office/drawing/2014/main" id="{8E6A9FCE-1892-554A-9E31-CBB9295711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16969" y="154037"/>
            <a:ext cx="7358063" cy="1714500"/>
          </a:xfrm>
        </p:spPr>
        <p:txBody>
          <a:bodyPr/>
          <a:lstStyle/>
          <a:p>
            <a:pPr eaLnBrk="1" hangingPunct="1"/>
            <a:r>
              <a:rPr lang="en-US" altLang="en-US"/>
              <a:t>Technical Debt</a:t>
            </a:r>
          </a:p>
        </p:txBody>
      </p:sp>
      <p:pic>
        <p:nvPicPr>
          <p:cNvPr id="15363" name="Picture 4" descr="Technical Debt in High Tech - A CEO's Perspective | ActiveState">
            <a:extLst>
              <a:ext uri="{FF2B5EF4-FFF2-40B4-BE49-F238E27FC236}">
                <a16:creationId xmlns:a16="http://schemas.microsoft.com/office/drawing/2014/main" id="{D9FEC3F8-2EBA-F02E-B5F3-9F3DB422AD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5804" y="1486152"/>
            <a:ext cx="8840391" cy="4889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">
            <a:extLst>
              <a:ext uri="{FF2B5EF4-FFF2-40B4-BE49-F238E27FC236}">
                <a16:creationId xmlns:a16="http://schemas.microsoft.com/office/drawing/2014/main" id="{580A6F0E-768A-0D82-CF1E-B43FB30E74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223234"/>
            <a:r>
              <a:rPr lang="en-US" altLang="en-US" dirty="0"/>
              <a:t>What is debt (in a financial sense)?</a:t>
            </a:r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F784577D-87FD-C78C-FA56-CBD1B49E8A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937584" lvl="1"/>
            <a:r>
              <a:rPr lang="en-US" altLang="en-US"/>
              <a:t>Do you have any financial debts?</a:t>
            </a:r>
          </a:p>
          <a:p>
            <a:pPr marL="937584" lvl="1"/>
            <a:r>
              <a:rPr lang="en-US" altLang="en-US"/>
              <a:t>Is </a:t>
            </a:r>
            <a:r>
              <a:rPr lang="ja-JP" altLang="en-US">
                <a:latin typeface="Arial" panose="020B0604020202020204" pitchFamily="34" charset="0"/>
              </a:rPr>
              <a:t>“</a:t>
            </a:r>
            <a:r>
              <a:rPr lang="en-US" altLang="ja-JP"/>
              <a:t>debt</a:t>
            </a:r>
            <a:r>
              <a:rPr lang="ja-JP" altLang="en-US">
                <a:latin typeface="Arial" panose="020B0604020202020204" pitchFamily="34" charset="0"/>
              </a:rPr>
              <a:t>”</a:t>
            </a:r>
            <a:r>
              <a:rPr lang="en-US" altLang="ja-JP"/>
              <a:t> (always? ever?) a bad thing?</a:t>
            </a:r>
          </a:p>
          <a:p>
            <a:pPr marL="937584" lvl="1"/>
            <a:r>
              <a:rPr lang="en-US" altLang="en-US"/>
              <a:t>Is </a:t>
            </a:r>
            <a:r>
              <a:rPr lang="ja-JP" altLang="en-US">
                <a:latin typeface="Arial" panose="020B0604020202020204" pitchFamily="34" charset="0"/>
              </a:rPr>
              <a:t>“</a:t>
            </a:r>
            <a:r>
              <a:rPr lang="en-US" altLang="ja-JP"/>
              <a:t>debt</a:t>
            </a:r>
            <a:r>
              <a:rPr lang="ja-JP" altLang="en-US">
                <a:latin typeface="Arial" panose="020B0604020202020204" pitchFamily="34" charset="0"/>
              </a:rPr>
              <a:t>”</a:t>
            </a:r>
            <a:r>
              <a:rPr lang="en-US" altLang="ja-JP"/>
              <a:t> (always? ever?) a good thing?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 build="p" autoUpdateAnimBg="0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48AD2A6B-DF54-0BF4-0074-C7A230DBF0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IT"/>
              <a:t>Compounding</a:t>
            </a:r>
          </a:p>
        </p:txBody>
      </p:sp>
      <p:pic>
        <p:nvPicPr>
          <p:cNvPr id="17411" name="Picture 2" descr="Simplifying The Meaning &amp; Costs of Compound Interest and Debt ...">
            <a:extLst>
              <a:ext uri="{FF2B5EF4-FFF2-40B4-BE49-F238E27FC236}">
                <a16:creationId xmlns:a16="http://schemas.microsoft.com/office/drawing/2014/main" id="{D60C9E91-AEA4-53D7-D5C7-1447A250F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2593" y="1456531"/>
            <a:ext cx="8786813" cy="503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>
            <a:extLst>
              <a:ext uri="{FF2B5EF4-FFF2-40B4-BE49-F238E27FC236}">
                <a16:creationId xmlns:a16="http://schemas.microsoft.com/office/drawing/2014/main" id="{31B0068E-63FA-832C-7601-39D46ED92D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ja-JP" sz="5625" dirty="0"/>
              <a:t>What is the idea of </a:t>
            </a:r>
            <a:r>
              <a:rPr lang="ja-JP" altLang="en-US" sz="5625">
                <a:latin typeface="Arial" panose="020B0604020202020204" pitchFamily="34" charset="0"/>
              </a:rPr>
              <a:t>“</a:t>
            </a:r>
            <a:r>
              <a:rPr lang="en-US" altLang="ja-JP" sz="5625" dirty="0"/>
              <a:t>technical debt</a:t>
            </a:r>
            <a:r>
              <a:rPr lang="ja-JP" altLang="en-US" sz="5625">
                <a:latin typeface="Arial" panose="020B0604020202020204" pitchFamily="34" charset="0"/>
              </a:rPr>
              <a:t>”</a:t>
            </a:r>
            <a:r>
              <a:rPr lang="en-US" altLang="ja-JP" sz="5625" dirty="0"/>
              <a:t>?</a:t>
            </a:r>
            <a:endParaRPr lang="en-US" altLang="en-US" sz="5625" dirty="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4EBF8C2B-B2A1-50B1-A28D-21165E4D28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23234" indent="0">
              <a:buNone/>
              <a:defRPr/>
            </a:pPr>
            <a:r>
              <a:rPr lang="en-US" altLang="en-US" dirty="0">
                <a:sym typeface="Gill Sans" pitchFamily="-84" charset="0"/>
              </a:rPr>
              <a:t>Sources/Kinds of Technical Debt</a:t>
            </a:r>
          </a:p>
          <a:p>
            <a:pPr marL="882892" lvl="1">
              <a:buFont typeface="Gill Sans" pitchFamily="-84" charset="0"/>
              <a:buChar char="•"/>
              <a:defRPr/>
            </a:pPr>
            <a:r>
              <a:rPr lang="en-US" altLang="en-US" sz="1687" dirty="0">
                <a:solidFill>
                  <a:srgbClr val="00B0F0"/>
                </a:solidFill>
                <a:sym typeface="Gill Sans" pitchFamily="-84" charset="0"/>
              </a:rPr>
              <a:t>Unfit (bad) design</a:t>
            </a:r>
          </a:p>
          <a:p>
            <a:pPr marL="882892" lvl="1">
              <a:buFont typeface="Gill Sans" pitchFamily="-84" charset="0"/>
              <a:buChar char="•"/>
              <a:defRPr/>
            </a:pPr>
            <a:r>
              <a:rPr lang="en-US" altLang="en-US" sz="1687" dirty="0">
                <a:solidFill>
                  <a:srgbClr val="00B0F0"/>
                </a:solidFill>
                <a:sym typeface="Gill Sans" pitchFamily="-84" charset="0"/>
              </a:rPr>
              <a:t>Defects</a:t>
            </a:r>
          </a:p>
          <a:p>
            <a:pPr marL="882892" lvl="1">
              <a:buFont typeface="Gill Sans" pitchFamily="-84" charset="0"/>
              <a:buChar char="•"/>
              <a:defRPr/>
            </a:pPr>
            <a:r>
              <a:rPr lang="en-US" altLang="en-US" sz="1687" dirty="0">
                <a:solidFill>
                  <a:srgbClr val="00B0F0"/>
                </a:solidFill>
                <a:sym typeface="Gill Sans" pitchFamily="-84" charset="0"/>
              </a:rPr>
              <a:t>Insufficient test coverage</a:t>
            </a:r>
          </a:p>
          <a:p>
            <a:pPr marL="882892" lvl="1">
              <a:buFont typeface="Gill Sans" pitchFamily="-84" charset="0"/>
              <a:buChar char="•"/>
              <a:defRPr/>
            </a:pPr>
            <a:r>
              <a:rPr lang="en-US" altLang="en-US" sz="1687" dirty="0">
                <a:solidFill>
                  <a:srgbClr val="00B0F0"/>
                </a:solidFill>
                <a:sym typeface="Gill Sans" pitchFamily="-84" charset="0"/>
              </a:rPr>
              <a:t>Excessive manual testing</a:t>
            </a:r>
          </a:p>
          <a:p>
            <a:pPr marL="882892" lvl="1">
              <a:buFont typeface="Gill Sans" pitchFamily="-84" charset="0"/>
              <a:buChar char="•"/>
              <a:defRPr/>
            </a:pPr>
            <a:r>
              <a:rPr lang="en-US" altLang="en-US" sz="1687" dirty="0">
                <a:solidFill>
                  <a:srgbClr val="00B0F0"/>
                </a:solidFill>
                <a:sym typeface="Gill Sans" pitchFamily="-84" charset="0"/>
              </a:rPr>
              <a:t>Poor integration and release management</a:t>
            </a:r>
          </a:p>
          <a:p>
            <a:pPr marL="882892" lvl="1">
              <a:buFont typeface="Gill Sans" pitchFamily="-84" charset="0"/>
              <a:buChar char="•"/>
              <a:defRPr/>
            </a:pPr>
            <a:r>
              <a:rPr lang="en-US" altLang="en-US" sz="1687" dirty="0">
                <a:solidFill>
                  <a:srgbClr val="00B0F0"/>
                </a:solidFill>
                <a:sym typeface="Gill Sans" pitchFamily="-84" charset="0"/>
              </a:rPr>
              <a:t>Lack of platform experience</a:t>
            </a:r>
          </a:p>
          <a:p>
            <a:pPr marL="535762" lvl="1" indent="0">
              <a:buNone/>
              <a:defRPr/>
            </a:pPr>
            <a:endParaRPr lang="en-US" altLang="en-US" sz="1687" dirty="0">
              <a:solidFill>
                <a:srgbClr val="FFFF00"/>
              </a:solidFill>
              <a:sym typeface="Gill Sans" pitchFamily="-84" charset="0"/>
            </a:endParaRPr>
          </a:p>
        </p:txBody>
      </p:sp>
      <p:sp>
        <p:nvSpPr>
          <p:cNvPr id="16387" name="AutoShape 3">
            <a:extLst>
              <a:ext uri="{FF2B5EF4-FFF2-40B4-BE49-F238E27FC236}">
                <a16:creationId xmlns:a16="http://schemas.microsoft.com/office/drawing/2014/main" id="{FB25740A-859D-5673-2F78-60FAEC5378AB}"/>
              </a:ext>
            </a:extLst>
          </p:cNvPr>
          <p:cNvSpPr>
            <a:spLocks/>
          </p:cNvSpPr>
          <p:nvPr/>
        </p:nvSpPr>
        <p:spPr bwMode="auto">
          <a:xfrm>
            <a:off x="6899672" y="3107531"/>
            <a:ext cx="3348633" cy="1053703"/>
          </a:xfrm>
          <a:prstGeom prst="roundRect">
            <a:avLst>
              <a:gd name="adj" fmla="val 12708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ts val="3800"/>
              </a:spcBef>
              <a:buSzPct val="171000"/>
              <a:buFont typeface="Gill Sans" panose="020B0502020104020203" pitchFamily="34" charset="-79"/>
              <a:buChar char="•"/>
              <a:defRPr sz="3200">
                <a:solidFill>
                  <a:schemeClr val="tx1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1pPr>
            <a:lvl2pPr marL="742950" indent="-285750">
              <a:spcBef>
                <a:spcPts val="3800"/>
              </a:spcBef>
              <a:buSzPct val="171000"/>
              <a:buFont typeface="Gill Sans" panose="020B0502020104020203" pitchFamily="34" charset="-79"/>
              <a:buChar char="•"/>
              <a:defRPr sz="3200">
                <a:solidFill>
                  <a:schemeClr val="tx1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2pPr>
            <a:lvl3pPr marL="1143000" indent="-228600">
              <a:spcBef>
                <a:spcPts val="3800"/>
              </a:spcBef>
              <a:buSzPct val="171000"/>
              <a:buFont typeface="Gill Sans" panose="020B0502020104020203" pitchFamily="34" charset="-79"/>
              <a:buChar char="•"/>
              <a:defRPr sz="3200">
                <a:solidFill>
                  <a:schemeClr val="tx1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3pPr>
            <a:lvl4pPr marL="1600200" indent="-228600">
              <a:spcBef>
                <a:spcPts val="3800"/>
              </a:spcBef>
              <a:buSzPct val="171000"/>
              <a:buFont typeface="Gill Sans" panose="020B0502020104020203" pitchFamily="34" charset="-79"/>
              <a:buChar char="•"/>
              <a:defRPr sz="3200">
                <a:solidFill>
                  <a:schemeClr val="tx1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4pPr>
            <a:lvl5pPr marL="2057400" indent="-228600">
              <a:spcBef>
                <a:spcPts val="3800"/>
              </a:spcBef>
              <a:buSzPct val="171000"/>
              <a:buFont typeface="Gill Sans" panose="020B0502020104020203" pitchFamily="34" charset="-79"/>
              <a:buChar char="•"/>
              <a:defRPr sz="3200">
                <a:solidFill>
                  <a:schemeClr val="tx1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5pPr>
            <a:lvl6pPr marL="2514600" indent="-228600" eaLnBrk="0" fontAlgn="base" hangingPunct="0">
              <a:spcBef>
                <a:spcPts val="3800"/>
              </a:spcBef>
              <a:spcAft>
                <a:spcPct val="0"/>
              </a:spcAft>
              <a:buSzPct val="171000"/>
              <a:buFont typeface="Gill Sans" panose="020B0502020104020203" pitchFamily="34" charset="-79"/>
              <a:buChar char="•"/>
              <a:defRPr sz="3200">
                <a:solidFill>
                  <a:schemeClr val="tx1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6pPr>
            <a:lvl7pPr marL="2971800" indent="-228600" eaLnBrk="0" fontAlgn="base" hangingPunct="0">
              <a:spcBef>
                <a:spcPts val="3800"/>
              </a:spcBef>
              <a:spcAft>
                <a:spcPct val="0"/>
              </a:spcAft>
              <a:buSzPct val="171000"/>
              <a:buFont typeface="Gill Sans" panose="020B0502020104020203" pitchFamily="34" charset="-79"/>
              <a:buChar char="•"/>
              <a:defRPr sz="3200">
                <a:solidFill>
                  <a:schemeClr val="tx1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7pPr>
            <a:lvl8pPr marL="3429000" indent="-228600" eaLnBrk="0" fontAlgn="base" hangingPunct="0">
              <a:spcBef>
                <a:spcPts val="3800"/>
              </a:spcBef>
              <a:spcAft>
                <a:spcPct val="0"/>
              </a:spcAft>
              <a:buSzPct val="171000"/>
              <a:buFont typeface="Gill Sans" panose="020B0502020104020203" pitchFamily="34" charset="-79"/>
              <a:buChar char="•"/>
              <a:defRPr sz="3200">
                <a:solidFill>
                  <a:schemeClr val="tx1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8pPr>
            <a:lvl9pPr marL="3886200" indent="-228600" eaLnBrk="0" fontAlgn="base" hangingPunct="0">
              <a:spcBef>
                <a:spcPts val="3800"/>
              </a:spcBef>
              <a:spcAft>
                <a:spcPct val="0"/>
              </a:spcAft>
              <a:buSzPct val="171000"/>
              <a:buFont typeface="Gill Sans" panose="020B0502020104020203" pitchFamily="34" charset="-79"/>
              <a:buChar char="•"/>
              <a:defRPr sz="3200">
                <a:solidFill>
                  <a:schemeClr val="tx1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2531">
                <a:solidFill>
                  <a:srgbClr val="452700"/>
                </a:solidFill>
                <a:ea typeface="MS PGothic" panose="020B0600070205080204" pitchFamily="34" charset="-128"/>
              </a:rPr>
              <a:t>Briefly, define each kind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">
            <a:extLst>
              <a:ext uri="{FF2B5EF4-FFF2-40B4-BE49-F238E27FC236}">
                <a16:creationId xmlns:a16="http://schemas.microsoft.com/office/drawing/2014/main" id="{368771A9-0C9B-E864-904C-AA362B2D53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Reasons/Causes of Technical Debt</a:t>
            </a: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B6F8CE7F-5DD5-335E-85A8-54392BE2CE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23234" indent="0">
              <a:buNone/>
            </a:pPr>
            <a:r>
              <a:rPr lang="en-US" altLang="en-US" dirty="0"/>
              <a:t>How do the following types differ?</a:t>
            </a:r>
          </a:p>
          <a:p>
            <a:pPr marL="937584" lvl="1"/>
            <a:r>
              <a:rPr lang="en-US" altLang="en-US" dirty="0"/>
              <a:t>Naive technical debt</a:t>
            </a:r>
          </a:p>
          <a:p>
            <a:pPr marL="937584" lvl="1"/>
            <a:r>
              <a:rPr lang="en-US" altLang="en-US" dirty="0"/>
              <a:t>Unavoidable technical debt</a:t>
            </a:r>
          </a:p>
          <a:p>
            <a:pPr marL="937584" lvl="1"/>
            <a:r>
              <a:rPr lang="en-US" altLang="en-US" dirty="0"/>
              <a:t>Strategic/Deliberate technical debt</a:t>
            </a:r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D1D3FE08-E524-4474-EDAF-20F407BE6D50}"/>
              </a:ext>
            </a:extLst>
          </p:cNvPr>
          <p:cNvSpPr>
            <a:spLocks/>
          </p:cNvSpPr>
          <p:nvPr/>
        </p:nvSpPr>
        <p:spPr bwMode="auto">
          <a:xfrm>
            <a:off x="6953250" y="5250656"/>
            <a:ext cx="3348633" cy="1053703"/>
          </a:xfrm>
          <a:prstGeom prst="roundRect">
            <a:avLst>
              <a:gd name="adj" fmla="val 12708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ts val="2400"/>
              </a:spcBef>
              <a:buSzPct val="171000"/>
              <a:buFont typeface="Gill Sans" panose="020B0502020104020203" pitchFamily="34" charset="-79"/>
              <a:buChar char="•"/>
              <a:defRPr sz="4200">
                <a:solidFill>
                  <a:schemeClr val="tx1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1pPr>
            <a:lvl2pPr marL="742950" indent="-285750">
              <a:spcBef>
                <a:spcPts val="2400"/>
              </a:spcBef>
              <a:buSzPct val="171000"/>
              <a:buFont typeface="Gill Sans" panose="020B0502020104020203" pitchFamily="34" charset="-79"/>
              <a:buChar char="•"/>
              <a:defRPr sz="4200">
                <a:solidFill>
                  <a:schemeClr val="tx1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2pPr>
            <a:lvl3pPr marL="1143000" indent="-228600">
              <a:spcBef>
                <a:spcPts val="2400"/>
              </a:spcBef>
              <a:buSzPct val="171000"/>
              <a:buFont typeface="Gill Sans" panose="020B0502020104020203" pitchFamily="34" charset="-79"/>
              <a:buChar char="•"/>
              <a:defRPr sz="4200">
                <a:solidFill>
                  <a:schemeClr val="tx1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3pPr>
            <a:lvl4pPr marL="1600200" indent="-228600">
              <a:spcBef>
                <a:spcPts val="2400"/>
              </a:spcBef>
              <a:buSzPct val="171000"/>
              <a:buFont typeface="Gill Sans" panose="020B0502020104020203" pitchFamily="34" charset="-79"/>
              <a:buChar char="•"/>
              <a:defRPr sz="4200">
                <a:solidFill>
                  <a:schemeClr val="tx1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4pPr>
            <a:lvl5pPr marL="2057400" indent="-228600">
              <a:spcBef>
                <a:spcPts val="2400"/>
              </a:spcBef>
              <a:buSzPct val="171000"/>
              <a:buFont typeface="Gill Sans" panose="020B0502020104020203" pitchFamily="34" charset="-79"/>
              <a:buChar char="•"/>
              <a:defRPr sz="4200">
                <a:solidFill>
                  <a:schemeClr val="tx1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5pPr>
            <a:lvl6pPr marL="2514600" indent="-228600" eaLnBrk="0" fontAlgn="base" hangingPunct="0">
              <a:spcBef>
                <a:spcPts val="2400"/>
              </a:spcBef>
              <a:spcAft>
                <a:spcPct val="0"/>
              </a:spcAft>
              <a:buSzPct val="171000"/>
              <a:buFont typeface="Gill Sans" panose="020B0502020104020203" pitchFamily="34" charset="-79"/>
              <a:buChar char="•"/>
              <a:defRPr sz="4200">
                <a:solidFill>
                  <a:schemeClr val="tx1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6pPr>
            <a:lvl7pPr marL="2971800" indent="-228600" eaLnBrk="0" fontAlgn="base" hangingPunct="0">
              <a:spcBef>
                <a:spcPts val="2400"/>
              </a:spcBef>
              <a:spcAft>
                <a:spcPct val="0"/>
              </a:spcAft>
              <a:buSzPct val="171000"/>
              <a:buFont typeface="Gill Sans" panose="020B0502020104020203" pitchFamily="34" charset="-79"/>
              <a:buChar char="•"/>
              <a:defRPr sz="4200">
                <a:solidFill>
                  <a:schemeClr val="tx1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7pPr>
            <a:lvl8pPr marL="3429000" indent="-228600" eaLnBrk="0" fontAlgn="base" hangingPunct="0">
              <a:spcBef>
                <a:spcPts val="2400"/>
              </a:spcBef>
              <a:spcAft>
                <a:spcPct val="0"/>
              </a:spcAft>
              <a:buSzPct val="171000"/>
              <a:buFont typeface="Gill Sans" panose="020B0502020104020203" pitchFamily="34" charset="-79"/>
              <a:buChar char="•"/>
              <a:defRPr sz="4200">
                <a:solidFill>
                  <a:schemeClr val="tx1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8pPr>
            <a:lvl9pPr marL="3886200" indent="-228600" eaLnBrk="0" fontAlgn="base" hangingPunct="0">
              <a:spcBef>
                <a:spcPts val="2400"/>
              </a:spcBef>
              <a:spcAft>
                <a:spcPct val="0"/>
              </a:spcAft>
              <a:buSzPct val="171000"/>
              <a:buFont typeface="Gill Sans" panose="020B0502020104020203" pitchFamily="34" charset="-79"/>
              <a:buChar char="•"/>
              <a:defRPr sz="4200">
                <a:solidFill>
                  <a:schemeClr val="tx1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2531">
                <a:solidFill>
                  <a:srgbClr val="452700"/>
                </a:solidFill>
                <a:ea typeface="MS PGothic" panose="020B0600070205080204" pitchFamily="34" charset="-128"/>
              </a:rPr>
              <a:t>Give an example of each type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Debt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dirty="0"/>
              <a:t>Is debt always bad?</a:t>
            </a:r>
          </a:p>
          <a:p>
            <a:r>
              <a:rPr lang="en-US" sz="2400" dirty="0"/>
              <a:t>Real life is about shipping code that works</a:t>
            </a:r>
          </a:p>
          <a:p>
            <a:r>
              <a:rPr lang="en-US" sz="2400" dirty="0"/>
              <a:t>“Shipping first time code is like going into debt. A little debt speeds development so long as it is paid back promptly with a rewrite – the danger occurs when the debt is not repaid. Every minute spent on not-quite-right code counts as interest on that debt.” – Ward Cunningham</a:t>
            </a:r>
          </a:p>
          <a:p>
            <a:r>
              <a:rPr lang="en-US" sz="2400" dirty="0"/>
              <a:t>Can you afford to do it without debt?</a:t>
            </a:r>
          </a:p>
          <a:p>
            <a:r>
              <a:rPr lang="en-US" sz="2400" dirty="0"/>
              <a:t>Can you afford the interest? </a:t>
            </a:r>
          </a:p>
          <a:p>
            <a:r>
              <a:rPr lang="en-US" sz="2400" dirty="0"/>
              <a:t>Can you keep the debt and interest manageable?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181600" y="6356350"/>
            <a:ext cx="320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CSCI 5030 – Principles of Software Development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BFBFB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73B20C-5347-4FF9-A9F0-76F937F60217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 of debt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26000" y="917312"/>
            <a:ext cx="7366000" cy="5395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Strategic, Intentional Debt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371600"/>
            <a:ext cx="8229600" cy="47244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400" dirty="0"/>
              <a:t>Cunningham’s original definition only considered intentional debt - debt can be “planned debt” or it can be “happened-upon” debt, </a:t>
            </a:r>
            <a:r>
              <a:rPr lang="en-US" sz="2400" u="sng" dirty="0"/>
              <a:t>both can be strategic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“Ship now and deal with the consequences later”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Examples of intentional or strategic debt:</a:t>
            </a:r>
          </a:p>
          <a:p>
            <a:r>
              <a:rPr lang="en-US" sz="2400" dirty="0"/>
              <a:t>Non-modular design</a:t>
            </a:r>
          </a:p>
          <a:p>
            <a:r>
              <a:rPr lang="en-US" sz="2400" dirty="0"/>
              <a:t>Purposefully too-simple/too-complex implementation</a:t>
            </a:r>
          </a:p>
          <a:p>
            <a:r>
              <a:rPr lang="en-US" sz="2400" dirty="0"/>
              <a:t>Performance indifference</a:t>
            </a:r>
          </a:p>
          <a:p>
            <a:r>
              <a:rPr lang="en-US" sz="2400" dirty="0"/>
              <a:t>Lack of generality or extensibility</a:t>
            </a:r>
          </a:p>
          <a:p>
            <a:r>
              <a:rPr lang="en-US" sz="2400" dirty="0"/>
              <a:t>Lack of scalability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181600" y="6356350"/>
            <a:ext cx="320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CSCI 5030 – Principles of Software Development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BFBFB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73B20C-5347-4FF9-A9F0-76F937F60217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Non-Strategic, Unintentional Debt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200" dirty="0"/>
              <a:t>Debt also accumulates unintentionally, no development process is perfect </a:t>
            </a:r>
          </a:p>
          <a:p>
            <a:pPr>
              <a:buNone/>
            </a:pPr>
            <a:endParaRPr lang="en-US" sz="2200" dirty="0"/>
          </a:p>
          <a:p>
            <a:pPr>
              <a:buNone/>
            </a:pPr>
            <a:r>
              <a:rPr lang="en-US" sz="2200" dirty="0"/>
              <a:t>Examples of unintentional or non-strategic debt:</a:t>
            </a:r>
          </a:p>
          <a:p>
            <a:r>
              <a:rPr lang="en-US" sz="2200" dirty="0"/>
              <a:t>Memory leaks</a:t>
            </a:r>
          </a:p>
          <a:p>
            <a:r>
              <a:rPr lang="en-US" sz="2200" dirty="0"/>
              <a:t>Insufficient test coverage</a:t>
            </a:r>
          </a:p>
          <a:p>
            <a:r>
              <a:rPr lang="en-US" sz="2200" dirty="0"/>
              <a:t>Unintentionally complex implementation</a:t>
            </a:r>
          </a:p>
          <a:p>
            <a:r>
              <a:rPr lang="en-US" sz="2200" dirty="0"/>
              <a:t>Rigid/brittle architecture</a:t>
            </a:r>
          </a:p>
          <a:p>
            <a:r>
              <a:rPr lang="en-US" sz="2200" dirty="0"/>
              <a:t>Performance or scalability bottlenecks</a:t>
            </a:r>
          </a:p>
          <a:p>
            <a:r>
              <a:rPr lang="en-US" sz="2200" dirty="0"/>
              <a:t>Sloppy or difficult to maintain code</a:t>
            </a:r>
          </a:p>
          <a:p>
            <a:pPr>
              <a:buNone/>
            </a:pPr>
            <a:endParaRPr lang="en-US" sz="2200" dirty="0"/>
          </a:p>
          <a:p>
            <a:pPr>
              <a:buNone/>
            </a:pPr>
            <a:endParaRPr lang="en-US" sz="2200" dirty="0"/>
          </a:p>
          <a:p>
            <a:pPr>
              <a:buNone/>
            </a:pPr>
            <a:endParaRPr lang="en-US" sz="2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181600" y="6356350"/>
            <a:ext cx="320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CSCI 5030 – Principles of Software Development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BFBFB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73B20C-5347-4FF9-A9F0-76F937F60217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Consequences of Debt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dirty="0"/>
              <a:t>Too much debt =&gt; too much time paying interest</a:t>
            </a:r>
          </a:p>
          <a:p>
            <a:r>
              <a:rPr lang="en-US" sz="2400" dirty="0"/>
              <a:t>Unpredictability in software planning stage, increased risk of investment</a:t>
            </a:r>
          </a:p>
          <a:p>
            <a:r>
              <a:rPr lang="en-US" sz="2400" dirty="0"/>
              <a:t>Slows down future work</a:t>
            </a:r>
          </a:p>
          <a:p>
            <a:r>
              <a:rPr lang="en-US" sz="2400" dirty="0"/>
              <a:t>More bugs, more expensive to fix them</a:t>
            </a:r>
          </a:p>
          <a:p>
            <a:r>
              <a:rPr lang="en-US" sz="2400" dirty="0"/>
              <a:t>Frustrated, unhappy developers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181600" y="6356350"/>
            <a:ext cx="320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CSCI 5030 – Principles of Software Development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BFBFB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73B20C-5347-4FF9-A9F0-76F937F60217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24"/>
          <p:cNvSpPr/>
          <p:nvPr/>
        </p:nvSpPr>
        <p:spPr>
          <a:xfrm>
            <a:off x="6019800" y="1676400"/>
            <a:ext cx="2365310" cy="1600200"/>
          </a:xfrm>
          <a:custGeom>
            <a:avLst/>
            <a:gdLst>
              <a:gd name="connsiteX0" fmla="*/ 0 w 2230017"/>
              <a:gd name="connsiteY0" fmla="*/ 1539551 h 1539551"/>
              <a:gd name="connsiteX1" fmla="*/ 2220686 w 2230017"/>
              <a:gd name="connsiteY1" fmla="*/ 0 h 1539551"/>
              <a:gd name="connsiteX2" fmla="*/ 2230017 w 2230017"/>
              <a:gd name="connsiteY2" fmla="*/ 1324947 h 1539551"/>
              <a:gd name="connsiteX3" fmla="*/ 1390262 w 2230017"/>
              <a:gd name="connsiteY3" fmla="*/ 1390262 h 1539551"/>
              <a:gd name="connsiteX4" fmla="*/ 457200 w 2230017"/>
              <a:gd name="connsiteY4" fmla="*/ 1492898 h 1539551"/>
              <a:gd name="connsiteX5" fmla="*/ 0 w 2230017"/>
              <a:gd name="connsiteY5" fmla="*/ 1539551 h 1539551"/>
              <a:gd name="connsiteX0" fmla="*/ 0 w 2223796"/>
              <a:gd name="connsiteY0" fmla="*/ 1539551 h 1539551"/>
              <a:gd name="connsiteX1" fmla="*/ 2220686 w 2223796"/>
              <a:gd name="connsiteY1" fmla="*/ 0 h 1539551"/>
              <a:gd name="connsiteX2" fmla="*/ 2220686 w 2223796"/>
              <a:gd name="connsiteY2" fmla="*/ 1349829 h 1539551"/>
              <a:gd name="connsiteX3" fmla="*/ 1390262 w 2223796"/>
              <a:gd name="connsiteY3" fmla="*/ 1390262 h 1539551"/>
              <a:gd name="connsiteX4" fmla="*/ 457200 w 2223796"/>
              <a:gd name="connsiteY4" fmla="*/ 1492898 h 1539551"/>
              <a:gd name="connsiteX5" fmla="*/ 0 w 2223796"/>
              <a:gd name="connsiteY5" fmla="*/ 1539551 h 1539551"/>
              <a:gd name="connsiteX0" fmla="*/ 0 w 2289110"/>
              <a:gd name="connsiteY0" fmla="*/ 1578429 h 1578429"/>
              <a:gd name="connsiteX1" fmla="*/ 2286000 w 2289110"/>
              <a:gd name="connsiteY1" fmla="*/ 0 h 1578429"/>
              <a:gd name="connsiteX2" fmla="*/ 2286000 w 2289110"/>
              <a:gd name="connsiteY2" fmla="*/ 1349829 h 1578429"/>
              <a:gd name="connsiteX3" fmla="*/ 1455576 w 2289110"/>
              <a:gd name="connsiteY3" fmla="*/ 1390262 h 1578429"/>
              <a:gd name="connsiteX4" fmla="*/ 522514 w 2289110"/>
              <a:gd name="connsiteY4" fmla="*/ 1492898 h 1578429"/>
              <a:gd name="connsiteX5" fmla="*/ 0 w 2289110"/>
              <a:gd name="connsiteY5" fmla="*/ 1578429 h 1578429"/>
              <a:gd name="connsiteX0" fmla="*/ 0 w 2365310"/>
              <a:gd name="connsiteY0" fmla="*/ 1578429 h 1578429"/>
              <a:gd name="connsiteX1" fmla="*/ 2362200 w 2365310"/>
              <a:gd name="connsiteY1" fmla="*/ 0 h 1578429"/>
              <a:gd name="connsiteX2" fmla="*/ 2362200 w 2365310"/>
              <a:gd name="connsiteY2" fmla="*/ 1349829 h 1578429"/>
              <a:gd name="connsiteX3" fmla="*/ 1531776 w 2365310"/>
              <a:gd name="connsiteY3" fmla="*/ 1390262 h 1578429"/>
              <a:gd name="connsiteX4" fmla="*/ 598714 w 2365310"/>
              <a:gd name="connsiteY4" fmla="*/ 1492898 h 1578429"/>
              <a:gd name="connsiteX5" fmla="*/ 0 w 2365310"/>
              <a:gd name="connsiteY5" fmla="*/ 1578429 h 1578429"/>
              <a:gd name="connsiteX0" fmla="*/ 0 w 2365310"/>
              <a:gd name="connsiteY0" fmla="*/ 1600200 h 1600200"/>
              <a:gd name="connsiteX1" fmla="*/ 2362200 w 2365310"/>
              <a:gd name="connsiteY1" fmla="*/ 0 h 1600200"/>
              <a:gd name="connsiteX2" fmla="*/ 2362200 w 2365310"/>
              <a:gd name="connsiteY2" fmla="*/ 1371600 h 1600200"/>
              <a:gd name="connsiteX3" fmla="*/ 1531776 w 2365310"/>
              <a:gd name="connsiteY3" fmla="*/ 1412033 h 1600200"/>
              <a:gd name="connsiteX4" fmla="*/ 598714 w 2365310"/>
              <a:gd name="connsiteY4" fmla="*/ 1514669 h 1600200"/>
              <a:gd name="connsiteX5" fmla="*/ 0 w 2365310"/>
              <a:gd name="connsiteY5" fmla="*/ 1600200 h 16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5310" h="1600200">
                <a:moveTo>
                  <a:pt x="0" y="1600200"/>
                </a:moveTo>
                <a:lnTo>
                  <a:pt x="2362200" y="0"/>
                </a:lnTo>
                <a:cubicBezTo>
                  <a:pt x="2365310" y="441649"/>
                  <a:pt x="2359090" y="929951"/>
                  <a:pt x="2362200" y="1371600"/>
                </a:cubicBezTo>
                <a:lnTo>
                  <a:pt x="1531776" y="1412033"/>
                </a:lnTo>
                <a:lnTo>
                  <a:pt x="598714" y="1514669"/>
                </a:lnTo>
                <a:lnTo>
                  <a:pt x="0" y="1600200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50000"/>
                </a:schemeClr>
              </a:gs>
              <a:gs pos="80000">
                <a:schemeClr val="accent2">
                  <a:lumMod val="40000"/>
                  <a:lumOff val="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 27"/>
          <p:cNvSpPr/>
          <p:nvPr/>
        </p:nvSpPr>
        <p:spPr>
          <a:xfrm>
            <a:off x="3352800" y="3331030"/>
            <a:ext cx="2593910" cy="1774371"/>
          </a:xfrm>
          <a:custGeom>
            <a:avLst/>
            <a:gdLst>
              <a:gd name="connsiteX0" fmla="*/ 0 w 2575249"/>
              <a:gd name="connsiteY0" fmla="*/ 1744824 h 1744824"/>
              <a:gd name="connsiteX1" fmla="*/ 317241 w 2575249"/>
              <a:gd name="connsiteY1" fmla="*/ 1250302 h 1744824"/>
              <a:gd name="connsiteX2" fmla="*/ 718457 w 2575249"/>
              <a:gd name="connsiteY2" fmla="*/ 774440 h 1744824"/>
              <a:gd name="connsiteX3" fmla="*/ 989045 w 2575249"/>
              <a:gd name="connsiteY3" fmla="*/ 559836 h 1744824"/>
              <a:gd name="connsiteX4" fmla="*/ 1315617 w 2575249"/>
              <a:gd name="connsiteY4" fmla="*/ 363893 h 1744824"/>
              <a:gd name="connsiteX5" fmla="*/ 1791478 w 2575249"/>
              <a:gd name="connsiteY5" fmla="*/ 177281 h 1744824"/>
              <a:gd name="connsiteX6" fmla="*/ 2267339 w 2575249"/>
              <a:gd name="connsiteY6" fmla="*/ 55983 h 1744824"/>
              <a:gd name="connsiteX7" fmla="*/ 2575249 w 2575249"/>
              <a:gd name="connsiteY7" fmla="*/ 0 h 1744824"/>
              <a:gd name="connsiteX8" fmla="*/ 0 w 2575249"/>
              <a:gd name="connsiteY8" fmla="*/ 1744824 h 1744824"/>
              <a:gd name="connsiteX0" fmla="*/ 0 w 2575249"/>
              <a:gd name="connsiteY0" fmla="*/ 1744824 h 1744824"/>
              <a:gd name="connsiteX1" fmla="*/ 362339 w 2575249"/>
              <a:gd name="connsiteY1" fmla="*/ 1164771 h 1744824"/>
              <a:gd name="connsiteX2" fmla="*/ 718457 w 2575249"/>
              <a:gd name="connsiteY2" fmla="*/ 774440 h 1744824"/>
              <a:gd name="connsiteX3" fmla="*/ 989045 w 2575249"/>
              <a:gd name="connsiteY3" fmla="*/ 559836 h 1744824"/>
              <a:gd name="connsiteX4" fmla="*/ 1315617 w 2575249"/>
              <a:gd name="connsiteY4" fmla="*/ 363893 h 1744824"/>
              <a:gd name="connsiteX5" fmla="*/ 1791478 w 2575249"/>
              <a:gd name="connsiteY5" fmla="*/ 177281 h 1744824"/>
              <a:gd name="connsiteX6" fmla="*/ 2267339 w 2575249"/>
              <a:gd name="connsiteY6" fmla="*/ 55983 h 1744824"/>
              <a:gd name="connsiteX7" fmla="*/ 2575249 w 2575249"/>
              <a:gd name="connsiteY7" fmla="*/ 0 h 1744824"/>
              <a:gd name="connsiteX8" fmla="*/ 0 w 2575249"/>
              <a:gd name="connsiteY8" fmla="*/ 1744824 h 1744824"/>
              <a:gd name="connsiteX0" fmla="*/ 0 w 2575249"/>
              <a:gd name="connsiteY0" fmla="*/ 1744824 h 1744824"/>
              <a:gd name="connsiteX1" fmla="*/ 362339 w 2575249"/>
              <a:gd name="connsiteY1" fmla="*/ 1164771 h 1744824"/>
              <a:gd name="connsiteX2" fmla="*/ 718457 w 2575249"/>
              <a:gd name="connsiteY2" fmla="*/ 774440 h 1744824"/>
              <a:gd name="connsiteX3" fmla="*/ 1048139 w 2575249"/>
              <a:gd name="connsiteY3" fmla="*/ 478971 h 1744824"/>
              <a:gd name="connsiteX4" fmla="*/ 1315617 w 2575249"/>
              <a:gd name="connsiteY4" fmla="*/ 363893 h 1744824"/>
              <a:gd name="connsiteX5" fmla="*/ 1791478 w 2575249"/>
              <a:gd name="connsiteY5" fmla="*/ 177281 h 1744824"/>
              <a:gd name="connsiteX6" fmla="*/ 2267339 w 2575249"/>
              <a:gd name="connsiteY6" fmla="*/ 55983 h 1744824"/>
              <a:gd name="connsiteX7" fmla="*/ 2575249 w 2575249"/>
              <a:gd name="connsiteY7" fmla="*/ 0 h 1744824"/>
              <a:gd name="connsiteX8" fmla="*/ 0 w 2575249"/>
              <a:gd name="connsiteY8" fmla="*/ 1744824 h 1744824"/>
              <a:gd name="connsiteX0" fmla="*/ 0 w 2575249"/>
              <a:gd name="connsiteY0" fmla="*/ 1744824 h 1744824"/>
              <a:gd name="connsiteX1" fmla="*/ 362339 w 2575249"/>
              <a:gd name="connsiteY1" fmla="*/ 1164771 h 1744824"/>
              <a:gd name="connsiteX2" fmla="*/ 718457 w 2575249"/>
              <a:gd name="connsiteY2" fmla="*/ 774440 h 1744824"/>
              <a:gd name="connsiteX3" fmla="*/ 1048139 w 2575249"/>
              <a:gd name="connsiteY3" fmla="*/ 478971 h 1744824"/>
              <a:gd name="connsiteX4" fmla="*/ 1429139 w 2575249"/>
              <a:gd name="connsiteY4" fmla="*/ 250371 h 1744824"/>
              <a:gd name="connsiteX5" fmla="*/ 1791478 w 2575249"/>
              <a:gd name="connsiteY5" fmla="*/ 177281 h 1744824"/>
              <a:gd name="connsiteX6" fmla="*/ 2267339 w 2575249"/>
              <a:gd name="connsiteY6" fmla="*/ 55983 h 1744824"/>
              <a:gd name="connsiteX7" fmla="*/ 2575249 w 2575249"/>
              <a:gd name="connsiteY7" fmla="*/ 0 h 1744824"/>
              <a:gd name="connsiteX8" fmla="*/ 0 w 2575249"/>
              <a:gd name="connsiteY8" fmla="*/ 1744824 h 1744824"/>
              <a:gd name="connsiteX0" fmla="*/ 0 w 2575249"/>
              <a:gd name="connsiteY0" fmla="*/ 1744824 h 1744824"/>
              <a:gd name="connsiteX1" fmla="*/ 362339 w 2575249"/>
              <a:gd name="connsiteY1" fmla="*/ 1164771 h 1744824"/>
              <a:gd name="connsiteX2" fmla="*/ 718457 w 2575249"/>
              <a:gd name="connsiteY2" fmla="*/ 774440 h 1744824"/>
              <a:gd name="connsiteX3" fmla="*/ 1048139 w 2575249"/>
              <a:gd name="connsiteY3" fmla="*/ 478971 h 1744824"/>
              <a:gd name="connsiteX4" fmla="*/ 1429139 w 2575249"/>
              <a:gd name="connsiteY4" fmla="*/ 250371 h 1744824"/>
              <a:gd name="connsiteX5" fmla="*/ 1962539 w 2575249"/>
              <a:gd name="connsiteY5" fmla="*/ 97971 h 1744824"/>
              <a:gd name="connsiteX6" fmla="*/ 2267339 w 2575249"/>
              <a:gd name="connsiteY6" fmla="*/ 55983 h 1744824"/>
              <a:gd name="connsiteX7" fmla="*/ 2575249 w 2575249"/>
              <a:gd name="connsiteY7" fmla="*/ 0 h 1744824"/>
              <a:gd name="connsiteX8" fmla="*/ 0 w 2575249"/>
              <a:gd name="connsiteY8" fmla="*/ 1744824 h 1744824"/>
              <a:gd name="connsiteX0" fmla="*/ 0 w 2575249"/>
              <a:gd name="connsiteY0" fmla="*/ 1744824 h 1744824"/>
              <a:gd name="connsiteX1" fmla="*/ 362339 w 2575249"/>
              <a:gd name="connsiteY1" fmla="*/ 1164771 h 1744824"/>
              <a:gd name="connsiteX2" fmla="*/ 718457 w 2575249"/>
              <a:gd name="connsiteY2" fmla="*/ 774440 h 1744824"/>
              <a:gd name="connsiteX3" fmla="*/ 1048139 w 2575249"/>
              <a:gd name="connsiteY3" fmla="*/ 478971 h 1744824"/>
              <a:gd name="connsiteX4" fmla="*/ 1429139 w 2575249"/>
              <a:gd name="connsiteY4" fmla="*/ 250371 h 1744824"/>
              <a:gd name="connsiteX5" fmla="*/ 1962539 w 2575249"/>
              <a:gd name="connsiteY5" fmla="*/ 97971 h 1744824"/>
              <a:gd name="connsiteX6" fmla="*/ 2267339 w 2575249"/>
              <a:gd name="connsiteY6" fmla="*/ 21771 h 1744824"/>
              <a:gd name="connsiteX7" fmla="*/ 2575249 w 2575249"/>
              <a:gd name="connsiteY7" fmla="*/ 0 h 1744824"/>
              <a:gd name="connsiteX8" fmla="*/ 0 w 2575249"/>
              <a:gd name="connsiteY8" fmla="*/ 1744824 h 1744824"/>
              <a:gd name="connsiteX0" fmla="*/ 0 w 2593910"/>
              <a:gd name="connsiteY0" fmla="*/ 1774371 h 1774371"/>
              <a:gd name="connsiteX1" fmla="*/ 381000 w 2593910"/>
              <a:gd name="connsiteY1" fmla="*/ 1164771 h 1774371"/>
              <a:gd name="connsiteX2" fmla="*/ 737118 w 2593910"/>
              <a:gd name="connsiteY2" fmla="*/ 774440 h 1774371"/>
              <a:gd name="connsiteX3" fmla="*/ 1066800 w 2593910"/>
              <a:gd name="connsiteY3" fmla="*/ 478971 h 1774371"/>
              <a:gd name="connsiteX4" fmla="*/ 1447800 w 2593910"/>
              <a:gd name="connsiteY4" fmla="*/ 250371 h 1774371"/>
              <a:gd name="connsiteX5" fmla="*/ 1981200 w 2593910"/>
              <a:gd name="connsiteY5" fmla="*/ 97971 h 1774371"/>
              <a:gd name="connsiteX6" fmla="*/ 2286000 w 2593910"/>
              <a:gd name="connsiteY6" fmla="*/ 21771 h 1774371"/>
              <a:gd name="connsiteX7" fmla="*/ 2593910 w 2593910"/>
              <a:gd name="connsiteY7" fmla="*/ 0 h 1774371"/>
              <a:gd name="connsiteX8" fmla="*/ 0 w 2593910"/>
              <a:gd name="connsiteY8" fmla="*/ 1774371 h 1774371"/>
              <a:gd name="connsiteX0" fmla="*/ 0 w 2593910"/>
              <a:gd name="connsiteY0" fmla="*/ 1774371 h 1774371"/>
              <a:gd name="connsiteX1" fmla="*/ 381000 w 2593910"/>
              <a:gd name="connsiteY1" fmla="*/ 1164771 h 1774371"/>
              <a:gd name="connsiteX2" fmla="*/ 685800 w 2593910"/>
              <a:gd name="connsiteY2" fmla="*/ 783771 h 1774371"/>
              <a:gd name="connsiteX3" fmla="*/ 1066800 w 2593910"/>
              <a:gd name="connsiteY3" fmla="*/ 478971 h 1774371"/>
              <a:gd name="connsiteX4" fmla="*/ 1447800 w 2593910"/>
              <a:gd name="connsiteY4" fmla="*/ 250371 h 1774371"/>
              <a:gd name="connsiteX5" fmla="*/ 1981200 w 2593910"/>
              <a:gd name="connsiteY5" fmla="*/ 97971 h 1774371"/>
              <a:gd name="connsiteX6" fmla="*/ 2286000 w 2593910"/>
              <a:gd name="connsiteY6" fmla="*/ 21771 h 1774371"/>
              <a:gd name="connsiteX7" fmla="*/ 2593910 w 2593910"/>
              <a:gd name="connsiteY7" fmla="*/ 0 h 1774371"/>
              <a:gd name="connsiteX8" fmla="*/ 0 w 2593910"/>
              <a:gd name="connsiteY8" fmla="*/ 1774371 h 1774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93910" h="1774371">
                <a:moveTo>
                  <a:pt x="0" y="1774371"/>
                </a:moveTo>
                <a:lnTo>
                  <a:pt x="381000" y="1164771"/>
                </a:lnTo>
                <a:lnTo>
                  <a:pt x="685800" y="783771"/>
                </a:lnTo>
                <a:lnTo>
                  <a:pt x="1066800" y="478971"/>
                </a:lnTo>
                <a:lnTo>
                  <a:pt x="1447800" y="250371"/>
                </a:lnTo>
                <a:lnTo>
                  <a:pt x="1981200" y="97971"/>
                </a:lnTo>
                <a:lnTo>
                  <a:pt x="2286000" y="21771"/>
                </a:lnTo>
                <a:lnTo>
                  <a:pt x="2593910" y="0"/>
                </a:lnTo>
                <a:lnTo>
                  <a:pt x="0" y="1774371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Debt Tradeoff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181600" y="6356350"/>
            <a:ext cx="320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CSCI 5030 – Principles of Software Development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BFBFB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73B20C-5347-4FF9-A9F0-76F937F60217}" type="slidenum">
              <a:rPr lang="en-US" smtClean="0"/>
              <a:pPr/>
              <a:t>18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2895600" y="5334000"/>
            <a:ext cx="6400800" cy="0"/>
          </a:xfrm>
          <a:prstGeom prst="line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3048000" y="1447800"/>
            <a:ext cx="0" cy="4038600"/>
          </a:xfrm>
          <a:prstGeom prst="line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3276600" y="1676400"/>
            <a:ext cx="5105400" cy="3505200"/>
          </a:xfrm>
          <a:prstGeom prst="line">
            <a:avLst/>
          </a:prstGeom>
          <a:ln w="38100">
            <a:solidFill>
              <a:srgbClr val="47FF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3278156" y="3048000"/>
            <a:ext cx="5103845" cy="2167812"/>
          </a:xfrm>
          <a:custGeom>
            <a:avLst/>
            <a:gdLst>
              <a:gd name="connsiteX0" fmla="*/ 0 w 5617029"/>
              <a:gd name="connsiteY0" fmla="*/ 2537926 h 2537926"/>
              <a:gd name="connsiteX1" fmla="*/ 1707502 w 5617029"/>
              <a:gd name="connsiteY1" fmla="*/ 643812 h 2537926"/>
              <a:gd name="connsiteX2" fmla="*/ 5617029 w 5617029"/>
              <a:gd name="connsiteY2" fmla="*/ 0 h 2537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17029" h="2537926">
                <a:moveTo>
                  <a:pt x="0" y="2537926"/>
                </a:moveTo>
                <a:cubicBezTo>
                  <a:pt x="385665" y="1802363"/>
                  <a:pt x="771331" y="1066800"/>
                  <a:pt x="1707502" y="643812"/>
                </a:cubicBezTo>
                <a:cubicBezTo>
                  <a:pt x="2643674" y="220824"/>
                  <a:pt x="4130351" y="110412"/>
                  <a:pt x="5617029" y="0"/>
                </a:cubicBezTo>
              </a:path>
            </a:pathLst>
          </a:cu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 rot="19519506">
            <a:off x="6472292" y="1752900"/>
            <a:ext cx="2094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Zero-Debt Product</a:t>
            </a:r>
          </a:p>
        </p:txBody>
      </p:sp>
      <p:sp>
        <p:nvSpPr>
          <p:cNvPr id="21" name="TextBox 20"/>
          <p:cNvSpPr txBox="1"/>
          <p:nvPr/>
        </p:nvSpPr>
        <p:spPr>
          <a:xfrm rot="21371124">
            <a:off x="6571926" y="3184402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Indebted Product</a:t>
            </a:r>
          </a:p>
        </p:txBody>
      </p:sp>
      <p:sp>
        <p:nvSpPr>
          <p:cNvPr id="22" name="TextBox 21"/>
          <p:cNvSpPr txBox="1"/>
          <p:nvPr/>
        </p:nvSpPr>
        <p:spPr>
          <a:xfrm rot="16200000">
            <a:off x="1793724" y="2940320"/>
            <a:ext cx="1963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Working 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410200"/>
            <a:ext cx="3197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Time, Size, Lines-of-Code, etc.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55633" y="2325470"/>
            <a:ext cx="11050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Technical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Debt</a:t>
            </a:r>
          </a:p>
        </p:txBody>
      </p:sp>
      <p:sp>
        <p:nvSpPr>
          <p:cNvPr id="27" name="TextBox 26"/>
          <p:cNvSpPr txBox="1"/>
          <p:nvPr/>
        </p:nvSpPr>
        <p:spPr>
          <a:xfrm rot="19562170">
            <a:off x="3873978" y="4209981"/>
            <a:ext cx="189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Over-Engineered</a:t>
            </a:r>
          </a:p>
        </p:txBody>
      </p:sp>
      <p:cxnSp>
        <p:nvCxnSpPr>
          <p:cNvPr id="29" name="Straight Connector 28"/>
          <p:cNvCxnSpPr/>
          <p:nvPr/>
        </p:nvCxnSpPr>
        <p:spPr>
          <a:xfrm flipH="1" flipV="1">
            <a:off x="6068007" y="3334138"/>
            <a:ext cx="304800" cy="762000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096000" y="4038601"/>
            <a:ext cx="35303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Debt Value Inflection</a:t>
            </a:r>
            <a:br>
              <a:rPr lang="en-US" dirty="0"/>
            </a:br>
            <a:r>
              <a:rPr lang="en-US" dirty="0"/>
              <a:t>- Too much time is spent paying</a:t>
            </a:r>
            <a:br>
              <a:rPr lang="en-US" dirty="0"/>
            </a:br>
            <a:r>
              <a:rPr lang="en-US" dirty="0"/>
              <a:t>  interest and development slows</a:t>
            </a:r>
            <a:br>
              <a:rPr lang="en-US" dirty="0"/>
            </a:br>
            <a:r>
              <a:rPr lang="en-US" dirty="0"/>
              <a:t>  to a crawl</a:t>
            </a:r>
          </a:p>
        </p:txBody>
      </p:sp>
      <p:sp>
        <p:nvSpPr>
          <p:cNvPr id="33" name="TextBox 32"/>
          <p:cNvSpPr txBox="1"/>
          <p:nvPr/>
        </p:nvSpPr>
        <p:spPr>
          <a:xfrm rot="19562170">
            <a:off x="3414599" y="3510354"/>
            <a:ext cx="1701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Rapid Progress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Communicating Debt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260" y="1436914"/>
            <a:ext cx="10997540" cy="4740049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400" dirty="0"/>
              <a:t>Writing good code isn’t just a matter of professionalism or craftsmanship:</a:t>
            </a:r>
          </a:p>
          <a:p>
            <a:pPr>
              <a:buNone/>
            </a:pPr>
            <a:endParaRPr lang="en-US" sz="2400" dirty="0"/>
          </a:p>
          <a:p>
            <a:r>
              <a:rPr lang="en-US" sz="2400" dirty="0"/>
              <a:t>There is no moral or intellectual imperative to produce good code</a:t>
            </a:r>
          </a:p>
          <a:p>
            <a:endParaRPr lang="en-US" sz="2400" dirty="0"/>
          </a:p>
          <a:p>
            <a:r>
              <a:rPr lang="en-US" sz="2400" dirty="0"/>
              <a:t>Every bit of debt incurred today reduces your future ability to produce working features</a:t>
            </a:r>
          </a:p>
          <a:p>
            <a:endParaRPr lang="en-US" sz="2400" dirty="0"/>
          </a:p>
          <a:p>
            <a:r>
              <a:rPr lang="en-US" sz="2400" dirty="0"/>
              <a:t>Technical debt has a real cost- not “interest” as we have described- your future productivity… your manager will literally pay for it later</a:t>
            </a:r>
          </a:p>
          <a:p>
            <a:endParaRPr lang="en-US" sz="2400" dirty="0"/>
          </a:p>
          <a:p>
            <a:r>
              <a:rPr lang="en-US" sz="2400" dirty="0"/>
              <a:t>Likewise, writing good code or refactoring costs more now, but results in savings later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181600" y="6356350"/>
            <a:ext cx="320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CSCI 5030 – Principles of Software Development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BFBFB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73B20C-5347-4FF9-A9F0-76F937F60217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Debt Avoidance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200" dirty="0"/>
              <a:t>Non-strategic debt is not helpful by definition</a:t>
            </a:r>
          </a:p>
          <a:p>
            <a:pPr>
              <a:buNone/>
            </a:pPr>
            <a:endParaRPr lang="en-US" sz="2200" dirty="0"/>
          </a:p>
          <a:p>
            <a:pPr>
              <a:buNone/>
            </a:pPr>
            <a:r>
              <a:rPr lang="en-US" sz="2200" dirty="0"/>
              <a:t>Avoid non-strategic debt:</a:t>
            </a:r>
          </a:p>
          <a:p>
            <a:r>
              <a:rPr lang="en-US" sz="2200" dirty="0"/>
              <a:t>Use good engineering practices – test-driven development, good architectural patterns, etc.</a:t>
            </a:r>
          </a:p>
          <a:p>
            <a:pPr lvl="1"/>
            <a:r>
              <a:rPr lang="en-US" sz="2000" dirty="0"/>
              <a:t>If you’re not actively working to make your system simpler and with less </a:t>
            </a:r>
            <a:r>
              <a:rPr lang="en-US" sz="2000" dirty="0" err="1"/>
              <a:t>cruft</a:t>
            </a:r>
            <a:r>
              <a:rPr lang="en-US" sz="2000" dirty="0"/>
              <a:t>, it’s getting worse</a:t>
            </a:r>
          </a:p>
          <a:p>
            <a:r>
              <a:rPr lang="en-US" sz="2200" dirty="0"/>
              <a:t>Strong “definition of done”- user requirements are the baseline, how much debt are you willing to accept each sprint or for each feature?</a:t>
            </a:r>
          </a:p>
          <a:p>
            <a:r>
              <a:rPr lang="en-US" sz="2200" i="1" dirty="0"/>
              <a:t>Refactoring</a:t>
            </a:r>
            <a:r>
              <a:rPr lang="en-US" sz="2200" dirty="0"/>
              <a:t>- reducing debt without changing behavior</a:t>
            </a:r>
          </a:p>
          <a:p>
            <a:endParaRPr lang="en-US" sz="2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181600" y="6356350"/>
            <a:ext cx="320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CSCI 5030 – Principles of Software Development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BFBFB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73B20C-5347-4FF9-A9F0-76F937F60217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3820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/>
              <a:t>Known debt is everything recorded in an issue tracker or product backlog</a:t>
            </a:r>
          </a:p>
          <a:p>
            <a:r>
              <a:rPr lang="en-US" sz="2400" dirty="0"/>
              <a:t>Devoting effort to get rid of that debt is a quantifiable business decision</a:t>
            </a:r>
          </a:p>
          <a:p>
            <a:r>
              <a:rPr lang="en-US" sz="2400" dirty="0"/>
              <a:t>Doesn’t always make sense to work on debt: e.g. prototypes, end-of-life software, small projects</a:t>
            </a:r>
          </a:p>
          <a:p>
            <a:r>
              <a:rPr lang="en-US" sz="2400" dirty="0"/>
              <a:t>Good practice to pay down debt a little at a time versus ignoring it and making a “balloon payment”</a:t>
            </a:r>
          </a:p>
          <a:p>
            <a:r>
              <a:rPr lang="en-US" sz="2400" dirty="0"/>
              <a:t>When you find debt- use the “boy scout principle”: clean up what you can, log the rest as known debt, leave the camp cleaner than you found it</a:t>
            </a:r>
          </a:p>
          <a:p>
            <a:pPr>
              <a:buNone/>
            </a:pP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181600" y="6356350"/>
            <a:ext cx="320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CSCI 5030 – Principles of Software Development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BFBFB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73B20C-5347-4FF9-A9F0-76F937F60217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>
            <a:extLst>
              <a:ext uri="{FF2B5EF4-FFF2-40B4-BE49-F238E27FC236}">
                <a16:creationId xmlns:a16="http://schemas.microsoft.com/office/drawing/2014/main" id="{9608D0C6-C6C6-AF06-6581-75EDFA60D7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Accumulation of</a:t>
            </a:r>
            <a:br>
              <a:rPr lang="en-US" altLang="en-US"/>
            </a:br>
            <a:r>
              <a:rPr lang="en-US" altLang="en-US"/>
              <a:t>Technical Debt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D676E868-28AE-592D-8C0E-F3C61038E9AE}"/>
              </a:ext>
            </a:extLst>
          </p:cNvPr>
          <p:cNvSpPr>
            <a:spLocks/>
          </p:cNvSpPr>
          <p:nvPr/>
        </p:nvSpPr>
        <p:spPr bwMode="auto">
          <a:xfrm>
            <a:off x="2032992" y="3357563"/>
            <a:ext cx="2482453" cy="1053703"/>
          </a:xfrm>
          <a:prstGeom prst="roundRect">
            <a:avLst>
              <a:gd name="adj" fmla="val 12708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1pPr>
            <a:lvl2pPr marL="742950" indent="-28575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2pPr>
            <a:lvl3pPr marL="11430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3pPr>
            <a:lvl4pPr marL="16002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4pPr>
            <a:lvl5pPr marL="20574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9pPr>
          </a:lstStyle>
          <a:p>
            <a:pPr algn="ctr" eaLnBrk="1" hangingPunct="1"/>
            <a:r>
              <a:rPr lang="en-US" altLang="en-US" sz="2531">
                <a:solidFill>
                  <a:srgbClr val="452700"/>
                </a:solidFill>
                <a:ea typeface="MS PGothic" panose="020B0600070205080204" pitchFamily="34" charset="-128"/>
              </a:rPr>
              <a:t>Deadline pressure</a:t>
            </a:r>
          </a:p>
        </p:txBody>
      </p:sp>
      <p:sp>
        <p:nvSpPr>
          <p:cNvPr id="19459" name="AutoShape 3">
            <a:extLst>
              <a:ext uri="{FF2B5EF4-FFF2-40B4-BE49-F238E27FC236}">
                <a16:creationId xmlns:a16="http://schemas.microsoft.com/office/drawing/2014/main" id="{6C36D88A-B645-C003-2627-A0AEDCB8D4B4}"/>
              </a:ext>
            </a:extLst>
          </p:cNvPr>
          <p:cNvSpPr>
            <a:spLocks/>
          </p:cNvSpPr>
          <p:nvPr/>
        </p:nvSpPr>
        <p:spPr bwMode="auto">
          <a:xfrm>
            <a:off x="5149453" y="2062758"/>
            <a:ext cx="2187773" cy="1053703"/>
          </a:xfrm>
          <a:prstGeom prst="roundRect">
            <a:avLst>
              <a:gd name="adj" fmla="val 12708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1pPr>
            <a:lvl2pPr marL="742950" indent="-28575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2pPr>
            <a:lvl3pPr marL="11430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3pPr>
            <a:lvl4pPr marL="16002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4pPr>
            <a:lvl5pPr marL="20574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9pPr>
          </a:lstStyle>
          <a:p>
            <a:pPr algn="ctr" eaLnBrk="1" hangingPunct="1"/>
            <a:r>
              <a:rPr lang="en-US" altLang="en-US" sz="2531" dirty="0">
                <a:solidFill>
                  <a:srgbClr val="452700"/>
                </a:solidFill>
                <a:ea typeface="MS PGothic" panose="020B0600070205080204" pitchFamily="34" charset="-128"/>
              </a:rPr>
              <a:t>False </a:t>
            </a:r>
            <a:r>
              <a:rPr lang="ja-JP" altLang="en-US" sz="2531">
                <a:solidFill>
                  <a:srgbClr val="4527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“</a:t>
            </a:r>
            <a:r>
              <a:rPr lang="en-US" altLang="ja-JP" sz="2531" dirty="0">
                <a:solidFill>
                  <a:srgbClr val="452700"/>
                </a:solidFill>
                <a:ea typeface="MS PGothic" panose="020B0600070205080204" pitchFamily="34" charset="-128"/>
              </a:rPr>
              <a:t>acceleration</a:t>
            </a:r>
            <a:r>
              <a:rPr lang="ja-JP" altLang="en-US" sz="2531">
                <a:solidFill>
                  <a:srgbClr val="4527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”</a:t>
            </a:r>
            <a:endParaRPr lang="en-US" altLang="en-US" sz="2531" dirty="0">
              <a:solidFill>
                <a:srgbClr val="452700"/>
              </a:solidFill>
              <a:ea typeface="MS PGothic" panose="020B0600070205080204" pitchFamily="34" charset="-128"/>
            </a:endParaRPr>
          </a:p>
        </p:txBody>
      </p:sp>
      <p:sp>
        <p:nvSpPr>
          <p:cNvPr id="19460" name="AutoShape 4">
            <a:extLst>
              <a:ext uri="{FF2B5EF4-FFF2-40B4-BE49-F238E27FC236}">
                <a16:creationId xmlns:a16="http://schemas.microsoft.com/office/drawing/2014/main" id="{43D179B1-906D-FF74-22A1-5D2699FE87DC}"/>
              </a:ext>
            </a:extLst>
          </p:cNvPr>
          <p:cNvSpPr>
            <a:spLocks/>
          </p:cNvSpPr>
          <p:nvPr/>
        </p:nvSpPr>
        <p:spPr bwMode="auto">
          <a:xfrm>
            <a:off x="8140899" y="3429000"/>
            <a:ext cx="1848445" cy="1053703"/>
          </a:xfrm>
          <a:prstGeom prst="roundRect">
            <a:avLst>
              <a:gd name="adj" fmla="val 12708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1pPr>
            <a:lvl2pPr marL="742950" indent="-28575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2pPr>
            <a:lvl3pPr marL="11430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3pPr>
            <a:lvl4pPr marL="16002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4pPr>
            <a:lvl5pPr marL="20574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9pPr>
          </a:lstStyle>
          <a:p>
            <a:pPr algn="ctr" eaLnBrk="1" hangingPunct="1"/>
            <a:r>
              <a:rPr lang="en-US" altLang="en-US" sz="2531">
                <a:solidFill>
                  <a:srgbClr val="452700"/>
                </a:solidFill>
                <a:ea typeface="MS PGothic" panose="020B0600070205080204" pitchFamily="34" charset="-128"/>
              </a:rPr>
              <a:t>Decreased verification</a:t>
            </a:r>
          </a:p>
        </p:txBody>
      </p:sp>
      <p:sp>
        <p:nvSpPr>
          <p:cNvPr id="19461" name="AutoShape 5">
            <a:extLst>
              <a:ext uri="{FF2B5EF4-FFF2-40B4-BE49-F238E27FC236}">
                <a16:creationId xmlns:a16="http://schemas.microsoft.com/office/drawing/2014/main" id="{3778C455-08DF-15B1-4B73-D5A401F110D9}"/>
              </a:ext>
            </a:extLst>
          </p:cNvPr>
          <p:cNvSpPr>
            <a:spLocks/>
          </p:cNvSpPr>
          <p:nvPr/>
        </p:nvSpPr>
        <p:spPr bwMode="auto">
          <a:xfrm>
            <a:off x="4497586" y="5250656"/>
            <a:ext cx="3491508" cy="1053703"/>
          </a:xfrm>
          <a:prstGeom prst="roundRect">
            <a:avLst>
              <a:gd name="adj" fmla="val 12708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1pPr>
            <a:lvl2pPr marL="742950" indent="-28575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2pPr>
            <a:lvl3pPr marL="11430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3pPr>
            <a:lvl4pPr marL="16002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4pPr>
            <a:lvl5pPr marL="20574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9pPr>
          </a:lstStyle>
          <a:p>
            <a:pPr algn="ctr" eaLnBrk="1" hangingPunct="1"/>
            <a:r>
              <a:rPr lang="en-US" altLang="en-US" sz="2531">
                <a:solidFill>
                  <a:srgbClr val="452700"/>
                </a:solidFill>
                <a:ea typeface="MS PGothic" panose="020B0600070205080204" pitchFamily="34" charset="-128"/>
              </a:rPr>
              <a:t>Cumulative debt effects (decreasing velocity)</a:t>
            </a: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0AFAA578-3854-0220-E36C-9F1E6878A034}"/>
              </a:ext>
            </a:extLst>
          </p:cNvPr>
          <p:cNvSpPr/>
          <p:nvPr/>
        </p:nvSpPr>
        <p:spPr>
          <a:xfrm rot="19716003">
            <a:off x="4115135" y="2612023"/>
            <a:ext cx="906488" cy="3990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25928E1C-BD3B-16BC-6434-7C9377CA52B3}"/>
              </a:ext>
            </a:extLst>
          </p:cNvPr>
          <p:cNvSpPr/>
          <p:nvPr/>
        </p:nvSpPr>
        <p:spPr>
          <a:xfrm rot="2626579">
            <a:off x="7510328" y="2700431"/>
            <a:ext cx="906488" cy="3990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BC02D4DB-81C2-0DF8-82FE-24C14A4DB35D}"/>
              </a:ext>
            </a:extLst>
          </p:cNvPr>
          <p:cNvSpPr/>
          <p:nvPr/>
        </p:nvSpPr>
        <p:spPr>
          <a:xfrm rot="8218275">
            <a:off x="7961144" y="4837135"/>
            <a:ext cx="906488" cy="3990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4AB387F3-D5AA-9DC2-AEBC-3D737AD75655}"/>
              </a:ext>
            </a:extLst>
          </p:cNvPr>
          <p:cNvSpPr/>
          <p:nvPr/>
        </p:nvSpPr>
        <p:spPr>
          <a:xfrm rot="13652684">
            <a:off x="3553528" y="4816191"/>
            <a:ext cx="906488" cy="3990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4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4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94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4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utoUpdateAnimBg="0"/>
      <p:bldP spid="19459" grpId="0" animBg="1" autoUpdateAnimBg="0"/>
      <p:bldP spid="19460" grpId="0" animBg="1" autoUpdateAnimBg="0"/>
      <p:bldP spid="19461" grpId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The UX of Technical Debt | Technical debt, Debt, Technical">
            <a:extLst>
              <a:ext uri="{FF2B5EF4-FFF2-40B4-BE49-F238E27FC236}">
                <a16:creationId xmlns:a16="http://schemas.microsoft.com/office/drawing/2014/main" id="{CFF9122F-E09E-D8C2-7127-0DDC8182A6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4156" y="1732360"/>
            <a:ext cx="7000875" cy="476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7" name="Rectangle 1">
            <a:extLst>
              <a:ext uri="{FF2B5EF4-FFF2-40B4-BE49-F238E27FC236}">
                <a16:creationId xmlns:a16="http://schemas.microsoft.com/office/drawing/2014/main" id="{4A143249-C811-5C75-A874-902BC24384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375"/>
              <a:t>Accumulation of</a:t>
            </a:r>
            <a:br>
              <a:rPr lang="en-US" altLang="en-US" sz="3375"/>
            </a:br>
            <a:r>
              <a:rPr lang="en-US" altLang="en-US" sz="3375"/>
              <a:t>Technical Debt due to deadline pressure</a:t>
            </a:r>
          </a:p>
        </p:txBody>
      </p:sp>
      <p:sp>
        <p:nvSpPr>
          <p:cNvPr id="21508" name="Isosceles Triangle 4">
            <a:extLst>
              <a:ext uri="{FF2B5EF4-FFF2-40B4-BE49-F238E27FC236}">
                <a16:creationId xmlns:a16="http://schemas.microsoft.com/office/drawing/2014/main" id="{C90B8CEA-3B2A-3CC1-DE7B-146C95C82BAB}"/>
              </a:ext>
            </a:extLst>
          </p:cNvPr>
          <p:cNvSpPr>
            <a:spLocks noChangeArrowheads="1"/>
          </p:cNvSpPr>
          <p:nvPr/>
        </p:nvSpPr>
        <p:spPr bwMode="auto">
          <a:xfrm rot="12554930">
            <a:off x="5620494" y="4684738"/>
            <a:ext cx="2933402" cy="792510"/>
          </a:xfrm>
          <a:prstGeom prst="triangle">
            <a:avLst>
              <a:gd name="adj" fmla="val 48792"/>
            </a:avLst>
          </a:prstGeom>
          <a:solidFill>
            <a:srgbClr val="FF0000">
              <a:alpha val="4509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1pPr>
            <a:lvl2pPr marL="742950" indent="-28575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2pPr>
            <a:lvl3pPr marL="11430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3pPr>
            <a:lvl4pPr marL="16002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4pPr>
            <a:lvl5pPr marL="20574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9pPr>
          </a:lstStyle>
          <a:p>
            <a:pPr algn="ctr" eaLnBrk="1" hangingPunct="1"/>
            <a:endParaRPr lang="en-IT" altLang="en-IT" sz="2953"/>
          </a:p>
        </p:txBody>
      </p:sp>
      <p:sp>
        <p:nvSpPr>
          <p:cNvPr id="21509" name="Rectangle 6">
            <a:extLst>
              <a:ext uri="{FF2B5EF4-FFF2-40B4-BE49-F238E27FC236}">
                <a16:creationId xmlns:a16="http://schemas.microsoft.com/office/drawing/2014/main" id="{E6AB5A18-CD17-A485-86DC-93D53705F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250" y="5732859"/>
            <a:ext cx="1607344" cy="321469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1pPr>
            <a:lvl2pPr marL="742950" indent="-28575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2pPr>
            <a:lvl3pPr marL="11430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3pPr>
            <a:lvl4pPr marL="16002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4pPr>
            <a:lvl5pPr marL="20574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9pPr>
          </a:lstStyle>
          <a:p>
            <a:pPr algn="ctr" eaLnBrk="1" hangingPunct="1"/>
            <a:endParaRPr lang="en-IT" altLang="en-IT" sz="2953"/>
          </a:p>
        </p:txBody>
      </p:sp>
      <p:sp>
        <p:nvSpPr>
          <p:cNvPr id="21510" name="TextBox 7">
            <a:extLst>
              <a:ext uri="{FF2B5EF4-FFF2-40B4-BE49-F238E27FC236}">
                <a16:creationId xmlns:a16="http://schemas.microsoft.com/office/drawing/2014/main" id="{D575D463-2B65-1BDE-A971-46D40D345E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748" y="5774160"/>
            <a:ext cx="2785443" cy="35195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1pPr>
            <a:lvl2pPr marL="742950" indent="-28575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2pPr>
            <a:lvl3pPr marL="11430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3pPr>
            <a:lvl4pPr marL="16002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4pPr>
            <a:lvl5pPr marL="20574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9pPr>
          </a:lstStyle>
          <a:p>
            <a:r>
              <a:rPr lang="en-US" altLang="en-IT" sz="1687"/>
              <a:t>time saved to product release</a:t>
            </a:r>
          </a:p>
        </p:txBody>
      </p:sp>
      <p:sp>
        <p:nvSpPr>
          <p:cNvPr id="21511" name="TextBox 8">
            <a:extLst>
              <a:ext uri="{FF2B5EF4-FFF2-40B4-BE49-F238E27FC236}">
                <a16:creationId xmlns:a16="http://schemas.microsoft.com/office/drawing/2014/main" id="{01C25C2F-AEA2-0B61-1C3D-A9AE76071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2516" y="4857750"/>
            <a:ext cx="876226" cy="395365"/>
          </a:xfrm>
          <a:prstGeom prst="rect">
            <a:avLst/>
          </a:prstGeom>
          <a:solidFill>
            <a:srgbClr val="FF0000">
              <a:alpha val="1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1pPr>
            <a:lvl2pPr marL="742950" indent="-28575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2pPr>
            <a:lvl3pPr marL="11430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3pPr>
            <a:lvl4pPr marL="16002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4pPr>
            <a:lvl5pPr marL="20574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9pPr>
          </a:lstStyle>
          <a:p>
            <a:r>
              <a:rPr lang="en-US" altLang="en-IT" sz="1969"/>
              <a:t>Debt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">
            <a:extLst>
              <a:ext uri="{FF2B5EF4-FFF2-40B4-BE49-F238E27FC236}">
                <a16:creationId xmlns:a16="http://schemas.microsoft.com/office/drawing/2014/main" id="{6A79977B-A276-23F7-BC81-396FD1672E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Consequences of Technical Debt</a:t>
            </a:r>
          </a:p>
        </p:txBody>
      </p:sp>
      <p:sp>
        <p:nvSpPr>
          <p:cNvPr id="18434" name="AutoShape 2">
            <a:extLst>
              <a:ext uri="{FF2B5EF4-FFF2-40B4-BE49-F238E27FC236}">
                <a16:creationId xmlns:a16="http://schemas.microsoft.com/office/drawing/2014/main" id="{B8C12375-4C4B-15EC-0F26-D33F81C00E2F}"/>
              </a:ext>
            </a:extLst>
          </p:cNvPr>
          <p:cNvSpPr>
            <a:spLocks/>
          </p:cNvSpPr>
          <p:nvPr/>
        </p:nvSpPr>
        <p:spPr bwMode="auto">
          <a:xfrm>
            <a:off x="7985746" y="3643313"/>
            <a:ext cx="2482453" cy="1053703"/>
          </a:xfrm>
          <a:prstGeom prst="roundRect">
            <a:avLst>
              <a:gd name="adj" fmla="val 12708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1pPr>
            <a:lvl2pPr marL="742950" indent="-28575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2pPr>
            <a:lvl3pPr marL="11430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3pPr>
            <a:lvl4pPr marL="16002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4pPr>
            <a:lvl5pPr marL="20574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9pPr>
          </a:lstStyle>
          <a:p>
            <a:pPr algn="ctr" eaLnBrk="1" hangingPunct="1"/>
            <a:r>
              <a:rPr lang="en-US" altLang="en-US" sz="2531">
                <a:solidFill>
                  <a:srgbClr val="452700"/>
                </a:solidFill>
                <a:ea typeface="MS PGothic" panose="020B0600070205080204" pitchFamily="34" charset="-128"/>
              </a:rPr>
              <a:t>Unpredictable tipping point</a:t>
            </a:r>
          </a:p>
        </p:txBody>
      </p:sp>
      <p:sp>
        <p:nvSpPr>
          <p:cNvPr id="18435" name="AutoShape 3">
            <a:extLst>
              <a:ext uri="{FF2B5EF4-FFF2-40B4-BE49-F238E27FC236}">
                <a16:creationId xmlns:a16="http://schemas.microsoft.com/office/drawing/2014/main" id="{DAF6CD52-F112-1836-CC97-47626D43153D}"/>
              </a:ext>
            </a:extLst>
          </p:cNvPr>
          <p:cNvSpPr>
            <a:spLocks/>
          </p:cNvSpPr>
          <p:nvPr/>
        </p:nvSpPr>
        <p:spPr bwMode="auto">
          <a:xfrm>
            <a:off x="5149453" y="2035969"/>
            <a:ext cx="2187773" cy="1053703"/>
          </a:xfrm>
          <a:prstGeom prst="roundRect">
            <a:avLst>
              <a:gd name="adj" fmla="val 12708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1pPr>
            <a:lvl2pPr marL="742950" indent="-28575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2pPr>
            <a:lvl3pPr marL="11430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3pPr>
            <a:lvl4pPr marL="16002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4pPr>
            <a:lvl5pPr marL="20574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9pPr>
          </a:lstStyle>
          <a:p>
            <a:pPr algn="ctr" eaLnBrk="1" hangingPunct="1"/>
            <a:r>
              <a:rPr lang="en-US" altLang="en-US" sz="2531">
                <a:solidFill>
                  <a:srgbClr val="452700"/>
                </a:solidFill>
                <a:ea typeface="MS PGothic" panose="020B0600070205080204" pitchFamily="34" charset="-128"/>
              </a:rPr>
              <a:t>Increased delivery time</a:t>
            </a:r>
          </a:p>
        </p:txBody>
      </p:sp>
      <p:sp>
        <p:nvSpPr>
          <p:cNvPr id="18436" name="AutoShape 4">
            <a:extLst>
              <a:ext uri="{FF2B5EF4-FFF2-40B4-BE49-F238E27FC236}">
                <a16:creationId xmlns:a16="http://schemas.microsoft.com/office/drawing/2014/main" id="{49518D11-6C6F-0509-83AF-968837BB7C21}"/>
              </a:ext>
            </a:extLst>
          </p:cNvPr>
          <p:cNvSpPr>
            <a:spLocks/>
          </p:cNvSpPr>
          <p:nvPr/>
        </p:nvSpPr>
        <p:spPr bwMode="auto">
          <a:xfrm>
            <a:off x="7614047" y="2294930"/>
            <a:ext cx="1848445" cy="1053703"/>
          </a:xfrm>
          <a:prstGeom prst="roundRect">
            <a:avLst>
              <a:gd name="adj" fmla="val 12708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1pPr>
            <a:lvl2pPr marL="742950" indent="-28575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2pPr>
            <a:lvl3pPr marL="11430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3pPr>
            <a:lvl4pPr marL="16002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4pPr>
            <a:lvl5pPr marL="20574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9pPr>
          </a:lstStyle>
          <a:p>
            <a:pPr algn="ctr" eaLnBrk="1" hangingPunct="1"/>
            <a:r>
              <a:rPr lang="en-US" altLang="en-US" sz="2531">
                <a:solidFill>
                  <a:srgbClr val="452700"/>
                </a:solidFill>
                <a:ea typeface="MS PGothic" panose="020B0600070205080204" pitchFamily="34" charset="-128"/>
              </a:rPr>
              <a:t>Significant # of defects</a:t>
            </a:r>
          </a:p>
        </p:txBody>
      </p:sp>
      <p:sp>
        <p:nvSpPr>
          <p:cNvPr id="18437" name="AutoShape 5">
            <a:extLst>
              <a:ext uri="{FF2B5EF4-FFF2-40B4-BE49-F238E27FC236}">
                <a16:creationId xmlns:a16="http://schemas.microsoft.com/office/drawing/2014/main" id="{BF5AC75F-2413-D36C-B44B-4515F66A6C8A}"/>
              </a:ext>
            </a:extLst>
          </p:cNvPr>
          <p:cNvSpPr>
            <a:spLocks/>
          </p:cNvSpPr>
          <p:nvPr/>
        </p:nvSpPr>
        <p:spPr bwMode="auto">
          <a:xfrm>
            <a:off x="1939231" y="2160984"/>
            <a:ext cx="2937867" cy="1053703"/>
          </a:xfrm>
          <a:prstGeom prst="roundRect">
            <a:avLst>
              <a:gd name="adj" fmla="val 12708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1pPr>
            <a:lvl2pPr marL="742950" indent="-28575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2pPr>
            <a:lvl3pPr marL="11430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3pPr>
            <a:lvl4pPr marL="16002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4pPr>
            <a:lvl5pPr marL="20574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9pPr>
          </a:lstStyle>
          <a:p>
            <a:pPr algn="ctr" eaLnBrk="1" hangingPunct="1"/>
            <a:r>
              <a:rPr lang="en-US" altLang="en-US" sz="2531">
                <a:solidFill>
                  <a:srgbClr val="452700"/>
                </a:solidFill>
                <a:ea typeface="MS PGothic" panose="020B0600070205080204" pitchFamily="34" charset="-128"/>
              </a:rPr>
              <a:t>Rising development &amp; support costs</a:t>
            </a:r>
          </a:p>
        </p:txBody>
      </p:sp>
      <p:sp>
        <p:nvSpPr>
          <p:cNvPr id="18438" name="AutoShape 6">
            <a:extLst>
              <a:ext uri="{FF2B5EF4-FFF2-40B4-BE49-F238E27FC236}">
                <a16:creationId xmlns:a16="http://schemas.microsoft.com/office/drawing/2014/main" id="{2182AB58-FAE9-C344-DDE9-CED4DA912ECD}"/>
              </a:ext>
            </a:extLst>
          </p:cNvPr>
          <p:cNvSpPr>
            <a:spLocks/>
          </p:cNvSpPr>
          <p:nvPr/>
        </p:nvSpPr>
        <p:spPr bwMode="auto">
          <a:xfrm>
            <a:off x="8498086" y="4866680"/>
            <a:ext cx="2482452" cy="1053703"/>
          </a:xfrm>
          <a:prstGeom prst="roundRect">
            <a:avLst>
              <a:gd name="adj" fmla="val 12708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1pPr>
            <a:lvl2pPr marL="742950" indent="-28575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2pPr>
            <a:lvl3pPr marL="11430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3pPr>
            <a:lvl4pPr marL="16002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4pPr>
            <a:lvl5pPr marL="20574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9pPr>
          </a:lstStyle>
          <a:p>
            <a:pPr algn="ctr" eaLnBrk="1" hangingPunct="1"/>
            <a:r>
              <a:rPr lang="en-US" altLang="en-US" sz="2531" dirty="0">
                <a:solidFill>
                  <a:srgbClr val="452700"/>
                </a:solidFill>
                <a:ea typeface="MS PGothic" panose="020B0600070205080204" pitchFamily="34" charset="-128"/>
              </a:rPr>
              <a:t>Product atrophy</a:t>
            </a:r>
            <a:br>
              <a:rPr lang="en-US" altLang="en-US" sz="2531" dirty="0">
                <a:solidFill>
                  <a:srgbClr val="452700"/>
                </a:solidFill>
                <a:ea typeface="MS PGothic" panose="020B0600070205080204" pitchFamily="34" charset="-128"/>
              </a:rPr>
            </a:br>
            <a:r>
              <a:rPr lang="en-US" altLang="en-US" sz="2531" dirty="0">
                <a:solidFill>
                  <a:srgbClr val="452700"/>
                </a:solidFill>
                <a:ea typeface="MS PGothic" panose="020B0600070205080204" pitchFamily="34" charset="-128"/>
              </a:rPr>
              <a:t>(</a:t>
            </a:r>
            <a:r>
              <a:rPr lang="en-US" altLang="en-US" sz="2531" dirty="0">
                <a:solidFill>
                  <a:srgbClr val="0070C0"/>
                </a:solidFill>
                <a:ea typeface="MS PGothic" panose="020B0600070205080204" pitchFamily="34" charset="-128"/>
              </a:rPr>
              <a:t>Defect Sprints</a:t>
            </a:r>
            <a:r>
              <a:rPr lang="en-US" altLang="en-US" sz="2531" dirty="0">
                <a:solidFill>
                  <a:srgbClr val="452700"/>
                </a:solidFill>
                <a:ea typeface="MS PGothic" panose="020B0600070205080204" pitchFamily="34" charset="-128"/>
              </a:rPr>
              <a:t>)</a:t>
            </a:r>
          </a:p>
        </p:txBody>
      </p:sp>
      <p:sp>
        <p:nvSpPr>
          <p:cNvPr id="18439" name="AutoShape 7">
            <a:extLst>
              <a:ext uri="{FF2B5EF4-FFF2-40B4-BE49-F238E27FC236}">
                <a16:creationId xmlns:a16="http://schemas.microsoft.com/office/drawing/2014/main" id="{BEC8F73C-FFDB-F5D8-B3BE-52F4A6A5CDA1}"/>
              </a:ext>
            </a:extLst>
          </p:cNvPr>
          <p:cNvSpPr>
            <a:spLocks/>
          </p:cNvSpPr>
          <p:nvPr/>
        </p:nvSpPr>
        <p:spPr bwMode="auto">
          <a:xfrm>
            <a:off x="6381750" y="5366742"/>
            <a:ext cx="1964531" cy="1053703"/>
          </a:xfrm>
          <a:prstGeom prst="roundRect">
            <a:avLst>
              <a:gd name="adj" fmla="val 12708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1pPr>
            <a:lvl2pPr marL="742950" indent="-28575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2pPr>
            <a:lvl3pPr marL="11430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3pPr>
            <a:lvl4pPr marL="16002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4pPr>
            <a:lvl5pPr marL="20574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9pPr>
          </a:lstStyle>
          <a:p>
            <a:pPr algn="ctr" eaLnBrk="1" hangingPunct="1"/>
            <a:r>
              <a:rPr lang="en-US" altLang="en-US" sz="2531">
                <a:solidFill>
                  <a:srgbClr val="452700"/>
                </a:solidFill>
                <a:ea typeface="MS PGothic" panose="020B0600070205080204" pitchFamily="34" charset="-128"/>
              </a:rPr>
              <a:t>Decreased predictability</a:t>
            </a:r>
          </a:p>
        </p:txBody>
      </p:sp>
      <p:sp>
        <p:nvSpPr>
          <p:cNvPr id="18440" name="AutoShape 8">
            <a:extLst>
              <a:ext uri="{FF2B5EF4-FFF2-40B4-BE49-F238E27FC236}">
                <a16:creationId xmlns:a16="http://schemas.microsoft.com/office/drawing/2014/main" id="{35A28D27-6C9E-9EFF-AD10-AEFC6948FBE8}"/>
              </a:ext>
            </a:extLst>
          </p:cNvPr>
          <p:cNvSpPr>
            <a:spLocks/>
          </p:cNvSpPr>
          <p:nvPr/>
        </p:nvSpPr>
        <p:spPr bwMode="auto">
          <a:xfrm>
            <a:off x="4265414" y="5366742"/>
            <a:ext cx="2044898" cy="1053703"/>
          </a:xfrm>
          <a:prstGeom prst="roundRect">
            <a:avLst>
              <a:gd name="adj" fmla="val 12708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1pPr>
            <a:lvl2pPr marL="742950" indent="-28575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2pPr>
            <a:lvl3pPr marL="11430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3pPr>
            <a:lvl4pPr marL="16002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4pPr>
            <a:lvl5pPr marL="20574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9pPr>
          </a:lstStyle>
          <a:p>
            <a:pPr algn="ctr" eaLnBrk="1" hangingPunct="1"/>
            <a:r>
              <a:rPr lang="en-US" altLang="en-US" sz="2531">
                <a:solidFill>
                  <a:srgbClr val="452700"/>
                </a:solidFill>
                <a:ea typeface="MS PGothic" panose="020B0600070205080204" pitchFamily="34" charset="-128"/>
              </a:rPr>
              <a:t>Under-performance</a:t>
            </a:r>
          </a:p>
        </p:txBody>
      </p:sp>
      <p:sp>
        <p:nvSpPr>
          <p:cNvPr id="18441" name="AutoShape 9">
            <a:extLst>
              <a:ext uri="{FF2B5EF4-FFF2-40B4-BE49-F238E27FC236}">
                <a16:creationId xmlns:a16="http://schemas.microsoft.com/office/drawing/2014/main" id="{5B5877F1-A526-EE39-24BC-A27797E0E750}"/>
              </a:ext>
            </a:extLst>
          </p:cNvPr>
          <p:cNvSpPr>
            <a:spLocks/>
          </p:cNvSpPr>
          <p:nvPr/>
        </p:nvSpPr>
        <p:spPr bwMode="auto">
          <a:xfrm>
            <a:off x="2149078" y="4866680"/>
            <a:ext cx="1848445" cy="1053703"/>
          </a:xfrm>
          <a:prstGeom prst="roundRect">
            <a:avLst>
              <a:gd name="adj" fmla="val 12708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1pPr>
            <a:lvl2pPr marL="742950" indent="-28575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2pPr>
            <a:lvl3pPr marL="11430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3pPr>
            <a:lvl4pPr marL="16002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4pPr>
            <a:lvl5pPr marL="20574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9pPr>
          </a:lstStyle>
          <a:p>
            <a:pPr algn="ctr" eaLnBrk="1" hangingPunct="1"/>
            <a:r>
              <a:rPr lang="en-US" altLang="en-US" sz="2531">
                <a:solidFill>
                  <a:srgbClr val="452700"/>
                </a:solidFill>
                <a:ea typeface="MS PGothic" panose="020B0600070205080204" pitchFamily="34" charset="-128"/>
              </a:rPr>
              <a:t>Universal frustration</a:t>
            </a:r>
            <a:br>
              <a:rPr lang="en-US" altLang="en-US" sz="2531">
                <a:solidFill>
                  <a:srgbClr val="452700"/>
                </a:solidFill>
                <a:ea typeface="MS PGothic" panose="020B0600070205080204" pitchFamily="34" charset="-128"/>
              </a:rPr>
            </a:br>
            <a:r>
              <a:rPr lang="en-US" altLang="en-US" sz="2531">
                <a:solidFill>
                  <a:srgbClr val="452700"/>
                </a:solidFill>
                <a:ea typeface="MS PGothic" panose="020B0600070205080204" pitchFamily="34" charset="-128"/>
              </a:rPr>
              <a:t>(morale)</a:t>
            </a:r>
          </a:p>
        </p:txBody>
      </p:sp>
      <p:sp>
        <p:nvSpPr>
          <p:cNvPr id="18442" name="AutoShape 10">
            <a:extLst>
              <a:ext uri="{FF2B5EF4-FFF2-40B4-BE49-F238E27FC236}">
                <a16:creationId xmlns:a16="http://schemas.microsoft.com/office/drawing/2014/main" id="{CDD1B8C9-337B-D420-FED3-3D2F2481C55B}"/>
              </a:ext>
            </a:extLst>
          </p:cNvPr>
          <p:cNvSpPr>
            <a:spLocks/>
          </p:cNvSpPr>
          <p:nvPr/>
        </p:nvSpPr>
        <p:spPr bwMode="auto">
          <a:xfrm>
            <a:off x="1720453" y="3580805"/>
            <a:ext cx="3053953" cy="1053703"/>
          </a:xfrm>
          <a:prstGeom prst="roundRect">
            <a:avLst>
              <a:gd name="adj" fmla="val 12708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1pPr>
            <a:lvl2pPr marL="742950" indent="-28575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2pPr>
            <a:lvl3pPr marL="11430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3pPr>
            <a:lvl4pPr marL="16002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4pPr>
            <a:lvl5pPr marL="20574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9pPr>
          </a:lstStyle>
          <a:p>
            <a:pPr algn="ctr" eaLnBrk="1" hangingPunct="1"/>
            <a:r>
              <a:rPr lang="en-US" altLang="en-US" sz="2531">
                <a:solidFill>
                  <a:srgbClr val="452700"/>
                </a:solidFill>
                <a:ea typeface="MS PGothic" panose="020B0600070205080204" pitchFamily="34" charset="-128"/>
              </a:rPr>
              <a:t>Decreased customer satisfaction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8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8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8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8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8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84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84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 animBg="1" autoUpdateAnimBg="0"/>
      <p:bldP spid="18435" grpId="0" animBg="1" autoUpdateAnimBg="0"/>
      <p:bldP spid="18436" grpId="0" animBg="1" autoUpdateAnimBg="0"/>
      <p:bldP spid="18437" grpId="0" animBg="1" autoUpdateAnimBg="0"/>
      <p:bldP spid="18438" grpId="0" animBg="1" autoUpdateAnimBg="0"/>
      <p:bldP spid="18439" grpId="0" animBg="1" autoUpdateAnimBg="0"/>
      <p:bldP spid="18440" grpId="0" animBg="1" autoUpdateAnimBg="0"/>
      <p:bldP spid="18441" grpId="0" animBg="1" autoUpdateAnimBg="0"/>
      <p:bldP spid="18442" grpId="0" animBg="1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48">
            <a:extLst>
              <a:ext uri="{FF2B5EF4-FFF2-40B4-BE49-F238E27FC236}">
                <a16:creationId xmlns:a16="http://schemas.microsoft.com/office/drawing/2014/main" id="{7580A7C9-0AF5-3EFF-69D5-CB19D96456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5625"/>
              <a:t>Paying debt from “false acceleration”</a:t>
            </a:r>
          </a:p>
        </p:txBody>
      </p:sp>
      <p:grpSp>
        <p:nvGrpSpPr>
          <p:cNvPr id="23555" name="Group 47">
            <a:extLst>
              <a:ext uri="{FF2B5EF4-FFF2-40B4-BE49-F238E27FC236}">
                <a16:creationId xmlns:a16="http://schemas.microsoft.com/office/drawing/2014/main" id="{E95762C7-3FB6-2AB9-CD4C-9B05A43FEC7D}"/>
              </a:ext>
            </a:extLst>
          </p:cNvPr>
          <p:cNvGrpSpPr>
            <a:grpSpLocks/>
          </p:cNvGrpSpPr>
          <p:nvPr/>
        </p:nvGrpSpPr>
        <p:grpSpPr bwMode="auto">
          <a:xfrm>
            <a:off x="3149203" y="2035969"/>
            <a:ext cx="4884539" cy="4268391"/>
            <a:chOff x="0" y="0"/>
            <a:chExt cx="4376" cy="3824"/>
          </a:xfrm>
        </p:grpSpPr>
        <p:sp>
          <p:nvSpPr>
            <p:cNvPr id="23557" name="AutoShape 45">
              <a:extLst>
                <a:ext uri="{FF2B5EF4-FFF2-40B4-BE49-F238E27FC236}">
                  <a16:creationId xmlns:a16="http://schemas.microsoft.com/office/drawing/2014/main" id="{6EE9D540-68EA-2F17-40A4-58E3A99EB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4376" cy="3824"/>
            </a:xfrm>
            <a:custGeom>
              <a:avLst/>
              <a:gdLst>
                <a:gd name="T0" fmla="*/ 0 w 19260"/>
                <a:gd name="T1" fmla="*/ 0 h 21600"/>
                <a:gd name="T2" fmla="*/ 0 w 19260"/>
                <a:gd name="T3" fmla="*/ 0 h 21600"/>
                <a:gd name="T4" fmla="*/ 0 w 19260"/>
                <a:gd name="T5" fmla="*/ 3 h 21600"/>
                <a:gd name="T6" fmla="*/ -1 w 19260"/>
                <a:gd name="T7" fmla="*/ 3 h 21600"/>
                <a:gd name="T8" fmla="*/ 0 w 19260"/>
                <a:gd name="T9" fmla="*/ 3 h 21600"/>
                <a:gd name="T10" fmla="*/ 0 w 19260"/>
                <a:gd name="T11" fmla="*/ 4 h 21600"/>
                <a:gd name="T12" fmla="*/ 0 w 19260"/>
                <a:gd name="T13" fmla="*/ 4 h 21600"/>
                <a:gd name="T14" fmla="*/ 11 w 19260"/>
                <a:gd name="T15" fmla="*/ 4 h 21600"/>
                <a:gd name="T16" fmla="*/ 12 w 19260"/>
                <a:gd name="T17" fmla="*/ 4 h 21600"/>
                <a:gd name="T18" fmla="*/ 12 w 19260"/>
                <a:gd name="T19" fmla="*/ 0 h 21600"/>
                <a:gd name="T20" fmla="*/ 11 w 19260"/>
                <a:gd name="T21" fmla="*/ 0 h 21600"/>
                <a:gd name="T22" fmla="*/ 0 w 19260"/>
                <a:gd name="T23" fmla="*/ 0 h 21600"/>
                <a:gd name="T24" fmla="*/ 0 w 19260"/>
                <a:gd name="T25" fmla="*/ 0 h 2160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9260"/>
                <a:gd name="T40" fmla="*/ 0 h 21600"/>
                <a:gd name="T41" fmla="*/ 19260 w 19260"/>
                <a:gd name="T42" fmla="*/ 21600 h 2160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9260" h="21600">
                  <a:moveTo>
                    <a:pt x="705" y="0"/>
                  </a:moveTo>
                  <a:cubicBezTo>
                    <a:pt x="316" y="0"/>
                    <a:pt x="0" y="405"/>
                    <a:pt x="0" y="904"/>
                  </a:cubicBezTo>
                  <a:lnTo>
                    <a:pt x="0" y="18959"/>
                  </a:lnTo>
                  <a:lnTo>
                    <a:pt x="-2340" y="19411"/>
                  </a:lnTo>
                  <a:lnTo>
                    <a:pt x="0" y="19863"/>
                  </a:lnTo>
                  <a:lnTo>
                    <a:pt x="0" y="20696"/>
                  </a:lnTo>
                  <a:cubicBezTo>
                    <a:pt x="0" y="21195"/>
                    <a:pt x="316" y="21600"/>
                    <a:pt x="705" y="21600"/>
                  </a:cubicBezTo>
                  <a:lnTo>
                    <a:pt x="18556" y="21600"/>
                  </a:lnTo>
                  <a:cubicBezTo>
                    <a:pt x="18945" y="21600"/>
                    <a:pt x="19260" y="21195"/>
                    <a:pt x="19260" y="20696"/>
                  </a:cubicBezTo>
                  <a:lnTo>
                    <a:pt x="19260" y="904"/>
                  </a:lnTo>
                  <a:cubicBezTo>
                    <a:pt x="19260" y="405"/>
                    <a:pt x="18945" y="0"/>
                    <a:pt x="18556" y="0"/>
                  </a:cubicBezTo>
                  <a:lnTo>
                    <a:pt x="705" y="0"/>
                  </a:lnTo>
                  <a:close/>
                  <a:moveTo>
                    <a:pt x="705" y="0"/>
                  </a:moveTo>
                </a:path>
              </a:pathLst>
            </a:custGeom>
            <a:solidFill>
              <a:srgbClr val="0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IT" sz="1266"/>
            </a:p>
          </p:txBody>
        </p:sp>
        <p:pic>
          <p:nvPicPr>
            <p:cNvPr id="23558" name="Picture 46">
              <a:extLst>
                <a:ext uri="{FF2B5EF4-FFF2-40B4-BE49-F238E27FC236}">
                  <a16:creationId xmlns:a16="http://schemas.microsoft.com/office/drawing/2014/main" id="{64C6976E-93AF-7479-FD16-659E345560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3" r="11804"/>
            <a:stretch>
              <a:fillRect/>
            </a:stretch>
          </p:blipFill>
          <p:spPr bwMode="auto">
            <a:xfrm>
              <a:off x="96" y="364"/>
              <a:ext cx="4177" cy="2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3556" name="TextBox 6">
            <a:extLst>
              <a:ext uri="{FF2B5EF4-FFF2-40B4-BE49-F238E27FC236}">
                <a16:creationId xmlns:a16="http://schemas.microsoft.com/office/drawing/2014/main" id="{1659A44B-06C3-2054-D804-C5DD1E22B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4190" y="5707187"/>
            <a:ext cx="5848950" cy="61157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1pPr>
            <a:lvl2pPr marL="742950" indent="-28575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2pPr>
            <a:lvl3pPr marL="11430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3pPr>
            <a:lvl4pPr marL="16002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4pPr>
            <a:lvl5pPr marL="20574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9pPr>
          </a:lstStyle>
          <a:p>
            <a:r>
              <a:rPr lang="en-US" altLang="en-IT" sz="1687" dirty="0">
                <a:solidFill>
                  <a:schemeClr val="tx1"/>
                </a:solidFill>
              </a:rPr>
              <a:t>Additional time needed to</a:t>
            </a:r>
            <a:br>
              <a:rPr lang="en-US" altLang="en-IT" sz="1687" dirty="0">
                <a:solidFill>
                  <a:schemeClr val="tx1"/>
                </a:solidFill>
              </a:rPr>
            </a:br>
            <a:r>
              <a:rPr lang="en-US" altLang="en-IT" sz="1687" dirty="0">
                <a:solidFill>
                  <a:schemeClr val="tx1"/>
                </a:solidFill>
              </a:rPr>
              <a:t>service previous debt</a:t>
            </a:r>
          </a:p>
        </p:txBody>
      </p:sp>
    </p:spTree>
  </p:cSld>
  <p:clrMapOvr>
    <a:masterClrMapping/>
  </p:clrMapOvr>
  <p:transition spd="med">
    <p:cover dir="r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924" y="2448913"/>
            <a:ext cx="4550353" cy="1960174"/>
          </a:xfrm>
        </p:spPr>
        <p:txBody>
          <a:bodyPr/>
          <a:lstStyle/>
          <a:p>
            <a:r>
              <a:rPr lang="en-US" dirty="0"/>
              <a:t>Technical debt is a gap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0" y="0"/>
            <a:ext cx="5965247" cy="65100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">
            <a:extLst>
              <a:ext uri="{FF2B5EF4-FFF2-40B4-BE49-F238E27FC236}">
                <a16:creationId xmlns:a16="http://schemas.microsoft.com/office/drawing/2014/main" id="{CA4BA9AD-7E85-6E1C-7855-CF1CAF5FD1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Making Technical Debt Visible</a:t>
            </a:r>
          </a:p>
        </p:txBody>
      </p:sp>
      <p:pic>
        <p:nvPicPr>
          <p:cNvPr id="24579" name="Picture 2" descr="D:\MyDocs\Documents\MSOE\Courses\SE2800\svn-archive\Visual Lexicon\Technical Debt Backlog.png">
            <a:extLst>
              <a:ext uri="{FF2B5EF4-FFF2-40B4-BE49-F238E27FC236}">
                <a16:creationId xmlns:a16="http://schemas.microsoft.com/office/drawing/2014/main" id="{8E0DBBD2-C4F1-0FFE-B4B5-9C65BF9DA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7469" y="2571750"/>
            <a:ext cx="3013770" cy="1701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0" name="TextBox 6">
            <a:extLst>
              <a:ext uri="{FF2B5EF4-FFF2-40B4-BE49-F238E27FC236}">
                <a16:creationId xmlns:a16="http://schemas.microsoft.com/office/drawing/2014/main" id="{BC4B8A9D-0446-8950-ED77-242BF6B1C1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7057" y="4554141"/>
            <a:ext cx="4389471" cy="1455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1pPr>
            <a:lvl2pPr marL="742950" indent="-28575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2pPr>
            <a:lvl3pPr marL="11430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3pPr>
            <a:lvl4pPr marL="16002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4pPr>
            <a:lvl5pPr marL="20574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9pPr>
          </a:lstStyle>
          <a:p>
            <a:pPr algn="ctr" eaLnBrk="1" hangingPunct="1"/>
            <a:r>
              <a:rPr lang="en-US" altLang="en-US" sz="2953"/>
              <a:t>Technical Debt Backlog </a:t>
            </a:r>
            <a:br>
              <a:rPr lang="en-US" altLang="en-US" sz="2953"/>
            </a:br>
            <a:r>
              <a:rPr lang="en-US" altLang="en-US" sz="2953"/>
              <a:t>(Defect PBIs, </a:t>
            </a:r>
            <a:br>
              <a:rPr lang="en-US" altLang="en-US" sz="2953"/>
            </a:br>
            <a:r>
              <a:rPr lang="en-US" altLang="en-US" sz="2953"/>
              <a:t>Internal Improvement PBIs)</a:t>
            </a:r>
          </a:p>
        </p:txBody>
      </p:sp>
      <p:pic>
        <p:nvPicPr>
          <p:cNvPr id="24581" name="Picture 5" descr="D:\MyDocs\Documents\MSOE\Courses\SE2800\svn-archive\Visual Lexicon\Product Backlog.png">
            <a:extLst>
              <a:ext uri="{FF2B5EF4-FFF2-40B4-BE49-F238E27FC236}">
                <a16:creationId xmlns:a16="http://schemas.microsoft.com/office/drawing/2014/main" id="{9734D870-0BA7-A974-00EB-6E1FD37114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9109" y="2035969"/>
            <a:ext cx="3013770" cy="3395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2" name="TextBox 9">
            <a:extLst>
              <a:ext uri="{FF2B5EF4-FFF2-40B4-BE49-F238E27FC236}">
                <a16:creationId xmlns:a16="http://schemas.microsoft.com/office/drawing/2014/main" id="{D2C448A6-749E-17ED-68B2-0A08683019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9695" y="5572125"/>
            <a:ext cx="2620782" cy="546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1pPr>
            <a:lvl2pPr marL="742950" indent="-28575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2pPr>
            <a:lvl3pPr marL="11430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3pPr>
            <a:lvl4pPr marL="16002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4pPr>
            <a:lvl5pPr marL="20574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9pPr>
          </a:lstStyle>
          <a:p>
            <a:pPr algn="ctr" eaLnBrk="1" hangingPunct="1"/>
            <a:r>
              <a:rPr lang="en-US" altLang="en-US" sz="2953"/>
              <a:t>Feature Backlog</a:t>
            </a:r>
          </a:p>
        </p:txBody>
      </p:sp>
      <p:sp>
        <p:nvSpPr>
          <p:cNvPr id="24583" name="Right Arrow 10">
            <a:extLst>
              <a:ext uri="{FF2B5EF4-FFF2-40B4-BE49-F238E27FC236}">
                <a16:creationId xmlns:a16="http://schemas.microsoft.com/office/drawing/2014/main" id="{552B83E3-1F85-DFE2-CE11-E988364895C4}"/>
              </a:ext>
            </a:extLst>
          </p:cNvPr>
          <p:cNvSpPr>
            <a:spLocks noChangeArrowheads="1"/>
          </p:cNvSpPr>
          <p:nvPr/>
        </p:nvSpPr>
        <p:spPr bwMode="auto">
          <a:xfrm rot="10308186">
            <a:off x="4819055" y="3233664"/>
            <a:ext cx="1791519" cy="252264"/>
          </a:xfrm>
          <a:prstGeom prst="rightArrow">
            <a:avLst>
              <a:gd name="adj1" fmla="val 50000"/>
              <a:gd name="adj2" fmla="val 49811"/>
            </a:avLst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1pPr>
            <a:lvl2pPr marL="742950" indent="-28575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2pPr>
            <a:lvl3pPr marL="11430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3pPr>
            <a:lvl4pPr marL="16002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4pPr>
            <a:lvl5pPr marL="2057400" indent="-228600"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-84" charset="-128"/>
                <a:sym typeface="Gill Sans" panose="020B0502020104020203" pitchFamily="34" charset="-79"/>
              </a:defRPr>
            </a:lvl9pPr>
          </a:lstStyle>
          <a:p>
            <a:pPr algn="ctr" eaLnBrk="1" hangingPunct="1"/>
            <a:endParaRPr lang="en-US" altLang="en-US" sz="2953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">
            <a:extLst>
              <a:ext uri="{FF2B5EF4-FFF2-40B4-BE49-F238E27FC236}">
                <a16:creationId xmlns:a16="http://schemas.microsoft.com/office/drawing/2014/main" id="{1847AB32-F948-EE10-3168-68E5BE4E3E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6131" y="0"/>
            <a:ext cx="11238807" cy="1482328"/>
          </a:xfrm>
        </p:spPr>
        <p:txBody>
          <a:bodyPr/>
          <a:lstStyle/>
          <a:p>
            <a:pPr eaLnBrk="1" hangingPunct="1"/>
            <a:r>
              <a:rPr lang="en-US" altLang="en-US" sz="4640" dirty="0"/>
              <a:t>Managing Technical Debt</a:t>
            </a:r>
          </a:p>
        </p:txBody>
      </p:sp>
      <p:graphicFrame>
        <p:nvGraphicFramePr>
          <p:cNvPr id="24578" name="Group 2">
            <a:extLst>
              <a:ext uri="{FF2B5EF4-FFF2-40B4-BE49-F238E27FC236}">
                <a16:creationId xmlns:a16="http://schemas.microsoft.com/office/drawing/2014/main" id="{376A0CA4-ED16-E80D-21B6-653D74F036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589970"/>
              </p:ext>
            </p:extLst>
          </p:nvPr>
        </p:nvGraphicFramePr>
        <p:xfrm>
          <a:off x="1704477" y="1332700"/>
          <a:ext cx="8312423" cy="5173638"/>
        </p:xfrm>
        <a:graphic>
          <a:graphicData uri="http://schemas.openxmlformats.org/drawingml/2006/table">
            <a:tbl>
              <a:tblPr/>
              <a:tblGrid>
                <a:gridCol w="2992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9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99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652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71000"/>
                        <a:buFont typeface="Gill Sans" pitchFamily="-84" charset="0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ill Sans" pitchFamily="-84" charset="0"/>
                          <a:ea typeface="ヒラギノ角ゴ ProN W3" pitchFamily="-84" charset="-128"/>
                          <a:sym typeface="Gill Sans" pitchFamily="-84" charset="0"/>
                        </a:rPr>
                        <a:t>Managing debt </a:t>
                      </a:r>
                      <a:r>
                        <a:rPr kumimoji="0" 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ill Sans" pitchFamily="-84" charset="0"/>
                          <a:ea typeface="ヒラギノ角ゴ ProN W3" pitchFamily="-84" charset="-128"/>
                          <a:sym typeface="Gill Sans" pitchFamily="-84" charset="0"/>
                        </a:rPr>
                        <a:t>accrual</a:t>
                      </a:r>
                    </a:p>
                  </a:txBody>
                  <a:tcPr marL="35719" marR="35719" marT="35716" marB="35716" anchor="ctr" horzOverflow="overflow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4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71000"/>
                        <a:buFont typeface="Gill Sans" pitchFamily="-84" charset="0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ill Sans" pitchFamily="-84" charset="0"/>
                          <a:ea typeface="ヒラギノ角ゴ ProN W3" pitchFamily="-84" charset="-128"/>
                          <a:sym typeface="Gill Sans" pitchFamily="-84" charset="0"/>
                        </a:rPr>
                        <a:t>Making debt </a:t>
                      </a:r>
                      <a:r>
                        <a:rPr kumimoji="0" 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ill Sans" pitchFamily="-84" charset="0"/>
                          <a:ea typeface="ヒラギノ角ゴ ProN W3" pitchFamily="-84" charset="-128"/>
                          <a:sym typeface="Gill Sans" pitchFamily="-84" charset="0"/>
                        </a:rPr>
                        <a:t>visible</a:t>
                      </a:r>
                    </a:p>
                  </a:txBody>
                  <a:tcPr marL="35719" marR="35719" marT="35716" marB="35716" anchor="ctr" horzOverflow="overflow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4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71000"/>
                        <a:buFont typeface="Gill Sans" pitchFamily="-84" charset="0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ill Sans" pitchFamily="-84" charset="0"/>
                          <a:ea typeface="ヒラギノ角ゴ ProN W3" pitchFamily="-84" charset="-128"/>
                          <a:sym typeface="Gill Sans" pitchFamily="-84" charset="0"/>
                        </a:rPr>
                        <a:t>Servicing</a:t>
                      </a:r>
                      <a:r>
                        <a:rPr kumimoji="0" lang="en-US" sz="2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ill Sans" pitchFamily="-84" charset="0"/>
                          <a:ea typeface="ヒラギノ角ゴ ProN W3" pitchFamily="-84" charset="-128"/>
                          <a:sym typeface="Gill Sans" pitchFamily="-84" charset="0"/>
                        </a:rPr>
                        <a:t> the debt</a:t>
                      </a:r>
                    </a:p>
                  </a:txBody>
                  <a:tcPr marL="35719" marR="35719" marT="35716" marB="35716" anchor="ctr" horzOverflow="overflow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4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52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71000"/>
                        <a:buFont typeface="Gill Sans" pitchFamily="-84" charset="0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ill Sans" pitchFamily="-84" charset="0"/>
                          <a:ea typeface="ヒラギノ角ゴ ProN W3" pitchFamily="-84" charset="-128"/>
                          <a:sym typeface="Gill Sans" pitchFamily="-84" charset="0"/>
                        </a:rPr>
                        <a:t>Good </a:t>
                      </a:r>
                      <a:r>
                        <a:rPr kumimoji="0" 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ill Sans" pitchFamily="-84" charset="0"/>
                          <a:ea typeface="ヒラギノ角ゴ ProN W3" pitchFamily="-84" charset="-128"/>
                          <a:sym typeface="Gill Sans" pitchFamily="-84" charset="0"/>
                        </a:rPr>
                        <a:t>technical</a:t>
                      </a:r>
                      <a:r>
                        <a:rPr kumimoji="0" lang="en-US" sz="2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ill Sans" pitchFamily="-84" charset="0"/>
                          <a:ea typeface="ヒラギノ角ゴ ProN W3" pitchFamily="-84" charset="-128"/>
                          <a:sym typeface="Gill Sans" pitchFamily="-84" charset="0"/>
                        </a:rPr>
                        <a:t> </a:t>
                      </a:r>
                      <a:r>
                        <a:rPr kumimoji="0" 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ill Sans" pitchFamily="-84" charset="0"/>
                          <a:ea typeface="ヒラギノ角ゴ ProN W3" pitchFamily="-84" charset="-128"/>
                          <a:sym typeface="Gill Sans" pitchFamily="-84" charset="0"/>
                        </a:rPr>
                        <a:t>practices</a:t>
                      </a:r>
                    </a:p>
                  </a:txBody>
                  <a:tcPr marL="89297" marR="89297" marT="89290" marB="89290" anchor="ctr" horzOverflow="overflow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71000"/>
                        <a:buFont typeface="Gill Sans" pitchFamily="-84" charset="0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5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ill Sans" pitchFamily="-84" charset="0"/>
                          <a:ea typeface="ヒラギノ角ゴ ProN W3" pitchFamily="-84" charset="-128"/>
                          <a:sym typeface="Gill Sans" pitchFamily="-84" charset="0"/>
                        </a:rPr>
                        <a:t>Visibility at the </a:t>
                      </a:r>
                      <a:r>
                        <a:rPr kumimoji="0" 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ill Sans" pitchFamily="-84" charset="0"/>
                          <a:ea typeface="ヒラギノ角ゴ ProN W3" pitchFamily="-84" charset="-128"/>
                          <a:sym typeface="Gill Sans" pitchFamily="-84" charset="0"/>
                        </a:rPr>
                        <a:t>business</a:t>
                      </a:r>
                      <a:r>
                        <a:rPr kumimoji="0" lang="en-US" sz="25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ill Sans" pitchFamily="-84" charset="0"/>
                          <a:ea typeface="ヒラギノ角ゴ ProN W3" pitchFamily="-84" charset="-128"/>
                          <a:sym typeface="Gill Sans" pitchFamily="-84" charset="0"/>
                        </a:rPr>
                        <a:t> level </a:t>
                      </a: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ill Sans" pitchFamily="-84" charset="0"/>
                          <a:ea typeface="ヒラギノ角ゴ ProN W3" pitchFamily="-84" charset="-128"/>
                          <a:sym typeface="Gill Sans" pitchFamily="-84" charset="0"/>
                        </a:rPr>
                        <a:t>(balance sheet)</a:t>
                      </a:r>
                    </a:p>
                  </a:txBody>
                  <a:tcPr marL="35719" marR="35719" marT="35716" marB="35716" anchor="ctr" horzOverflow="overflow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71000"/>
                        <a:buFont typeface="Gill Sans" pitchFamily="-84" charset="0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ill Sans" pitchFamily="-84" charset="0"/>
                          <a:ea typeface="ヒラギノ角ゴ ProN W3" pitchFamily="-84" charset="-128"/>
                          <a:sym typeface="Gill Sans" pitchFamily="-84" charset="0"/>
                        </a:rPr>
                        <a:t>Deciding whether to repay</a:t>
                      </a:r>
                    </a:p>
                  </a:txBody>
                  <a:tcPr marL="35719" marR="35719" marT="35716" marB="35716" anchor="ctr" horzOverflow="overflow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445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71000"/>
                        <a:buFont typeface="Gill Sans" pitchFamily="-84" charset="0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5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ill Sans" pitchFamily="-84" charset="0"/>
                          <a:ea typeface="ヒラギノ角ゴ ProN W3" pitchFamily="-84" charset="-128"/>
                          <a:sym typeface="Gill Sans" pitchFamily="-84" charset="0"/>
                        </a:rPr>
                        <a:t>Strong </a:t>
                      </a:r>
                      <a:r>
                        <a:rPr kumimoji="0" lang="ja-JP" altLang="en-US" sz="25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ヒラギノ角ゴ ProN W3" pitchFamily="-84" charset="-128"/>
                          <a:sym typeface="Gill Sans" pitchFamily="-84" charset="0"/>
                        </a:rPr>
                        <a:t>“</a:t>
                      </a:r>
                      <a:r>
                        <a:rPr kumimoji="0" lang="en-US" altLang="ja-JP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ill Sans" pitchFamily="-84" charset="0"/>
                          <a:ea typeface="ヒラギノ角ゴ ProN W3" pitchFamily="-84" charset="-128"/>
                          <a:sym typeface="Gill Sans" pitchFamily="-84" charset="0"/>
                        </a:rPr>
                        <a:t>done</a:t>
                      </a:r>
                      <a:r>
                        <a:rPr kumimoji="0" lang="ja-JP" altLang="en-US" sz="25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ヒラギノ角ゴ ProN W3" pitchFamily="-84" charset="-128"/>
                          <a:sym typeface="Gill Sans" pitchFamily="-84" charset="0"/>
                        </a:rPr>
                        <a:t>”</a:t>
                      </a:r>
                      <a:r>
                        <a:rPr kumimoji="0" lang="en-US" altLang="ja-JP" sz="25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ill Sans" pitchFamily="-84" charset="0"/>
                          <a:ea typeface="ヒラギノ角ゴ ProN W3" pitchFamily="-84" charset="-128"/>
                          <a:sym typeface="Gill Sans" pitchFamily="-84" charset="0"/>
                        </a:rPr>
                        <a:t> definition</a:t>
                      </a:r>
                      <a:endParaRPr kumimoji="0" lang="en-US" sz="25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Gill Sans" pitchFamily="-84" charset="0"/>
                        <a:ea typeface="ヒラギノ角ゴ ProN W3" pitchFamily="-84" charset="-128"/>
                        <a:sym typeface="Gill Sans" pitchFamily="-84" charset="0"/>
                      </a:endParaRPr>
                    </a:p>
                  </a:txBody>
                  <a:tcPr marL="89297" marR="89297" marT="89290" marB="89290" anchor="ctr" horzOverflow="overflow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71000"/>
                        <a:buFont typeface="Gill Sans" pitchFamily="-84" charset="0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5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ill Sans" pitchFamily="-84" charset="0"/>
                          <a:ea typeface="ヒラギノ角ゴ ProN W3" pitchFamily="-84" charset="-128"/>
                          <a:sym typeface="Gill Sans" pitchFamily="-84" charset="0"/>
                        </a:rPr>
                        <a:t>Visibility at the </a:t>
                      </a:r>
                      <a:r>
                        <a:rPr kumimoji="0" 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ill Sans" pitchFamily="-84" charset="0"/>
                          <a:ea typeface="ヒラギノ角ゴ ProN W3" pitchFamily="-84" charset="-128"/>
                          <a:sym typeface="Gill Sans" pitchFamily="-84" charset="0"/>
                        </a:rPr>
                        <a:t>technical</a:t>
                      </a:r>
                      <a:r>
                        <a:rPr kumimoji="0" lang="en-US" sz="25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ill Sans" pitchFamily="-84" charset="0"/>
                          <a:ea typeface="ヒラギノ角ゴ ProN W3" pitchFamily="-84" charset="-128"/>
                          <a:sym typeface="Gill Sans" pitchFamily="-84" charset="0"/>
                        </a:rPr>
                        <a:t> level </a:t>
                      </a: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ill Sans" pitchFamily="-84" charset="0"/>
                          <a:ea typeface="ヒラギノ角ゴ ProN W3" pitchFamily="-84" charset="-128"/>
                          <a:sym typeface="Gill Sans" pitchFamily="-84" charset="0"/>
                        </a:rPr>
                        <a:t>(defects, PBIs, cards)</a:t>
                      </a:r>
                    </a:p>
                  </a:txBody>
                  <a:tcPr marL="35719" marR="35719" marT="35716" marB="35716" anchor="ctr" horzOverflow="overflow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71000"/>
                        <a:buFont typeface="Gill Sans" pitchFamily="-84" charset="0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ill Sans" pitchFamily="-84" charset="0"/>
                          <a:ea typeface="ヒラギノ角ゴ ProN W3" pitchFamily="-84" charset="-128"/>
                          <a:sym typeface="Gill Sans" pitchFamily="-84" charset="0"/>
                        </a:rPr>
                        <a:t>Repay when found, incrementally, high-interest first</a:t>
                      </a:r>
                    </a:p>
                  </a:txBody>
                  <a:tcPr marL="35719" marR="35719" marT="35716" marB="35716" anchor="ctr" horzOverflow="overflow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87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71000"/>
                        <a:buFont typeface="Gill Sans" pitchFamily="-84" charset="0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5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ill Sans" pitchFamily="-84" charset="0"/>
                          <a:ea typeface="ヒラギノ角ゴ ProN W3" pitchFamily="-84" charset="-128"/>
                          <a:sym typeface="Gill Sans" pitchFamily="-84" charset="0"/>
                        </a:rPr>
                        <a:t>Understanding of debt </a:t>
                      </a:r>
                      <a:r>
                        <a:rPr kumimoji="0" 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ill Sans" pitchFamily="-84" charset="0"/>
                          <a:ea typeface="ヒラギノ角ゴ ProN W3" pitchFamily="-84" charset="-128"/>
                          <a:sym typeface="Gill Sans" pitchFamily="-84" charset="0"/>
                        </a:rPr>
                        <a:t>economics</a:t>
                      </a: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ill Sans" pitchFamily="-84" charset="0"/>
                          <a:ea typeface="ヒラギノ角ゴ ProN W3" pitchFamily="-84" charset="-128"/>
                          <a:sym typeface="Gill Sans" pitchFamily="-84" charset="0"/>
                        </a:rPr>
                        <a:t> (delay vs repayment costs)</a:t>
                      </a:r>
                    </a:p>
                  </a:txBody>
                  <a:tcPr marL="89297" marR="89297" marT="89290" marB="89290" anchor="ctr" horzOverflow="overflow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71000"/>
                        <a:buFont typeface="Gill Sans" pitchFamily="-84" charset="0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ill Sans" pitchFamily="-84" charset="0"/>
                          <a:ea typeface="ヒラギノ角ゴ ProN W3" pitchFamily="-84" charset="-128"/>
                          <a:sym typeface="Gill Sans" pitchFamily="-84" charset="0"/>
                        </a:rPr>
                        <a:t>Technical Debt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71000"/>
                        <a:buFont typeface="Gill Sans" pitchFamily="-84" charset="0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ill Sans" pitchFamily="-84" charset="0"/>
                          <a:ea typeface="ヒラギノ角ゴ ProN W3" pitchFamily="-84" charset="-128"/>
                          <a:sym typeface="Gill Sans" pitchFamily="-84" charset="0"/>
                        </a:rPr>
                        <a:t>Items in Product Backlog</a:t>
                      </a:r>
                    </a:p>
                  </a:txBody>
                  <a:tcPr marL="35719" marR="35719" marT="35716" marB="35716" anchor="ctr" horzOverflow="overflow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71000"/>
                        <a:buFont typeface="Gill Sans" pitchFamily="-84" charset="0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ill Sans" pitchFamily="-84" charset="0"/>
                          <a:ea typeface="ヒラギノ角ゴ ProN W3" pitchFamily="-84" charset="-128"/>
                          <a:sym typeface="Gill Sans" pitchFamily="-84" charset="0"/>
                        </a:rPr>
                        <a:t>Repay while producing value</a:t>
                      </a:r>
                      <a:br>
                        <a:rPr kumimoji="0" lang="en-US" sz="2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ill Sans" pitchFamily="-84" charset="0"/>
                          <a:ea typeface="ヒラギノ角ゴ ProN W3" pitchFamily="-84" charset="-128"/>
                          <a:sym typeface="Gill Sans" pitchFamily="-84" charset="0"/>
                        </a:rPr>
                      </a:b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ill Sans" pitchFamily="-84" charset="0"/>
                          <a:ea typeface="ヒラギノ角ゴ ProN W3" pitchFamily="-84" charset="-128"/>
                          <a:sym typeface="Gill Sans" pitchFamily="-84" charset="0"/>
                        </a:rPr>
                        <a:t>(avoid balloon payments)</a:t>
                      </a:r>
                    </a:p>
                  </a:txBody>
                  <a:tcPr marL="35719" marR="35719" marT="35716" marB="35716" anchor="ctr" horzOverflow="overflow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cover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2B4B6456-3404-7144-773D-4DBB5980A0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IT"/>
              <a:t>Servicing Technical Debt</a:t>
            </a:r>
          </a:p>
        </p:txBody>
      </p:sp>
      <p:pic>
        <p:nvPicPr>
          <p:cNvPr id="26627" name="Picture 2" descr="Tech debt curve | Technical debt, Debt, Technical">
            <a:extLst>
              <a:ext uri="{FF2B5EF4-FFF2-40B4-BE49-F238E27FC236}">
                <a16:creationId xmlns:a16="http://schemas.microsoft.com/office/drawing/2014/main" id="{0716CE7A-F257-7503-440A-E0F8B7151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4062" y="2303860"/>
            <a:ext cx="7661672" cy="4301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debt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/>
              <a:t>Visibility. Significant problems arise when debt is not visible. </a:t>
            </a:r>
            <a:r>
              <a:rPr lang="en-US" sz="2400" dirty="0"/>
              <a:t>In many cases, it is (or was) known to some people but it is not visible enough to others who eventually have to pay for it.</a:t>
            </a:r>
          </a:p>
          <a:p>
            <a:r>
              <a:rPr lang="en-US" sz="2400" i="1" dirty="0"/>
              <a:t>Value. In its financial use, debt when managed correctly is a </a:t>
            </a:r>
            <a:r>
              <a:rPr lang="en-US" sz="2400" dirty="0"/>
              <a:t>device to create value</a:t>
            </a:r>
          </a:p>
          <a:p>
            <a:r>
              <a:rPr lang="en-US" sz="2400" i="1" dirty="0"/>
              <a:t>Present value. In addition to the overall potential system </a:t>
            </a:r>
            <a:r>
              <a:rPr lang="en-US" sz="2400" dirty="0"/>
              <a:t>value enabled by technical debt, the present value of the costs incurred as a result of the debt, including the time-to impact and uncertainty of impact, must be mapped to the overall cost-benefit analysis.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debt - 2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/>
              <a:t>Debt accretion. Debt does not necessarily combine </a:t>
            </a:r>
            <a:r>
              <a:rPr lang="en-US" sz="2400" dirty="0"/>
              <a:t>additively, but super-additively in the sense that taking on too much debt leads a system into a bad, perhaps irreparable state</a:t>
            </a:r>
          </a:p>
          <a:p>
            <a:r>
              <a:rPr lang="en-US" sz="2400" i="1" dirty="0"/>
              <a:t>Environment. In software engineering projects, debt is </a:t>
            </a:r>
            <a:r>
              <a:rPr lang="en-US" sz="2400" dirty="0"/>
              <a:t>relative to a given or assumed environment.</a:t>
            </a:r>
          </a:p>
          <a:p>
            <a:r>
              <a:rPr lang="en-US" sz="2400" i="1" dirty="0"/>
              <a:t>Origin of debt. It is important to distinguish sharply between </a:t>
            </a:r>
            <a:r>
              <a:rPr lang="en-US" sz="2400" dirty="0"/>
              <a:t>strategic debt, taken on for some advantage, and unintentional debt, that is taken on either through poor practices or simply because the environment changed in a way that created a mismatch that reduces system value.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debt - 3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Impact of debt. The locality (or lack thereof) of debt is </a:t>
            </a:r>
            <a:r>
              <a:rPr lang="en-US" dirty="0"/>
              <a:t>important: are the elements that need to be changed to repay a debt localized or widely scattered?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Assessing Technical Debt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Complexity</a:t>
            </a:r>
          </a:p>
          <a:p>
            <a:r>
              <a:rPr lang="en-US" b="1" dirty="0"/>
              <a:t>Code Duplication</a:t>
            </a:r>
          </a:p>
          <a:p>
            <a:r>
              <a:rPr lang="en-US" b="1" dirty="0"/>
              <a:t>Documentation Debt</a:t>
            </a:r>
          </a:p>
          <a:p>
            <a:r>
              <a:rPr lang="en-US" b="1" dirty="0"/>
              <a:t>Testing Debt</a:t>
            </a:r>
          </a:p>
          <a:p>
            <a:r>
              <a:rPr lang="en-US" b="1" dirty="0"/>
              <a:t>Architectural Debt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Refactoring</a:t>
            </a:r>
          </a:p>
          <a:p>
            <a:r>
              <a:rPr lang="en-US" b="1" dirty="0"/>
              <a:t>Architectural issues</a:t>
            </a:r>
          </a:p>
          <a:p>
            <a:r>
              <a:rPr lang="en-US" b="1" dirty="0"/>
              <a:t>Identifying dominant sources of debt</a:t>
            </a:r>
          </a:p>
          <a:p>
            <a:r>
              <a:rPr lang="en-US" b="1" dirty="0"/>
              <a:t>Measurement issues</a:t>
            </a:r>
          </a:p>
          <a:p>
            <a:r>
              <a:rPr lang="en-US" b="1" dirty="0"/>
              <a:t>Non-functional artifacts</a:t>
            </a:r>
          </a:p>
          <a:p>
            <a:r>
              <a:rPr lang="en-US" b="1" dirty="0"/>
              <a:t>Monitoring</a:t>
            </a:r>
          </a:p>
          <a:p>
            <a:r>
              <a:rPr lang="en-US" b="1" dirty="0"/>
              <a:t>Process issues</a:t>
            </a:r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technical debt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Dependencies that exist in the current architecture but that should not exist are technical debt.</a:t>
            </a:r>
          </a:p>
          <a:p>
            <a:r>
              <a:rPr lang="en-US" dirty="0"/>
              <a:t>reference architecture </a:t>
            </a:r>
          </a:p>
          <a:p>
            <a:r>
              <a:rPr lang="en-US" dirty="0"/>
              <a:t>meta-architecture</a:t>
            </a:r>
          </a:p>
          <a:p>
            <a:r>
              <a:rPr lang="en-US" dirty="0"/>
              <a:t>enterprise architecture </a:t>
            </a:r>
          </a:p>
        </p:txBody>
      </p:sp>
    </p:spTree>
    <p:extLst>
      <p:ext uri="{BB962C8B-B14F-4D97-AF65-F5344CB8AC3E}">
        <p14:creationId xmlns:p14="http://schemas.microsoft.com/office/powerpoint/2010/main" val="13432236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Entropy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Use code tags. </a:t>
            </a:r>
            <a:endParaRPr lang="en-US" dirty="0"/>
          </a:p>
          <a:p>
            <a:r>
              <a:rPr lang="en-US" i="1" dirty="0"/>
              <a:t>Establish a rhythm.</a:t>
            </a:r>
          </a:p>
          <a:p>
            <a:r>
              <a:rPr lang="en-US" i="1" dirty="0"/>
              <a:t>Time-box the ER activity</a:t>
            </a:r>
          </a:p>
          <a:p>
            <a:r>
              <a:rPr lang="en-US" i="1" dirty="0"/>
              <a:t>Don’t ship the result</a:t>
            </a:r>
          </a:p>
          <a:p>
            <a:r>
              <a:rPr lang="en-US" i="1" dirty="0"/>
              <a:t>Choose your language carefully</a:t>
            </a:r>
          </a:p>
          <a:p>
            <a:r>
              <a:rPr lang="en-US" i="1" dirty="0"/>
              <a:t>Use ER to reinforce other values you deem important</a:t>
            </a:r>
          </a:p>
          <a:p>
            <a:r>
              <a:rPr lang="en-US" i="1" dirty="0"/>
              <a:t>Don’t commit unless you can deliver.</a:t>
            </a: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no-one repays technical debt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Business people don’t see technical debt.</a:t>
            </a:r>
          </a:p>
          <a:p>
            <a:r>
              <a:rPr lang="en-US" b="1" dirty="0"/>
              <a:t>Perceived low ROI.</a:t>
            </a:r>
          </a:p>
          <a:p>
            <a:r>
              <a:rPr lang="en-US" b="1" dirty="0"/>
              <a:t>Developers don’t like repaying technical debts.</a:t>
            </a:r>
          </a:p>
          <a:p>
            <a:r>
              <a:rPr lang="en-US" b="1" dirty="0"/>
              <a:t>Development processes don’t focus on it.</a:t>
            </a:r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FEB8D-AE5E-F3E6-BAB3-F5A0BCD8F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Managing Technical Debt…Where are we?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7DB9A-E620-3150-02B0-1EC79FA6D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en-IT" dirty="0"/>
              <a:t>ools &amp; automations</a:t>
            </a:r>
          </a:p>
          <a:p>
            <a:r>
              <a:rPr lang="en-IT" dirty="0"/>
              <a:t>Org. Culture</a:t>
            </a:r>
          </a:p>
          <a:p>
            <a:r>
              <a:rPr lang="en-IT" dirty="0"/>
              <a:t>Social Debt?</a:t>
            </a:r>
          </a:p>
        </p:txBody>
      </p:sp>
    </p:spTree>
    <p:extLst>
      <p:ext uri="{BB962C8B-B14F-4D97-AF65-F5344CB8AC3E}">
        <p14:creationId xmlns:p14="http://schemas.microsoft.com/office/powerpoint/2010/main" val="35791046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841182" cy="1325563"/>
          </a:xfrm>
        </p:spPr>
        <p:txBody>
          <a:bodyPr/>
          <a:lstStyle/>
          <a:p>
            <a:r>
              <a:rPr lang="en-GB" dirty="0"/>
              <a:t>What tools do we have in </a:t>
            </a:r>
            <a:r>
              <a:rPr lang="en-GB" dirty="0" err="1"/>
              <a:t>Sw.eng</a:t>
            </a:r>
            <a:r>
              <a:rPr lang="en-GB" dirty="0"/>
              <a:t>. land?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Compiler Errors/Warnings</a:t>
            </a:r>
          </a:p>
          <a:p>
            <a:r>
              <a:rPr lang="en-GB" dirty="0" err="1"/>
              <a:t>FXCop</a:t>
            </a:r>
            <a:r>
              <a:rPr lang="en-GB" dirty="0"/>
              <a:t>/Code Analysis</a:t>
            </a:r>
          </a:p>
          <a:p>
            <a:r>
              <a:rPr lang="en-GB" dirty="0" err="1"/>
              <a:t>StyleCop</a:t>
            </a:r>
            <a:endParaRPr lang="en-GB" dirty="0"/>
          </a:p>
          <a:p>
            <a:r>
              <a:rPr lang="en-GB" dirty="0"/>
              <a:t>Unit Test Coverage</a:t>
            </a:r>
          </a:p>
          <a:p>
            <a:r>
              <a:rPr lang="en-GB" dirty="0"/>
              <a:t>Numerous other tools….</a:t>
            </a:r>
          </a:p>
          <a:p>
            <a:endParaRPr lang="en-GB" dirty="0"/>
          </a:p>
          <a:p>
            <a:r>
              <a:rPr lang="en-GB" dirty="0"/>
              <a:t>But they are snapshots in time, we need a better dashboard</a:t>
            </a:r>
          </a:p>
        </p:txBody>
      </p:sp>
    </p:spTree>
    <p:extLst>
      <p:ext uri="{BB962C8B-B14F-4D97-AF65-F5344CB8AC3E}">
        <p14:creationId xmlns:p14="http://schemas.microsoft.com/office/powerpoint/2010/main" val="1639185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375" y="809313"/>
            <a:ext cx="3722158" cy="5134287"/>
          </a:xfrm>
        </p:spPr>
        <p:txBody>
          <a:bodyPr/>
          <a:lstStyle/>
          <a:p>
            <a:r>
              <a:rPr lang="en-GB" dirty="0"/>
              <a:t>This is not your grandfather’s Microsoft</a:t>
            </a:r>
          </a:p>
        </p:txBody>
      </p:sp>
      <p:sp>
        <p:nvSpPr>
          <p:cNvPr id="6" name="AutoShape 6" descr="Image result for original microsoft staf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032" name="Picture 8" descr="http://i967.photobucket.com/albums/ae159/draynes/mime-attachment.jpg?t=135573716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2533" y="809313"/>
            <a:ext cx="7670800" cy="5134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9268691" y="5943600"/>
            <a:ext cx="4488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Microsoft staff in 1978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2533" y="542925"/>
            <a:ext cx="7713098" cy="540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215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EF6170-7BCE-F4C3-DA40-E5C99120E5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425" y="-163286"/>
            <a:ext cx="10440575" cy="7021286"/>
          </a:xfr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45BF48-6D5F-8B91-A338-E68348B95E28}"/>
              </a:ext>
            </a:extLst>
          </p:cNvPr>
          <p:cNvSpPr txBox="1"/>
          <p:nvPr/>
        </p:nvSpPr>
        <p:spPr>
          <a:xfrm>
            <a:off x="0" y="2012342"/>
            <a:ext cx="17956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2800" b="1" dirty="0"/>
              <a:t>LLM Bit…</a:t>
            </a:r>
          </a:p>
        </p:txBody>
      </p:sp>
    </p:spTree>
    <p:extLst>
      <p:ext uri="{BB962C8B-B14F-4D97-AF65-F5344CB8AC3E}">
        <p14:creationId xmlns:p14="http://schemas.microsoft.com/office/powerpoint/2010/main" val="25167480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4599F1F-BF1E-46D0-6DA7-E7D03445A1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6"/>
          <a:stretch>
            <a:fillRect/>
          </a:stretch>
        </p:blipFill>
        <p:spPr>
          <a:xfrm>
            <a:off x="20" y="10"/>
            <a:ext cx="12191980" cy="6857990"/>
          </a:xfrm>
          <a:noFill/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38C828B-361C-D49C-EB43-7D88C56FD368}"/>
              </a:ext>
            </a:extLst>
          </p:cNvPr>
          <p:cNvSpPr/>
          <p:nvPr/>
        </p:nvSpPr>
        <p:spPr>
          <a:xfrm>
            <a:off x="2612571" y="5845629"/>
            <a:ext cx="7151915" cy="310242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17294481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0FF4A9B-8F23-0691-6DD0-3C798AB14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82666"/>
          </a:xfrm>
        </p:spPr>
        <p:txBody>
          <a:bodyPr/>
          <a:lstStyle/>
          <a:p>
            <a:r>
              <a:rPr lang="en-US" dirty="0"/>
              <a:t>Addressing Tech. Debt</a:t>
            </a:r>
          </a:p>
        </p:txBody>
      </p:sp>
    </p:spTree>
    <p:extLst>
      <p:ext uri="{BB962C8B-B14F-4D97-AF65-F5344CB8AC3E}">
        <p14:creationId xmlns:p14="http://schemas.microsoft.com/office/powerpoint/2010/main" val="30271059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8FA40120-B991-CF5C-5F8B-B37F3358C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379" y="68263"/>
            <a:ext cx="8881241" cy="64389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842149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ame with people standing on a bridge&#10;&#10;AI-generated content may be incorrect.">
            <a:extLst>
              <a:ext uri="{FF2B5EF4-FFF2-40B4-BE49-F238E27FC236}">
                <a16:creationId xmlns:a16="http://schemas.microsoft.com/office/drawing/2014/main" id="{A6E592A9-B4B2-82E7-5292-0E77491038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399" y="68263"/>
            <a:ext cx="8585201" cy="6438900"/>
          </a:xfrm>
          <a:noFill/>
        </p:spPr>
      </p:pic>
    </p:spTree>
    <p:extLst>
      <p:ext uri="{BB962C8B-B14F-4D97-AF65-F5344CB8AC3E}">
        <p14:creationId xmlns:p14="http://schemas.microsoft.com/office/powerpoint/2010/main" val="37555759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erson sitting at a table playing a board game&#10;&#10;AI-generated content may be incorrect.">
            <a:extLst>
              <a:ext uri="{FF2B5EF4-FFF2-40B4-BE49-F238E27FC236}">
                <a16:creationId xmlns:a16="http://schemas.microsoft.com/office/drawing/2014/main" id="{026A627B-C7A9-4D64-707F-67FA819DAD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129" y="68263"/>
            <a:ext cx="9331741" cy="6438900"/>
          </a:xfrm>
          <a:noFill/>
        </p:spPr>
      </p:pic>
    </p:spTree>
    <p:extLst>
      <p:ext uri="{BB962C8B-B14F-4D97-AF65-F5344CB8AC3E}">
        <p14:creationId xmlns:p14="http://schemas.microsoft.com/office/powerpoint/2010/main" val="20775403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oard game with figures and text&#10;&#10;AI-generated content may be incorrect.">
            <a:extLst>
              <a:ext uri="{FF2B5EF4-FFF2-40B4-BE49-F238E27FC236}">
                <a16:creationId xmlns:a16="http://schemas.microsoft.com/office/drawing/2014/main" id="{699E2685-24FA-2DB1-7C9E-EDB910F56D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498" y="68263"/>
            <a:ext cx="9793004" cy="6438900"/>
          </a:xfrm>
          <a:noFill/>
        </p:spPr>
      </p:pic>
    </p:spTree>
    <p:extLst>
      <p:ext uri="{BB962C8B-B14F-4D97-AF65-F5344CB8AC3E}">
        <p14:creationId xmlns:p14="http://schemas.microsoft.com/office/powerpoint/2010/main" val="44250950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lose-up of a game&#10;&#10;AI-generated content may be incorrect.">
            <a:extLst>
              <a:ext uri="{FF2B5EF4-FFF2-40B4-BE49-F238E27FC236}">
                <a16:creationId xmlns:a16="http://schemas.microsoft.com/office/drawing/2014/main" id="{EE7C8BFD-90A5-CBBE-05C9-BCDA9F9DE1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182" y="68263"/>
            <a:ext cx="10021635" cy="6438900"/>
          </a:xfrm>
          <a:noFill/>
        </p:spPr>
      </p:pic>
    </p:spTree>
    <p:extLst>
      <p:ext uri="{BB962C8B-B14F-4D97-AF65-F5344CB8AC3E}">
        <p14:creationId xmlns:p14="http://schemas.microsoft.com/office/powerpoint/2010/main" val="14250131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74CBB5ED-317B-0A01-C654-3BE3F7FD97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392" y="68263"/>
            <a:ext cx="8701215" cy="6438900"/>
          </a:xfrm>
          <a:noFill/>
        </p:spPr>
      </p:pic>
    </p:spTree>
    <p:extLst>
      <p:ext uri="{BB962C8B-B14F-4D97-AF65-F5344CB8AC3E}">
        <p14:creationId xmlns:p14="http://schemas.microsoft.com/office/powerpoint/2010/main" val="73340432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26279-A822-292A-C0F3-E448B269A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Insights from the trenches…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8CD0E-3BD6-19A3-29E1-23BC274B9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9271859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D01CB713-7248-D91E-F193-9DA50839F6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50" y="1196340"/>
            <a:ext cx="11950700" cy="4182745"/>
          </a:xfrm>
          <a:noFill/>
        </p:spPr>
      </p:pic>
    </p:spTree>
    <p:extLst>
      <p:ext uri="{BB962C8B-B14F-4D97-AF65-F5344CB8AC3E}">
        <p14:creationId xmlns:p14="http://schemas.microsoft.com/office/powerpoint/2010/main" val="373814821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B367E32E-7233-FEAE-4E4B-742FAA8DD7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976" y="68263"/>
            <a:ext cx="9868048" cy="6438900"/>
          </a:xfrm>
          <a:noFill/>
        </p:spPr>
      </p:pic>
    </p:spTree>
    <p:extLst>
      <p:ext uri="{BB962C8B-B14F-4D97-AF65-F5344CB8AC3E}">
        <p14:creationId xmlns:p14="http://schemas.microsoft.com/office/powerpoint/2010/main" val="195282189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7FF8B23B-8351-13FC-ADA7-D14A083EAF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849" y="68263"/>
            <a:ext cx="9610302" cy="6438900"/>
          </a:xfrm>
          <a:noFill/>
        </p:spPr>
      </p:pic>
    </p:spTree>
    <p:extLst>
      <p:ext uri="{BB962C8B-B14F-4D97-AF65-F5344CB8AC3E}">
        <p14:creationId xmlns:p14="http://schemas.microsoft.com/office/powerpoint/2010/main" val="64602959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market&#10;&#10;AI-generated content may be incorrect.">
            <a:extLst>
              <a:ext uri="{FF2B5EF4-FFF2-40B4-BE49-F238E27FC236}">
                <a16:creationId xmlns:a16="http://schemas.microsoft.com/office/drawing/2014/main" id="{A5C77795-07C5-6339-E1B6-668BC8DC3C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012" y="68263"/>
            <a:ext cx="8911975" cy="6438900"/>
          </a:xfrm>
          <a:noFill/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F0E19FF-95AA-86C3-AD56-5802042E7C10}"/>
              </a:ext>
            </a:extLst>
          </p:cNvPr>
          <p:cNvSpPr/>
          <p:nvPr/>
        </p:nvSpPr>
        <p:spPr>
          <a:xfrm>
            <a:off x="8183105" y="139485"/>
            <a:ext cx="2712203" cy="9453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70699484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BEC53D34-19A8-317F-EBBB-A78DE7BDE1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012" y="68263"/>
            <a:ext cx="8911975" cy="6438900"/>
          </a:xfrm>
          <a:noFill/>
        </p:spPr>
      </p:pic>
    </p:spTree>
    <p:extLst>
      <p:ext uri="{BB962C8B-B14F-4D97-AF65-F5344CB8AC3E}">
        <p14:creationId xmlns:p14="http://schemas.microsoft.com/office/powerpoint/2010/main" val="335904092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with blue and white text&#10;&#10;AI-generated content may be incorrect.">
            <a:extLst>
              <a:ext uri="{FF2B5EF4-FFF2-40B4-BE49-F238E27FC236}">
                <a16:creationId xmlns:a16="http://schemas.microsoft.com/office/drawing/2014/main" id="{DE355A4E-BF75-BD5E-8695-C6EC54B518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153" y="68263"/>
            <a:ext cx="9165694" cy="6438900"/>
          </a:xfrm>
          <a:noFill/>
        </p:spPr>
      </p:pic>
    </p:spTree>
    <p:extLst>
      <p:ext uri="{BB962C8B-B14F-4D97-AF65-F5344CB8AC3E}">
        <p14:creationId xmlns:p14="http://schemas.microsoft.com/office/powerpoint/2010/main" val="62598075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artoon of an elephant sitting on a chair&#10;&#10;AI-generated content may be incorrect.">
            <a:extLst>
              <a:ext uri="{FF2B5EF4-FFF2-40B4-BE49-F238E27FC236}">
                <a16:creationId xmlns:a16="http://schemas.microsoft.com/office/drawing/2014/main" id="{FAD70FA1-2D28-83AC-F1DB-CF887C8891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54" y="68263"/>
            <a:ext cx="10512491" cy="6438900"/>
          </a:xfrm>
          <a:noFill/>
        </p:spPr>
      </p:pic>
    </p:spTree>
    <p:extLst>
      <p:ext uri="{BB962C8B-B14F-4D97-AF65-F5344CB8AC3E}">
        <p14:creationId xmlns:p14="http://schemas.microsoft.com/office/powerpoint/2010/main" val="178590338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046FF687-FFAC-3E82-04BD-5C22AD6A62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044" y="68263"/>
            <a:ext cx="8613912" cy="6438900"/>
          </a:xfrm>
          <a:noFill/>
        </p:spPr>
      </p:pic>
    </p:spTree>
    <p:extLst>
      <p:ext uri="{BB962C8B-B14F-4D97-AF65-F5344CB8AC3E}">
        <p14:creationId xmlns:p14="http://schemas.microsoft.com/office/powerpoint/2010/main" val="244225813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 what do I see in </a:t>
            </a:r>
            <a:r>
              <a:rPr lang="en-GB" dirty="0" err="1"/>
              <a:t>SonarQube</a:t>
            </a:r>
            <a:r>
              <a:rPr lang="en-GB" dirty="0"/>
              <a:t>?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Dashboards</a:t>
            </a:r>
          </a:p>
          <a:p>
            <a:pPr lvl="1"/>
            <a:r>
              <a:rPr lang="en-GB" dirty="0"/>
              <a:t>Tables and Charts</a:t>
            </a:r>
          </a:p>
          <a:p>
            <a:pPr lvl="1"/>
            <a:r>
              <a:rPr lang="en-GB" dirty="0"/>
              <a:t>Trends over time</a:t>
            </a:r>
          </a:p>
          <a:p>
            <a:pPr lvl="1"/>
            <a:r>
              <a:rPr lang="en-GB" dirty="0"/>
              <a:t>Base-lines based on version</a:t>
            </a:r>
          </a:p>
          <a:p>
            <a:r>
              <a:rPr lang="en-GB" dirty="0"/>
              <a:t>Technical Debt time estimates</a:t>
            </a:r>
          </a:p>
          <a:p>
            <a:r>
              <a:rPr lang="en-GB" dirty="0"/>
              <a:t>Quality Ratings</a:t>
            </a:r>
          </a:p>
          <a:p>
            <a:r>
              <a:rPr lang="en-GB" dirty="0"/>
              <a:t>Quality Gates </a:t>
            </a:r>
          </a:p>
        </p:txBody>
      </p:sp>
    </p:spTree>
    <p:extLst>
      <p:ext uri="{BB962C8B-B14F-4D97-AF65-F5344CB8AC3E}">
        <p14:creationId xmlns:p14="http://schemas.microsoft.com/office/powerpoint/2010/main" val="3234657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5125"/>
            <a:ext cx="12192000" cy="620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45554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97" y="296091"/>
            <a:ext cx="12194897" cy="627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09212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graph&#10;&#10;AI-generated content may be incorrect.">
            <a:extLst>
              <a:ext uri="{FF2B5EF4-FFF2-40B4-BE49-F238E27FC236}">
                <a16:creationId xmlns:a16="http://schemas.microsoft.com/office/drawing/2014/main" id="{66A9A315-C4EB-0219-45CE-8D4D5EA7F3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599" y="68263"/>
            <a:ext cx="7924801" cy="64389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2598689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white text on a white background&#10;&#10;AI-generated content may be incorrect.">
            <a:extLst>
              <a:ext uri="{FF2B5EF4-FFF2-40B4-BE49-F238E27FC236}">
                <a16:creationId xmlns:a16="http://schemas.microsoft.com/office/drawing/2014/main" id="{83E7E622-D773-64D9-E7DD-AC06C676B0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4589" y="68263"/>
            <a:ext cx="8642821" cy="6438900"/>
          </a:xfrm>
          <a:noFill/>
        </p:spPr>
      </p:pic>
    </p:spTree>
    <p:extLst>
      <p:ext uri="{BB962C8B-B14F-4D97-AF65-F5344CB8AC3E}">
        <p14:creationId xmlns:p14="http://schemas.microsoft.com/office/powerpoint/2010/main" val="213594591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B4293DB0-3E4E-E657-70B8-B1CD2249EA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601" y="68263"/>
            <a:ext cx="8124798" cy="6438900"/>
          </a:xfrm>
          <a:noFill/>
        </p:spPr>
      </p:pic>
    </p:spTree>
    <p:extLst>
      <p:ext uri="{BB962C8B-B14F-4D97-AF65-F5344CB8AC3E}">
        <p14:creationId xmlns:p14="http://schemas.microsoft.com/office/powerpoint/2010/main" val="205794233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E6E9FF3D-2B90-6B9E-572A-B0394C1480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300" y="68263"/>
            <a:ext cx="9231399" cy="6438900"/>
          </a:xfrm>
          <a:noFill/>
        </p:spPr>
      </p:pic>
    </p:spTree>
    <p:extLst>
      <p:ext uri="{BB962C8B-B14F-4D97-AF65-F5344CB8AC3E}">
        <p14:creationId xmlns:p14="http://schemas.microsoft.com/office/powerpoint/2010/main" val="101472213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E091C-101D-89FB-DAA0-CDDD9FC37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Questions?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4DD4B7-0132-9DE6-C0C0-E44626F83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r>
              <a:rPr lang="en-US"/>
              <a:t>Henrik Bærbak Christensen</a:t>
            </a:r>
          </a:p>
        </p:txBody>
      </p:sp>
      <p:pic>
        <p:nvPicPr>
          <p:cNvPr id="5" name="Picture 2" descr="Why does Yoda Speak Funny?. Here is a marvelous question with an… | by &amp; |  Medium">
            <a:extLst>
              <a:ext uri="{FF2B5EF4-FFF2-40B4-BE49-F238E27FC236}">
                <a16:creationId xmlns:a16="http://schemas.microsoft.com/office/drawing/2014/main" id="{90E3DB11-EA1D-19A1-F44F-A6269845F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2215" y="1801308"/>
            <a:ext cx="5787571" cy="3948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767691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err="1"/>
              <a:t>SonarQube</a:t>
            </a:r>
            <a:r>
              <a:rPr lang="en-GB" dirty="0"/>
              <a:t> </a:t>
            </a:r>
          </a:p>
          <a:p>
            <a:pPr marL="457200" lvl="1" indent="0">
              <a:buNone/>
            </a:pPr>
            <a:r>
              <a:rPr lang="en-GB" sz="2000" dirty="0">
                <a:hlinkClick r:id="rId3"/>
              </a:rPr>
              <a:t>http://www.sonarqube.org/</a:t>
            </a:r>
            <a:r>
              <a:rPr lang="en-GB" sz="2000" dirty="0"/>
              <a:t> </a:t>
            </a:r>
          </a:p>
          <a:p>
            <a:r>
              <a:rPr lang="en-GB" dirty="0"/>
              <a:t>Microsoft Product Team on Technical Debt</a:t>
            </a:r>
          </a:p>
          <a:p>
            <a:pPr marL="457200" lvl="1" indent="0">
              <a:buNone/>
            </a:pPr>
            <a:r>
              <a:rPr lang="en-GB" sz="2000" dirty="0">
                <a:hlinkClick r:id="rId4"/>
              </a:rPr>
              <a:t>http://blogs.msdn.com/b/visualstudioalm/archive/tags/managing+technical+debt/</a:t>
            </a:r>
            <a:r>
              <a:rPr lang="en-GB" sz="2000" dirty="0"/>
              <a:t> </a:t>
            </a:r>
          </a:p>
          <a:p>
            <a:r>
              <a:rPr lang="en-GB" dirty="0"/>
              <a:t>ALM Rangers Guide on </a:t>
            </a:r>
            <a:r>
              <a:rPr lang="en-GB" dirty="0" err="1"/>
              <a:t>SonarQube</a:t>
            </a:r>
            <a:endParaRPr lang="en-GB" dirty="0"/>
          </a:p>
          <a:p>
            <a:pPr marL="457200" lvl="1" indent="0">
              <a:buNone/>
            </a:pPr>
            <a:r>
              <a:rPr lang="en-GB" sz="2000" dirty="0">
                <a:hlinkClick r:id="rId5"/>
              </a:rPr>
              <a:t>https://github.com/SonarSource/sonar-.net-documentation</a:t>
            </a:r>
            <a:r>
              <a:rPr lang="en-GB" sz="2000" dirty="0"/>
              <a:t> </a:t>
            </a:r>
            <a:br>
              <a:rPr lang="en-GB" sz="2000" dirty="0"/>
            </a:br>
            <a:r>
              <a:rPr lang="en-GB" sz="2000" dirty="0">
                <a:hlinkClick r:id="rId6"/>
              </a:rPr>
              <a:t>http://blogs.msdn.com/b/visualstudioalmrangers/archive/tags/vsartechnicaldebt/</a:t>
            </a:r>
            <a:r>
              <a:rPr lang="en-GB" sz="2000" dirty="0"/>
              <a:t> </a:t>
            </a:r>
          </a:p>
          <a:p>
            <a:r>
              <a:rPr lang="en-GB" dirty="0" err="1"/>
              <a:t>SonarLint</a:t>
            </a:r>
            <a:endParaRPr lang="en-GB" dirty="0"/>
          </a:p>
          <a:p>
            <a:pPr marL="457200" lvl="1" indent="0">
              <a:buNone/>
            </a:pPr>
            <a:r>
              <a:rPr lang="en-GB" sz="2000" dirty="0">
                <a:hlinkClick r:id="rId7"/>
              </a:rPr>
              <a:t>http://vs.sonarlint.org/</a:t>
            </a:r>
            <a:r>
              <a:rPr lang="en-GB" sz="2000" dirty="0"/>
              <a:t> </a:t>
            </a:r>
          </a:p>
          <a:p>
            <a:r>
              <a:rPr lang="en-GB" dirty="0"/>
              <a:t>Find these slides </a:t>
            </a:r>
          </a:p>
          <a:p>
            <a:pPr marL="457200" lvl="1" indent="0">
              <a:buNone/>
            </a:pPr>
            <a:r>
              <a:rPr lang="en-GB" sz="2000" dirty="0">
                <a:hlinkClick r:id="rId8"/>
              </a:rPr>
              <a:t>https://github.com/rfennell/Presentations</a:t>
            </a:r>
            <a:r>
              <a:rPr lang="en-GB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61913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ack Marble Orange">
      <a:dk1>
        <a:sysClr val="windowText" lastClr="000000"/>
      </a:dk1>
      <a:lt1>
        <a:sysClr val="window" lastClr="FFFFFF"/>
      </a:lt1>
      <a:dk2>
        <a:srgbClr val="3C3C3B"/>
      </a:dk2>
      <a:lt2>
        <a:srgbClr val="F5F5F5"/>
      </a:lt2>
      <a:accent1>
        <a:srgbClr val="F97923"/>
      </a:accent1>
      <a:accent2>
        <a:srgbClr val="21B9EC"/>
      </a:accent2>
      <a:accent3>
        <a:srgbClr val="B6CC22"/>
      </a:accent3>
      <a:accent4>
        <a:srgbClr val="E63B46"/>
      </a:accent4>
      <a:accent5>
        <a:srgbClr val="293A49"/>
      </a:accent5>
      <a:accent6>
        <a:srgbClr val="1B72B7"/>
      </a:accent6>
      <a:hlink>
        <a:srgbClr val="1B72B7"/>
      </a:hlink>
      <a:folHlink>
        <a:srgbClr val="1B72B7"/>
      </a:folHlink>
    </a:clrScheme>
    <a:fontScheme name="Black Marble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ck Marble 2014.potx" id="{9D187450-6DCF-4F33-B88A-7BD099CC2F2C}" vid="{E6E796D6-3360-43CB-AEC9-4DD74FEFE0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Black%20Marble%202014</Template>
  <TotalTime>18335</TotalTime>
  <Words>1751</Words>
  <Application>Microsoft Macintosh PowerPoint</Application>
  <PresentationFormat>Widescreen</PresentationFormat>
  <Paragraphs>274</Paragraphs>
  <Slides>67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5" baseType="lpstr">
      <vt:lpstr>MS PGothic</vt:lpstr>
      <vt:lpstr>Arial</vt:lpstr>
      <vt:lpstr>Calibri</vt:lpstr>
      <vt:lpstr>Gill Sans</vt:lpstr>
      <vt:lpstr>Segoe UI</vt:lpstr>
      <vt:lpstr>Segoe UI Light</vt:lpstr>
      <vt:lpstr>Segoe UI Semibold</vt:lpstr>
      <vt:lpstr>Office Theme</vt:lpstr>
      <vt:lpstr>Putting it all Together: Technical Debt!*</vt:lpstr>
      <vt:lpstr>PowerPoint Presentation</vt:lpstr>
      <vt:lpstr>What is technical debt?</vt:lpstr>
      <vt:lpstr>PowerPoint Presentation</vt:lpstr>
      <vt:lpstr>PowerPoint Presentation</vt:lpstr>
      <vt:lpstr>Technical Debt</vt:lpstr>
      <vt:lpstr>Technical Debt means you get less done as a code base ages</vt:lpstr>
      <vt:lpstr>Technical Debt</vt:lpstr>
      <vt:lpstr>What is debt (in a financial sense)?</vt:lpstr>
      <vt:lpstr>Compounding</vt:lpstr>
      <vt:lpstr>What is the idea of “technical debt”?</vt:lpstr>
      <vt:lpstr>Reasons/Causes of Technical Debt</vt:lpstr>
      <vt:lpstr>Debt Analogy</vt:lpstr>
      <vt:lpstr>Classes of debt</vt:lpstr>
      <vt:lpstr>Strategic, Intentional Debt</vt:lpstr>
      <vt:lpstr>Non-Strategic, Unintentional Debt</vt:lpstr>
      <vt:lpstr>Consequences of Debt</vt:lpstr>
      <vt:lpstr>Debt Tradeoff</vt:lpstr>
      <vt:lpstr>Communicating Debt</vt:lpstr>
      <vt:lpstr>Debt Avoidance</vt:lpstr>
      <vt:lpstr>Debt Management</vt:lpstr>
      <vt:lpstr>Accumulation of Technical Debt</vt:lpstr>
      <vt:lpstr>Accumulation of Technical Debt due to deadline pressure</vt:lpstr>
      <vt:lpstr>Consequences of Technical Debt</vt:lpstr>
      <vt:lpstr>Paying debt from “false acceleration”</vt:lpstr>
      <vt:lpstr>Technical debt is a gap</vt:lpstr>
      <vt:lpstr>Making Technical Debt Visible</vt:lpstr>
      <vt:lpstr>Managing Technical Debt</vt:lpstr>
      <vt:lpstr>Servicing Technical Debt</vt:lpstr>
      <vt:lpstr>Properties of debt</vt:lpstr>
      <vt:lpstr>Properties of debt - 2</vt:lpstr>
      <vt:lpstr>Properties of debt - 3</vt:lpstr>
      <vt:lpstr>Assessing Technical Debt</vt:lpstr>
      <vt:lpstr>Research issues</vt:lpstr>
      <vt:lpstr>Architecture technical debt</vt:lpstr>
      <vt:lpstr>Entropy reduction</vt:lpstr>
      <vt:lpstr>Why no-one repays technical debt</vt:lpstr>
      <vt:lpstr>Managing Technical Debt…Where are we?</vt:lpstr>
      <vt:lpstr>What tools do we have in Sw.eng. land?</vt:lpstr>
      <vt:lpstr>This is not your grandfather’s Microsoft</vt:lpstr>
      <vt:lpstr>PowerPoint Presentation</vt:lpstr>
      <vt:lpstr>PowerPoint Presentation</vt:lpstr>
      <vt:lpstr>Addressing Tech. Debt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Insights from the trenches…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 what do I see in SonarQube?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Questions?</vt:lpstr>
      <vt:lpstr>Resources</vt:lpstr>
    </vt:vector>
  </TitlesOfParts>
  <Company>Black Marble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Managing Technical Debt</dc:title>
  <dc:creator>Richard Fennell</dc:creator>
  <cp:lastModifiedBy>Damian Andrew Tamburri</cp:lastModifiedBy>
  <cp:revision>110</cp:revision>
  <dcterms:created xsi:type="dcterms:W3CDTF">2015-09-28T21:40:26Z</dcterms:created>
  <dcterms:modified xsi:type="dcterms:W3CDTF">2026-10-22T12:39:20Z</dcterms:modified>
</cp:coreProperties>
</file>