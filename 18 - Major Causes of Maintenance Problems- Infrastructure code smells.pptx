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71" r:id="rId5"/>
    <p:sldId id="259" r:id="rId6"/>
    <p:sldId id="272" r:id="rId7"/>
    <p:sldId id="260" r:id="rId8"/>
    <p:sldId id="273" r:id="rId9"/>
    <p:sldId id="261" r:id="rId10"/>
    <p:sldId id="274" r:id="rId11"/>
    <p:sldId id="262" r:id="rId12"/>
    <p:sldId id="263" r:id="rId13"/>
    <p:sldId id="275" r:id="rId14"/>
    <p:sldId id="264" r:id="rId15"/>
    <p:sldId id="276" r:id="rId16"/>
    <p:sldId id="277" r:id="rId17"/>
    <p:sldId id="265" r:id="rId18"/>
    <p:sldId id="278" r:id="rId19"/>
    <p:sldId id="279" r:id="rId20"/>
    <p:sldId id="280" r:id="rId21"/>
    <p:sldId id="266" r:id="rId22"/>
    <p:sldId id="267" r:id="rId23"/>
    <p:sldId id="268" r:id="rId24"/>
    <p:sldId id="281" r:id="rId25"/>
    <p:sldId id="282" r:id="rId26"/>
    <p:sldId id="283" r:id="rId27"/>
    <p:sldId id="269" r:id="rId28"/>
    <p:sldId id="284" r:id="rId29"/>
    <p:sldId id="270" r:id="rId30"/>
    <p:sldId id="285" r:id="rId31"/>
    <p:sldId id="286" r:id="rId32"/>
    <p:sldId id="287" r:id="rId33"/>
    <p:sldId id="419" r:id="rId34"/>
    <p:sldId id="421" r:id="rId35"/>
    <p:sldId id="422" r:id="rId36"/>
    <p:sldId id="289" r:id="rId37"/>
    <p:sldId id="288" r:id="rId38"/>
    <p:sldId id="420" r:id="rId39"/>
    <p:sldId id="291" r:id="rId40"/>
    <p:sldId id="290" r:id="rId41"/>
    <p:sldId id="292" r:id="rId42"/>
    <p:sldId id="293" r:id="rId43"/>
    <p:sldId id="294" r:id="rId44"/>
    <p:sldId id="295" r:id="rId45"/>
    <p:sldId id="296" r:id="rId46"/>
    <p:sldId id="410" r:id="rId47"/>
    <p:sldId id="411" r:id="rId48"/>
    <p:sldId id="412" r:id="rId49"/>
    <p:sldId id="413" r:id="rId50"/>
    <p:sldId id="414" r:id="rId51"/>
    <p:sldId id="415" r:id="rId52"/>
    <p:sldId id="417" r:id="rId53"/>
    <p:sldId id="416" r:id="rId54"/>
    <p:sldId id="297" r:id="rId55"/>
    <p:sldId id="409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394"/>
    <p:restoredTop sz="94728"/>
  </p:normalViewPr>
  <p:slideViewPr>
    <p:cSldViewPr>
      <p:cViewPr varScale="1">
        <p:scale>
          <a:sx n="99" d="100"/>
          <a:sy n="99" d="100"/>
        </p:scale>
        <p:origin x="30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01C334-E61F-FC46-BDF5-A9AEBBD409E5}" type="datetimeFigureOut">
              <a:rPr lang="en-IT" smtClean="0"/>
              <a:t>06/11/25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06897-2ED8-5B41-8FF7-C76266997641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69474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B06897-2ED8-5B41-8FF7-C76266997641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05412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Major Causes of Maintenance Problems: Infrastructure code smells</a:t>
            </a:r>
            <a:endParaRPr lang="nl-NL" dirty="0"/>
          </a:p>
        </p:txBody>
      </p:sp>
      <p:sp>
        <p:nvSpPr>
          <p:cNvPr id="4" name="Ondertitel 2"/>
          <p:cNvSpPr txBox="1">
            <a:spLocks/>
          </p:cNvSpPr>
          <p:nvPr/>
        </p:nvSpPr>
        <p:spPr>
          <a:xfrm>
            <a:off x="1398494" y="2362200"/>
            <a:ext cx="64008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Damian A. </a:t>
            </a:r>
            <a:r>
              <a:rPr lang="en-US" dirty="0" err="1">
                <a:solidFill>
                  <a:schemeClr val="tx1"/>
                </a:solidFill>
              </a:rPr>
              <a:t>Tamburri</a:t>
            </a:r>
            <a:r>
              <a:rPr lang="en-US" dirty="0">
                <a:solidFill>
                  <a:schemeClr val="tx1"/>
                </a:solidFill>
              </a:rPr>
              <a:t>, Ph.D. </a:t>
            </a:r>
          </a:p>
        </p:txBody>
      </p:sp>
    </p:spTree>
    <p:extLst>
      <p:ext uri="{BB962C8B-B14F-4D97-AF65-F5344CB8AC3E}">
        <p14:creationId xmlns:p14="http://schemas.microsoft.com/office/powerpoint/2010/main" val="1554195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Introduction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3733800" cy="452596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Everyone expects their infrastructure to be available all the time</a:t>
            </a:r>
          </a:p>
          <a:p>
            <a:r>
              <a:rPr lang="en-GB" dirty="0"/>
              <a:t>A 100% guaranteed availability of an infrastructure is impossible</a:t>
            </a:r>
          </a:p>
          <a:p>
            <a:endParaRPr lang="nl-NL" dirty="0"/>
          </a:p>
        </p:txBody>
      </p:sp>
      <p:pic>
        <p:nvPicPr>
          <p:cNvPr id="1026" name="Picture 2" descr="Availabilit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0" y="1620000"/>
            <a:ext cx="4703667" cy="46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368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Calculating availability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Availability can neither be calculated, nor guaranteed upfront</a:t>
            </a:r>
          </a:p>
          <a:p>
            <a:pPr lvl="1"/>
            <a:r>
              <a:rPr lang="en-GB" dirty="0"/>
              <a:t>It can only be reported on afterwards, when a system has run for some years</a:t>
            </a:r>
          </a:p>
          <a:p>
            <a:r>
              <a:rPr lang="en-GB" dirty="0"/>
              <a:t>Over the years, much knowledge and experience is gained on how to design high available systems</a:t>
            </a:r>
          </a:p>
          <a:p>
            <a:pPr lvl="1"/>
            <a:r>
              <a:rPr lang="en-GB" dirty="0"/>
              <a:t>Failover</a:t>
            </a:r>
          </a:p>
          <a:p>
            <a:pPr lvl="1"/>
            <a:r>
              <a:rPr lang="en-GB" dirty="0"/>
              <a:t>Redundancy</a:t>
            </a:r>
          </a:p>
          <a:p>
            <a:pPr lvl="1"/>
            <a:r>
              <a:rPr lang="en-GB" dirty="0"/>
              <a:t>Structured programming</a:t>
            </a:r>
          </a:p>
          <a:p>
            <a:pPr lvl="1"/>
            <a:r>
              <a:rPr lang="en-GB" dirty="0"/>
              <a:t>Avoiding Single Points of Failures (SPOFs)</a:t>
            </a:r>
          </a:p>
          <a:p>
            <a:pPr lvl="1"/>
            <a:r>
              <a:rPr lang="en-GB" dirty="0"/>
              <a:t>Implementing systems management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69023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Calculating availability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819399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The availability of a system is usually expressed as a percentage of uptime in a given time period</a:t>
            </a:r>
          </a:p>
          <a:p>
            <a:pPr lvl="1"/>
            <a:r>
              <a:rPr lang="en-GB" dirty="0"/>
              <a:t>Usually one year or one month</a:t>
            </a:r>
          </a:p>
          <a:p>
            <a:pPr lvl="1"/>
            <a:endParaRPr lang="en-GB" dirty="0"/>
          </a:p>
          <a:p>
            <a:r>
              <a:rPr lang="en-GB" dirty="0"/>
              <a:t>Example for downtime expressed as a percentage per year:</a:t>
            </a:r>
          </a:p>
          <a:p>
            <a:endParaRPr lang="nl-NL" dirty="0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4419600"/>
            <a:ext cx="8852833" cy="2279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9913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Calculating availability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3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Typical requirements used in service level agreements today are 99.8% or 99.9% availability per month for a full IT system</a:t>
            </a:r>
          </a:p>
          <a:p>
            <a:r>
              <a:rPr lang="en-US" dirty="0"/>
              <a:t>The availability of the infrastructure must be much higher</a:t>
            </a:r>
          </a:p>
          <a:p>
            <a:pPr lvl="1"/>
            <a:r>
              <a:rPr lang="en-US" dirty="0"/>
              <a:t>Typically in the range of 99.99% or higher</a:t>
            </a:r>
          </a:p>
          <a:p>
            <a:r>
              <a:rPr lang="en-GB" dirty="0"/>
              <a:t>99.999% uptime is also known as carrier grade availability</a:t>
            </a:r>
          </a:p>
          <a:p>
            <a:pPr lvl="1"/>
            <a:r>
              <a:rPr lang="en-GB" dirty="0"/>
              <a:t>For one component</a:t>
            </a:r>
          </a:p>
          <a:p>
            <a:pPr lvl="1"/>
            <a:r>
              <a:rPr lang="en-GB" dirty="0"/>
              <a:t>Higher availability levels for a complete system are very uncommon, as they are almost impossible to reach</a:t>
            </a:r>
          </a:p>
          <a:p>
            <a:pPr marL="0" indent="0">
              <a:buNone/>
            </a:pPr>
            <a:endParaRPr lang="en-GB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53571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Calculating availability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90800"/>
          </a:xfrm>
        </p:spPr>
        <p:txBody>
          <a:bodyPr>
            <a:normAutofit/>
          </a:bodyPr>
          <a:lstStyle/>
          <a:p>
            <a:r>
              <a:rPr lang="en-GB" dirty="0"/>
              <a:t>It is good practice to agree on the maximum frequency of unavailability</a:t>
            </a:r>
            <a:endParaRPr lang="nl-NL" dirty="0"/>
          </a:p>
          <a:p>
            <a:endParaRPr lang="en-GB" dirty="0"/>
          </a:p>
          <a:p>
            <a:endParaRPr lang="nl-NL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00200" y="3124200"/>
            <a:ext cx="12857182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7679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MTBF and MTTR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971800"/>
          </a:xfrm>
        </p:spPr>
        <p:txBody>
          <a:bodyPr>
            <a:normAutofit fontScale="47500" lnSpcReduction="20000"/>
          </a:bodyPr>
          <a:lstStyle/>
          <a:p>
            <a:r>
              <a:rPr lang="en-GB" sz="7000" dirty="0"/>
              <a:t>Mean Time Between Failures (MTBF)</a:t>
            </a:r>
          </a:p>
          <a:p>
            <a:pPr lvl="1"/>
            <a:r>
              <a:rPr lang="en-GB" sz="6700" dirty="0"/>
              <a:t>The average time that passes between failures</a:t>
            </a:r>
          </a:p>
          <a:p>
            <a:endParaRPr lang="en-GB" sz="7100" dirty="0"/>
          </a:p>
          <a:p>
            <a:r>
              <a:rPr lang="en-GB" sz="7100" dirty="0"/>
              <a:t>Mean Time To Repair (MTTR)</a:t>
            </a:r>
          </a:p>
          <a:p>
            <a:pPr lvl="1"/>
            <a:r>
              <a:rPr lang="en-GB" sz="6700" dirty="0"/>
              <a:t>The time it takes to recover from a failure </a:t>
            </a:r>
          </a:p>
          <a:p>
            <a:endParaRPr lang="nl-NL" dirty="0"/>
          </a:p>
        </p:txBody>
      </p:sp>
      <p:pic>
        <p:nvPicPr>
          <p:cNvPr id="4098" name="Picture 2" descr="MTBF and MTT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800600"/>
            <a:ext cx="8533814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4200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MTBF and MTTR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1972129"/>
          </a:xfrm>
        </p:spPr>
        <p:txBody>
          <a:bodyPr>
            <a:normAutofit fontScale="40000" lnSpcReduction="20000"/>
          </a:bodyPr>
          <a:lstStyle/>
          <a:p>
            <a:r>
              <a:rPr lang="en-GB" sz="7000" dirty="0"/>
              <a:t>Some components have higher MTBF than others</a:t>
            </a:r>
          </a:p>
          <a:p>
            <a:endParaRPr lang="en-GB" sz="7000" dirty="0"/>
          </a:p>
          <a:p>
            <a:endParaRPr lang="en-GB" sz="7000" dirty="0"/>
          </a:p>
          <a:p>
            <a:r>
              <a:rPr lang="en-GB" sz="7000" dirty="0"/>
              <a:t>Some typical MTB’s:</a:t>
            </a:r>
          </a:p>
          <a:p>
            <a:endParaRPr lang="nl-NL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000" y="3572329"/>
            <a:ext cx="10744200" cy="2904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5833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MTTR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sz="3300" dirty="0"/>
              <a:t>MTTR can be kept low by:</a:t>
            </a:r>
          </a:p>
          <a:p>
            <a:pPr lvl="1">
              <a:lnSpc>
                <a:spcPct val="80000"/>
              </a:lnSpc>
            </a:pPr>
            <a:r>
              <a:rPr lang="en-GB" sz="2900" dirty="0"/>
              <a:t>Having a service contract with the supplier</a:t>
            </a:r>
          </a:p>
          <a:p>
            <a:pPr lvl="1">
              <a:lnSpc>
                <a:spcPct val="80000"/>
              </a:lnSpc>
            </a:pPr>
            <a:r>
              <a:rPr lang="en-GB" dirty="0"/>
              <a:t>Having spare parts on-site</a:t>
            </a:r>
          </a:p>
          <a:p>
            <a:pPr lvl="1">
              <a:lnSpc>
                <a:spcPct val="80000"/>
              </a:lnSpc>
            </a:pPr>
            <a:r>
              <a:rPr lang="en-GB" dirty="0"/>
              <a:t>Automated redundancy and failover</a:t>
            </a:r>
          </a:p>
        </p:txBody>
      </p:sp>
    </p:spTree>
    <p:extLst>
      <p:ext uri="{BB962C8B-B14F-4D97-AF65-F5344CB8AC3E}">
        <p14:creationId xmlns:p14="http://schemas.microsoft.com/office/powerpoint/2010/main" val="1086108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MTTR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Steps to complete repairs:</a:t>
            </a:r>
          </a:p>
          <a:p>
            <a:pPr lvl="1"/>
            <a:r>
              <a:rPr lang="en-US" dirty="0"/>
              <a:t>Notification of the fault (time before seeing an alarm message)</a:t>
            </a:r>
          </a:p>
          <a:p>
            <a:pPr lvl="1"/>
            <a:r>
              <a:rPr lang="en-US" dirty="0"/>
              <a:t>Processing the alarm</a:t>
            </a:r>
          </a:p>
          <a:p>
            <a:pPr lvl="1"/>
            <a:r>
              <a:rPr lang="en-US" dirty="0"/>
              <a:t>Finding the root cause of the error</a:t>
            </a:r>
          </a:p>
          <a:p>
            <a:pPr lvl="1"/>
            <a:r>
              <a:rPr lang="en-US" dirty="0"/>
              <a:t>Looking up repair information</a:t>
            </a:r>
          </a:p>
          <a:p>
            <a:pPr lvl="1"/>
            <a:r>
              <a:rPr lang="en-US" dirty="0"/>
              <a:t>Getting spare components from storage</a:t>
            </a:r>
          </a:p>
          <a:p>
            <a:pPr lvl="1"/>
            <a:r>
              <a:rPr lang="en-US" dirty="0"/>
              <a:t>Having technician come to the datacenter with the spare component</a:t>
            </a:r>
          </a:p>
          <a:p>
            <a:pPr lvl="1"/>
            <a:r>
              <a:rPr lang="en-US" dirty="0"/>
              <a:t>Physically repairing the fault</a:t>
            </a:r>
          </a:p>
          <a:p>
            <a:pPr lvl="1"/>
            <a:r>
              <a:rPr lang="en-US" dirty="0"/>
              <a:t>Restarting and testing the component</a:t>
            </a:r>
          </a:p>
        </p:txBody>
      </p:sp>
    </p:spTree>
    <p:extLst>
      <p:ext uri="{BB962C8B-B14F-4D97-AF65-F5344CB8AC3E}">
        <p14:creationId xmlns:p14="http://schemas.microsoft.com/office/powerpoint/2010/main" val="3900098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Calculation examples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800" smtClean="0">
                          <a:latin typeface="Cambria Math" panose="02040503050406030204" pitchFamily="18" charset="0"/>
                        </a:rPr>
                        <m:t>Availability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MTBF</m:t>
                          </m:r>
                        </m:num>
                        <m:den>
                          <m:d>
                            <m:dPr>
                              <m:ctrlPr>
                                <a:rPr lang="nl-NL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MTBF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MTTR</m:t>
                              </m:r>
                            </m:e>
                          </m:d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×100%</m:t>
                      </m:r>
                    </m:oMath>
                  </m:oMathPara>
                </a14:m>
                <a:endParaRPr lang="nl-NL" sz="28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ijdelijke aanduiding voor inhou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2" y="3048000"/>
            <a:ext cx="9542608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2952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Calculation examples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nl-NL" dirty="0"/>
                  <a:t>Serial </a:t>
                </a:r>
                <a:r>
                  <a:rPr lang="nl-NL" dirty="0" err="1"/>
                  <a:t>components</a:t>
                </a:r>
                <a:r>
                  <a:rPr lang="nl-NL" dirty="0"/>
                  <a:t>: </a:t>
                </a:r>
                <a:r>
                  <a:rPr lang="nl-NL" dirty="0" err="1"/>
                  <a:t>One</a:t>
                </a:r>
                <a:r>
                  <a:rPr lang="nl-NL" dirty="0"/>
                  <a:t> defect leads </a:t>
                </a:r>
                <a:r>
                  <a:rPr lang="nl-NL" dirty="0" err="1"/>
                  <a:t>to</a:t>
                </a:r>
                <a:r>
                  <a:rPr lang="nl-NL" dirty="0"/>
                  <a:t> downtime</a:t>
                </a:r>
              </a:p>
              <a:p>
                <a:endParaRPr lang="nl-NL" dirty="0"/>
              </a:p>
              <a:p>
                <a:endParaRPr lang="nl-NL" dirty="0"/>
              </a:p>
              <a:p>
                <a:r>
                  <a:rPr lang="nl-NL" dirty="0" err="1"/>
                  <a:t>Example</a:t>
                </a:r>
                <a:r>
                  <a:rPr lang="nl-NL" dirty="0"/>
                  <a:t>: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above</a:t>
                </a:r>
                <a:r>
                  <a:rPr lang="nl-NL" dirty="0"/>
                  <a:t> </a:t>
                </a:r>
                <a:r>
                  <a:rPr lang="nl-NL" dirty="0" err="1"/>
                  <a:t>system’s</a:t>
                </a:r>
                <a:r>
                  <a:rPr lang="nl-NL" dirty="0"/>
                  <a:t> availability is:</a:t>
                </a:r>
              </a:p>
              <a:p>
                <a:pPr marL="0" indent="0">
                  <a:buNone/>
                </a:pPr>
                <a:endParaRPr lang="nl-NL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0.9999200×0.9999200×0.9999733×0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9999920×0.9999840×0.9999680=0.99977=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𝟗𝟗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𝟗𝟕𝟕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nl-NL" b="1" dirty="0"/>
              </a:p>
              <a:p>
                <a:pPr marL="0" indent="0">
                  <a:buNone/>
                </a:pPr>
                <a:endParaRPr lang="nl-NL" dirty="0"/>
              </a:p>
              <a:p>
                <a:pPr marL="0" indent="0">
                  <a:buNone/>
                </a:pPr>
                <a:r>
                  <a:rPr lang="nl-NL" dirty="0"/>
                  <a:t>(</a:t>
                </a:r>
                <a:r>
                  <a:rPr lang="nl-NL" dirty="0" err="1"/>
                  <a:t>each</a:t>
                </a:r>
                <a:r>
                  <a:rPr lang="nl-NL" dirty="0"/>
                  <a:t> </a:t>
                </a:r>
                <a:r>
                  <a:rPr lang="nl-NL" dirty="0" err="1"/>
                  <a:t>components</a:t>
                </a:r>
                <a:r>
                  <a:rPr lang="nl-NL" dirty="0"/>
                  <a:t>’ availability is at </a:t>
                </a:r>
                <a:r>
                  <a:rPr lang="nl-NL" dirty="0" err="1"/>
                  <a:t>least</a:t>
                </a:r>
                <a:r>
                  <a:rPr lang="nl-NL" dirty="0"/>
                  <a:t> 99.99%)</a:t>
                </a:r>
              </a:p>
              <a:p>
                <a:endParaRPr lang="nl-NL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ijdelijke aanduiding voor inhou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>
                <a:blip r:embed="rId2"/>
                <a:stretch>
                  <a:fillRect l="-1852" t="-2488" r="-617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System with serial component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91" y="2514600"/>
            <a:ext cx="8458200" cy="592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4480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Two systems in paralle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89" y="2514600"/>
            <a:ext cx="844105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Calculation examples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nl-NL" dirty="0"/>
                  <a:t>Parallel </a:t>
                </a:r>
                <a:r>
                  <a:rPr lang="nl-NL" dirty="0" err="1"/>
                  <a:t>components</a:t>
                </a:r>
                <a:r>
                  <a:rPr lang="nl-NL" dirty="0"/>
                  <a:t>: </a:t>
                </a:r>
                <a:r>
                  <a:rPr lang="nl-NL" dirty="0" err="1"/>
                  <a:t>One</a:t>
                </a:r>
                <a:r>
                  <a:rPr lang="nl-NL" dirty="0"/>
                  <a:t> defect: no downtime!</a:t>
                </a:r>
              </a:p>
              <a:p>
                <a:r>
                  <a:rPr lang="nl-NL" dirty="0"/>
                  <a:t>But beware of </a:t>
                </a:r>
                <a:r>
                  <a:rPr lang="nl-NL" dirty="0" err="1"/>
                  <a:t>SPOFs</a:t>
                </a:r>
                <a:r>
                  <a:rPr lang="nl-NL" dirty="0"/>
                  <a:t>!</a:t>
                </a:r>
              </a:p>
              <a:p>
                <a:endParaRPr lang="nl-NL" dirty="0"/>
              </a:p>
              <a:p>
                <a:endParaRPr lang="nl-NL" dirty="0"/>
              </a:p>
              <a:p>
                <a:endParaRPr lang="nl-NL" dirty="0"/>
              </a:p>
              <a:p>
                <a:endParaRPr lang="nl-NL" dirty="0"/>
              </a:p>
              <a:p>
                <a:endParaRPr lang="nl-NL" dirty="0"/>
              </a:p>
              <a:p>
                <a:r>
                  <a:rPr lang="nl-NL" dirty="0" err="1"/>
                  <a:t>Calculate</a:t>
                </a:r>
                <a:r>
                  <a:rPr lang="nl-NL" dirty="0"/>
                  <a:t> availability: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=1−(1−</m:t>
                      </m:r>
                      <m:sSub>
                        <m:sSub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nl-NL" dirty="0"/>
              </a:p>
              <a:p>
                <a:endParaRPr lang="nl-NL" dirty="0"/>
              </a:p>
              <a:p>
                <a:r>
                  <a:rPr lang="en-US" dirty="0"/>
                  <a:t>Total availability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=1−(1−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0.99</m:t>
                    </m:r>
                    <m:sSup>
                      <m:sSup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nl-NL" dirty="0"/>
                  <a:t> = </a:t>
                </a:r>
                <a:r>
                  <a:rPr lang="en-GB" dirty="0"/>
                  <a:t>99.99%</a:t>
                </a:r>
                <a:endParaRPr lang="nl-NL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ijdelijke aanduiding voor inhou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>
                <a:blip r:embed="rId3"/>
                <a:stretch>
                  <a:fillRect l="-1481" t="-3106" b="-238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4639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Sources of unavailability - human errors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80% of outages impacting mission-critical services is caused by people and process issues </a:t>
            </a:r>
          </a:p>
          <a:p>
            <a:r>
              <a:rPr lang="en-GB" dirty="0"/>
              <a:t>Examples:</a:t>
            </a:r>
          </a:p>
          <a:p>
            <a:pPr lvl="2"/>
            <a:r>
              <a:rPr lang="en-US" dirty="0"/>
              <a:t>Performing a test in the production environment</a:t>
            </a:r>
            <a:endParaRPr lang="nl-NL" dirty="0"/>
          </a:p>
          <a:p>
            <a:pPr lvl="2"/>
            <a:r>
              <a:rPr lang="en-US" dirty="0"/>
              <a:t>Switching off the wrong component for repair</a:t>
            </a:r>
            <a:endParaRPr lang="nl-NL" dirty="0"/>
          </a:p>
          <a:p>
            <a:pPr lvl="2"/>
            <a:r>
              <a:rPr lang="en-US" dirty="0"/>
              <a:t>Swapping a good working disk in a RAID set instead of the defective one</a:t>
            </a:r>
            <a:endParaRPr lang="nl-NL" dirty="0"/>
          </a:p>
          <a:p>
            <a:pPr lvl="2"/>
            <a:r>
              <a:rPr lang="en-US" dirty="0"/>
              <a:t>Restoring the wrong backup tape to production</a:t>
            </a:r>
            <a:endParaRPr lang="nl-NL" dirty="0"/>
          </a:p>
          <a:p>
            <a:pPr lvl="2"/>
            <a:r>
              <a:rPr lang="en-US" dirty="0"/>
              <a:t>Accidentally removing files</a:t>
            </a:r>
          </a:p>
          <a:p>
            <a:pPr lvl="3"/>
            <a:r>
              <a:rPr lang="en-US" dirty="0"/>
              <a:t>Mail folders, configuration files</a:t>
            </a:r>
          </a:p>
          <a:p>
            <a:pPr lvl="2"/>
            <a:r>
              <a:rPr lang="en-US" dirty="0"/>
              <a:t>Accidentally removing database entries</a:t>
            </a:r>
          </a:p>
          <a:p>
            <a:pPr lvl="3"/>
            <a:r>
              <a:rPr lang="en-US" dirty="0"/>
              <a:t>Drop table x instead of drop table y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07565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Sources of unavailability - software bugs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r>
              <a:rPr lang="en-GB" dirty="0"/>
              <a:t>Because of the complexity of most software it is nearly impossible (and very costly) to create bug-free software</a:t>
            </a:r>
          </a:p>
          <a:p>
            <a:r>
              <a:rPr lang="en-GB" dirty="0"/>
              <a:t>Application software bugs can stop an entire system</a:t>
            </a:r>
          </a:p>
          <a:p>
            <a:r>
              <a:rPr lang="en-GB" dirty="0"/>
              <a:t>Operating systems are software too</a:t>
            </a:r>
          </a:p>
          <a:p>
            <a:pPr lvl="1"/>
            <a:r>
              <a:rPr lang="en-GB" dirty="0"/>
              <a:t>Operating systems containing bugs can lead to corrupted file systems, network failures, or other sources of unavailability</a:t>
            </a:r>
          </a:p>
        </p:txBody>
      </p:sp>
    </p:spTree>
    <p:extLst>
      <p:ext uri="{BB962C8B-B14F-4D97-AF65-F5344CB8AC3E}">
        <p14:creationId xmlns:p14="http://schemas.microsoft.com/office/powerpoint/2010/main" val="981686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Sources of unavailability - planned maintenance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Sometimes needed to perform systems management tasks:</a:t>
            </a:r>
          </a:p>
          <a:p>
            <a:pPr lvl="1"/>
            <a:r>
              <a:rPr lang="en-GB" dirty="0"/>
              <a:t>Upgrading hardware or software</a:t>
            </a:r>
          </a:p>
          <a:p>
            <a:pPr lvl="1"/>
            <a:r>
              <a:rPr lang="en-GB" dirty="0"/>
              <a:t>Implementing software changes</a:t>
            </a:r>
          </a:p>
          <a:p>
            <a:pPr lvl="1"/>
            <a:r>
              <a:rPr lang="en-GB" dirty="0"/>
              <a:t>Migrating data</a:t>
            </a:r>
          </a:p>
          <a:p>
            <a:pPr lvl="1"/>
            <a:r>
              <a:rPr lang="en-GB" dirty="0"/>
              <a:t>Creation of backups</a:t>
            </a:r>
          </a:p>
          <a:p>
            <a:r>
              <a:rPr lang="en-GB" dirty="0"/>
              <a:t>Should only be performed on parts of the infrastructure where other parts keep serving clients</a:t>
            </a:r>
          </a:p>
          <a:p>
            <a:r>
              <a:rPr lang="en-GB" dirty="0"/>
              <a:t>During planned maintenance the system is more vulnerable to downtime than under normal circumstances</a:t>
            </a:r>
          </a:p>
          <a:p>
            <a:pPr lvl="1"/>
            <a:r>
              <a:rPr lang="en-GB" dirty="0"/>
              <a:t>A temporary SPOF could be introduced</a:t>
            </a:r>
          </a:p>
          <a:p>
            <a:pPr lvl="1"/>
            <a:r>
              <a:rPr lang="en-GB" dirty="0"/>
              <a:t>Systems managers could make mistakes</a:t>
            </a:r>
            <a:endParaRPr lang="nl-N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764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Sources of unavailability - physical defects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Everything breaks down eventually</a:t>
            </a:r>
          </a:p>
          <a:p>
            <a:r>
              <a:rPr lang="en-US" dirty="0"/>
              <a:t>Mechanical parts are most likely to break first</a:t>
            </a:r>
          </a:p>
          <a:p>
            <a:r>
              <a:rPr lang="en-US" dirty="0"/>
              <a:t>Examples:</a:t>
            </a:r>
            <a:endParaRPr lang="nl-NL" dirty="0"/>
          </a:p>
          <a:p>
            <a:pPr lvl="1"/>
            <a:r>
              <a:rPr lang="en-US" b="1" dirty="0"/>
              <a:t>Fans for cooling equipment </a:t>
            </a:r>
            <a:r>
              <a:rPr lang="en-US" dirty="0"/>
              <a:t>usually break because of dust in the bearings</a:t>
            </a:r>
          </a:p>
          <a:p>
            <a:pPr lvl="1"/>
            <a:r>
              <a:rPr lang="en-US" b="1" dirty="0"/>
              <a:t>Disk drives</a:t>
            </a:r>
            <a:r>
              <a:rPr lang="en-US" dirty="0"/>
              <a:t> contain moving parts </a:t>
            </a:r>
            <a:endParaRPr lang="nl-NL" dirty="0"/>
          </a:p>
          <a:p>
            <a:pPr lvl="1"/>
            <a:r>
              <a:rPr lang="en-US" b="1" dirty="0"/>
              <a:t>Tapes</a:t>
            </a:r>
            <a:r>
              <a:rPr lang="en-US" dirty="0"/>
              <a:t> are very vulnerable to defects as the tape is spun on and off the reels all the time</a:t>
            </a:r>
          </a:p>
          <a:p>
            <a:pPr lvl="1"/>
            <a:r>
              <a:rPr lang="en-US" b="1" dirty="0"/>
              <a:t>Tape drives</a:t>
            </a:r>
            <a:r>
              <a:rPr lang="en-US" dirty="0"/>
              <a:t> contain very sensitive pieces of mechanics that can break easily</a:t>
            </a:r>
            <a:endParaRPr lang="nl-NL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nl-N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713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Sources of unavailability - bathtub curve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8288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component failure is most likely when the component is new</a:t>
            </a:r>
          </a:p>
          <a:p>
            <a:r>
              <a:rPr lang="en-GB" dirty="0"/>
              <a:t>When a component still works after the first month, it is likely that it will continue working without failure until the end of its life</a:t>
            </a:r>
            <a:endParaRPr lang="en-US" dirty="0"/>
          </a:p>
        </p:txBody>
      </p:sp>
      <p:pic>
        <p:nvPicPr>
          <p:cNvPr id="8194" name="Picture 2" descr="Bathtub curv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860" y="3505200"/>
            <a:ext cx="607514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6615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Sources of unavailability - environmental issues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Environmental issues can cause downtime:</a:t>
            </a:r>
          </a:p>
          <a:p>
            <a:pPr lvl="1"/>
            <a:r>
              <a:rPr lang="en-GB" dirty="0"/>
              <a:t>Failing facilities</a:t>
            </a:r>
          </a:p>
          <a:p>
            <a:pPr lvl="2"/>
            <a:r>
              <a:rPr lang="en-GB" dirty="0"/>
              <a:t>Power</a:t>
            </a:r>
          </a:p>
          <a:p>
            <a:pPr lvl="2"/>
            <a:r>
              <a:rPr lang="en-GB" dirty="0"/>
              <a:t>Cooling</a:t>
            </a:r>
          </a:p>
          <a:p>
            <a:pPr lvl="1"/>
            <a:r>
              <a:rPr lang="en-GB" dirty="0"/>
              <a:t>Disasters</a:t>
            </a:r>
          </a:p>
          <a:p>
            <a:pPr lvl="2"/>
            <a:r>
              <a:rPr lang="en-GB" dirty="0"/>
              <a:t>Fire</a:t>
            </a:r>
          </a:p>
          <a:p>
            <a:pPr lvl="2"/>
            <a:r>
              <a:rPr lang="en-GB" dirty="0"/>
              <a:t>Earthquakes</a:t>
            </a:r>
          </a:p>
          <a:p>
            <a:pPr lvl="2"/>
            <a:r>
              <a:rPr lang="en-GB" dirty="0"/>
              <a:t>Flooding </a:t>
            </a:r>
          </a:p>
          <a:p>
            <a:endParaRPr lang="nl-N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390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Sources of unavailability - complexity of the infrastructure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Adding more components to an overall system design can undermine high availability</a:t>
            </a:r>
          </a:p>
          <a:p>
            <a:pPr lvl="1"/>
            <a:r>
              <a:rPr lang="en-GB" dirty="0"/>
              <a:t>Even if the extra components are implemented to achieve high availability</a:t>
            </a:r>
          </a:p>
          <a:p>
            <a:r>
              <a:rPr lang="en-GB" dirty="0"/>
              <a:t>Complex systems</a:t>
            </a:r>
          </a:p>
          <a:p>
            <a:pPr lvl="1"/>
            <a:r>
              <a:rPr lang="en-GB" dirty="0"/>
              <a:t>Have more potential points of failure</a:t>
            </a:r>
          </a:p>
          <a:p>
            <a:pPr lvl="1"/>
            <a:r>
              <a:rPr lang="en-GB" dirty="0"/>
              <a:t>Are more difficult to implement correctly</a:t>
            </a:r>
          </a:p>
          <a:p>
            <a:pPr lvl="1"/>
            <a:r>
              <a:rPr lang="en-GB" dirty="0"/>
              <a:t>Are harder to manage</a:t>
            </a:r>
          </a:p>
          <a:p>
            <a:r>
              <a:rPr lang="en-GB" dirty="0"/>
              <a:t>Sometimes it is better to just have an extra spare system in the closet than to use complex redundant systems</a:t>
            </a:r>
          </a:p>
          <a:p>
            <a:endParaRPr lang="nl-N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969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Redundancy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Redundancy is the duplication of critical components in a single system, to avoid a single point of failure (SPOF)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A single component having two power supplies; if one fails, the other takes over</a:t>
            </a:r>
          </a:p>
          <a:p>
            <a:pPr lvl="1"/>
            <a:r>
              <a:rPr lang="en-GB" dirty="0"/>
              <a:t>Dual networking interfaces</a:t>
            </a:r>
          </a:p>
          <a:p>
            <a:pPr lvl="1"/>
            <a:r>
              <a:rPr lang="en-GB" dirty="0"/>
              <a:t>Redundant cabling</a:t>
            </a:r>
            <a:endParaRPr lang="nl-N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636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Failover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Failover is the (semi)automatic switch-over to a standby system or component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Windows Server failover clustering</a:t>
            </a:r>
          </a:p>
          <a:p>
            <a:pPr lvl="1"/>
            <a:r>
              <a:rPr lang="en-US" dirty="0"/>
              <a:t>VMware High Availability</a:t>
            </a:r>
          </a:p>
          <a:p>
            <a:pPr lvl="1"/>
            <a:r>
              <a:rPr lang="en-US" dirty="0"/>
              <a:t>Oracle Real Application Cluster (RAC) database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0195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Fallback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Fallback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m</a:t>
            </a:r>
            <a:r>
              <a:rPr lang="en-US" dirty="0" err="1"/>
              <a:t>anual</a:t>
            </a:r>
            <a:r>
              <a:rPr lang="en-US" dirty="0"/>
              <a:t> switchover to an identical standby computer system in a different location</a:t>
            </a:r>
          </a:p>
          <a:p>
            <a:r>
              <a:rPr lang="en-US" dirty="0"/>
              <a:t>Typically used for disaster recovery</a:t>
            </a:r>
          </a:p>
          <a:p>
            <a:r>
              <a:rPr lang="en-US" dirty="0"/>
              <a:t>Three basic forms of fallback solutions:</a:t>
            </a:r>
            <a:endParaRPr lang="nl-NL" dirty="0"/>
          </a:p>
          <a:p>
            <a:pPr lvl="1"/>
            <a:r>
              <a:rPr lang="en-US" dirty="0"/>
              <a:t>Hot site</a:t>
            </a:r>
            <a:endParaRPr lang="nl-NL" dirty="0"/>
          </a:p>
          <a:p>
            <a:pPr lvl="1"/>
            <a:r>
              <a:rPr lang="en-US" dirty="0"/>
              <a:t>Cold site</a:t>
            </a:r>
            <a:endParaRPr lang="nl-NL" dirty="0"/>
          </a:p>
          <a:p>
            <a:pPr lvl="1"/>
            <a:r>
              <a:rPr lang="en-US" dirty="0"/>
              <a:t>Warm site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84639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Fallback</a:t>
            </a:r>
            <a:r>
              <a:rPr lang="en-GB" dirty="0"/>
              <a:t> – hot  site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hot site is</a:t>
            </a:r>
          </a:p>
          <a:p>
            <a:pPr lvl="1"/>
            <a:r>
              <a:rPr lang="en-GB" dirty="0"/>
              <a:t>A fully configured </a:t>
            </a:r>
            <a:r>
              <a:rPr lang="en-GB" dirty="0" err="1"/>
              <a:t>fallback</a:t>
            </a:r>
            <a:r>
              <a:rPr lang="en-GB" dirty="0"/>
              <a:t> datacentre</a:t>
            </a:r>
          </a:p>
          <a:p>
            <a:pPr lvl="1"/>
            <a:r>
              <a:rPr lang="en-GB" dirty="0"/>
              <a:t>Fully equipped with power and cooling</a:t>
            </a:r>
          </a:p>
          <a:p>
            <a:pPr lvl="1"/>
            <a:r>
              <a:rPr lang="en-GB" dirty="0"/>
              <a:t>Applications are installed on the servers</a:t>
            </a:r>
          </a:p>
          <a:p>
            <a:pPr lvl="1"/>
            <a:r>
              <a:rPr lang="en-GB" dirty="0"/>
              <a:t>Data is kept up-to-date to fully mirror the production system</a:t>
            </a:r>
          </a:p>
          <a:p>
            <a:r>
              <a:rPr lang="en-GB" dirty="0"/>
              <a:t>Requires constant maintenance of the hardware, software, data, and applications to be sure the site accurately mirrors the state of the production site at all times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27540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Fallback</a:t>
            </a:r>
            <a:r>
              <a:rPr lang="en-GB" dirty="0"/>
              <a:t> - </a:t>
            </a:r>
            <a:r>
              <a:rPr lang="en-US" dirty="0"/>
              <a:t>cold site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Is ready for equipment to be brought in during an emergency, but no computer hardware is available at the site</a:t>
            </a:r>
          </a:p>
          <a:p>
            <a:r>
              <a:rPr lang="en-GB" dirty="0"/>
              <a:t>Applications will need to be installed and current data fully restored from backups</a:t>
            </a:r>
          </a:p>
          <a:p>
            <a:r>
              <a:rPr lang="en-GB" dirty="0"/>
              <a:t>If an organization has very little budget for a </a:t>
            </a:r>
            <a:r>
              <a:rPr lang="en-GB" dirty="0" err="1"/>
              <a:t>fallback</a:t>
            </a:r>
            <a:r>
              <a:rPr lang="en-GB" dirty="0"/>
              <a:t> site, a cold site may be better than nothing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6437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Fallback</a:t>
            </a:r>
            <a:r>
              <a:rPr lang="en-GB" dirty="0"/>
              <a:t> - </a:t>
            </a:r>
            <a:r>
              <a:rPr lang="en-US" dirty="0"/>
              <a:t>warm site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computer facility readily available with power, cooling, and computers, but the applications may not be installed or configured</a:t>
            </a:r>
          </a:p>
          <a:p>
            <a:r>
              <a:rPr lang="en-GB" dirty="0"/>
              <a:t>A mix between a hot site and cold site</a:t>
            </a:r>
          </a:p>
          <a:p>
            <a:r>
              <a:rPr lang="en-GB" dirty="0"/>
              <a:t>Applications and data must be restored from backup media and tested</a:t>
            </a:r>
          </a:p>
          <a:p>
            <a:pPr lvl="1"/>
            <a:r>
              <a:rPr lang="en-GB" dirty="0"/>
              <a:t>This typically takes a day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10795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Business Continuity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An IT disaster is defined as an irreparable problem in a datacenter, making the datacenter unusable</a:t>
            </a:r>
            <a:endParaRPr lang="nl-NL" dirty="0"/>
          </a:p>
          <a:p>
            <a:r>
              <a:rPr lang="en-US" dirty="0"/>
              <a:t>Natural disasters: </a:t>
            </a:r>
          </a:p>
          <a:p>
            <a:pPr lvl="1"/>
            <a:r>
              <a:rPr lang="en-US" dirty="0"/>
              <a:t>Floods</a:t>
            </a:r>
          </a:p>
          <a:p>
            <a:pPr lvl="1"/>
            <a:r>
              <a:rPr lang="en-US" dirty="0"/>
              <a:t>Hurricanes</a:t>
            </a:r>
          </a:p>
          <a:p>
            <a:pPr lvl="1"/>
            <a:r>
              <a:rPr lang="en-US" dirty="0"/>
              <a:t>Tornadoes</a:t>
            </a:r>
          </a:p>
          <a:p>
            <a:pPr lvl="1"/>
            <a:r>
              <a:rPr lang="en-US" dirty="0"/>
              <a:t>Earthquakes</a:t>
            </a:r>
          </a:p>
          <a:p>
            <a:r>
              <a:rPr lang="en-US" dirty="0"/>
              <a:t>Manmade disasters: </a:t>
            </a:r>
          </a:p>
          <a:p>
            <a:pPr lvl="1"/>
            <a:r>
              <a:rPr lang="en-US" dirty="0"/>
              <a:t>Hazardous material spills</a:t>
            </a:r>
          </a:p>
          <a:p>
            <a:pPr lvl="1"/>
            <a:r>
              <a:rPr lang="en-US" dirty="0"/>
              <a:t>Infrastructure failure</a:t>
            </a:r>
          </a:p>
          <a:p>
            <a:pPr lvl="1"/>
            <a:r>
              <a:rPr lang="en-US" dirty="0"/>
              <a:t>Bio-terrorism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24776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Business Continuity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case of a disaster, the infrastructure could become unavailable, in some cases for a longer period of time</a:t>
            </a:r>
          </a:p>
          <a:p>
            <a:r>
              <a:rPr lang="en-GB" dirty="0"/>
              <a:t>Business Continuity Management includes:</a:t>
            </a:r>
          </a:p>
          <a:p>
            <a:pPr lvl="1"/>
            <a:r>
              <a:rPr lang="en-GB" dirty="0"/>
              <a:t>IT</a:t>
            </a:r>
          </a:p>
          <a:p>
            <a:pPr lvl="1"/>
            <a:r>
              <a:rPr lang="en-GB" dirty="0"/>
              <a:t>Managing business processes</a:t>
            </a:r>
          </a:p>
          <a:p>
            <a:pPr lvl="1"/>
            <a:r>
              <a:rPr lang="en-GB" dirty="0"/>
              <a:t>Availability of people and work places in disaster situations</a:t>
            </a:r>
          </a:p>
          <a:p>
            <a:r>
              <a:rPr lang="en-GB" dirty="0"/>
              <a:t>Disaster recovery planning (DRP) contains a set of measures to take in case of a disaster, when (parts of) the IT infrastructure must be accommodated in an alternative location</a:t>
            </a:r>
          </a:p>
        </p:txBody>
      </p:sp>
    </p:spTree>
    <p:extLst>
      <p:ext uri="{BB962C8B-B14F-4D97-AF65-F5344CB8AC3E}">
        <p14:creationId xmlns:p14="http://schemas.microsoft.com/office/powerpoint/2010/main" val="16716672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RTO and RPO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95600"/>
          </a:xfrm>
        </p:spPr>
        <p:txBody>
          <a:bodyPr>
            <a:normAutofit fontScale="92500"/>
          </a:bodyPr>
          <a:lstStyle/>
          <a:p>
            <a:r>
              <a:rPr lang="en-US" dirty="0"/>
              <a:t>RTO and RPO are objectives in case of a disaster</a:t>
            </a:r>
          </a:p>
          <a:p>
            <a:r>
              <a:rPr lang="en-US" dirty="0"/>
              <a:t>Recovery Time Objective (RTO)</a:t>
            </a:r>
          </a:p>
          <a:p>
            <a:pPr lvl="1"/>
            <a:r>
              <a:rPr lang="en-GB" dirty="0"/>
              <a:t>The maximum duration of time within which a business process must be restored after a disaster, in order to avoid unacceptable consequences (like bankruptcy)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2483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RTO and RPO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95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Recovery Point Objective (RPO)</a:t>
            </a:r>
          </a:p>
          <a:p>
            <a:pPr lvl="1"/>
            <a:r>
              <a:rPr lang="en-GB" dirty="0"/>
              <a:t>The point in time to which data must be recovered considering some "acceptable loss" in a disaster situation</a:t>
            </a:r>
          </a:p>
          <a:p>
            <a:r>
              <a:rPr lang="en-GB" dirty="0"/>
              <a:t>RTO and  RPO are individual objectives</a:t>
            </a:r>
          </a:p>
          <a:p>
            <a:pPr lvl="1"/>
            <a:r>
              <a:rPr lang="en-GB" dirty="0"/>
              <a:t>They are not related</a:t>
            </a:r>
            <a:endParaRPr lang="nl-NL" dirty="0"/>
          </a:p>
        </p:txBody>
      </p:sp>
      <p:pic>
        <p:nvPicPr>
          <p:cNvPr id="9218" name="Picture 2" descr="RTO and RP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560137"/>
            <a:ext cx="8775943" cy="214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5993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0E804-856A-6531-5AB7-33270808C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What can we do to fix/evolve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8F93F-D783-CB5F-5DCB-423464DEC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Mitigate Human Error</a:t>
            </a:r>
          </a:p>
          <a:p>
            <a:r>
              <a:rPr lang="en-IT" dirty="0"/>
              <a:t>Employ AIOps</a:t>
            </a:r>
          </a:p>
          <a:p>
            <a:pPr lvl="1"/>
            <a:r>
              <a:rPr lang="en-IT" dirty="0"/>
              <a:t>High Observability Infrastructures</a:t>
            </a:r>
          </a:p>
          <a:p>
            <a:pPr lvl="1"/>
            <a:r>
              <a:rPr lang="en-IT" dirty="0"/>
              <a:t>Infrastructure-as-code Smells!</a:t>
            </a:r>
          </a:p>
          <a:p>
            <a:pPr lvl="1"/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6569680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0E804-856A-6531-5AB7-33270808C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What can we do to fix/evolve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8F93F-D783-CB5F-5DCB-423464DEC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Mitigate Human Error</a:t>
            </a:r>
          </a:p>
          <a:p>
            <a:r>
              <a:rPr lang="en-IT" dirty="0"/>
              <a:t>Employ AIOps</a:t>
            </a:r>
          </a:p>
          <a:p>
            <a:pPr lvl="1"/>
            <a:r>
              <a:rPr lang="en-IT" dirty="0"/>
              <a:t>High Observability Infrastructures</a:t>
            </a:r>
          </a:p>
          <a:p>
            <a:pPr lvl="1"/>
            <a:r>
              <a:rPr lang="en-IT" b="1" dirty="0">
                <a:solidFill>
                  <a:srgbClr val="FF0000"/>
                </a:solidFill>
              </a:rPr>
              <a:t>Infrastructure-as-code Smells!</a:t>
            </a:r>
          </a:p>
          <a:p>
            <a:pPr lvl="1"/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5231203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58CD2-1898-A87E-6CF9-443DFAECA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806"/>
            <a:ext cx="8229600" cy="1143000"/>
          </a:xfrm>
        </p:spPr>
        <p:txBody>
          <a:bodyPr/>
          <a:lstStyle/>
          <a:p>
            <a:r>
              <a:rPr lang="en-IT" dirty="0"/>
              <a:t>Design Structure Smells*</a:t>
            </a:r>
          </a:p>
        </p:txBody>
      </p:sp>
      <p:pic>
        <p:nvPicPr>
          <p:cNvPr id="5" name="Content Placeholder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B956918A-5750-F1F1-4F2A-407FE8D6A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438" y="1262399"/>
            <a:ext cx="9248274" cy="439293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790823-1973-CF87-01D7-B1CD5AA7CCCE}"/>
              </a:ext>
            </a:extLst>
          </p:cNvPr>
          <p:cNvSpPr txBox="1"/>
          <p:nvPr/>
        </p:nvSpPr>
        <p:spPr>
          <a:xfrm>
            <a:off x="119921" y="6475751"/>
            <a:ext cx="2668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*mostly for Chef &amp; Puppet</a:t>
            </a:r>
          </a:p>
        </p:txBody>
      </p:sp>
      <p:pic>
        <p:nvPicPr>
          <p:cNvPr id="3074" name="Picture 2" descr="Chef Infra Integration | Chef Server ...">
            <a:extLst>
              <a:ext uri="{FF2B5EF4-FFF2-40B4-BE49-F238E27FC236}">
                <a16:creationId xmlns:a16="http://schemas.microsoft.com/office/drawing/2014/main" id="{3EC3F257-0FA3-646B-2AC0-B4E438F2C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809" y="6292633"/>
            <a:ext cx="1530491" cy="5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frastructure As Code Tool Logos ...">
            <a:extLst>
              <a:ext uri="{FF2B5EF4-FFF2-40B4-BE49-F238E27FC236}">
                <a16:creationId xmlns:a16="http://schemas.microsoft.com/office/drawing/2014/main" id="{5418118B-BB6D-F7E4-CF05-3644747DB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619750"/>
            <a:ext cx="28892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D09BC3-C0FB-77E9-C9E3-6A31C5B08489}"/>
              </a:ext>
            </a:extLst>
          </p:cNvPr>
          <p:cNvSpPr txBox="1"/>
          <p:nvPr/>
        </p:nvSpPr>
        <p:spPr>
          <a:xfrm>
            <a:off x="-10134" y="5744923"/>
            <a:ext cx="463427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/>
              <a:t>* </a:t>
            </a:r>
            <a:r>
              <a:rPr lang="it-IT" sz="1050" dirty="0" err="1"/>
              <a:t>Tushar</a:t>
            </a:r>
            <a:r>
              <a:rPr lang="it-IT" sz="1050" dirty="0"/>
              <a:t> Sharma, </a:t>
            </a:r>
            <a:r>
              <a:rPr lang="it-IT" sz="1050" dirty="0" err="1"/>
              <a:t>Marios</a:t>
            </a:r>
            <a:r>
              <a:rPr lang="it-IT" sz="1050" dirty="0"/>
              <a:t> </a:t>
            </a:r>
            <a:r>
              <a:rPr lang="it-IT" sz="1050" dirty="0" err="1"/>
              <a:t>Fragkoulis</a:t>
            </a:r>
            <a:r>
              <a:rPr lang="it-IT" sz="1050" dirty="0"/>
              <a:t>, and </a:t>
            </a:r>
            <a:r>
              <a:rPr lang="it-IT" sz="1050" dirty="0" err="1"/>
              <a:t>Diomidis</a:t>
            </a:r>
            <a:r>
              <a:rPr lang="it-IT" sz="1050" dirty="0"/>
              <a:t> </a:t>
            </a:r>
            <a:r>
              <a:rPr lang="it-IT" sz="1050" dirty="0" err="1"/>
              <a:t>Spinellis</a:t>
            </a:r>
            <a:r>
              <a:rPr lang="it-IT" sz="1050" dirty="0"/>
              <a:t>. 2016. Does </a:t>
            </a:r>
            <a:r>
              <a:rPr lang="it-IT" sz="1050" dirty="0" err="1"/>
              <a:t>your</a:t>
            </a:r>
            <a:endParaRPr lang="it-IT" sz="1050" dirty="0"/>
          </a:p>
          <a:p>
            <a:r>
              <a:rPr lang="it-IT" sz="1050" dirty="0" err="1"/>
              <a:t>configuration</a:t>
            </a:r>
            <a:r>
              <a:rPr lang="it-IT" sz="1050" dirty="0"/>
              <a:t> code </a:t>
            </a:r>
            <a:r>
              <a:rPr lang="it-IT" sz="1050" dirty="0" err="1"/>
              <a:t>smell</a:t>
            </a:r>
            <a:r>
              <a:rPr lang="it-IT" sz="1050" dirty="0"/>
              <a:t>?. In </a:t>
            </a:r>
            <a:r>
              <a:rPr lang="it-IT" sz="1050" dirty="0" err="1"/>
              <a:t>Proceedings</a:t>
            </a:r>
            <a:r>
              <a:rPr lang="it-IT" sz="1050" dirty="0"/>
              <a:t> of the 13th International Conference on</a:t>
            </a:r>
          </a:p>
          <a:p>
            <a:r>
              <a:rPr lang="it-IT" sz="1050" dirty="0"/>
              <a:t>Mining Software Repositories (MSR '16). ACM, New York, NY, USA, 189-200.</a:t>
            </a:r>
            <a:endParaRPr lang="en-IT" sz="1050" dirty="0"/>
          </a:p>
        </p:txBody>
      </p:sp>
    </p:spTree>
    <p:extLst>
      <p:ext uri="{BB962C8B-B14F-4D97-AF65-F5344CB8AC3E}">
        <p14:creationId xmlns:p14="http://schemas.microsoft.com/office/powerpoint/2010/main" val="37758276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60716-958A-820A-9DFE-8E59ADE1F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…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7610B01-CFA0-B9D0-8831-ED4F111B5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How do we fix it (automatically)?</a:t>
            </a:r>
          </a:p>
        </p:txBody>
      </p:sp>
    </p:spTree>
    <p:extLst>
      <p:ext uri="{BB962C8B-B14F-4D97-AF65-F5344CB8AC3E}">
        <p14:creationId xmlns:p14="http://schemas.microsoft.com/office/powerpoint/2010/main" val="16385569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74F55-61D3-3605-59EF-094975B97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9A944-C408-4F4F-6F57-55F1D7D64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4098" name="Picture 2" descr="unknown Memes &amp; GIFs - Imgflip">
            <a:extLst>
              <a:ext uri="{FF2B5EF4-FFF2-40B4-BE49-F238E27FC236}">
                <a16:creationId xmlns:a16="http://schemas.microsoft.com/office/drawing/2014/main" id="{34A2A02C-7C28-8D39-6C48-0F013B38B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1"/>
            <a:ext cx="9296399" cy="754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79611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0E804-856A-6531-5AB7-33270808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IT" dirty="0"/>
              <a:t>Security Smells*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BB0AA-9A4A-7670-6465-DD8BC5BEA412}"/>
              </a:ext>
            </a:extLst>
          </p:cNvPr>
          <p:cNvSpPr txBox="1"/>
          <p:nvPr/>
        </p:nvSpPr>
        <p:spPr>
          <a:xfrm>
            <a:off x="451820" y="6368527"/>
            <a:ext cx="7549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200" dirty="0"/>
              <a:t>*</a:t>
            </a:r>
            <a:r>
              <a:rPr lang="en-GB" sz="1200" dirty="0"/>
              <a:t>Rahman, </a:t>
            </a:r>
            <a:r>
              <a:rPr lang="en-GB" sz="1200" dirty="0" err="1"/>
              <a:t>Akond</a:t>
            </a:r>
            <a:r>
              <a:rPr lang="en-GB" sz="1200" dirty="0"/>
              <a:t>, Chris </a:t>
            </a:r>
            <a:r>
              <a:rPr lang="en-GB" sz="1200" dirty="0" err="1"/>
              <a:t>Parnin</a:t>
            </a:r>
            <a:r>
              <a:rPr lang="en-GB" sz="1200" dirty="0"/>
              <a:t>, and Laurie Williams. "The seven sins: security smells in infrastructure as code scripts." Proceedings of the 41st International Conference on Software Engineering. IEEE Press, 2019.</a:t>
            </a:r>
            <a:endParaRPr lang="en-IT" sz="1200" dirty="0"/>
          </a:p>
        </p:txBody>
      </p:sp>
    </p:spTree>
    <p:extLst>
      <p:ext uri="{BB962C8B-B14F-4D97-AF65-F5344CB8AC3E}">
        <p14:creationId xmlns:p14="http://schemas.microsoft.com/office/powerpoint/2010/main" val="8720517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D33A-2CA9-4891-D197-A57DCA084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5" name="Content Placeholder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922DAB83-03FC-3273-8AFD-AC581BDF6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3931"/>
            <a:ext cx="6781800" cy="6810138"/>
          </a:xfrm>
        </p:spPr>
      </p:pic>
    </p:spTree>
    <p:extLst>
      <p:ext uri="{BB962C8B-B14F-4D97-AF65-F5344CB8AC3E}">
        <p14:creationId xmlns:p14="http://schemas.microsoft.com/office/powerpoint/2010/main" val="10800568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FEDAA-42A7-C566-9596-BF9C314FE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How do we fix it (automatically)?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81065CEA-ABD3-20DB-7898-20C5D8FA3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4" y="1600200"/>
            <a:ext cx="9128066" cy="4495800"/>
          </a:xfrm>
        </p:spPr>
      </p:pic>
    </p:spTree>
    <p:extLst>
      <p:ext uri="{BB962C8B-B14F-4D97-AF65-F5344CB8AC3E}">
        <p14:creationId xmlns:p14="http://schemas.microsoft.com/office/powerpoint/2010/main" val="11354836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0572-D39B-E78D-5259-C57885250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71800"/>
            <a:ext cx="8229600" cy="1143000"/>
          </a:xfrm>
        </p:spPr>
        <p:txBody>
          <a:bodyPr/>
          <a:lstStyle/>
          <a:p>
            <a:r>
              <a:rPr lang="en-IT" dirty="0"/>
              <a:t>Other Technical Smells*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CF510A-CAAA-AB50-ACD0-15BCEABB584E}"/>
              </a:ext>
            </a:extLst>
          </p:cNvPr>
          <p:cNvSpPr txBox="1"/>
          <p:nvPr/>
        </p:nvSpPr>
        <p:spPr>
          <a:xfrm>
            <a:off x="146125" y="6334780"/>
            <a:ext cx="7092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200" dirty="0"/>
              <a:t>*</a:t>
            </a:r>
            <a:r>
              <a:rPr lang="en-GB" sz="1200" dirty="0"/>
              <a:t> Schwarz, Julian, Andreas Steffens, and Horst </a:t>
            </a:r>
            <a:r>
              <a:rPr lang="en-GB" sz="1200" dirty="0" err="1"/>
              <a:t>Lichter</a:t>
            </a:r>
            <a:r>
              <a:rPr lang="en-GB" sz="1200" dirty="0"/>
              <a:t>. "Code Smells in Infrastructure as Code." 2018 11th International Conference on the Quality of Information and Communications Technology (QUATIC). IEEE, 2018.</a:t>
            </a:r>
            <a:endParaRPr lang="en-IT" sz="1200" dirty="0"/>
          </a:p>
        </p:txBody>
      </p:sp>
    </p:spTree>
    <p:extLst>
      <p:ext uri="{BB962C8B-B14F-4D97-AF65-F5344CB8AC3E}">
        <p14:creationId xmlns:p14="http://schemas.microsoft.com/office/powerpoint/2010/main" val="36794514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684B9-62CB-94E5-2C68-DC8276A89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5" name="Content Placeholder 4" descr="A close-up of a list of words&#10;&#10;Description automatically generated">
            <a:extLst>
              <a:ext uri="{FF2B5EF4-FFF2-40B4-BE49-F238E27FC236}">
                <a16:creationId xmlns:a16="http://schemas.microsoft.com/office/drawing/2014/main" id="{F1CF7A03-7E1E-8D6E-381E-AA562A8395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2362200"/>
            <a:ext cx="10268595" cy="1752600"/>
          </a:xfrm>
        </p:spPr>
      </p:pic>
    </p:spTree>
    <p:extLst>
      <p:ext uri="{BB962C8B-B14F-4D97-AF65-F5344CB8AC3E}">
        <p14:creationId xmlns:p14="http://schemas.microsoft.com/office/powerpoint/2010/main" val="20579237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A6B8-755F-05FE-2B43-3FEA0C3B0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5" name="Content Placeholder 4" descr="A table of text with text&#10;&#10;Description automatically generated with medium confidence">
            <a:extLst>
              <a:ext uri="{FF2B5EF4-FFF2-40B4-BE49-F238E27FC236}">
                <a16:creationId xmlns:a16="http://schemas.microsoft.com/office/drawing/2014/main" id="{128EE936-4FF7-4E8B-2F32-C449B3A2B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-28287"/>
            <a:ext cx="7620000" cy="6886288"/>
          </a:xfrm>
        </p:spPr>
      </p:pic>
    </p:spTree>
    <p:extLst>
      <p:ext uri="{BB962C8B-B14F-4D97-AF65-F5344CB8AC3E}">
        <p14:creationId xmlns:p14="http://schemas.microsoft.com/office/powerpoint/2010/main" val="20926552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6E384-30C8-48EE-8F75-A66118A5A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E385873-85CC-2C5A-9355-C570318A5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0" y="419100"/>
            <a:ext cx="9069081" cy="6019800"/>
          </a:xfrm>
        </p:spPr>
      </p:pic>
    </p:spTree>
    <p:extLst>
      <p:ext uri="{BB962C8B-B14F-4D97-AF65-F5344CB8AC3E}">
        <p14:creationId xmlns:p14="http://schemas.microsoft.com/office/powerpoint/2010/main" val="17913150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0D725-A8A3-F0C9-955F-753A2CBDB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5101"/>
            <a:ext cx="88392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Co-occurrence between implementation</a:t>
            </a:r>
            <a:br>
              <a:rPr lang="en-GB" dirty="0"/>
            </a:br>
            <a:r>
              <a:rPr lang="en-GB" dirty="0"/>
              <a:t>and design configuration smells</a:t>
            </a:r>
            <a:endParaRPr lang="en-IT" dirty="0"/>
          </a:p>
        </p:txBody>
      </p:sp>
      <p:pic>
        <p:nvPicPr>
          <p:cNvPr id="5" name="Content Placeholder 4" descr="A diagram of blue dots&#10;&#10;Description automatically generated">
            <a:extLst>
              <a:ext uri="{FF2B5EF4-FFF2-40B4-BE49-F238E27FC236}">
                <a16:creationId xmlns:a16="http://schemas.microsoft.com/office/drawing/2014/main" id="{88F6F441-CBC7-1DD7-2148-6BFA38DE57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61452"/>
            <a:ext cx="7391400" cy="5604675"/>
          </a:xfrm>
        </p:spPr>
      </p:pic>
    </p:spTree>
    <p:extLst>
      <p:ext uri="{BB962C8B-B14F-4D97-AF65-F5344CB8AC3E}">
        <p14:creationId xmlns:p14="http://schemas.microsoft.com/office/powerpoint/2010/main" val="39711764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FDF0-2D80-2F86-C06D-64B86DA86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Average co-occurrence (intra-category)</a:t>
            </a:r>
            <a:br>
              <a:rPr lang="en-GB" dirty="0"/>
            </a:br>
            <a:r>
              <a:rPr lang="en-GB" dirty="0"/>
              <a:t>for implementation and design configuration smells</a:t>
            </a:r>
            <a:endParaRPr lang="en-IT" dirty="0"/>
          </a:p>
        </p:txBody>
      </p:sp>
      <p:pic>
        <p:nvPicPr>
          <p:cNvPr id="5" name="Content Placeholder 4" descr="A graph of different sizes and colors&#10;&#10;Description automatically generated">
            <a:extLst>
              <a:ext uri="{FF2B5EF4-FFF2-40B4-BE49-F238E27FC236}">
                <a16:creationId xmlns:a16="http://schemas.microsoft.com/office/drawing/2014/main" id="{6600F861-6EC3-A021-89A9-F1A742AFC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60681"/>
            <a:ext cx="8001000" cy="5717938"/>
          </a:xfrm>
        </p:spPr>
      </p:pic>
    </p:spTree>
    <p:extLst>
      <p:ext uri="{BB962C8B-B14F-4D97-AF65-F5344CB8AC3E}">
        <p14:creationId xmlns:p14="http://schemas.microsoft.com/office/powerpoint/2010/main" val="20819599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E37A1-30F5-D562-E32A-D0F60C96A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10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Smell density for design configuration</a:t>
            </a:r>
            <a:br>
              <a:rPr lang="en-GB" dirty="0"/>
            </a:br>
            <a:r>
              <a:rPr lang="en-GB" dirty="0"/>
              <a:t>smells against lines of code</a:t>
            </a:r>
            <a:endParaRPr lang="en-IT" dirty="0"/>
          </a:p>
        </p:txBody>
      </p:sp>
      <p:pic>
        <p:nvPicPr>
          <p:cNvPr id="5" name="Content Placeholder 4" descr="A graph of blue dots&#10;&#10;Description automatically generated">
            <a:extLst>
              <a:ext uri="{FF2B5EF4-FFF2-40B4-BE49-F238E27FC236}">
                <a16:creationId xmlns:a16="http://schemas.microsoft.com/office/drawing/2014/main" id="{4E62B80F-753A-43B9-33F9-23C7C5D6B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80972"/>
            <a:ext cx="7086600" cy="5577028"/>
          </a:xfrm>
        </p:spPr>
      </p:pic>
    </p:spTree>
    <p:extLst>
      <p:ext uri="{BB962C8B-B14F-4D97-AF65-F5344CB8AC3E}">
        <p14:creationId xmlns:p14="http://schemas.microsoft.com/office/powerpoint/2010/main" val="4841899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01237-3692-D713-F5C7-5416C87C9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en-GB" sz="2800" dirty="0"/>
              <a:t>Using machine-learning to detect linguistic inconsistencies between code and natural language descriptions in infrastructure-as-code</a:t>
            </a:r>
            <a:endParaRPr lang="en-IT" sz="2800" dirty="0"/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7031842-DE5A-AF5F-1752-EF36F59F0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50" y="2002631"/>
            <a:ext cx="6692900" cy="3721100"/>
          </a:xfrm>
        </p:spPr>
      </p:pic>
    </p:spTree>
    <p:extLst>
      <p:ext uri="{BB962C8B-B14F-4D97-AF65-F5344CB8AC3E}">
        <p14:creationId xmlns:p14="http://schemas.microsoft.com/office/powerpoint/2010/main" val="9593322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EAA71-0CE7-D257-617F-F13170E54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Examples of inconsistent task names and bodies in </a:t>
            </a:r>
            <a:r>
              <a:rPr lang="en-GB" dirty="0" err="1"/>
              <a:t>IaC</a:t>
            </a:r>
            <a:endParaRPr lang="en-IT" dirty="0"/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4B9F3D6-689D-A657-3DB7-0CD033DA9B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55" y="1600200"/>
            <a:ext cx="7753689" cy="4525963"/>
          </a:xfrm>
        </p:spPr>
      </p:pic>
    </p:spTree>
    <p:extLst>
      <p:ext uri="{BB962C8B-B14F-4D97-AF65-F5344CB8AC3E}">
        <p14:creationId xmlns:p14="http://schemas.microsoft.com/office/powerpoint/2010/main" val="28671861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70D7D-FDC4-CB80-FF5F-281C8BC9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the </a:t>
            </a:r>
            <a:r>
              <a:rPr lang="en-GB" dirty="0" err="1"/>
              <a:t>FindICI</a:t>
            </a:r>
            <a:r>
              <a:rPr lang="en-GB" dirty="0"/>
              <a:t> approach*</a:t>
            </a:r>
            <a:endParaRPr lang="en-IT" dirty="0"/>
          </a:p>
        </p:txBody>
      </p:sp>
      <p:pic>
        <p:nvPicPr>
          <p:cNvPr id="5" name="Content Placeholder 4" descr="A diagram of a model&#10;&#10;Description automatically generated">
            <a:extLst>
              <a:ext uri="{FF2B5EF4-FFF2-40B4-BE49-F238E27FC236}">
                <a16:creationId xmlns:a16="http://schemas.microsoft.com/office/drawing/2014/main" id="{44061DC6-5D90-D070-9447-ED8ADC0F9C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853" y="2362200"/>
            <a:ext cx="9245342" cy="28956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B77DDF-57E9-D3EE-D3E0-B240D0BAF9E8}"/>
              </a:ext>
            </a:extLst>
          </p:cNvPr>
          <p:cNvSpPr txBox="1"/>
          <p:nvPr/>
        </p:nvSpPr>
        <p:spPr>
          <a:xfrm>
            <a:off x="76200" y="6211669"/>
            <a:ext cx="8282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* </a:t>
            </a:r>
            <a:r>
              <a:rPr lang="en-GB" sz="1200" dirty="0" err="1"/>
              <a:t>Borovits</a:t>
            </a:r>
            <a:r>
              <a:rPr lang="en-GB" sz="1200" dirty="0"/>
              <a:t>, N., Kumara, I., Di Nucci, D. </a:t>
            </a:r>
            <a:r>
              <a:rPr lang="en-GB" sz="1200" i="1" dirty="0"/>
              <a:t>et al.</a:t>
            </a:r>
            <a:r>
              <a:rPr lang="en-GB" sz="1200" dirty="0"/>
              <a:t> </a:t>
            </a:r>
            <a:r>
              <a:rPr lang="en-GB" sz="1200" dirty="0" err="1"/>
              <a:t>FindICI</a:t>
            </a:r>
            <a:r>
              <a:rPr lang="en-GB" sz="1200" dirty="0"/>
              <a:t>: Using machine learning to detect linguistic inconsistencies between code and natural language descriptions in infrastructure-as-code. </a:t>
            </a:r>
            <a:r>
              <a:rPr lang="en-GB" sz="1200" i="1" dirty="0" err="1"/>
              <a:t>Empir</a:t>
            </a:r>
            <a:r>
              <a:rPr lang="en-GB" sz="1200" i="1" dirty="0"/>
              <a:t> Software Eng</a:t>
            </a:r>
            <a:r>
              <a:rPr lang="en-GB" sz="1200" dirty="0"/>
              <a:t> </a:t>
            </a:r>
            <a:r>
              <a:rPr lang="en-GB" sz="1200" b="1" dirty="0"/>
              <a:t>27</a:t>
            </a:r>
            <a:r>
              <a:rPr lang="en-GB" sz="1200" dirty="0"/>
              <a:t>, 178 (2022). https://</a:t>
            </a:r>
            <a:r>
              <a:rPr lang="en-GB" sz="1200" dirty="0" err="1"/>
              <a:t>doi.org</a:t>
            </a:r>
            <a:r>
              <a:rPr lang="en-GB" sz="1200" dirty="0"/>
              <a:t>/10.1007/s10664-022-10215-5</a:t>
            </a:r>
            <a:endParaRPr lang="en-IT" sz="1200" dirty="0"/>
          </a:p>
        </p:txBody>
      </p:sp>
    </p:spTree>
    <p:extLst>
      <p:ext uri="{BB962C8B-B14F-4D97-AF65-F5344CB8AC3E}">
        <p14:creationId xmlns:p14="http://schemas.microsoft.com/office/powerpoint/2010/main" val="36183336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DC38A-28BB-B78A-CB21-B2D2F750D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AST model for a task using template module</a:t>
            </a:r>
            <a:endParaRPr lang="en-IT" dirty="0"/>
          </a:p>
        </p:txBody>
      </p:sp>
      <p:pic>
        <p:nvPicPr>
          <p:cNvPr id="5" name="Content Placeholder 4" descr="A diagram of a function&#10;&#10;Description automatically generated">
            <a:extLst>
              <a:ext uri="{FF2B5EF4-FFF2-40B4-BE49-F238E27FC236}">
                <a16:creationId xmlns:a16="http://schemas.microsoft.com/office/drawing/2014/main" id="{816B3D20-EB6B-0AE1-A35B-E39AABFDCF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650336"/>
            <a:ext cx="9058451" cy="2759864"/>
          </a:xfrm>
        </p:spPr>
      </p:pic>
    </p:spTree>
    <p:extLst>
      <p:ext uri="{BB962C8B-B14F-4D97-AF65-F5344CB8AC3E}">
        <p14:creationId xmlns:p14="http://schemas.microsoft.com/office/powerpoint/2010/main" val="24779785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317EA-0A96-A85A-BBA5-73AFF0C0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DeepIaC* Approach</a:t>
            </a:r>
          </a:p>
        </p:txBody>
      </p:sp>
      <p:pic>
        <p:nvPicPr>
          <p:cNvPr id="5" name="Content Placeholder 4" descr="A diagram of a model&#10;&#10;Description automatically generated">
            <a:extLst>
              <a:ext uri="{FF2B5EF4-FFF2-40B4-BE49-F238E27FC236}">
                <a16:creationId xmlns:a16="http://schemas.microsoft.com/office/drawing/2014/main" id="{F7A0298B-CDDE-4872-631E-1BF524EE9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25" y="2590800"/>
            <a:ext cx="8952760" cy="25146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42287C-6781-37E6-CA65-91F90D8F5C76}"/>
              </a:ext>
            </a:extLst>
          </p:cNvPr>
          <p:cNvSpPr txBox="1"/>
          <p:nvPr/>
        </p:nvSpPr>
        <p:spPr>
          <a:xfrm>
            <a:off x="0" y="6011054"/>
            <a:ext cx="8952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200" dirty="0"/>
              <a:t>* </a:t>
            </a:r>
            <a:r>
              <a:rPr lang="en-GB" sz="1200" dirty="0" err="1"/>
              <a:t>Nemania</a:t>
            </a:r>
            <a:r>
              <a:rPr lang="en-GB" sz="1200" dirty="0"/>
              <a:t> </a:t>
            </a:r>
            <a:r>
              <a:rPr lang="en-GB" sz="1200" dirty="0" err="1"/>
              <a:t>Borovits</a:t>
            </a:r>
            <a:r>
              <a:rPr lang="en-GB" sz="1200" dirty="0"/>
              <a:t>, </a:t>
            </a:r>
            <a:r>
              <a:rPr lang="en-GB" sz="1200" dirty="0" err="1"/>
              <a:t>Indika</a:t>
            </a:r>
            <a:r>
              <a:rPr lang="en-GB" sz="1200" dirty="0"/>
              <a:t> Kumara, Parvathy Krishnan, Stefano Dalla Palma, Dario Di Nucci, Fabio </a:t>
            </a:r>
            <a:r>
              <a:rPr lang="en-GB" sz="1200" dirty="0" err="1"/>
              <a:t>Palomba</a:t>
            </a:r>
            <a:r>
              <a:rPr lang="en-GB" sz="1200" dirty="0"/>
              <a:t>, Damian A. </a:t>
            </a:r>
            <a:r>
              <a:rPr lang="en-GB" sz="1200" dirty="0" err="1"/>
              <a:t>Tamburri</a:t>
            </a:r>
            <a:r>
              <a:rPr lang="en-GB" sz="1200" dirty="0"/>
              <a:t>, and Willem-Jan van den Heuvel. 2020. </a:t>
            </a:r>
            <a:r>
              <a:rPr lang="en-GB" sz="1200" dirty="0" err="1"/>
              <a:t>DeepIaC</a:t>
            </a:r>
            <a:r>
              <a:rPr lang="en-GB" sz="1200" dirty="0"/>
              <a:t>: deep learning-based linguistic anti-pattern detection in </a:t>
            </a:r>
            <a:r>
              <a:rPr lang="en-GB" sz="1200" dirty="0" err="1"/>
              <a:t>IaC</a:t>
            </a:r>
            <a:r>
              <a:rPr lang="en-GB" sz="1200" dirty="0"/>
              <a:t>. In Proceedings of the 4th ACM SIGSOFT International Workshop on Machine-Learning Techniques for Software-Quality Evaluation (</a:t>
            </a:r>
            <a:r>
              <a:rPr lang="en-GB" sz="1200" dirty="0" err="1"/>
              <a:t>MaLTeSQuE</a:t>
            </a:r>
            <a:r>
              <a:rPr lang="en-GB" sz="1200" dirty="0"/>
              <a:t> 2020). Association for Computing Machinery, New York, NY, USA, 7–12. https://</a:t>
            </a:r>
            <a:r>
              <a:rPr lang="en-GB" sz="1200" dirty="0" err="1"/>
              <a:t>doi.org</a:t>
            </a:r>
            <a:r>
              <a:rPr lang="en-GB" sz="1200" dirty="0"/>
              <a:t>/10.1145/3416505.3423564</a:t>
            </a:r>
          </a:p>
        </p:txBody>
      </p:sp>
    </p:spTree>
    <p:extLst>
      <p:ext uri="{BB962C8B-B14F-4D97-AF65-F5344CB8AC3E}">
        <p14:creationId xmlns:p14="http://schemas.microsoft.com/office/powerpoint/2010/main" val="36664260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F1E2-85FE-F9B7-4A85-7DF34D02B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</a:t>
            </a:r>
            <a:r>
              <a:rPr lang="en-IT" dirty="0"/>
              <a:t> CNN-based way</a:t>
            </a:r>
          </a:p>
        </p:txBody>
      </p:sp>
      <p:pic>
        <p:nvPicPr>
          <p:cNvPr id="5" name="Content Placeholder 4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1E8EA4DA-F75B-F51A-5EB1-CA8889E62C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6" y="1752600"/>
            <a:ext cx="9180760" cy="4114800"/>
          </a:xfrm>
        </p:spPr>
      </p:pic>
    </p:spTree>
    <p:extLst>
      <p:ext uri="{BB962C8B-B14F-4D97-AF65-F5344CB8AC3E}">
        <p14:creationId xmlns:p14="http://schemas.microsoft.com/office/powerpoint/2010/main" val="15236314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71742-551A-C527-1BC1-86D3DEBC2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3B11B-FE40-560A-6EF7-D8D62AFF2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2050" name="Picture 2" descr="Ralph Waldo Emerson Quote: “Many eyes go through the meadow, but few see  the flowers in">
            <a:extLst>
              <a:ext uri="{FF2B5EF4-FFF2-40B4-BE49-F238E27FC236}">
                <a16:creationId xmlns:a16="http://schemas.microsoft.com/office/drawing/2014/main" id="{E28ECB14-E5E5-C2B0-FAA5-882F7A6D1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0" y="-190500"/>
            <a:ext cx="12869333" cy="723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00253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EF76-09AC-BCC4-20BD-55ECA463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Many-eyes Phenomena in SM&amp;E?</a:t>
            </a:r>
          </a:p>
        </p:txBody>
      </p:sp>
      <p:pic>
        <p:nvPicPr>
          <p:cNvPr id="5" name="Content Placeholder 4" descr="A screenshot of a search engine&#10;&#10;Description automatically generated">
            <a:extLst>
              <a:ext uri="{FF2B5EF4-FFF2-40B4-BE49-F238E27FC236}">
                <a16:creationId xmlns:a16="http://schemas.microsoft.com/office/drawing/2014/main" id="{04E62ED5-5774-A6C9-7D0B-C4C109C989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884" y="1517972"/>
            <a:ext cx="7162800" cy="2215484"/>
          </a:xfrm>
        </p:spPr>
      </p:pic>
      <p:pic>
        <p:nvPicPr>
          <p:cNvPr id="1026" name="Picture 2" descr="Eye color - Wikipedia">
            <a:extLst>
              <a:ext uri="{FF2B5EF4-FFF2-40B4-BE49-F238E27FC236}">
                <a16:creationId xmlns:a16="http://schemas.microsoft.com/office/drawing/2014/main" id="{798518E0-26EE-7DD9-891B-6CAF7266F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3790"/>
            <a:ext cx="4099314" cy="264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ntoptic phenomena | PPT | Free Download">
            <a:extLst>
              <a:ext uri="{FF2B5EF4-FFF2-40B4-BE49-F238E27FC236}">
                <a16:creationId xmlns:a16="http://schemas.microsoft.com/office/drawing/2014/main" id="{830676CB-7B31-320B-8B0A-BF8525BC5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91" y="3782055"/>
            <a:ext cx="4064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7063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0ABF8-E7C2-6E98-AB22-FB876884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Wrapping it all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3C722-6FA9-4095-8E0B-B4FEE6727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983162"/>
          </a:xfrm>
        </p:spPr>
        <p:txBody>
          <a:bodyPr>
            <a:normAutofit/>
          </a:bodyPr>
          <a:lstStyle/>
          <a:p>
            <a:r>
              <a:rPr lang="en-IT" dirty="0"/>
              <a:t>From a maintenance perspective, infrastructure code is still code</a:t>
            </a:r>
          </a:p>
          <a:p>
            <a:pPr lvl="1"/>
            <a:r>
              <a:rPr lang="en-GB" dirty="0"/>
              <a:t>S</a:t>
            </a:r>
            <a:r>
              <a:rPr lang="en-IT" dirty="0"/>
              <a:t>ubject to smells, bugs and more!</a:t>
            </a:r>
          </a:p>
          <a:p>
            <a:pPr lvl="1"/>
            <a:r>
              <a:rPr lang="en-GB" dirty="0"/>
              <a:t>M</a:t>
            </a:r>
            <a:r>
              <a:rPr lang="en-IT" dirty="0"/>
              <a:t>ost of it is still unknown</a:t>
            </a:r>
          </a:p>
          <a:p>
            <a:r>
              <a:rPr lang="en-IT" dirty="0"/>
              <a:t>Code smells &amp; their detection/avoidance is a reasonable start!</a:t>
            </a:r>
          </a:p>
          <a:p>
            <a:r>
              <a:rPr lang="en-IT" dirty="0"/>
              <a:t>Co-evolution of smells counts offer incredible motivational basis to further our work into the matter!</a:t>
            </a:r>
          </a:p>
        </p:txBody>
      </p:sp>
    </p:spTree>
    <p:extLst>
      <p:ext uri="{BB962C8B-B14F-4D97-AF65-F5344CB8AC3E}">
        <p14:creationId xmlns:p14="http://schemas.microsoft.com/office/powerpoint/2010/main" val="8035038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091C-101D-89FB-DAA0-CDDD9FC37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Questions?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DD4B7-0132-9DE6-C0C0-E44626F8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pic>
        <p:nvPicPr>
          <p:cNvPr id="5" name="Picture 2" descr="Why does Yoda Speak Funny?. Here is a marvelous question with an… | by &amp; |  Medium">
            <a:extLst>
              <a:ext uri="{FF2B5EF4-FFF2-40B4-BE49-F238E27FC236}">
                <a16:creationId xmlns:a16="http://schemas.microsoft.com/office/drawing/2014/main" id="{90E3DB11-EA1D-19A1-F44F-A6269845F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512" y="2072590"/>
            <a:ext cx="4822976" cy="3290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676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11372</TotalTime>
  <Words>1796</Words>
  <Application>Microsoft Macintosh PowerPoint</Application>
  <PresentationFormat>On-screen Show (4:3)</PresentationFormat>
  <Paragraphs>238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Aptos</vt:lpstr>
      <vt:lpstr>Arial</vt:lpstr>
      <vt:lpstr>Calibri</vt:lpstr>
      <vt:lpstr>Cambria Math</vt:lpstr>
      <vt:lpstr>Office Theme</vt:lpstr>
      <vt:lpstr>Major Causes of Maintenance Problems: Infrastructure code smells</vt:lpstr>
      <vt:lpstr>Introduction</vt:lpstr>
      <vt:lpstr>Calculating availability</vt:lpstr>
      <vt:lpstr>Calculating availability</vt:lpstr>
      <vt:lpstr>Calculating availability</vt:lpstr>
      <vt:lpstr>Calculating availability</vt:lpstr>
      <vt:lpstr>MTBF and MTTR</vt:lpstr>
      <vt:lpstr>MTBF and MTTR</vt:lpstr>
      <vt:lpstr>MTTR</vt:lpstr>
      <vt:lpstr>MTTR</vt:lpstr>
      <vt:lpstr>Calculation examples</vt:lpstr>
      <vt:lpstr>Calculation examples</vt:lpstr>
      <vt:lpstr>Calculation examples</vt:lpstr>
      <vt:lpstr>Sources of unavailability - human errors</vt:lpstr>
      <vt:lpstr>Sources of unavailability - software bugs</vt:lpstr>
      <vt:lpstr>Sources of unavailability - planned maintenance</vt:lpstr>
      <vt:lpstr>Sources of unavailability - physical defects</vt:lpstr>
      <vt:lpstr>Sources of unavailability - bathtub curve</vt:lpstr>
      <vt:lpstr>Sources of unavailability - environmental issues</vt:lpstr>
      <vt:lpstr>Sources of unavailability - complexity of the infrastructure</vt:lpstr>
      <vt:lpstr>Redundancy</vt:lpstr>
      <vt:lpstr>Failover</vt:lpstr>
      <vt:lpstr>Fallback</vt:lpstr>
      <vt:lpstr>Fallback – hot  site</vt:lpstr>
      <vt:lpstr>Fallback - cold site</vt:lpstr>
      <vt:lpstr>Fallback - warm site</vt:lpstr>
      <vt:lpstr>Business Continuity</vt:lpstr>
      <vt:lpstr>Business Continuity</vt:lpstr>
      <vt:lpstr>RTO and RPO</vt:lpstr>
      <vt:lpstr>RTO and RPO</vt:lpstr>
      <vt:lpstr>What can we do to fix/evolve it?</vt:lpstr>
      <vt:lpstr>What can we do to fix/evolve it?</vt:lpstr>
      <vt:lpstr>Design Structure Smells*</vt:lpstr>
      <vt:lpstr>How do we fix it (automatically)?</vt:lpstr>
      <vt:lpstr>PowerPoint Presentation</vt:lpstr>
      <vt:lpstr>Security Smells*</vt:lpstr>
      <vt:lpstr>PowerPoint Presentation</vt:lpstr>
      <vt:lpstr>How do we fix it (automatically)?</vt:lpstr>
      <vt:lpstr>Other Technical Smells*</vt:lpstr>
      <vt:lpstr>PowerPoint Presentation</vt:lpstr>
      <vt:lpstr>PowerPoint Presentation</vt:lpstr>
      <vt:lpstr>PowerPoint Presentation</vt:lpstr>
      <vt:lpstr>Co-occurrence between implementation and design configuration smells</vt:lpstr>
      <vt:lpstr>Average co-occurrence (intra-category) for implementation and design configuration smells</vt:lpstr>
      <vt:lpstr>Smell density for design configuration smells against lines of code</vt:lpstr>
      <vt:lpstr>Using machine-learning to detect linguistic inconsistencies between code and natural language descriptions in infrastructure-as-code</vt:lpstr>
      <vt:lpstr>Examples of inconsistent task names and bodies in IaC</vt:lpstr>
      <vt:lpstr> the FindICI approach*</vt:lpstr>
      <vt:lpstr>AST model for a task using template module</vt:lpstr>
      <vt:lpstr>The DeepIaC* Approach</vt:lpstr>
      <vt:lpstr>A CNN-based way</vt:lpstr>
      <vt:lpstr>PowerPoint Presentation</vt:lpstr>
      <vt:lpstr>Many-eyes Phenomena in SM&amp;E?</vt:lpstr>
      <vt:lpstr>Wrapping it all up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Infrastructure Architecture</dc:title>
  <dc:creator>Laan, Sjaak</dc:creator>
  <cp:lastModifiedBy>Damian Andrew Tamburri</cp:lastModifiedBy>
  <cp:revision>62</cp:revision>
  <dcterms:created xsi:type="dcterms:W3CDTF">2006-08-16T00:00:00Z</dcterms:created>
  <dcterms:modified xsi:type="dcterms:W3CDTF">2025-11-06T11:42:27Z</dcterms:modified>
</cp:coreProperties>
</file>