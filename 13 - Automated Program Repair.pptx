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76" r:id="rId3"/>
    <p:sldId id="281" r:id="rId4"/>
    <p:sldId id="257" r:id="rId5"/>
    <p:sldId id="258" r:id="rId6"/>
    <p:sldId id="275" r:id="rId7"/>
    <p:sldId id="324" r:id="rId8"/>
    <p:sldId id="291" r:id="rId9"/>
    <p:sldId id="292" r:id="rId10"/>
    <p:sldId id="294" r:id="rId11"/>
    <p:sldId id="295" r:id="rId12"/>
    <p:sldId id="293" r:id="rId13"/>
    <p:sldId id="277" r:id="rId14"/>
    <p:sldId id="278" r:id="rId15"/>
    <p:sldId id="279" r:id="rId16"/>
    <p:sldId id="282" r:id="rId17"/>
    <p:sldId id="283" r:id="rId18"/>
    <p:sldId id="284" r:id="rId19"/>
    <p:sldId id="285" r:id="rId20"/>
    <p:sldId id="286" r:id="rId21"/>
    <p:sldId id="287" r:id="rId22"/>
    <p:sldId id="288" r:id="rId23"/>
    <p:sldId id="289" r:id="rId24"/>
    <p:sldId id="290" r:id="rId25"/>
    <p:sldId id="280" r:id="rId26"/>
    <p:sldId id="315" r:id="rId27"/>
    <p:sldId id="322" r:id="rId28"/>
    <p:sldId id="316" r:id="rId29"/>
    <p:sldId id="259" r:id="rId30"/>
    <p:sldId id="317" r:id="rId31"/>
    <p:sldId id="318" r:id="rId32"/>
    <p:sldId id="321" r:id="rId33"/>
    <p:sldId id="301" r:id="rId34"/>
    <p:sldId id="267" r:id="rId35"/>
    <p:sldId id="302" r:id="rId36"/>
    <p:sldId id="269" r:id="rId37"/>
    <p:sldId id="305" r:id="rId38"/>
    <p:sldId id="270" r:id="rId39"/>
    <p:sldId id="306" r:id="rId40"/>
    <p:sldId id="271" r:id="rId41"/>
    <p:sldId id="272" r:id="rId42"/>
    <p:sldId id="273" r:id="rId43"/>
    <p:sldId id="307" r:id="rId44"/>
    <p:sldId id="308" r:id="rId45"/>
    <p:sldId id="309" r:id="rId46"/>
    <p:sldId id="310" r:id="rId47"/>
    <p:sldId id="311" r:id="rId48"/>
    <p:sldId id="313" r:id="rId49"/>
    <p:sldId id="314" r:id="rId50"/>
    <p:sldId id="296" r:id="rId51"/>
    <p:sldId id="297" r:id="rId52"/>
    <p:sldId id="298" r:id="rId53"/>
    <p:sldId id="299" r:id="rId54"/>
    <p:sldId id="319" r:id="rId55"/>
    <p:sldId id="323" r:id="rId56"/>
    <p:sldId id="320" r:id="rId57"/>
    <p:sldId id="274" r:id="rId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333"/>
    <p:restoredTop sz="94658"/>
  </p:normalViewPr>
  <p:slideViewPr>
    <p:cSldViewPr snapToGrid="0" snapToObjects="1">
      <p:cViewPr varScale="1">
        <p:scale>
          <a:sx n="78" d="100"/>
          <a:sy n="78" d="100"/>
        </p:scale>
        <p:origin x="168" y="10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96C205-4DEA-C148-9F59-DF6555D7276A}" type="datetimeFigureOut">
              <a:rPr lang="en-IT" smtClean="0"/>
              <a:t>20/10/2026</a:t>
            </a:fld>
            <a:endParaRPr lang="en-IT"/>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84D398-DF5F-CD4A-931B-C88414724557}" type="slidenum">
              <a:rPr lang="en-IT" smtClean="0"/>
              <a:t>‹#›</a:t>
            </a:fld>
            <a:endParaRPr lang="en-IT"/>
          </a:p>
        </p:txBody>
      </p:sp>
    </p:spTree>
    <p:extLst>
      <p:ext uri="{BB962C8B-B14F-4D97-AF65-F5344CB8AC3E}">
        <p14:creationId xmlns:p14="http://schemas.microsoft.com/office/powerpoint/2010/main" val="2074152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As we all know, multicore era</a:t>
            </a:r>
            <a:r>
              <a:rPr lang="en-US" sz="1200" kern="1200" baseline="0" dirty="0">
                <a:solidFill>
                  <a:schemeClr val="tx1"/>
                </a:solidFill>
                <a:effectLst/>
                <a:latin typeface="+mn-lt"/>
                <a:ea typeface="+mn-ea"/>
                <a:cs typeface="+mn-cs"/>
              </a:rPr>
              <a:t> is already here. But programmers still struggle to reason about concurrency. As a result, </a:t>
            </a:r>
            <a:r>
              <a:rPr lang="en-US" altLang="zh-CN" sz="1200" kern="1200" baseline="0" dirty="0">
                <a:solidFill>
                  <a:schemeClr val="tx1"/>
                </a:solidFill>
                <a:effectLst/>
                <a:latin typeface="+mn-lt"/>
                <a:ea typeface="+mn-ea"/>
                <a:cs typeface="+mn-cs"/>
              </a:rPr>
              <a:t>programmers make more and more synchronization mistakes, and</a:t>
            </a:r>
            <a:r>
              <a:rPr lang="en-US" sz="1200" kern="1200" baseline="0" dirty="0">
                <a:solidFill>
                  <a:schemeClr val="tx1"/>
                </a:solidFill>
                <a:effectLst/>
                <a:latin typeface="+mn-lt"/>
                <a:ea typeface="+mn-ea"/>
                <a:cs typeface="+mn-cs"/>
              </a:rPr>
              <a:t> software contains more and more concurrency bugs.</a:t>
            </a:r>
            <a:endParaRPr lang="en-US" sz="1200" kern="1200" dirty="0">
              <a:solidFill>
                <a:schemeClr val="tx1"/>
              </a:solidFill>
              <a:effectLst/>
              <a:latin typeface="+mn-lt"/>
              <a:ea typeface="+mn-ea"/>
              <a:cs typeface="+mn-cs"/>
            </a:endParaRPr>
          </a:p>
          <a:p>
            <a:endParaRPr lang="en-US" dirty="0"/>
          </a:p>
          <a:p>
            <a:r>
              <a:rPr lang="en-US" dirty="0"/>
              <a:t>To help this situation, people have developed many ways</a:t>
            </a:r>
            <a:r>
              <a:rPr lang="en-US" baseline="0" dirty="0"/>
              <a:t> to detect and diagnose concurrency bugs. For this atomicity violation, which is a common type of concurrency bug, a lot of tools can tell you that if the null pointer assignment happens in between the if checking and the pointer dereference, the program will have segmentation fault.</a:t>
            </a:r>
          </a:p>
          <a:p>
            <a:endParaRPr lang="en-US" baseline="0" dirty="0"/>
          </a:p>
          <a:p>
            <a:r>
              <a:rPr lang="en-US" baseline="0" dirty="0"/>
              <a:t>These tools are helpful for programmer to find and understand bugs. But they still leave the task of fixing to the programmers. </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29</a:t>
            </a:fld>
            <a:endParaRPr lang="en-US"/>
          </a:p>
        </p:txBody>
      </p:sp>
    </p:spTree>
    <p:extLst>
      <p:ext uri="{BB962C8B-B14F-4D97-AF65-F5344CB8AC3E}">
        <p14:creationId xmlns:p14="http://schemas.microsoft.com/office/powerpoint/2010/main" val="2276993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Bug-fixing is not easy, and it is lengthy and resource consuming. People first need to understand a bug, then generate a patch for it, and finally test the patch to make sure it fixes the problem while maintain performance and readability. Very often, people also need to consider several bugs and </a:t>
            </a:r>
            <a:r>
              <a:rPr lang="en-US" b="1" baseline="0" dirty="0"/>
              <a:t>fix</a:t>
            </a:r>
            <a:r>
              <a:rPr lang="en-US" baseline="0" dirty="0"/>
              <a:t> them together.</a:t>
            </a:r>
          </a:p>
          <a:p>
            <a:endParaRPr lang="en-US" baseline="0" dirty="0"/>
          </a:p>
          <a:p>
            <a:r>
              <a:rPr lang="en-US" baseline="0" dirty="0"/>
              <a:t>Bug-fixing process is also error-prone, some study shows 70% of patches are buggy in their first release.</a:t>
            </a:r>
          </a:p>
          <a:p>
            <a:r>
              <a:rPr lang="en-US" baseline="0" dirty="0"/>
              <a:t>Given these, a tool that can automatically fix bugs is desired, but this is difficult in general because for most bug, it is difficult to automatically figure out what is the correct behavior.</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33</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when it comes to multithreaded </a:t>
            </a:r>
            <a:r>
              <a:rPr lang="en-US" baseline="0" dirty="0"/>
              <a:t>program</a:t>
            </a:r>
            <a:r>
              <a:rPr lang="en-US" dirty="0"/>
              <a:t>, although </a:t>
            </a:r>
            <a:r>
              <a:rPr lang="en-US" baseline="0" dirty="0"/>
              <a:t>it</a:t>
            </a:r>
            <a:r>
              <a:rPr lang="en-US" strike="sngStrike" baseline="0" dirty="0"/>
              <a:t>’</a:t>
            </a:r>
            <a:r>
              <a:rPr lang="en-US" baseline="0" dirty="0"/>
              <a:t>s built-in non-determinism makes it difficult to get right, the non-determinism also makes</a:t>
            </a:r>
            <a:r>
              <a:rPr lang="en-US" strike="noStrike" dirty="0"/>
              <a:t> concurrency bugs</a:t>
            </a:r>
            <a:r>
              <a:rPr lang="en-US" strike="noStrike" baseline="0" dirty="0"/>
              <a:t> feasible to be fixed automatically.</a:t>
            </a:r>
          </a:p>
          <a:p>
            <a:r>
              <a:rPr lang="en-US" baseline="0" dirty="0"/>
              <a:t>Multithreaded programs are correct under most </a:t>
            </a:r>
            <a:r>
              <a:rPr lang="en-US" baseline="0" dirty="0" err="1"/>
              <a:t>interleavings</a:t>
            </a:r>
            <a:r>
              <a:rPr lang="en-US" baseline="0" dirty="0"/>
              <a:t> like these, and we only need to remove some bad interleaving like this one using </a:t>
            </a:r>
            <a:r>
              <a:rPr lang="en-US" strike="noStrike" baseline="0" dirty="0"/>
              <a:t>some </a:t>
            </a:r>
            <a:r>
              <a:rPr lang="en-US" baseline="0" dirty="0"/>
              <a:t>synchronization devices.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34</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comes </a:t>
            </a:r>
            <a:r>
              <a:rPr lang="en-US" baseline="0" dirty="0" err="1"/>
              <a:t>Afix</a:t>
            </a:r>
            <a:r>
              <a:rPr lang="en-US" baseline="0" dirty="0"/>
              <a:t>, </a:t>
            </a:r>
            <a:r>
              <a:rPr lang="en-US" dirty="0"/>
              <a:t>our effort towards </a:t>
            </a:r>
            <a:r>
              <a:rPr lang="en-US" strike="noStrike" dirty="0"/>
              <a:t>that direction. </a:t>
            </a:r>
            <a:r>
              <a:rPr lang="en-US" dirty="0"/>
              <a:t>we choose atomicity</a:t>
            </a:r>
            <a:r>
              <a:rPr lang="en-US" baseline="0" dirty="0"/>
              <a:t> violation as our starting point, since it is an important type of concurrency bug.</a:t>
            </a:r>
          </a:p>
          <a:p>
            <a:endParaRPr lang="en-US" baseline="0" dirty="0"/>
          </a:p>
          <a:p>
            <a:r>
              <a:rPr lang="en-US" baseline="0" dirty="0"/>
              <a:t>Our main strategy is statically adding locks to remove buggy </a:t>
            </a:r>
            <a:r>
              <a:rPr lang="en-US" baseline="0" dirty="0" err="1"/>
              <a:t>interleavings</a:t>
            </a:r>
            <a:r>
              <a:rPr lang="en-US" baseline="0" dirty="0"/>
              <a:t>.</a:t>
            </a:r>
          </a:p>
          <a:p>
            <a:endParaRPr lang="en-US" baseline="0" dirty="0"/>
          </a:p>
          <a:p>
            <a:r>
              <a:rPr lang="en-US" baseline="0" dirty="0"/>
              <a:t>The goal is to automates the whole bug-fixing process and provides best effort patches</a:t>
            </a:r>
            <a:r>
              <a:rPr lang="en-US" strike="noStrike" baseline="0" dirty="0"/>
              <a:t> in terms of correctness, performance, and code readability.</a:t>
            </a:r>
            <a:endParaRPr lang="en-US" strike="noStrike"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35</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err="1"/>
              <a:t>CTrigger</a:t>
            </a:r>
            <a:r>
              <a:rPr lang="en-US" baseline="0" dirty="0"/>
              <a:t> </a:t>
            </a:r>
            <a:r>
              <a:rPr lang="en-US" dirty="0"/>
              <a:t>is a </a:t>
            </a:r>
            <a:r>
              <a:rPr lang="en-US" altLang="zh-CN" dirty="0">
                <a:solidFill>
                  <a:schemeClr val="tx1"/>
                </a:solidFill>
                <a:latin typeface="Calibri" pitchFamily="34" charset="0"/>
                <a:cs typeface="Calibri" pitchFamily="34" charset="0"/>
              </a:rPr>
              <a:t>single-variable atomicity-violation detection and testing framework with almost no false positive. It reports</a:t>
            </a:r>
            <a:r>
              <a:rPr lang="en-US" altLang="zh-CN" baseline="0" dirty="0">
                <a:solidFill>
                  <a:schemeClr val="tx1"/>
                </a:solidFill>
                <a:latin typeface="Calibri" pitchFamily="34" charset="0"/>
                <a:cs typeface="Calibri" pitchFamily="34" charset="0"/>
              </a:rPr>
              <a:t> a list of buggy instruction triples.</a:t>
            </a:r>
            <a:endParaRPr lang="en-US" altLang="zh-CN"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altLang="zh-CN" baseline="0" dirty="0">
                <a:solidFill>
                  <a:schemeClr val="tx1"/>
                </a:solidFill>
                <a:latin typeface="Calibri" pitchFamily="34" charset="0"/>
                <a:cs typeface="Calibri" pitchFamily="34" charset="0"/>
              </a:rPr>
              <a:t>For this example, </a:t>
            </a:r>
            <a:r>
              <a:rPr lang="en-US" altLang="zh-CN" baseline="0" dirty="0" err="1">
                <a:solidFill>
                  <a:schemeClr val="tx1"/>
                </a:solidFill>
                <a:latin typeface="Calibri" pitchFamily="34" charset="0"/>
                <a:cs typeface="Calibri" pitchFamily="34" charset="0"/>
              </a:rPr>
              <a:t>ctrigger</a:t>
            </a:r>
            <a:r>
              <a:rPr lang="en-US" altLang="zh-CN" baseline="0" dirty="0">
                <a:solidFill>
                  <a:schemeClr val="tx1"/>
                </a:solidFill>
                <a:latin typeface="Calibri" pitchFamily="34" charset="0"/>
                <a:cs typeface="Calibri" pitchFamily="34" charset="0"/>
              </a:rPr>
              <a:t> will report three instructions, and the program will fail when remote access happens in between previous access and current access, short as </a:t>
            </a:r>
            <a:r>
              <a:rPr lang="en-US" baseline="0" dirty="0">
                <a:solidFill>
                  <a:schemeClr val="tx1"/>
                </a:solidFill>
                <a:latin typeface="Calibri" pitchFamily="34" charset="0"/>
                <a:cs typeface="Calibri" pitchFamily="34" charset="0"/>
              </a:rPr>
              <a:t> p, c and r.</a:t>
            </a:r>
            <a:endParaRPr lang="en-US" strike="sngStrike" baseline="0" dirty="0">
              <a:solidFill>
                <a:schemeClr val="tx1"/>
              </a:solidFill>
              <a:latin typeface="Calibri" pitchFamily="34" charset="0"/>
              <a:cs typeface="Calibri" pitchFamily="34" charset="0"/>
            </a:endParaRPr>
          </a:p>
        </p:txBody>
      </p:sp>
      <p:sp>
        <p:nvSpPr>
          <p:cNvPr id="4" name="Slide Number Placeholder 3"/>
          <p:cNvSpPr>
            <a:spLocks noGrp="1"/>
          </p:cNvSpPr>
          <p:nvPr>
            <p:ph type="sldNum" sz="quarter" idx="10"/>
          </p:nvPr>
        </p:nvSpPr>
        <p:spPr/>
        <p:txBody>
          <a:bodyPr/>
          <a:lstStyle/>
          <a:p>
            <a:fld id="{1B8D357E-27AA-4BB0-8018-F46A5A0CCB26}" type="slidenum">
              <a:rPr lang="en-US" smtClean="0"/>
              <a:pPr/>
              <a:t>36</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Starting from a list of </a:t>
            </a:r>
            <a:r>
              <a:rPr lang="en-US" baseline="0" dirty="0" err="1"/>
              <a:t>pcr</a:t>
            </a:r>
            <a:r>
              <a:rPr lang="en-US" baseline="0" dirty="0"/>
              <a:t> triples, </a:t>
            </a:r>
            <a:r>
              <a:rPr lang="en-US" baseline="0" dirty="0" err="1"/>
              <a:t>Afix</a:t>
            </a:r>
            <a:r>
              <a:rPr lang="en-US" baseline="0" dirty="0"/>
              <a:t> first designs patch for each </a:t>
            </a:r>
            <a:r>
              <a:rPr lang="en-US" baseline="0" dirty="0" err="1"/>
              <a:t>pcr</a:t>
            </a:r>
            <a:r>
              <a:rPr lang="en-US" baseline="0" dirty="0"/>
              <a:t> triple, then we use the whole list of </a:t>
            </a:r>
            <a:r>
              <a:rPr lang="en-US" baseline="0" dirty="0" err="1"/>
              <a:t>pcr</a:t>
            </a:r>
            <a:r>
              <a:rPr lang="en-US" baseline="0" dirty="0"/>
              <a:t> triples and patches, merge them using some heuristics, after that, we add runtime support if needed, finally, we provide support to test those patches, so that developers can access the quality of the patches.</a:t>
            </a:r>
          </a:p>
          <a:p>
            <a:endParaRPr lang="en-US" baseline="0" dirty="0"/>
          </a:p>
          <a:p>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37</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 start from one</a:t>
            </a:r>
            <a:r>
              <a:rPr lang="en-US" altLang="zh-CN" baseline="0" dirty="0"/>
              <a:t> bug patching, o</a:t>
            </a:r>
            <a:r>
              <a:rPr lang="en-US" altLang="zh-CN" dirty="0"/>
              <a:t>r one </a:t>
            </a:r>
            <a:r>
              <a:rPr lang="en-US" altLang="zh-CN" dirty="0" err="1"/>
              <a:t>pcr</a:t>
            </a:r>
            <a:r>
              <a:rPr lang="en-US" altLang="zh-CN" dirty="0"/>
              <a:t> triple patching.</a:t>
            </a:r>
            <a:endParaRPr lang="en-US" altLang="zh-CN" baseline="0" dirty="0"/>
          </a:p>
          <a:p>
            <a:endParaRPr lang="en-US" baseline="0" dirty="0"/>
          </a:p>
          <a:p>
            <a:r>
              <a:rPr lang="en-US" dirty="0"/>
              <a:t>The overall strategy</a:t>
            </a:r>
            <a:r>
              <a:rPr lang="en-US" baseline="0" dirty="0"/>
              <a:t> is making the code region from p to c mutually exclusive with r, and we achieve that using the following three steps:</a:t>
            </a:r>
          </a:p>
          <a:p>
            <a:r>
              <a:rPr lang="en-US" baseline="0" dirty="0"/>
              <a:t>put p and c into a critical section. </a:t>
            </a:r>
          </a:p>
          <a:p>
            <a:r>
              <a:rPr lang="en-US" baseline="0" dirty="0"/>
              <a:t>put r into a critical section. </a:t>
            </a:r>
          </a:p>
          <a:p>
            <a:r>
              <a:rPr lang="en-US" baseline="0" dirty="0"/>
              <a:t>finally, we decide lock type to use, select or introduce a lock instance for the two regions.</a:t>
            </a:r>
          </a:p>
          <a:p>
            <a:endParaRPr lang="en-US" baseline="0" dirty="0"/>
          </a:p>
          <a:p>
            <a:r>
              <a:rPr lang="en-US" baseline="0" dirty="0"/>
              <a:t>This sounds trivial, but there are many pitfalls. Let’s look at each step in detail</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38</a:t>
            </a:fld>
            <a:endParaRPr lang="en-US"/>
          </a:p>
        </p:txBody>
      </p:sp>
    </p:spTree>
    <p:extLst>
      <p:ext uri="{BB962C8B-B14F-4D97-AF65-F5344CB8AC3E}">
        <p14:creationId xmlns:p14="http://schemas.microsoft.com/office/powerpoint/2010/main" val="2126045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To put p and c into a </a:t>
            </a:r>
            <a:r>
              <a:rPr lang="en-US" baseline="0" dirty="0" err="1"/>
              <a:t>critial</a:t>
            </a:r>
            <a:r>
              <a:rPr lang="en-US" baseline="0" dirty="0"/>
              <a:t> section, we need to guarantee that p and c are inside one critical section under all control flows without introducing new bugs. </a:t>
            </a:r>
          </a:p>
          <a:p>
            <a:endParaRPr lang="en-US" baseline="0" dirty="0"/>
          </a:p>
          <a:p>
            <a:r>
              <a:rPr lang="en-US" baseline="0" dirty="0"/>
              <a:t>A naïve solution which adds lock before p and unlock after c, but this could have problems like lock without unlock, unlock without lock, and many other problems along different paths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39</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take see how</a:t>
            </a:r>
            <a:r>
              <a:rPr lang="en-US" baseline="0" dirty="0"/>
              <a:t> </a:t>
            </a:r>
            <a:r>
              <a:rPr lang="en-US" baseline="0" dirty="0" err="1"/>
              <a:t>afix</a:t>
            </a:r>
            <a:r>
              <a:rPr lang="en-US" baseline="0" dirty="0"/>
              <a:t> avoids all of them.</a:t>
            </a:r>
            <a:endParaRPr lang="en-US" dirty="0"/>
          </a:p>
          <a:p>
            <a:endParaRPr lang="en-US" dirty="0"/>
          </a:p>
          <a:p>
            <a:r>
              <a:rPr lang="en-US" dirty="0"/>
              <a:t>We first assume p</a:t>
            </a:r>
            <a:r>
              <a:rPr lang="en-US" baseline="0" dirty="0"/>
              <a:t> and c are in the same function f for now, and we will extend our algorithm when it is not the case.</a:t>
            </a:r>
          </a:p>
          <a:p>
            <a:endParaRPr lang="en-US" baseline="0" dirty="0"/>
          </a:p>
          <a:p>
            <a:r>
              <a:rPr lang="en-US" dirty="0"/>
              <a:t>The</a:t>
            </a:r>
            <a:r>
              <a:rPr lang="en-US" baseline="0" dirty="0"/>
              <a:t> first step is to find out all the protected nodes in the critical section. We </a:t>
            </a:r>
            <a:r>
              <a:rPr lang="en-US" dirty="0"/>
              <a:t>analysis the control flow</a:t>
            </a:r>
            <a:r>
              <a:rPr lang="en-US" baseline="0" dirty="0"/>
              <a:t> graph of the function f, map p and c instruction to basic block nodes in the graph that contain them, and find out the set of control flow graph nodes on any path from the p node to the c node. In this example, we have two paths and three nodes</a:t>
            </a:r>
          </a:p>
          <a:p>
            <a:endParaRPr lang="en-US" baseline="0" dirty="0"/>
          </a:p>
          <a:p>
            <a:r>
              <a:rPr lang="en-US" baseline="0" dirty="0"/>
              <a:t>Based on this set of protected nodes, we add lock acquisition operation on edge from unprotected node to protected node, and lock release on edge from protected node to unprotected node.</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With these, we avoid those potential bugs mentioned previously. </a:t>
            </a:r>
            <a:r>
              <a:rPr lang="en-US" sz="1200" b="0" i="0" kern="1200" dirty="0">
                <a:solidFill>
                  <a:schemeClr val="tx1"/>
                </a:solidFill>
                <a:effectLst/>
                <a:latin typeface="+mn-lt"/>
                <a:ea typeface="+mn-ea"/>
                <a:cs typeface="+mn-cs"/>
              </a:rPr>
              <a:t>You can find the detailed proof in our paper.</a:t>
            </a:r>
            <a:endParaRPr lang="en-US" baseline="0"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40</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extend the algorithm when p and c are in different functions.</a:t>
            </a:r>
          </a:p>
          <a:p>
            <a:endParaRPr lang="en-US" baseline="0" dirty="0"/>
          </a:p>
          <a:p>
            <a:r>
              <a:rPr lang="en-US" baseline="0" dirty="0"/>
              <a:t>This is very common. In this example from </a:t>
            </a:r>
            <a:r>
              <a:rPr lang="en-US" baseline="0" dirty="0" err="1"/>
              <a:t>mysql</a:t>
            </a:r>
            <a:r>
              <a:rPr lang="en-US" baseline="0" dirty="0"/>
              <a:t>, the function </a:t>
            </a:r>
            <a:r>
              <a:rPr lang="en-US" baseline="0" dirty="0" err="1"/>
              <a:t>newlog</a:t>
            </a:r>
            <a:r>
              <a:rPr lang="en-US" baseline="0" dirty="0"/>
              <a:t> accesses the </a:t>
            </a:r>
            <a:r>
              <a:rPr lang="en-US" strike="noStrike" baseline="0" dirty="0"/>
              <a:t>global </a:t>
            </a:r>
            <a:r>
              <a:rPr lang="en-US" baseline="0" dirty="0"/>
              <a:t>variable “log” twice through close and open. </a:t>
            </a:r>
            <a:r>
              <a:rPr lang="en-US" baseline="0" dirty="0" err="1"/>
              <a:t>Ctrigger</a:t>
            </a:r>
            <a:r>
              <a:rPr lang="en-US" baseline="0" dirty="0"/>
              <a:t> reports these two as `p’ and `c’ instructions. Now, we need to put instructions from two different functions into one critical section. </a:t>
            </a:r>
          </a:p>
          <a:p>
            <a:endParaRPr lang="en-US" baseline="0" dirty="0"/>
          </a:p>
          <a:p>
            <a:r>
              <a:rPr lang="en-US" baseline="0" dirty="0"/>
              <a:t>What should we do? </a:t>
            </a:r>
            <a:r>
              <a:rPr lang="en-US" strike="noStrike" baseline="0" dirty="0" err="1"/>
              <a:t>AFix</a:t>
            </a:r>
            <a:r>
              <a:rPr lang="en-US" strike="noStrike" baseline="0" dirty="0"/>
              <a:t>’ solution is inspired by the observation that people usually put lock and unlock in the same function.</a:t>
            </a:r>
          </a:p>
          <a:p>
            <a:endParaRPr lang="en-US" strike="noStrike" baseline="0" dirty="0"/>
          </a:p>
          <a:p>
            <a:r>
              <a:rPr lang="en-US" strike="noStrike" baseline="0" dirty="0" err="1"/>
              <a:t>Afix</a:t>
            </a:r>
            <a:r>
              <a:rPr lang="en-US" strike="noStrike" baseline="0" dirty="0"/>
              <a:t> finds the longest common prefix for both p and c’s calling contexts. It ends with </a:t>
            </a:r>
            <a:r>
              <a:rPr lang="en-US" baseline="0" dirty="0" err="1"/>
              <a:t>newlog</a:t>
            </a:r>
            <a:r>
              <a:rPr lang="en-US" baseline="0" dirty="0"/>
              <a:t> here.</a:t>
            </a:r>
          </a:p>
          <a:p>
            <a:endParaRPr lang="en-US" baseline="0" dirty="0"/>
          </a:p>
          <a:p>
            <a:r>
              <a:rPr lang="en-US" baseline="0" dirty="0"/>
              <a:t>Then we adjust p and c to be the instructions that call to the next function in the call stack, so that they are in the same function now and the algorithm described previously can be used again.</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41</a:t>
            </a:fld>
            <a:endParaRPr lang="en-US"/>
          </a:p>
        </p:txBody>
      </p:sp>
    </p:spTree>
    <p:extLst>
      <p:ext uri="{BB962C8B-B14F-4D97-AF65-F5344CB8AC3E}">
        <p14:creationId xmlns:p14="http://schemas.microsoft.com/office/powerpoint/2010/main" val="2386396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a:t>
            </a:r>
            <a:r>
              <a:rPr lang="en-US" baseline="0" dirty="0"/>
              <a:t> is to put r into a critical section.</a:t>
            </a:r>
          </a:p>
          <a:p>
            <a:r>
              <a:rPr lang="en-US" baseline="0" dirty="0"/>
              <a:t>Simple! Add lock and unlock around r. Well, there is one trap here!</a:t>
            </a:r>
          </a:p>
          <a:p>
            <a:endParaRPr lang="en-US" baseline="0" dirty="0"/>
          </a:p>
          <a:p>
            <a:r>
              <a:rPr lang="en-US" baseline="0" dirty="0"/>
              <a:t>If r could be reached from the p-c critical section, we should not add extra locks for r.</a:t>
            </a:r>
          </a:p>
          <a:p>
            <a:endParaRPr lang="en-US" baseline="0" dirty="0"/>
          </a:p>
          <a:p>
            <a:r>
              <a:rPr lang="en-US" baseline="0" dirty="0"/>
              <a:t>Note there are two ways to reach r from the pc critical section: directly or through function calls. </a:t>
            </a:r>
            <a:r>
              <a:rPr lang="en-US" baseline="0" dirty="0" err="1"/>
              <a:t>Afix</a:t>
            </a:r>
            <a:r>
              <a:rPr lang="en-US" baseline="0" dirty="0"/>
              <a:t> handles both cases.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42</a:t>
            </a:fld>
            <a:endParaRPr lang="en-US"/>
          </a:p>
        </p:txBody>
      </p:sp>
    </p:spTree>
    <p:extLst>
      <p:ext uri="{BB962C8B-B14F-4D97-AF65-F5344CB8AC3E}">
        <p14:creationId xmlns:p14="http://schemas.microsoft.com/office/powerpoint/2010/main" val="2009068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we have one or two critical sections. Then w</a:t>
            </a:r>
            <a:r>
              <a:rPr lang="en-US" dirty="0"/>
              <a:t>e need to decide which </a:t>
            </a:r>
            <a:r>
              <a:rPr lang="en-US" baseline="0" dirty="0"/>
              <a:t>lock to use.</a:t>
            </a:r>
          </a:p>
          <a:p>
            <a:endParaRPr lang="en-US" baseline="0" dirty="0"/>
          </a:p>
          <a:p>
            <a:r>
              <a:rPr lang="en-US" baseline="0" dirty="0"/>
              <a:t>It is obvious that we should use the same lock if there are two critical sections</a:t>
            </a:r>
          </a:p>
          <a:p>
            <a:endParaRPr lang="en-US" baseline="0" dirty="0"/>
          </a:p>
          <a:p>
            <a:r>
              <a:rPr lang="en-US" baseline="0" dirty="0"/>
              <a:t>For the lock, we have two properties need to be decided:</a:t>
            </a:r>
          </a:p>
          <a:p>
            <a:r>
              <a:rPr lang="en-US" baseline="0" dirty="0"/>
              <a:t>The first is lock type: we use lock with timeout when our patch could lead to deadlock. We determine this by checking whether there is potential blocking operations, (such as lock and spin loop) inside the critical sections we added.</a:t>
            </a:r>
          </a:p>
          <a:p>
            <a:endParaRPr lang="en-US" baseline="0" dirty="0"/>
          </a:p>
          <a:p>
            <a:r>
              <a:rPr lang="en-US" baseline="0" dirty="0"/>
              <a:t>We also check whether the lock operations could be called recursively, and use reentrant lock if recursion is possible. In all other cases, we just use normal </a:t>
            </a:r>
            <a:r>
              <a:rPr lang="en-US" baseline="0" dirty="0" err="1"/>
              <a:t>pthread</a:t>
            </a:r>
            <a:r>
              <a:rPr lang="en-US" baseline="0" dirty="0"/>
              <a:t> lock type.</a:t>
            </a:r>
          </a:p>
          <a:p>
            <a:endParaRPr lang="en-US" baseline="0" dirty="0"/>
          </a:p>
          <a:p>
            <a:r>
              <a:rPr lang="en-US" baseline="0" dirty="0"/>
              <a:t>The next is on lock instance. We hope we could reuse some existing locks when possible. But only global lock instances are easy to reuse. We check whether reusable global lock exists.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43</a:t>
            </a:fld>
            <a:endParaRPr lang="en-US"/>
          </a:p>
        </p:txBody>
      </p:sp>
    </p:spTree>
    <p:extLst>
      <p:ext uri="{BB962C8B-B14F-4D97-AF65-F5344CB8AC3E}">
        <p14:creationId xmlns:p14="http://schemas.microsoft.com/office/powerpoint/2010/main" val="3722436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have patches for each </a:t>
            </a:r>
            <a:r>
              <a:rPr lang="en-US" dirty="0" err="1"/>
              <a:t>pcr</a:t>
            </a:r>
            <a:r>
              <a:rPr lang="en-US" baseline="0" dirty="0"/>
              <a:t> triple. However, one programming mistake usually leads to multiple </a:t>
            </a:r>
            <a:r>
              <a:rPr lang="en-US" baseline="0"/>
              <a:t>bug reports </a:t>
            </a:r>
            <a:r>
              <a:rPr lang="en-US" baseline="0" dirty="0"/>
              <a:t>in practice.</a:t>
            </a:r>
          </a:p>
          <a:p>
            <a:endParaRPr lang="en-US" baseline="0" dirty="0"/>
          </a:p>
          <a:p>
            <a:r>
              <a:rPr lang="en-US" baseline="0" dirty="0"/>
              <a:t>Like this real world example. You do not need to understand this piece of code right now. The point here is that the missing lock and unlock operations here lead to two </a:t>
            </a:r>
            <a:r>
              <a:rPr lang="en-US" baseline="0" dirty="0" err="1"/>
              <a:t>pcr</a:t>
            </a:r>
            <a:r>
              <a:rPr lang="en-US" baseline="0" dirty="0"/>
              <a:t> triples from </a:t>
            </a:r>
            <a:r>
              <a:rPr lang="en-US" baseline="0" dirty="0" err="1"/>
              <a:t>ctrigger</a:t>
            </a:r>
            <a:r>
              <a:rPr lang="en-US" baseline="0" dirty="0"/>
              <a:t>, and if they are fixed </a:t>
            </a:r>
            <a:r>
              <a:rPr lang="en-US" baseline="0" dirty="0" err="1"/>
              <a:t>seperatedly</a:t>
            </a:r>
            <a:r>
              <a:rPr lang="en-US" baseline="0" dirty="0"/>
              <a:t>, we are going to add seven lock and unlock operations for these five lines of code, which is too many. It also has a potential deadlock between the two patches. It may also hurt performance and readability.</a:t>
            </a:r>
          </a:p>
          <a:p>
            <a:endParaRPr lang="en-US" baseline="0" dirty="0"/>
          </a:p>
          <a:p>
            <a:r>
              <a:rPr lang="en-US" baseline="0" dirty="0"/>
              <a:t>To solve these problem, these bugs should be fixed together, and we achieve that using patch merging.</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44</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do patch merging in two cases.</a:t>
            </a:r>
          </a:p>
          <a:p>
            <a:endParaRPr lang="en-US" dirty="0"/>
          </a:p>
          <a:p>
            <a:r>
              <a:rPr lang="en-US" dirty="0"/>
              <a:t>The first case is redundant patch.</a:t>
            </a:r>
            <a:r>
              <a:rPr lang="en-US" baseline="0" dirty="0"/>
              <a:t> When we have two pc critical sections in the same function, then one is redundant when one is a subset of the other. In this example, pc2 is a subset of pc1, so we decide to remove the lock acquisition and release operations for the second pair, and use the same lock instance for both </a:t>
            </a:r>
            <a:r>
              <a:rPr lang="en-US" baseline="0" dirty="0" err="1"/>
              <a:t>pcr</a:t>
            </a:r>
            <a:r>
              <a:rPr lang="en-US" baseline="0" dirty="0"/>
              <a:t> triples.</a:t>
            </a:r>
          </a:p>
          <a:p>
            <a:endParaRPr lang="en-US" baseline="0" dirty="0"/>
          </a:p>
          <a:p>
            <a:r>
              <a:rPr lang="en-US" baseline="0" dirty="0"/>
              <a:t>When these pc critical sections are in different functions, we will extend this algorithm based on the stack trace. I omit the detail here.</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45</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case is related patch, which is the</a:t>
            </a:r>
            <a:r>
              <a:rPr lang="en-US" baseline="0" dirty="0"/>
              <a:t> case when </a:t>
            </a:r>
            <a:r>
              <a:rPr lang="en-US" i="1" baseline="0" dirty="0">
                <a:solidFill>
                  <a:schemeClr val="tx1"/>
                </a:solidFill>
                <a:latin typeface="Calibri" pitchFamily="34" charset="0"/>
                <a:cs typeface="Calibri" pitchFamily="34" charset="0"/>
              </a:rPr>
              <a:t>pc or r</a:t>
            </a:r>
            <a:r>
              <a:rPr lang="en-US" dirty="0">
                <a:solidFill>
                  <a:schemeClr val="tx1"/>
                </a:solidFill>
                <a:latin typeface="Calibri" pitchFamily="34" charset="0"/>
                <a:cs typeface="Calibri" pitchFamily="34" charset="0"/>
              </a:rPr>
              <a:t> is in some other patch’s critical sections.</a:t>
            </a: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Here </a:t>
            </a:r>
            <a:r>
              <a:rPr lang="en-US" baseline="0" dirty="0">
                <a:solidFill>
                  <a:schemeClr val="tx1"/>
                </a:solidFill>
                <a:latin typeface="Calibri" pitchFamily="34" charset="0"/>
                <a:cs typeface="Calibri" pitchFamily="34" charset="0"/>
              </a:rPr>
              <a:t>p2 is in the patch1’s pc region, and </a:t>
            </a:r>
            <a:r>
              <a:rPr lang="en-US" dirty="0">
                <a:solidFill>
                  <a:schemeClr val="tx1"/>
                </a:solidFill>
                <a:latin typeface="Calibri" pitchFamily="34" charset="0"/>
                <a:cs typeface="Calibri" pitchFamily="34" charset="0"/>
              </a:rPr>
              <a:t>c1 is in the patch</a:t>
            </a:r>
            <a:r>
              <a:rPr lang="en-US" baseline="0" dirty="0">
                <a:solidFill>
                  <a:schemeClr val="tx1"/>
                </a:solidFill>
                <a:latin typeface="Calibri" pitchFamily="34" charset="0"/>
                <a:cs typeface="Calibri" pitchFamily="34" charset="0"/>
              </a:rPr>
              <a:t> 2’s pc region. We merged the two protected node sets, and adding lock operations based on the new set.</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46</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We provide support to handle deadlock.</a:t>
            </a:r>
          </a:p>
          <a:p>
            <a:endParaRPr lang="en-US" baseline="0" dirty="0"/>
          </a:p>
          <a:p>
            <a:r>
              <a:rPr lang="en-US" baseline="0" dirty="0"/>
              <a:t>As discussed earlier, </a:t>
            </a:r>
            <a:r>
              <a:rPr lang="en-US" baseline="0" dirty="0" err="1"/>
              <a:t>Afix</a:t>
            </a:r>
            <a:r>
              <a:rPr lang="en-US" baseline="0" dirty="0"/>
              <a:t> conservatively uses time-out lock to avoid deadlocks.</a:t>
            </a:r>
          </a:p>
          <a:p>
            <a:r>
              <a:rPr lang="en-US" baseline="0" dirty="0"/>
              <a:t>So, we also provide a run-time that can analyze whether a lock time-out is really caused by a deadlock. </a:t>
            </a:r>
          </a:p>
          <a:p>
            <a:r>
              <a:rPr lang="en-US" baseline="0" dirty="0"/>
              <a:t>It is a very light-weighted, patch-oriented run-time analysis which only detect deadlocks caused by the patches. The overhead is low and suitable for production runs.</a:t>
            </a:r>
          </a:p>
          <a:p>
            <a:r>
              <a:rPr lang="en-US" baseline="0" dirty="0"/>
              <a:t>Its result can help people to further refine the patches. </a:t>
            </a:r>
          </a:p>
          <a:p>
            <a:endParaRPr lang="en-US" baseline="0" dirty="0"/>
          </a:p>
          <a:p>
            <a:r>
              <a:rPr lang="en-US" baseline="0" dirty="0"/>
              <a:t>We also provide traditional deadlock-detection as an option, as well as in-house patch testing framework.</a:t>
            </a:r>
          </a:p>
          <a:p>
            <a:r>
              <a:rPr lang="en-US" baseline="0" dirty="0"/>
              <a:t>Please refer to our paper for more details.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47</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our tool on</a:t>
            </a:r>
            <a:r>
              <a:rPr lang="en-US" baseline="0" dirty="0"/>
              <a:t> several real work atomicity violations. We first run our front end </a:t>
            </a:r>
            <a:r>
              <a:rPr lang="en-US" baseline="0" dirty="0" err="1"/>
              <a:t>ctrigger</a:t>
            </a:r>
            <a:r>
              <a:rPr lang="en-US" baseline="0" dirty="0"/>
              <a:t>, and in several cases have more than one </a:t>
            </a:r>
            <a:r>
              <a:rPr lang="en-US" baseline="0" dirty="0" err="1"/>
              <a:t>pcr</a:t>
            </a:r>
            <a:r>
              <a:rPr lang="en-US" baseline="0" dirty="0"/>
              <a:t> triples.</a:t>
            </a:r>
          </a:p>
          <a:p>
            <a:endParaRPr lang="en-US" baseline="0" dirty="0"/>
          </a:p>
          <a:p>
            <a:r>
              <a:rPr lang="en-US" baseline="0" dirty="0"/>
              <a:t>The naïve solution can fix none of them </a:t>
            </a:r>
            <a:r>
              <a:rPr lang="en-US" sz="1200" b="0" i="0" kern="1200" dirty="0">
                <a:solidFill>
                  <a:schemeClr val="tx1"/>
                </a:solidFill>
                <a:effectLst/>
                <a:latin typeface="+mn-lt"/>
                <a:ea typeface="+mn-ea"/>
                <a:cs typeface="+mn-cs"/>
              </a:rPr>
              <a:t>because it causes extra bugs in all its patches.</a:t>
            </a:r>
            <a:endParaRPr lang="en-US" baseline="0" dirty="0"/>
          </a:p>
          <a:p>
            <a:endParaRPr lang="en-US" baseline="0" dirty="0"/>
          </a:p>
          <a:p>
            <a:r>
              <a:rPr lang="en-US" baseline="0" dirty="0"/>
              <a:t>Unmerged patch which fix each </a:t>
            </a:r>
            <a:r>
              <a:rPr lang="en-US" baseline="0" dirty="0" err="1"/>
              <a:t>pcr</a:t>
            </a:r>
            <a:r>
              <a:rPr lang="en-US" baseline="0" dirty="0"/>
              <a:t> triple separately can fix five of them, and merged patch which merges patches using the heuristics I discussed previously can fix six of them. The merged version can fix the extra because it avoids a deadlock situation between patches for two </a:t>
            </a:r>
            <a:r>
              <a:rPr lang="en-US" baseline="0" dirty="0" err="1"/>
              <a:t>pcr</a:t>
            </a:r>
            <a:r>
              <a:rPr lang="en-US" baseline="0" dirty="0"/>
              <a:t> triples.</a:t>
            </a:r>
          </a:p>
          <a:p>
            <a:endParaRPr lang="en-US" baseline="0" dirty="0"/>
          </a:p>
          <a:p>
            <a:r>
              <a:rPr lang="en-US" baseline="0" dirty="0"/>
              <a:t>There are two cases that our tool cannot completely fix. It is due to the limitation of our front end.</a:t>
            </a:r>
          </a:p>
          <a:p>
            <a:r>
              <a:rPr lang="en-US" baseline="0" dirty="0"/>
              <a:t>Atomicity violation is actually only the side effect of these two bugs, not their root causes.</a:t>
            </a:r>
          </a:p>
          <a:p>
            <a:r>
              <a:rPr lang="en-US" baseline="0" dirty="0"/>
              <a:t>Hopefully in the future this type of fixing information can help improve bug detection.</a:t>
            </a:r>
          </a:p>
          <a:p>
            <a:endParaRPr lang="en-US" baseline="0" dirty="0"/>
          </a:p>
          <a:p>
            <a:endParaRPr lang="en-US" baseline="0" dirty="0"/>
          </a:p>
          <a:p>
            <a:r>
              <a:rPr lang="en-US" baseline="0" dirty="0"/>
              <a:t>Overall, for those bugs with atomicity violation as their root cause, our tool can fix them completed with </a:t>
            </a:r>
            <a:r>
              <a:rPr lang="en-US" sz="1200" kern="1200" baseline="0" dirty="0">
                <a:solidFill>
                  <a:schemeClr val="tx1"/>
                </a:solidFill>
                <a:latin typeface="+mn-lt"/>
                <a:ea typeface="+mn-ea"/>
                <a:cs typeface="+mn-cs"/>
              </a:rPr>
              <a:t>negligible </a:t>
            </a:r>
            <a:r>
              <a:rPr lang="en-US" baseline="0" dirty="0"/>
              <a:t>overhead. Note this overhead here we use the lightweight timeout triggered deadlock monitoring.</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48</a:t>
            </a:fld>
            <a:endParaRPr lang="en-US"/>
          </a:p>
        </p:txBody>
      </p:sp>
    </p:spTree>
    <p:extLst>
      <p:ext uri="{BB962C8B-B14F-4D97-AF65-F5344CB8AC3E}">
        <p14:creationId xmlns:p14="http://schemas.microsoft.com/office/powerpoint/2010/main" val="1646057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Due</a:t>
            </a:r>
            <a:r>
              <a:rPr lang="en-US" altLang="zh-CN" baseline="0" dirty="0"/>
              <a:t> to time limit, I will not discuss more detailed evaluation results, and go to conclusion now.</a:t>
            </a:r>
          </a:p>
          <a:p>
            <a:endParaRPr lang="en-US" altLang="zh-CN" baseline="0" dirty="0"/>
          </a:p>
          <a:p>
            <a:r>
              <a:rPr lang="en-US" baseline="0" dirty="0"/>
              <a:t>Our results show atomicity violations are feasible to be fixed automatically, and the strategy is removing bad </a:t>
            </a:r>
            <a:r>
              <a:rPr lang="en-US" baseline="0" dirty="0" err="1"/>
              <a:t>interleavings</a:t>
            </a:r>
            <a:r>
              <a:rPr lang="en-US" baseline="0" dirty="0"/>
              <a:t> using locks. It may sound easy, but we still need to be </a:t>
            </a:r>
            <a:r>
              <a:rPr lang="en-US" dirty="0">
                <a:solidFill>
                  <a:schemeClr val="tx1"/>
                </a:solidFill>
                <a:latin typeface="Calibri" pitchFamily="34" charset="0"/>
                <a:cs typeface="Calibri" pitchFamily="34" charset="0"/>
              </a:rPr>
              <a:t>exceedingly</a:t>
            </a:r>
            <a:r>
              <a:rPr lang="en-US" baseline="0"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careful in</a:t>
            </a:r>
            <a:r>
              <a:rPr lang="en-US" baseline="0" dirty="0">
                <a:solidFill>
                  <a:schemeClr val="tx1"/>
                </a:solidFill>
                <a:latin typeface="Calibri" pitchFamily="34" charset="0"/>
                <a:cs typeface="Calibri" pitchFamily="34" charset="0"/>
              </a:rPr>
              <a:t> the</a:t>
            </a:r>
            <a:r>
              <a:rPr lang="en-US" dirty="0">
                <a:solidFill>
                  <a:schemeClr val="tx1"/>
                </a:solidFill>
                <a:latin typeface="Calibri" pitchFamily="34" charset="0"/>
                <a:cs typeface="Calibri" pitchFamily="34" charset="0"/>
              </a:rPr>
              <a:t> details.</a:t>
            </a:r>
          </a:p>
          <a:p>
            <a:r>
              <a:rPr lang="en-US" dirty="0">
                <a:solidFill>
                  <a:schemeClr val="tx1"/>
                </a:solidFill>
                <a:latin typeface="Calibri" pitchFamily="34" charset="0"/>
                <a:cs typeface="Calibri" pitchFamily="34" charset="0"/>
              </a:rPr>
              <a:t>We used some heuristics</a:t>
            </a:r>
            <a:r>
              <a:rPr lang="en-US" baseline="0" dirty="0">
                <a:solidFill>
                  <a:schemeClr val="tx1"/>
                </a:solidFill>
                <a:latin typeface="Calibri" pitchFamily="34" charset="0"/>
                <a:cs typeface="Calibri" pitchFamily="34" charset="0"/>
              </a:rPr>
              <a:t> with excellent results in practice. We completely fix problems in targeted class with negligible overhead, and the patch is small, simple and understandable.</a:t>
            </a:r>
          </a:p>
          <a:p>
            <a:endParaRPr lang="en-US" baseline="0" dirty="0">
              <a:solidFill>
                <a:schemeClr val="tx1"/>
              </a:solidFill>
              <a:latin typeface="Calibri" pitchFamily="34" charset="0"/>
              <a:cs typeface="Calibri" pitchFamily="34" charset="0"/>
            </a:endParaRPr>
          </a:p>
          <a:p>
            <a:r>
              <a:rPr lang="en-US" baseline="0" dirty="0">
                <a:solidFill>
                  <a:schemeClr val="tx1"/>
                </a:solidFill>
                <a:latin typeface="Calibri" pitchFamily="34" charset="0"/>
                <a:cs typeface="Calibri" pitchFamily="34" charset="0"/>
              </a:rPr>
              <a:t>Our result also show the need of a detector and fixer co-design.</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49</a:t>
            </a:fld>
            <a:endParaRPr lang="en-US"/>
          </a:p>
        </p:txBody>
      </p:sp>
    </p:spTree>
    <p:extLst>
      <p:ext uri="{BB962C8B-B14F-4D97-AF65-F5344CB8AC3E}">
        <p14:creationId xmlns:p14="http://schemas.microsoft.com/office/powerpoint/2010/main" val="5269413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219201"/>
            <a:ext cx="9144000" cy="2381250"/>
          </a:xfrm>
        </p:spPr>
        <p:txBody>
          <a:bodyPr>
            <a:noAutofit/>
          </a:bodyPr>
          <a:lstStyle/>
          <a:p>
            <a:r>
              <a:rPr sz="6000" dirty="0"/>
              <a:t>Automated Program Repair: Concepts, Techniques, and Challenges</a:t>
            </a:r>
          </a:p>
        </p:txBody>
      </p:sp>
      <p:sp>
        <p:nvSpPr>
          <p:cNvPr id="3" name="Subtitle 2"/>
          <p:cNvSpPr>
            <a:spLocks noGrp="1"/>
          </p:cNvSpPr>
          <p:nvPr>
            <p:ph type="subTitle" idx="1"/>
          </p:nvPr>
        </p:nvSpPr>
        <p:spPr/>
        <p:txBody>
          <a:bodyPr>
            <a:normAutofit/>
          </a:bodyPr>
          <a:lstStyle/>
          <a:p>
            <a:r>
              <a:rPr dirty="0">
                <a:solidFill>
                  <a:schemeClr val="accent5">
                    <a:lumMod val="10000"/>
                  </a:schemeClr>
                </a:solidFill>
              </a:rPr>
              <a:t>Dr. Damian A. Tamburri, University of </a:t>
            </a:r>
            <a:r>
              <a:rPr dirty="0" err="1">
                <a:solidFill>
                  <a:schemeClr val="accent5">
                    <a:lumMod val="10000"/>
                  </a:schemeClr>
                </a:solidFill>
              </a:rPr>
              <a:t>Sannio</a:t>
            </a:r>
            <a:r>
              <a:rPr dirty="0">
                <a:solidFill>
                  <a:schemeClr val="accent5">
                    <a:lumMod val="10000"/>
                  </a:schemeClr>
                </a:solidFill>
              </a:rPr>
              <a:t> &amp; JADS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group of men looking at a robot&#10;&#10;AI-generated content may be incorrect.">
            <a:extLst>
              <a:ext uri="{FF2B5EF4-FFF2-40B4-BE49-F238E27FC236}">
                <a16:creationId xmlns:a16="http://schemas.microsoft.com/office/drawing/2014/main" id="{65FE1751-E6D2-59F7-305A-E4B6D85B8E46}"/>
              </a:ext>
            </a:extLst>
          </p:cNvPr>
          <p:cNvPicPr>
            <a:picLocks noGrp="1" noChangeAspect="1"/>
          </p:cNvPicPr>
          <p:nvPr>
            <p:ph idx="1"/>
          </p:nvPr>
        </p:nvPicPr>
        <p:blipFill>
          <a:blip r:embed="rId2"/>
          <a:srcRect r="11649" b="-2"/>
          <a:stretch>
            <a:fillRect/>
          </a:stretch>
        </p:blipFill>
        <p:spPr>
          <a:xfrm>
            <a:off x="20" y="1282"/>
            <a:ext cx="9143980" cy="6856718"/>
          </a:xfrm>
          <a:prstGeom prst="rect">
            <a:avLst/>
          </a:prstGeom>
        </p:spPr>
      </p:pic>
    </p:spTree>
    <p:extLst>
      <p:ext uri="{BB962C8B-B14F-4D97-AF65-F5344CB8AC3E}">
        <p14:creationId xmlns:p14="http://schemas.microsoft.com/office/powerpoint/2010/main" val="2723440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D71CB-AA0C-46E0-6203-59F5B7613A35}"/>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CA41B3EA-A012-37B1-04A0-E285D750FCC8}"/>
              </a:ext>
            </a:extLst>
          </p:cNvPr>
          <p:cNvSpPr>
            <a:spLocks noGrp="1"/>
          </p:cNvSpPr>
          <p:nvPr>
            <p:ph idx="1"/>
          </p:nvPr>
        </p:nvSpPr>
        <p:spPr/>
        <p:txBody>
          <a:bodyPr/>
          <a:lstStyle/>
          <a:p>
            <a:endParaRPr lang="en-IT"/>
          </a:p>
        </p:txBody>
      </p:sp>
      <p:pic>
        <p:nvPicPr>
          <p:cNvPr id="4" name="Picture 3">
            <a:extLst>
              <a:ext uri="{FF2B5EF4-FFF2-40B4-BE49-F238E27FC236}">
                <a16:creationId xmlns:a16="http://schemas.microsoft.com/office/drawing/2014/main" id="{CBD1C69D-B889-94B5-A610-87A6E6219148}"/>
              </a:ext>
            </a:extLst>
          </p:cNvPr>
          <p:cNvPicPr>
            <a:picLocks noChangeAspect="1"/>
          </p:cNvPicPr>
          <p:nvPr/>
        </p:nvPicPr>
        <p:blipFill>
          <a:blip r:embed="rId2"/>
          <a:stretch>
            <a:fillRect/>
          </a:stretch>
        </p:blipFill>
        <p:spPr>
          <a:xfrm>
            <a:off x="-118334" y="0"/>
            <a:ext cx="10112188" cy="7584141"/>
          </a:xfrm>
          <a:prstGeom prst="rect">
            <a:avLst/>
          </a:prstGeom>
        </p:spPr>
      </p:pic>
    </p:spTree>
    <p:extLst>
      <p:ext uri="{BB962C8B-B14F-4D97-AF65-F5344CB8AC3E}">
        <p14:creationId xmlns:p14="http://schemas.microsoft.com/office/powerpoint/2010/main" val="3027000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1. Motivation and Context</a:t>
            </a:r>
          </a:p>
        </p:txBody>
      </p:sp>
      <p:sp>
        <p:nvSpPr>
          <p:cNvPr id="3" name="Content Placeholder 2"/>
          <p:cNvSpPr>
            <a:spLocks noGrp="1"/>
          </p:cNvSpPr>
          <p:nvPr>
            <p:ph idx="1"/>
          </p:nvPr>
        </p:nvSpPr>
        <p:spPr/>
        <p:txBody>
          <a:bodyPr>
            <a:normAutofit fontScale="77500" lnSpcReduction="20000"/>
          </a:bodyPr>
          <a:lstStyle/>
          <a:p>
            <a:endParaRPr dirty="0"/>
          </a:p>
          <a:p>
            <a:pPr marL="0" indent="0">
              <a:buNone/>
            </a:pPr>
            <a:r>
              <a:rPr dirty="0"/>
              <a:t>• Software maintenance consumes up to 90% of total cost (Lientz &amp; Swanson, </a:t>
            </a:r>
            <a:r>
              <a:rPr lang="it-IT" dirty="0"/>
              <a:t>201</a:t>
            </a:r>
            <a:r>
              <a:rPr dirty="0"/>
              <a:t>0)</a:t>
            </a:r>
            <a:endParaRPr lang="it-IT" dirty="0"/>
          </a:p>
          <a:p>
            <a:pPr marL="0" indent="0">
              <a:buNone/>
            </a:pPr>
            <a:endParaRPr dirty="0"/>
          </a:p>
          <a:p>
            <a:pPr marL="0" indent="0">
              <a:buNone/>
            </a:pPr>
            <a:r>
              <a:rPr dirty="0"/>
              <a:t>• Automated Program Repair (APR) aims to </a:t>
            </a:r>
            <a:r>
              <a:rPr b="1" u="sng" dirty="0"/>
              <a:t>reduce human debugging</a:t>
            </a:r>
            <a:r>
              <a:rPr dirty="0"/>
              <a:t> effort</a:t>
            </a:r>
          </a:p>
          <a:p>
            <a:pPr marL="0" indent="0">
              <a:buNone/>
            </a:pPr>
            <a:endParaRPr lang="it-IT" dirty="0"/>
          </a:p>
          <a:p>
            <a:pPr marL="0" indent="0">
              <a:buNone/>
            </a:pPr>
            <a:r>
              <a:rPr dirty="0"/>
              <a:t>• </a:t>
            </a:r>
            <a:r>
              <a:rPr lang="it-IT" dirty="0"/>
              <a:t>Goal: </a:t>
            </a:r>
            <a:r>
              <a:rPr lang="it-IT" b="1" u="sng" dirty="0" err="1"/>
              <a:t>search</a:t>
            </a:r>
            <a:r>
              <a:rPr lang="it-IT" b="1" u="sng" dirty="0"/>
              <a:t> </a:t>
            </a:r>
            <a:r>
              <a:rPr lang="it-IT" dirty="0"/>
              <a:t>for a</a:t>
            </a:r>
            <a:r>
              <a:rPr dirty="0"/>
              <a:t> bug fix = a code transformation that makes tests pass again</a:t>
            </a:r>
            <a:r>
              <a:rPr lang="it-IT" dirty="0"/>
              <a:t>;</a:t>
            </a:r>
            <a:endParaRPr dirty="0"/>
          </a:p>
          <a:p>
            <a:pPr marL="0" indent="0">
              <a:buNone/>
            </a:pPr>
            <a:endParaRPr lang="it-IT" dirty="0"/>
          </a:p>
          <a:p>
            <a:pPr marL="0" indent="0">
              <a:buNone/>
            </a:pPr>
            <a:r>
              <a:rPr dirty="0"/>
              <a:t>• Goal: Improve software quality, reliability, and sustainability</a:t>
            </a:r>
            <a:r>
              <a:rPr lang="it-IT" dirty="0"/>
              <a:t>;</a:t>
            </a:r>
            <a:endParaRPr dirty="0"/>
          </a:p>
        </p:txBody>
      </p:sp>
    </p:spTree>
    <p:extLst>
      <p:ext uri="{BB962C8B-B14F-4D97-AF65-F5344CB8AC3E}">
        <p14:creationId xmlns:p14="http://schemas.microsoft.com/office/powerpoint/2010/main" val="1690277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2. What is Automated Program Repair?</a:t>
            </a:r>
          </a:p>
        </p:txBody>
      </p:sp>
      <p:sp>
        <p:nvSpPr>
          <p:cNvPr id="3" name="Content Placeholder 2"/>
          <p:cNvSpPr>
            <a:spLocks noGrp="1"/>
          </p:cNvSpPr>
          <p:nvPr>
            <p:ph idx="1"/>
          </p:nvPr>
        </p:nvSpPr>
        <p:spPr/>
        <p:txBody>
          <a:bodyPr>
            <a:normAutofit fontScale="85000" lnSpcReduction="10000"/>
          </a:bodyPr>
          <a:lstStyle/>
          <a:p>
            <a:endParaRPr dirty="0"/>
          </a:p>
          <a:p>
            <a:pPr marL="0" indent="0">
              <a:buNone/>
            </a:pPr>
            <a:r>
              <a:rPr dirty="0"/>
              <a:t>• Process of automatically modifying software to remove defects</a:t>
            </a:r>
          </a:p>
          <a:p>
            <a:pPr marL="0" indent="0">
              <a:buNone/>
            </a:pPr>
            <a:endParaRPr lang="it-IT" dirty="0"/>
          </a:p>
          <a:p>
            <a:pPr marL="0" indent="0">
              <a:buNone/>
            </a:pPr>
            <a:r>
              <a:rPr dirty="0"/>
              <a:t>• Two key paradigms:</a:t>
            </a:r>
          </a:p>
          <a:p>
            <a:pPr marL="0" indent="0">
              <a:buNone/>
            </a:pPr>
            <a:r>
              <a:rPr lang="it-IT" dirty="0"/>
              <a:t>	</a:t>
            </a:r>
            <a:r>
              <a:rPr dirty="0"/>
              <a:t> – Generate-and-validate (search-based)</a:t>
            </a:r>
          </a:p>
          <a:p>
            <a:pPr marL="0" indent="0">
              <a:buNone/>
            </a:pPr>
            <a:r>
              <a:rPr lang="it-IT" dirty="0"/>
              <a:t>	</a:t>
            </a:r>
            <a:r>
              <a:rPr dirty="0"/>
              <a:t> – Semantics-based (symbolic / constraint solving)</a:t>
            </a:r>
          </a:p>
          <a:p>
            <a:pPr marL="0" indent="0">
              <a:buNone/>
            </a:pPr>
            <a:endParaRPr lang="it-IT" dirty="0"/>
          </a:p>
          <a:p>
            <a:pPr marL="0" indent="0">
              <a:buNone/>
            </a:pPr>
            <a:r>
              <a:rPr dirty="0"/>
              <a:t>• Example: </a:t>
            </a:r>
            <a:r>
              <a:rPr dirty="0" err="1"/>
              <a:t>GenProg</a:t>
            </a:r>
            <a:r>
              <a:rPr dirty="0"/>
              <a:t> automatically evolves candidate patches</a:t>
            </a:r>
          </a:p>
        </p:txBody>
      </p:sp>
    </p:spTree>
    <p:extLst>
      <p:ext uri="{BB962C8B-B14F-4D97-AF65-F5344CB8AC3E}">
        <p14:creationId xmlns:p14="http://schemas.microsoft.com/office/powerpoint/2010/main" val="897633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31BF440-39FA-4087-84CC-2EEC0BBDAF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4" descr="Discovering Archetypes: The Sage Archetype">
            <a:extLst>
              <a:ext uri="{FF2B5EF4-FFF2-40B4-BE49-F238E27FC236}">
                <a16:creationId xmlns:a16="http://schemas.microsoft.com/office/drawing/2014/main" id="{DB256B46-3234-3C02-93D4-5E1AF109E6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8035"/>
          <a:stretch>
            <a:fillRect/>
          </a:stretch>
        </p:blipFill>
        <p:spPr bwMode="auto">
          <a:xfrm>
            <a:off x="3662268" y="10"/>
            <a:ext cx="5481732" cy="3364982"/>
          </a:xfrm>
          <a:custGeom>
            <a:avLst/>
            <a:gdLst/>
            <a:ahLst/>
            <a:cxnLst/>
            <a:rect l="l" t="t" r="r" b="b"/>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noFill/>
          <a:extLst>
            <a:ext uri="{909E8E84-426E-40DD-AFC4-6F175D3DCCD1}">
              <a14:hiddenFill xmlns:a14="http://schemas.microsoft.com/office/drawing/2010/main">
                <a:solidFill>
                  <a:srgbClr val="FFFFFF"/>
                </a:solidFill>
              </a14:hiddenFill>
            </a:ext>
          </a:extLst>
        </p:spPr>
      </p:pic>
      <p:pic>
        <p:nvPicPr>
          <p:cNvPr id="5" name="Content Placeholder 4" descr="A close-up of a logo&#10;&#10;AI-generated content may be incorrect.">
            <a:extLst>
              <a:ext uri="{FF2B5EF4-FFF2-40B4-BE49-F238E27FC236}">
                <a16:creationId xmlns:a16="http://schemas.microsoft.com/office/drawing/2014/main" id="{5A07E9C0-7AC0-65B0-A537-E935C33B9F80}"/>
              </a:ext>
            </a:extLst>
          </p:cNvPr>
          <p:cNvPicPr>
            <a:picLocks noGrp="1" noChangeAspect="1"/>
          </p:cNvPicPr>
          <p:nvPr>
            <p:ph idx="1"/>
          </p:nvPr>
        </p:nvPicPr>
        <p:blipFill>
          <a:blip r:embed="rId3"/>
          <a:srcRect l="6330" r="-3" b="-3"/>
          <a:stretch>
            <a:fillRect/>
          </a:stretch>
        </p:blipFill>
        <p:spPr>
          <a:xfrm>
            <a:off x="3662268" y="3493008"/>
            <a:ext cx="5481732" cy="3364992"/>
          </a:xfrm>
          <a:custGeom>
            <a:avLst/>
            <a:gdLst/>
            <a:ahLst/>
            <a:cxnLst/>
            <a:rect l="l" t="t" r="r" b="b"/>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p:spPr>
      </p:pic>
      <p:sp useBgFill="1">
        <p:nvSpPr>
          <p:cNvPr id="17" name="Freeform: Shape 16">
            <a:extLst>
              <a:ext uri="{FF2B5EF4-FFF2-40B4-BE49-F238E27FC236}">
                <a16:creationId xmlns:a16="http://schemas.microsoft.com/office/drawing/2014/main" id="{F04E4CBA-303B-48BD-8451-C2701CB0E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0" cy="6858000"/>
          </a:xfrm>
          <a:custGeom>
            <a:avLst/>
            <a:gdLst>
              <a:gd name="connsiteX0" fmla="*/ 0 w 6096001"/>
              <a:gd name="connsiteY0" fmla="*/ 0 h 6858000"/>
              <a:gd name="connsiteX1" fmla="*/ 4883024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4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4" y="0"/>
                </a:lnTo>
                <a:lnTo>
                  <a:pt x="4946006" y="69271"/>
                </a:lnTo>
                <a:cubicBezTo>
                  <a:pt x="5656532" y="929100"/>
                  <a:pt x="6096001" y="2116944"/>
                  <a:pt x="6096001" y="3429000"/>
                </a:cubicBezTo>
                <a:cubicBezTo>
                  <a:pt x="6096001" y="4741056"/>
                  <a:pt x="5656532" y="5928900"/>
                  <a:pt x="4946006" y="6788730"/>
                </a:cubicBezTo>
                <a:lnTo>
                  <a:pt x="4883024"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8">
            <a:extLst>
              <a:ext uri="{FF2B5EF4-FFF2-40B4-BE49-F238E27FC236}">
                <a16:creationId xmlns:a16="http://schemas.microsoft.com/office/drawing/2014/main" id="{F6CA58B3-AFCC-4A40-9882-50D508087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65499" cy="6858000"/>
          </a:xfrm>
          <a:custGeom>
            <a:avLst/>
            <a:gdLst>
              <a:gd name="connsiteX0" fmla="*/ 0 w 6087332"/>
              <a:gd name="connsiteY0" fmla="*/ 0 h 6858000"/>
              <a:gd name="connsiteX1" fmla="*/ 4874355 w 6087332"/>
              <a:gd name="connsiteY1" fmla="*/ 0 h 6858000"/>
              <a:gd name="connsiteX2" fmla="*/ 4937337 w 6087332"/>
              <a:gd name="connsiteY2" fmla="*/ 69271 h 6858000"/>
              <a:gd name="connsiteX3" fmla="*/ 6087332 w 6087332"/>
              <a:gd name="connsiteY3" fmla="*/ 3429000 h 6858000"/>
              <a:gd name="connsiteX4" fmla="*/ 4937337 w 6087332"/>
              <a:gd name="connsiteY4" fmla="*/ 6788730 h 6858000"/>
              <a:gd name="connsiteX5" fmla="*/ 4874355 w 6087332"/>
              <a:gd name="connsiteY5" fmla="*/ 6858000 h 6858000"/>
              <a:gd name="connsiteX6" fmla="*/ 0 w 608733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7332" h="6858000">
                <a:moveTo>
                  <a:pt x="0" y="0"/>
                </a:moveTo>
                <a:lnTo>
                  <a:pt x="4874355" y="0"/>
                </a:lnTo>
                <a:lnTo>
                  <a:pt x="4937337" y="69271"/>
                </a:lnTo>
                <a:cubicBezTo>
                  <a:pt x="5647863" y="929100"/>
                  <a:pt x="6087332" y="2116944"/>
                  <a:pt x="6087332" y="3429000"/>
                </a:cubicBezTo>
                <a:cubicBezTo>
                  <a:pt x="6087332" y="4741056"/>
                  <a:pt x="5647863" y="5928900"/>
                  <a:pt x="4937337" y="6788730"/>
                </a:cubicBezTo>
                <a:lnTo>
                  <a:pt x="4874355"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BC2FFA97-3975-E900-186B-780B71F55D10}"/>
              </a:ext>
            </a:extLst>
          </p:cNvPr>
          <p:cNvSpPr>
            <a:spLocks noGrp="1"/>
          </p:cNvSpPr>
          <p:nvPr>
            <p:ph type="title"/>
          </p:nvPr>
        </p:nvSpPr>
        <p:spPr>
          <a:xfrm>
            <a:off x="336042" y="859536"/>
            <a:ext cx="3624601" cy="1243584"/>
          </a:xfrm>
        </p:spPr>
        <p:txBody>
          <a:bodyPr vert="horz" lIns="91440" tIns="45720" rIns="91440" bIns="45720" rtlCol="0" anchor="ctr">
            <a:normAutofit/>
          </a:bodyPr>
          <a:lstStyle/>
          <a:p>
            <a:pPr algn="l" defTabSz="914400">
              <a:lnSpc>
                <a:spcPct val="90000"/>
              </a:lnSpc>
            </a:pPr>
            <a:r>
              <a:rPr lang="en-US" sz="3000" kern="1200">
                <a:solidFill>
                  <a:schemeClr val="tx1"/>
                </a:solidFill>
                <a:latin typeface="+mj-lt"/>
                <a:ea typeface="+mj-ea"/>
                <a:cs typeface="+mj-cs"/>
              </a:rPr>
              <a:t>Monperrus The Sage*!</a:t>
            </a:r>
          </a:p>
        </p:txBody>
      </p:sp>
      <p:sp>
        <p:nvSpPr>
          <p:cNvPr id="21" name="Rectangle 20">
            <a:extLst>
              <a:ext uri="{FF2B5EF4-FFF2-40B4-BE49-F238E27FC236}">
                <a16:creationId xmlns:a16="http://schemas.microsoft.com/office/drawing/2014/main" id="{75C56826-D4E5-42ED-8529-079651CB3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52144"/>
            <a:ext cx="96012"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23" name="Rectangle 22">
            <a:extLst>
              <a:ext uri="{FF2B5EF4-FFF2-40B4-BE49-F238E27FC236}">
                <a16:creationId xmlns:a16="http://schemas.microsoft.com/office/drawing/2014/main" id="{82095FCE-EF05-4443-B97A-85DEE3A5CA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CA00AE6B-AA30-4CF8-BA6F-339B780AD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TextBox 5">
            <a:extLst>
              <a:ext uri="{FF2B5EF4-FFF2-40B4-BE49-F238E27FC236}">
                <a16:creationId xmlns:a16="http://schemas.microsoft.com/office/drawing/2014/main" id="{2F1E7EA1-C4DD-D2EB-A030-14E9B393700F}"/>
              </a:ext>
            </a:extLst>
          </p:cNvPr>
          <p:cNvSpPr txBox="1"/>
          <p:nvPr/>
        </p:nvSpPr>
        <p:spPr>
          <a:xfrm>
            <a:off x="336042" y="2512611"/>
            <a:ext cx="3624602" cy="3664351"/>
          </a:xfrm>
          <a:prstGeom prst="rect">
            <a:avLst/>
          </a:prstGeom>
        </p:spPr>
        <p:txBody>
          <a:bodyPr vert="horz" lIns="91440" tIns="45720" rIns="91440" bIns="45720" rtlCol="0">
            <a:normAutofit/>
          </a:bodyPr>
          <a:lstStyle/>
          <a:p>
            <a:pPr indent="-228600" defTabSz="914400">
              <a:lnSpc>
                <a:spcPct val="90000"/>
              </a:lnSpc>
              <a:spcAft>
                <a:spcPts val="600"/>
              </a:spcAft>
              <a:buFont typeface="Arial" panose="020B0604020202020204" pitchFamily="34" charset="0"/>
              <a:buChar char="•"/>
            </a:pPr>
            <a:r>
              <a:rPr lang="en-US" sz="1700"/>
              <a:t>* Martin Monperrus. The Living Review on Automated Program Repair. [Technical Report] hal-</a:t>
            </a:r>
          </a:p>
          <a:p>
            <a:pPr indent="-228600" defTabSz="914400">
              <a:lnSpc>
                <a:spcPct val="90000"/>
              </a:lnSpc>
              <a:spcAft>
                <a:spcPts val="600"/>
              </a:spcAft>
              <a:buFont typeface="Arial" panose="020B0604020202020204" pitchFamily="34" charset="0"/>
              <a:buChar char="•"/>
            </a:pPr>
            <a:r>
              <a:rPr lang="en-US" sz="1700"/>
              <a:t>01956501, HAL Archives Ouvertes. 2018. hal-01956501v6</a:t>
            </a:r>
          </a:p>
        </p:txBody>
      </p:sp>
      <p:sp>
        <p:nvSpPr>
          <p:cNvPr id="9" name="TextBox 8">
            <a:extLst>
              <a:ext uri="{FF2B5EF4-FFF2-40B4-BE49-F238E27FC236}">
                <a16:creationId xmlns:a16="http://schemas.microsoft.com/office/drawing/2014/main" id="{B858DBDF-2590-575C-9F4D-D19EDC60E82D}"/>
              </a:ext>
            </a:extLst>
          </p:cNvPr>
          <p:cNvSpPr txBox="1"/>
          <p:nvPr/>
        </p:nvSpPr>
        <p:spPr>
          <a:xfrm>
            <a:off x="-180753" y="6464595"/>
            <a:ext cx="184731" cy="369332"/>
          </a:xfrm>
          <a:prstGeom prst="rect">
            <a:avLst/>
          </a:prstGeom>
          <a:noFill/>
        </p:spPr>
        <p:txBody>
          <a:bodyPr wrap="none" rtlCol="0">
            <a:spAutoFit/>
          </a:bodyPr>
          <a:lstStyle/>
          <a:p>
            <a:endParaRPr lang="en-IT" dirty="0"/>
          </a:p>
        </p:txBody>
      </p:sp>
      <p:sp>
        <p:nvSpPr>
          <p:cNvPr id="10" name="TextBox 9">
            <a:extLst>
              <a:ext uri="{FF2B5EF4-FFF2-40B4-BE49-F238E27FC236}">
                <a16:creationId xmlns:a16="http://schemas.microsoft.com/office/drawing/2014/main" id="{C615B358-70C4-86A8-88A1-1BFE0EC4B392}"/>
              </a:ext>
            </a:extLst>
          </p:cNvPr>
          <p:cNvSpPr txBox="1"/>
          <p:nvPr/>
        </p:nvSpPr>
        <p:spPr>
          <a:xfrm>
            <a:off x="95693" y="6390167"/>
            <a:ext cx="184731" cy="369332"/>
          </a:xfrm>
          <a:prstGeom prst="rect">
            <a:avLst/>
          </a:prstGeom>
          <a:noFill/>
        </p:spPr>
        <p:txBody>
          <a:bodyPr wrap="none" rtlCol="0">
            <a:spAutoFit/>
          </a:bodyPr>
          <a:lstStyle/>
          <a:p>
            <a:endParaRPr lang="en-IT"/>
          </a:p>
        </p:txBody>
      </p:sp>
    </p:spTree>
    <p:extLst>
      <p:ext uri="{BB962C8B-B14F-4D97-AF65-F5344CB8AC3E}">
        <p14:creationId xmlns:p14="http://schemas.microsoft.com/office/powerpoint/2010/main" val="80463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37E5321-441D-D617-5EB6-62DC96C8FC3F}"/>
              </a:ext>
            </a:extLst>
          </p:cNvPr>
          <p:cNvPicPr>
            <a:picLocks noGrp="1" noChangeAspect="1"/>
          </p:cNvPicPr>
          <p:nvPr>
            <p:ph idx="1"/>
          </p:nvPr>
        </p:nvPicPr>
        <p:blipFill>
          <a:blip r:embed="rId2"/>
          <a:stretch>
            <a:fillRect/>
          </a:stretch>
        </p:blipFill>
        <p:spPr>
          <a:xfrm>
            <a:off x="482600" y="1333182"/>
            <a:ext cx="8178799" cy="4191634"/>
          </a:xfrm>
          <a:prstGeom prst="rect">
            <a:avLst/>
          </a:prstGeom>
          <a:ln>
            <a:noFill/>
          </a:ln>
        </p:spPr>
      </p:pic>
    </p:spTree>
    <p:extLst>
      <p:ext uri="{BB962C8B-B14F-4D97-AF65-F5344CB8AC3E}">
        <p14:creationId xmlns:p14="http://schemas.microsoft.com/office/powerpoint/2010/main" val="16469654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a program&#10;&#10;AI-generated content may be incorrect.">
            <a:extLst>
              <a:ext uri="{FF2B5EF4-FFF2-40B4-BE49-F238E27FC236}">
                <a16:creationId xmlns:a16="http://schemas.microsoft.com/office/drawing/2014/main" id="{30CCE808-9E06-4484-E359-35CF36302983}"/>
              </a:ext>
            </a:extLst>
          </p:cNvPr>
          <p:cNvPicPr>
            <a:picLocks noGrp="1" noChangeAspect="1"/>
          </p:cNvPicPr>
          <p:nvPr>
            <p:ph idx="1"/>
          </p:nvPr>
        </p:nvPicPr>
        <p:blipFill>
          <a:blip r:embed="rId2"/>
          <a:stretch>
            <a:fillRect/>
          </a:stretch>
        </p:blipFill>
        <p:spPr>
          <a:xfrm>
            <a:off x="1100930" y="643466"/>
            <a:ext cx="6942139" cy="5571067"/>
          </a:xfrm>
          <a:prstGeom prst="rect">
            <a:avLst/>
          </a:prstGeom>
        </p:spPr>
      </p:pic>
      <p:sp>
        <p:nvSpPr>
          <p:cNvPr id="2" name="TextBox 1">
            <a:extLst>
              <a:ext uri="{FF2B5EF4-FFF2-40B4-BE49-F238E27FC236}">
                <a16:creationId xmlns:a16="http://schemas.microsoft.com/office/drawing/2014/main" id="{085290D8-A73E-560F-3181-DA4315CFD024}"/>
              </a:ext>
            </a:extLst>
          </p:cNvPr>
          <p:cNvSpPr txBox="1"/>
          <p:nvPr/>
        </p:nvSpPr>
        <p:spPr>
          <a:xfrm>
            <a:off x="1626699" y="0"/>
            <a:ext cx="6066404" cy="523220"/>
          </a:xfrm>
          <a:prstGeom prst="rect">
            <a:avLst/>
          </a:prstGeom>
          <a:noFill/>
        </p:spPr>
        <p:txBody>
          <a:bodyPr wrap="none" rtlCol="0">
            <a:spAutoFit/>
          </a:bodyPr>
          <a:lstStyle/>
          <a:p>
            <a:r>
              <a:rPr lang="en-IT" sz="2800" b="1" dirty="0"/>
              <a:t>Semantics-Based Approach: a summary</a:t>
            </a:r>
          </a:p>
        </p:txBody>
      </p:sp>
    </p:spTree>
    <p:extLst>
      <p:ext uri="{BB962C8B-B14F-4D97-AF65-F5344CB8AC3E}">
        <p14:creationId xmlns:p14="http://schemas.microsoft.com/office/powerpoint/2010/main" val="27937443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diagram of a program&#10;&#10;AI-generated content may be incorrect.">
            <a:extLst>
              <a:ext uri="{FF2B5EF4-FFF2-40B4-BE49-F238E27FC236}">
                <a16:creationId xmlns:a16="http://schemas.microsoft.com/office/drawing/2014/main" id="{A8AB5019-9CA3-CE05-2FF6-56AD9366211B}"/>
              </a:ext>
            </a:extLst>
          </p:cNvPr>
          <p:cNvPicPr>
            <a:picLocks noGrp="1" noChangeAspect="1"/>
          </p:cNvPicPr>
          <p:nvPr>
            <p:ph idx="1"/>
          </p:nvPr>
        </p:nvPicPr>
        <p:blipFill>
          <a:blip r:embed="rId2"/>
          <a:stretch>
            <a:fillRect/>
          </a:stretch>
        </p:blipFill>
        <p:spPr>
          <a:xfrm>
            <a:off x="660400" y="2091531"/>
            <a:ext cx="7823200" cy="3543300"/>
          </a:xfrm>
        </p:spPr>
      </p:pic>
      <p:sp>
        <p:nvSpPr>
          <p:cNvPr id="6" name="TextBox 5">
            <a:extLst>
              <a:ext uri="{FF2B5EF4-FFF2-40B4-BE49-F238E27FC236}">
                <a16:creationId xmlns:a16="http://schemas.microsoft.com/office/drawing/2014/main" id="{73CFDFBE-8E29-868F-2E9B-36A4B3722D83}"/>
              </a:ext>
            </a:extLst>
          </p:cNvPr>
          <p:cNvSpPr txBox="1"/>
          <p:nvPr/>
        </p:nvSpPr>
        <p:spPr>
          <a:xfrm>
            <a:off x="1970944" y="301215"/>
            <a:ext cx="4640950" cy="523220"/>
          </a:xfrm>
          <a:prstGeom prst="rect">
            <a:avLst/>
          </a:prstGeom>
          <a:noFill/>
        </p:spPr>
        <p:txBody>
          <a:bodyPr wrap="none" rtlCol="0">
            <a:spAutoFit/>
          </a:bodyPr>
          <a:lstStyle/>
          <a:p>
            <a:r>
              <a:rPr lang="en-IT" sz="2800" b="1" dirty="0"/>
              <a:t>The search-based counterpart</a:t>
            </a:r>
          </a:p>
        </p:txBody>
      </p:sp>
    </p:spTree>
    <p:extLst>
      <p:ext uri="{BB962C8B-B14F-4D97-AF65-F5344CB8AC3E}">
        <p14:creationId xmlns:p14="http://schemas.microsoft.com/office/powerpoint/2010/main" val="953146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7" name="Rectangle 1036">
            <a:extLst>
              <a:ext uri="{FF2B5EF4-FFF2-40B4-BE49-F238E27FC236}">
                <a16:creationId xmlns:a16="http://schemas.microsoft.com/office/drawing/2014/main" id="{57845966-6EFC-468A-9CC7-BAB4B9585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6858000"/>
          </a:xfrm>
          <a:prstGeom prst="rect">
            <a:avLst/>
          </a:prstGeom>
          <a:solidFill>
            <a:srgbClr val="6C7F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038" name="Picture 1037">
            <a:extLst>
              <a:ext uri="{FF2B5EF4-FFF2-40B4-BE49-F238E27FC236}">
                <a16:creationId xmlns:a16="http://schemas.microsoft.com/office/drawing/2014/main" id="{75554383-98AF-4A47-BB65-705FAAA4BE6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12500" r="12500"/>
          <a:stretch/>
        </p:blipFill>
        <p:spPr>
          <a:xfrm>
            <a:off x="0" y="0"/>
            <a:ext cx="9144000" cy="6858000"/>
          </a:xfrm>
          <a:prstGeom prst="rect">
            <a:avLst/>
          </a:prstGeom>
        </p:spPr>
      </p:pic>
      <p:sp>
        <p:nvSpPr>
          <p:cNvPr id="1039" name="Freeform: Shape 1034">
            <a:extLst>
              <a:ext uri="{FF2B5EF4-FFF2-40B4-BE49-F238E27FC236}">
                <a16:creationId xmlns:a16="http://schemas.microsoft.com/office/drawing/2014/main" id="{ADAD1991-FFD1-4E94-ABAB-7560D3300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5410" y="-3970"/>
            <a:ext cx="7748362" cy="6874811"/>
          </a:xfrm>
          <a:custGeom>
            <a:avLst/>
            <a:gdLst>
              <a:gd name="connsiteX0" fmla="*/ 2232159 w 7837716"/>
              <a:gd name="connsiteY0" fmla="*/ 0 h 6858000"/>
              <a:gd name="connsiteX1" fmla="*/ 5605557 w 7837716"/>
              <a:gd name="connsiteY1" fmla="*/ 0 h 6858000"/>
              <a:gd name="connsiteX2" fmla="*/ 5617845 w 7837716"/>
              <a:gd name="connsiteY2" fmla="*/ 5384 h 6858000"/>
              <a:gd name="connsiteX3" fmla="*/ 7837716 w 7837716"/>
              <a:gd name="connsiteY3" fmla="*/ 3429000 h 6858000"/>
              <a:gd name="connsiteX4" fmla="*/ 5617845 w 7837716"/>
              <a:gd name="connsiteY4" fmla="*/ 6852616 h 6858000"/>
              <a:gd name="connsiteX5" fmla="*/ 5605557 w 7837716"/>
              <a:gd name="connsiteY5" fmla="*/ 6858000 h 6858000"/>
              <a:gd name="connsiteX6" fmla="*/ 2232159 w 7837716"/>
              <a:gd name="connsiteY6" fmla="*/ 6858000 h 6858000"/>
              <a:gd name="connsiteX7" fmla="*/ 2219871 w 7837716"/>
              <a:gd name="connsiteY7" fmla="*/ 6852616 h 6858000"/>
              <a:gd name="connsiteX8" fmla="*/ 0 w 7837716"/>
              <a:gd name="connsiteY8" fmla="*/ 3429000 h 6858000"/>
              <a:gd name="connsiteX9" fmla="*/ 2219871 w 7837716"/>
              <a:gd name="connsiteY9" fmla="*/ 538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37716" h="6858000">
                <a:moveTo>
                  <a:pt x="2232159" y="0"/>
                </a:moveTo>
                <a:lnTo>
                  <a:pt x="5605557" y="0"/>
                </a:lnTo>
                <a:lnTo>
                  <a:pt x="5617845" y="5384"/>
                </a:lnTo>
                <a:cubicBezTo>
                  <a:pt x="6931322" y="618789"/>
                  <a:pt x="7837716" y="1921305"/>
                  <a:pt x="7837716" y="3429000"/>
                </a:cubicBezTo>
                <a:cubicBezTo>
                  <a:pt x="7837716" y="4936696"/>
                  <a:pt x="6931322" y="6239212"/>
                  <a:pt x="5617845" y="6852616"/>
                </a:cubicBezTo>
                <a:lnTo>
                  <a:pt x="5605557" y="6858000"/>
                </a:lnTo>
                <a:lnTo>
                  <a:pt x="2232159" y="6858000"/>
                </a:lnTo>
                <a:lnTo>
                  <a:pt x="2219871" y="6852616"/>
                </a:lnTo>
                <a:cubicBezTo>
                  <a:pt x="906394" y="6239212"/>
                  <a:pt x="0" y="4936696"/>
                  <a:pt x="0" y="3429000"/>
                </a:cubicBezTo>
                <a:cubicBezTo>
                  <a:pt x="0" y="1921305"/>
                  <a:pt x="906394" y="618789"/>
                  <a:pt x="2219871" y="5384"/>
                </a:cubicBezTo>
                <a:close/>
              </a:path>
            </a:pathLst>
          </a:custGeom>
          <a:solidFill>
            <a:schemeClr val="bg1"/>
          </a:solidFill>
          <a:ln>
            <a:gradFill>
              <a:gsLst>
                <a:gs pos="0">
                  <a:schemeClr val="accent1">
                    <a:lumMod val="40000"/>
                    <a:lumOff val="60000"/>
                  </a:schemeClr>
                </a:gs>
                <a:gs pos="23000">
                  <a:schemeClr val="accent1">
                    <a:lumMod val="45000"/>
                    <a:lumOff val="55000"/>
                  </a:schemeClr>
                </a:gs>
                <a:gs pos="83000">
                  <a:schemeClr val="bg2">
                    <a:lumMod val="82000"/>
                  </a:schemeClr>
                </a:gs>
                <a:gs pos="100000">
                  <a:schemeClr val="bg2">
                    <a:lumMod val="87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a:p>
        </p:txBody>
      </p:sp>
      <p:pic>
        <p:nvPicPr>
          <p:cNvPr id="1026" name="Picture 2">
            <a:extLst>
              <a:ext uri="{FF2B5EF4-FFF2-40B4-BE49-F238E27FC236}">
                <a16:creationId xmlns:a16="http://schemas.microsoft.com/office/drawing/2014/main" id="{AF287BE5-8843-7032-7E96-8ED7E389A66F}"/>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3420225" y="1250065"/>
            <a:ext cx="4275545" cy="419003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C3101FA-3977-611E-DE31-8F258076AC8E}"/>
              </a:ext>
            </a:extLst>
          </p:cNvPr>
          <p:cNvSpPr txBox="1"/>
          <p:nvPr/>
        </p:nvSpPr>
        <p:spPr>
          <a:xfrm>
            <a:off x="2712223" y="5380673"/>
            <a:ext cx="4209437" cy="923330"/>
          </a:xfrm>
          <a:prstGeom prst="rect">
            <a:avLst/>
          </a:prstGeom>
          <a:noFill/>
        </p:spPr>
        <p:txBody>
          <a:bodyPr wrap="square" rtlCol="0">
            <a:spAutoFit/>
          </a:bodyPr>
          <a:lstStyle/>
          <a:p>
            <a:r>
              <a:rPr lang="en-IT" dirty="0"/>
              <a:t>3 – ITERATE: Given a spec, find a graph rewriting rule that changes bug statement into bug-free statement with the fix F.</a:t>
            </a:r>
          </a:p>
        </p:txBody>
      </p:sp>
      <p:sp>
        <p:nvSpPr>
          <p:cNvPr id="5" name="Rectangle 4">
            <a:extLst>
              <a:ext uri="{FF2B5EF4-FFF2-40B4-BE49-F238E27FC236}">
                <a16:creationId xmlns:a16="http://schemas.microsoft.com/office/drawing/2014/main" id="{DE7E25CE-B277-B8B5-56C7-D72B01352C3F}"/>
              </a:ext>
            </a:extLst>
          </p:cNvPr>
          <p:cNvSpPr/>
          <p:nvPr/>
        </p:nvSpPr>
        <p:spPr>
          <a:xfrm>
            <a:off x="3321934" y="1134319"/>
            <a:ext cx="4039565" cy="1551008"/>
          </a:xfrm>
          <a:prstGeom prst="rect">
            <a:avLst/>
          </a:prstGeom>
          <a:solidFill>
            <a:srgbClr val="FFC000">
              <a:alpha val="36197"/>
            </a:srgbClr>
          </a:solidFill>
          <a:ln>
            <a:solidFill>
              <a:schemeClr val="accent1">
                <a:shade val="95000"/>
                <a:satMod val="10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dirty="0"/>
          </a:p>
        </p:txBody>
      </p:sp>
      <p:sp>
        <p:nvSpPr>
          <p:cNvPr id="6" name="TextBox 5">
            <a:extLst>
              <a:ext uri="{FF2B5EF4-FFF2-40B4-BE49-F238E27FC236}">
                <a16:creationId xmlns:a16="http://schemas.microsoft.com/office/drawing/2014/main" id="{87538178-6D5F-1CCD-2FCE-2924FDE3A296}"/>
              </a:ext>
            </a:extLst>
          </p:cNvPr>
          <p:cNvSpPr txBox="1"/>
          <p:nvPr/>
        </p:nvSpPr>
        <p:spPr>
          <a:xfrm>
            <a:off x="1330394" y="1725156"/>
            <a:ext cx="1875793" cy="646331"/>
          </a:xfrm>
          <a:prstGeom prst="rect">
            <a:avLst/>
          </a:prstGeom>
          <a:noFill/>
        </p:spPr>
        <p:txBody>
          <a:bodyPr wrap="square" rtlCol="0">
            <a:spAutoFit/>
          </a:bodyPr>
          <a:lstStyle/>
          <a:p>
            <a:r>
              <a:rPr lang="en-GB" dirty="0"/>
              <a:t>1. F</a:t>
            </a:r>
            <a:r>
              <a:rPr lang="en-IT" dirty="0"/>
              <a:t>ind a buggy SLOC</a:t>
            </a:r>
          </a:p>
        </p:txBody>
      </p:sp>
      <p:sp>
        <p:nvSpPr>
          <p:cNvPr id="7" name="TextBox 6">
            <a:extLst>
              <a:ext uri="{FF2B5EF4-FFF2-40B4-BE49-F238E27FC236}">
                <a16:creationId xmlns:a16="http://schemas.microsoft.com/office/drawing/2014/main" id="{799678E1-44EA-CF36-2728-0A58E4598F94}"/>
              </a:ext>
            </a:extLst>
          </p:cNvPr>
          <p:cNvSpPr txBox="1"/>
          <p:nvPr/>
        </p:nvSpPr>
        <p:spPr>
          <a:xfrm>
            <a:off x="1774326" y="3436885"/>
            <a:ext cx="1875793" cy="369332"/>
          </a:xfrm>
          <a:prstGeom prst="rect">
            <a:avLst/>
          </a:prstGeom>
          <a:noFill/>
        </p:spPr>
        <p:txBody>
          <a:bodyPr wrap="square" rtlCol="0">
            <a:spAutoFit/>
          </a:bodyPr>
          <a:lstStyle/>
          <a:p>
            <a:r>
              <a:rPr lang="en-GB" dirty="0"/>
              <a:t>2. F</a:t>
            </a:r>
            <a:r>
              <a:rPr lang="en-IT" dirty="0"/>
              <a:t>ind a fix F</a:t>
            </a:r>
          </a:p>
        </p:txBody>
      </p:sp>
    </p:spTree>
    <p:extLst>
      <p:ext uri="{BB962C8B-B14F-4D97-AF65-F5344CB8AC3E}">
        <p14:creationId xmlns:p14="http://schemas.microsoft.com/office/powerpoint/2010/main" val="3421180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9507A-D344-E810-3A17-5277B0E5B4CE}"/>
              </a:ext>
            </a:extLst>
          </p:cNvPr>
          <p:cNvSpPr>
            <a:spLocks noGrp="1"/>
          </p:cNvSpPr>
          <p:nvPr>
            <p:ph type="title"/>
          </p:nvPr>
        </p:nvSpPr>
        <p:spPr/>
        <p:txBody>
          <a:bodyPr/>
          <a:lstStyle/>
          <a:p>
            <a:r>
              <a:rPr lang="en-GB" dirty="0"/>
              <a:t>B</a:t>
            </a:r>
            <a:r>
              <a:rPr lang="en-IT" dirty="0"/>
              <a:t>ut…</a:t>
            </a:r>
          </a:p>
        </p:txBody>
      </p:sp>
      <p:sp>
        <p:nvSpPr>
          <p:cNvPr id="3" name="Content Placeholder 2">
            <a:extLst>
              <a:ext uri="{FF2B5EF4-FFF2-40B4-BE49-F238E27FC236}">
                <a16:creationId xmlns:a16="http://schemas.microsoft.com/office/drawing/2014/main" id="{074E86CC-AD8D-5B9B-6A4F-1F3EB80DB339}"/>
              </a:ext>
            </a:extLst>
          </p:cNvPr>
          <p:cNvSpPr>
            <a:spLocks noGrp="1"/>
          </p:cNvSpPr>
          <p:nvPr>
            <p:ph idx="1"/>
          </p:nvPr>
        </p:nvSpPr>
        <p:spPr>
          <a:xfrm>
            <a:off x="457200" y="1600200"/>
            <a:ext cx="3189910" cy="4407061"/>
          </a:xfrm>
        </p:spPr>
        <p:txBody>
          <a:bodyPr/>
          <a:lstStyle/>
          <a:p>
            <a:r>
              <a:rPr lang="en-IT" dirty="0"/>
              <a:t>Too complex</a:t>
            </a:r>
          </a:p>
          <a:p>
            <a:endParaRPr lang="en-IT" dirty="0"/>
          </a:p>
          <a:p>
            <a:r>
              <a:rPr lang="en-GB" dirty="0"/>
              <a:t>I</a:t>
            </a:r>
            <a:r>
              <a:rPr lang="en-IT" dirty="0"/>
              <a:t>mplies formal specification</a:t>
            </a:r>
          </a:p>
          <a:p>
            <a:endParaRPr lang="en-GB" dirty="0"/>
          </a:p>
          <a:p>
            <a:r>
              <a:rPr lang="en-GB" dirty="0"/>
              <a:t>G</a:t>
            </a:r>
            <a:r>
              <a:rPr lang="en-IT" dirty="0"/>
              <a:t>raph grammars!</a:t>
            </a:r>
          </a:p>
        </p:txBody>
      </p:sp>
      <p:pic>
        <p:nvPicPr>
          <p:cNvPr id="2050" name="Picture 2" descr="2: A staging graph for a graph grammar. Nodes represent ...">
            <a:extLst>
              <a:ext uri="{FF2B5EF4-FFF2-40B4-BE49-F238E27FC236}">
                <a16:creationId xmlns:a16="http://schemas.microsoft.com/office/drawing/2014/main" id="{0E2AABDE-982B-628B-E270-3E84C7A143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7110" y="1386330"/>
            <a:ext cx="5496890" cy="47398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267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Wood human figure">
            <a:extLst>
              <a:ext uri="{FF2B5EF4-FFF2-40B4-BE49-F238E27FC236}">
                <a16:creationId xmlns:a16="http://schemas.microsoft.com/office/drawing/2014/main" id="{8D702192-6531-F39D-7704-C582C8930DFD}"/>
              </a:ext>
            </a:extLst>
          </p:cNvPr>
          <p:cNvPicPr>
            <a:picLocks noChangeAspect="1"/>
          </p:cNvPicPr>
          <p:nvPr/>
        </p:nvPicPr>
        <p:blipFill>
          <a:blip r:embed="rId2"/>
          <a:srcRect r="10999" b="-1"/>
          <a:stretch>
            <a:fillRect/>
          </a:stretch>
        </p:blipFill>
        <p:spPr>
          <a:xfrm>
            <a:off x="20" y="10"/>
            <a:ext cx="9143980" cy="6857990"/>
          </a:xfrm>
          <a:prstGeom prst="rect">
            <a:avLst/>
          </a:prstGeom>
        </p:spPr>
      </p:pic>
      <p:sp>
        <p:nvSpPr>
          <p:cNvPr id="9"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9144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12757B-9A1E-7C84-4548-F2781C743087}"/>
              </a:ext>
            </a:extLst>
          </p:cNvPr>
          <p:cNvSpPr>
            <a:spLocks noGrp="1"/>
          </p:cNvSpPr>
          <p:nvPr>
            <p:ph type="title"/>
          </p:nvPr>
        </p:nvSpPr>
        <p:spPr>
          <a:xfrm>
            <a:off x="392906" y="425950"/>
            <a:ext cx="8408194" cy="744836"/>
          </a:xfrm>
        </p:spPr>
        <p:txBody>
          <a:bodyPr vert="horz" lIns="91440" tIns="45720" rIns="91440" bIns="45720" rtlCol="0" anchor="ctr">
            <a:normAutofit/>
          </a:bodyPr>
          <a:lstStyle/>
          <a:p>
            <a:pPr defTabSz="914400">
              <a:lnSpc>
                <a:spcPct val="90000"/>
              </a:lnSpc>
            </a:pPr>
            <a:r>
              <a:rPr lang="en-US" sz="3100" dirty="0">
                <a:solidFill>
                  <a:schemeClr val="tx1">
                    <a:lumMod val="85000"/>
                    <a:lumOff val="15000"/>
                  </a:schemeClr>
                </a:solidFill>
              </a:rPr>
              <a:t>What do we do?</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48024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1AA43-9913-C277-C11F-2B37B07E375F}"/>
              </a:ext>
            </a:extLst>
          </p:cNvPr>
          <p:cNvSpPr>
            <a:spLocks noGrp="1"/>
          </p:cNvSpPr>
          <p:nvPr>
            <p:ph type="title"/>
          </p:nvPr>
        </p:nvSpPr>
        <p:spPr/>
        <p:txBody>
          <a:bodyPr/>
          <a:lstStyle/>
          <a:p>
            <a:endParaRPr lang="en-IT"/>
          </a:p>
        </p:txBody>
      </p:sp>
      <p:pic>
        <p:nvPicPr>
          <p:cNvPr id="5" name="Content Placeholder 4" descr="A computer and a dna strand&#10;&#10;AI-generated content may be incorrect.">
            <a:extLst>
              <a:ext uri="{FF2B5EF4-FFF2-40B4-BE49-F238E27FC236}">
                <a16:creationId xmlns:a16="http://schemas.microsoft.com/office/drawing/2014/main" id="{225A0EA1-AF88-4F3D-A3AB-50994AC4D480}"/>
              </a:ext>
            </a:extLst>
          </p:cNvPr>
          <p:cNvPicPr>
            <a:picLocks noGrp="1" noChangeAspect="1"/>
          </p:cNvPicPr>
          <p:nvPr>
            <p:ph idx="1"/>
          </p:nvPr>
        </p:nvPicPr>
        <p:blipFill>
          <a:blip r:embed="rId2"/>
          <a:stretch>
            <a:fillRect/>
          </a:stretch>
        </p:blipFill>
        <p:spPr>
          <a:xfrm>
            <a:off x="0" y="403730"/>
            <a:ext cx="10410715" cy="5673254"/>
          </a:xfrm>
        </p:spPr>
      </p:pic>
    </p:spTree>
    <p:extLst>
      <p:ext uri="{BB962C8B-B14F-4D97-AF65-F5344CB8AC3E}">
        <p14:creationId xmlns:p14="http://schemas.microsoft.com/office/powerpoint/2010/main" val="23233771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C2D62-76D7-4221-3E19-EB329E6F64F3}"/>
              </a:ext>
            </a:extLst>
          </p:cNvPr>
          <p:cNvSpPr>
            <a:spLocks noGrp="1"/>
          </p:cNvSpPr>
          <p:nvPr>
            <p:ph type="title"/>
          </p:nvPr>
        </p:nvSpPr>
        <p:spPr/>
        <p:txBody>
          <a:bodyPr/>
          <a:lstStyle/>
          <a:p>
            <a:endParaRPr lang="en-IT"/>
          </a:p>
        </p:txBody>
      </p:sp>
      <p:pic>
        <p:nvPicPr>
          <p:cNvPr id="5" name="Content Placeholder 4" descr="A close-up of a document&#10;&#10;AI-generated content may be incorrect.">
            <a:extLst>
              <a:ext uri="{FF2B5EF4-FFF2-40B4-BE49-F238E27FC236}">
                <a16:creationId xmlns:a16="http://schemas.microsoft.com/office/drawing/2014/main" id="{5DCFA3ED-8E47-D36F-77E6-064A5E6C654C}"/>
              </a:ext>
            </a:extLst>
          </p:cNvPr>
          <p:cNvPicPr>
            <a:picLocks noGrp="1" noChangeAspect="1"/>
          </p:cNvPicPr>
          <p:nvPr>
            <p:ph idx="1"/>
          </p:nvPr>
        </p:nvPicPr>
        <p:blipFill>
          <a:blip r:embed="rId2"/>
          <a:stretch>
            <a:fillRect/>
          </a:stretch>
        </p:blipFill>
        <p:spPr>
          <a:xfrm>
            <a:off x="0" y="126402"/>
            <a:ext cx="9216887" cy="5112572"/>
          </a:xfrm>
        </p:spPr>
      </p:pic>
    </p:spTree>
    <p:extLst>
      <p:ext uri="{BB962C8B-B14F-4D97-AF65-F5344CB8AC3E}">
        <p14:creationId xmlns:p14="http://schemas.microsoft.com/office/powerpoint/2010/main" val="7552005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86B21-C754-AD2B-8F64-8A27F259D9EF}"/>
              </a:ext>
            </a:extLst>
          </p:cNvPr>
          <p:cNvSpPr>
            <a:spLocks noGrp="1"/>
          </p:cNvSpPr>
          <p:nvPr>
            <p:ph type="title"/>
          </p:nvPr>
        </p:nvSpPr>
        <p:spPr/>
        <p:txBody>
          <a:bodyPr/>
          <a:lstStyle/>
          <a:p>
            <a:endParaRPr lang="en-IT"/>
          </a:p>
        </p:txBody>
      </p:sp>
      <p:pic>
        <p:nvPicPr>
          <p:cNvPr id="5" name="Content Placeholder 4" descr="A diagram of a bug&#10;&#10;AI-generated content may be incorrect.">
            <a:extLst>
              <a:ext uri="{FF2B5EF4-FFF2-40B4-BE49-F238E27FC236}">
                <a16:creationId xmlns:a16="http://schemas.microsoft.com/office/drawing/2014/main" id="{F2A6673B-5EF3-9929-B78C-6DA3C7BE574C}"/>
              </a:ext>
            </a:extLst>
          </p:cNvPr>
          <p:cNvPicPr>
            <a:picLocks noGrp="1" noChangeAspect="1"/>
          </p:cNvPicPr>
          <p:nvPr>
            <p:ph idx="1"/>
          </p:nvPr>
        </p:nvPicPr>
        <p:blipFill>
          <a:blip r:embed="rId2"/>
          <a:stretch>
            <a:fillRect/>
          </a:stretch>
        </p:blipFill>
        <p:spPr>
          <a:xfrm>
            <a:off x="-1" y="846138"/>
            <a:ext cx="9146007" cy="4489655"/>
          </a:xfrm>
        </p:spPr>
      </p:pic>
    </p:spTree>
    <p:extLst>
      <p:ext uri="{BB962C8B-B14F-4D97-AF65-F5344CB8AC3E}">
        <p14:creationId xmlns:p14="http://schemas.microsoft.com/office/powerpoint/2010/main" val="15223037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715EDC03-1A29-E009-3FC8-776DC73F4847}"/>
              </a:ext>
            </a:extLst>
          </p:cNvPr>
          <p:cNvSpPr txBox="1">
            <a:spLocks/>
          </p:cNvSpPr>
          <p:nvPr/>
        </p:nvSpPr>
        <p:spPr>
          <a:xfrm>
            <a:off x="268941" y="-75305"/>
            <a:ext cx="7982174" cy="85907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t>Premises for Automated Program Repair (APR)</a:t>
            </a:r>
          </a:p>
        </p:txBody>
      </p:sp>
      <p:sp>
        <p:nvSpPr>
          <p:cNvPr id="5" name="Content Placeholder 5">
            <a:extLst>
              <a:ext uri="{FF2B5EF4-FFF2-40B4-BE49-F238E27FC236}">
                <a16:creationId xmlns:a16="http://schemas.microsoft.com/office/drawing/2014/main" id="{7CA08E8B-1D4C-8ACA-8BD6-FD58028A9419}"/>
              </a:ext>
            </a:extLst>
          </p:cNvPr>
          <p:cNvSpPr txBox="1">
            <a:spLocks/>
          </p:cNvSpPr>
          <p:nvPr/>
        </p:nvSpPr>
        <p:spPr>
          <a:xfrm>
            <a:off x="401933" y="783771"/>
            <a:ext cx="8320035" cy="3278122"/>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514337" lvl="1" indent="-385754">
              <a:buFont typeface="+mj-lt"/>
              <a:buAutoNum type="arabicPeriod"/>
            </a:pPr>
            <a:r>
              <a:rPr lang="en-US" dirty="0"/>
              <a:t>Many bugs follow common patterns.</a:t>
            </a:r>
          </a:p>
          <a:p>
            <a:pPr marL="729835" lvl="2" indent="-385754"/>
            <a:r>
              <a:rPr lang="en-US" dirty="0"/>
              <a:t>E.g., “</a:t>
            </a:r>
            <a:r>
              <a:rPr lang="en-US" sz="1800" dirty="0">
                <a:solidFill>
                  <a:srgbClr val="0028F0"/>
                </a:solidFill>
                <a:latin typeface="Consolas" panose="020B0609020204030204" pitchFamily="49" charset="0"/>
                <a:cs typeface="Consolas" panose="020B0609020204030204" pitchFamily="49" charset="0"/>
              </a:rPr>
              <a:t>p = malloc(n</a:t>
            </a:r>
            <a:r>
              <a:rPr lang="en-US" sz="1800" dirty="0">
                <a:solidFill>
                  <a:srgbClr val="0028F0"/>
                </a:solidFill>
                <a:cs typeface="Consolas" panose="020B0609020204030204" pitchFamily="49" charset="0"/>
              </a:rPr>
              <a:t> </a:t>
            </a:r>
            <a:r>
              <a:rPr lang="en-US" sz="1800" dirty="0">
                <a:solidFill>
                  <a:srgbClr val="0028F0"/>
                </a:solidFill>
                <a:latin typeface="Consolas" panose="020B0609020204030204" pitchFamily="49" charset="0"/>
                <a:cs typeface="Consolas" panose="020B0609020204030204" pitchFamily="49" charset="0"/>
              </a:rPr>
              <a:t>*</a:t>
            </a:r>
            <a:r>
              <a:rPr lang="en-US" sz="1800" dirty="0">
                <a:solidFill>
                  <a:srgbClr val="0028F0"/>
                </a:solidFill>
                <a:cs typeface="Consolas" panose="020B0609020204030204" pitchFamily="49" charset="0"/>
              </a:rPr>
              <a:t> </a:t>
            </a:r>
            <a:r>
              <a:rPr lang="en-US" sz="1800" dirty="0" err="1">
                <a:solidFill>
                  <a:srgbClr val="0028F0"/>
                </a:solidFill>
                <a:latin typeface="Consolas" panose="020B0609020204030204" pitchFamily="49" charset="0"/>
                <a:cs typeface="Consolas" panose="020B0609020204030204" pitchFamily="49" charset="0"/>
              </a:rPr>
              <a:t>sizeof</a:t>
            </a:r>
            <a:r>
              <a:rPr lang="en-US" sz="1800" dirty="0">
                <a:solidFill>
                  <a:srgbClr val="0028F0"/>
                </a:solidFill>
                <a:latin typeface="Consolas" panose="020B0609020204030204" pitchFamily="49" charset="0"/>
                <a:cs typeface="Consolas" panose="020B0609020204030204" pitchFamily="49" charset="0"/>
              </a:rPr>
              <a:t>(T))</a:t>
            </a:r>
            <a:r>
              <a:rPr lang="en-US" dirty="0"/>
              <a:t>” where </a:t>
            </a:r>
            <a:r>
              <a:rPr lang="en-US" i="1" dirty="0"/>
              <a:t>n</a:t>
            </a:r>
            <a:r>
              <a:rPr lang="en-US" dirty="0"/>
              <a:t> is risky.</a:t>
            </a:r>
          </a:p>
          <a:p>
            <a:pPr marL="729835" lvl="2" indent="-385754"/>
            <a:r>
              <a:rPr lang="en-US" dirty="0"/>
              <a:t>Integer overflow </a:t>
            </a:r>
            <a:r>
              <a:rPr lang="en-US" dirty="0">
                <a:latin typeface="Cambria Math" panose="02040503050406030204" pitchFamily="18" charset="0"/>
                <a:ea typeface="Cambria Math" panose="02040503050406030204" pitchFamily="18" charset="0"/>
              </a:rPr>
              <a:t>⟹  </a:t>
            </a:r>
            <a:r>
              <a:rPr lang="en-US" dirty="0"/>
              <a:t>too little memory gets allocated.</a:t>
            </a:r>
          </a:p>
          <a:p>
            <a:pPr marL="514337" lvl="1" indent="-385754">
              <a:spcBef>
                <a:spcPts val="1500"/>
              </a:spcBef>
              <a:buFont typeface="+mj-lt"/>
              <a:buAutoNum type="arabicPeriod"/>
            </a:pPr>
            <a:r>
              <a:rPr lang="en-US" dirty="0"/>
              <a:t>By recognizing such a pattern, it is possible to confidently guess the developer's intention (the </a:t>
            </a:r>
            <a:r>
              <a:rPr lang="en-US" b="1" i="1" dirty="0">
                <a:solidFill>
                  <a:srgbClr val="0070C0"/>
                </a:solidFill>
              </a:rPr>
              <a:t>inferred specification</a:t>
            </a:r>
            <a:r>
              <a:rPr lang="en-US" dirty="0"/>
              <a:t>).</a:t>
            </a:r>
          </a:p>
          <a:p>
            <a:pPr marL="729835" lvl="2" indent="-385754"/>
            <a:r>
              <a:rPr lang="en-US" dirty="0"/>
              <a:t>E.g., “Try to allocate enough memory to hold </a:t>
            </a:r>
            <a:r>
              <a:rPr lang="en-US" i="1" dirty="0"/>
              <a:t>n</a:t>
            </a:r>
            <a:r>
              <a:rPr lang="en-US" dirty="0"/>
              <a:t> objects of type </a:t>
            </a:r>
            <a:r>
              <a:rPr lang="en-US" i="1" dirty="0"/>
              <a:t>T</a:t>
            </a:r>
            <a:r>
              <a:rPr lang="en-US" dirty="0"/>
              <a:t>.”</a:t>
            </a:r>
          </a:p>
          <a:p>
            <a:pPr marL="514337" lvl="1" indent="-385754">
              <a:spcBef>
                <a:spcPts val="1500"/>
              </a:spcBef>
              <a:buFont typeface="+mj-lt"/>
              <a:buAutoNum type="arabicPeriod"/>
            </a:pPr>
            <a:r>
              <a:rPr lang="en-US" dirty="0"/>
              <a:t>It is possible to repair the code to satisfy this inferred spec.</a:t>
            </a:r>
          </a:p>
          <a:p>
            <a:pPr marL="729835" lvl="2" indent="-385754"/>
            <a:r>
              <a:rPr lang="en-US" dirty="0"/>
              <a:t>E.g., check if overflow occurs; if so, simulate </a:t>
            </a:r>
            <a:r>
              <a:rPr lang="en-US" dirty="0">
                <a:latin typeface="Consolas" panose="020B0609020204030204" pitchFamily="49" charset="0"/>
                <a:cs typeface="Consolas" panose="020B0609020204030204" pitchFamily="49" charset="0"/>
              </a:rPr>
              <a:t>malloc</a:t>
            </a:r>
            <a:r>
              <a:rPr lang="en-US" dirty="0"/>
              <a:t> failing with </a:t>
            </a:r>
            <a:r>
              <a:rPr lang="en-US" dirty="0">
                <a:latin typeface="Consolas" panose="020B0609020204030204" pitchFamily="49" charset="0"/>
                <a:cs typeface="Consolas" panose="020B0609020204030204" pitchFamily="49" charset="0"/>
              </a:rPr>
              <a:t>ENOMEM</a:t>
            </a:r>
            <a:r>
              <a:rPr lang="en-US" dirty="0"/>
              <a:t>.</a:t>
            </a:r>
          </a:p>
          <a:p>
            <a:endParaRPr lang="en-US" dirty="0"/>
          </a:p>
        </p:txBody>
      </p:sp>
      <p:sp>
        <p:nvSpPr>
          <p:cNvPr id="6" name="Title 4">
            <a:extLst>
              <a:ext uri="{FF2B5EF4-FFF2-40B4-BE49-F238E27FC236}">
                <a16:creationId xmlns:a16="http://schemas.microsoft.com/office/drawing/2014/main" id="{3CCD7834-4866-AE77-C672-8DA500FE6EF8}"/>
              </a:ext>
            </a:extLst>
          </p:cNvPr>
          <p:cNvSpPr txBox="1">
            <a:spLocks/>
          </p:cNvSpPr>
          <p:nvPr/>
        </p:nvSpPr>
        <p:spPr>
          <a:xfrm>
            <a:off x="401933" y="4191432"/>
            <a:ext cx="7599066" cy="399186"/>
          </a:xfrm>
          <a:prstGeom prst="rect">
            <a:avLst/>
          </a:prstGeom>
        </p:spPr>
        <p:txBody>
          <a:bodyPr vert="horz" lIns="0" tIns="0" rIns="0" bIns="0" rtlCol="0" anchor="t">
            <a:normAutofit/>
          </a:bodyPr>
          <a:lstStyle>
            <a:lvl1pPr algn="l" defTabSz="685783"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a:lstStyle>
          <a:p>
            <a:r>
              <a:rPr lang="en-US"/>
              <a:t>Other approaches also exist</a:t>
            </a:r>
            <a:endParaRPr lang="en-US" dirty="0"/>
          </a:p>
        </p:txBody>
      </p:sp>
      <p:sp>
        <p:nvSpPr>
          <p:cNvPr id="7" name="Content Placeholder 5">
            <a:extLst>
              <a:ext uri="{FF2B5EF4-FFF2-40B4-BE49-F238E27FC236}">
                <a16:creationId xmlns:a16="http://schemas.microsoft.com/office/drawing/2014/main" id="{C2013245-BF9E-A8A9-3938-7DA1D29D7D97}"/>
              </a:ext>
            </a:extLst>
          </p:cNvPr>
          <p:cNvSpPr txBox="1">
            <a:spLocks/>
          </p:cNvSpPr>
          <p:nvPr/>
        </p:nvSpPr>
        <p:spPr>
          <a:xfrm>
            <a:off x="401933" y="4720157"/>
            <a:ext cx="8320035" cy="1188721"/>
          </a:xfrm>
          <a:prstGeom prst="rect">
            <a:avLst/>
          </a:prstGeom>
        </p:spPr>
        <p:txBody>
          <a:bodyPr vert="horz" lIns="0" tIns="0" rIns="0" bIns="0" rtlCol="0">
            <a:noAutofit/>
          </a:bodyPr>
          <a:lstStyle>
            <a:lvl1pPr marL="0" indent="0" algn="l" defTabSz="685783" rtl="0" eaLnBrk="1" latinLnBrk="0" hangingPunct="1">
              <a:lnSpc>
                <a:spcPct val="100000"/>
              </a:lnSpc>
              <a:spcBef>
                <a:spcPts val="9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255979" indent="-127394" algn="l" defTabSz="685783" rtl="0" eaLnBrk="1" latinLnBrk="0" hangingPunct="1">
              <a:lnSpc>
                <a:spcPct val="100000"/>
              </a:lnSpc>
              <a:spcBef>
                <a:spcPts val="525"/>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2pPr>
            <a:lvl3pPr marL="471476" indent="-128585" algn="l" defTabSz="685783" rtl="0" eaLnBrk="1" latinLnBrk="0" hangingPunct="1">
              <a:lnSpc>
                <a:spcPct val="100000"/>
              </a:lnSpc>
              <a:spcBef>
                <a:spcPts val="375"/>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685783" indent="-132157" algn="l" defTabSz="685783" rtl="0" eaLnBrk="1" latinLnBrk="0" hangingPunct="1">
              <a:lnSpc>
                <a:spcPct val="100000"/>
              </a:lnSpc>
              <a:spcBef>
                <a:spcPts val="375"/>
              </a:spcBef>
              <a:buClr>
                <a:schemeClr val="tx1">
                  <a:lumMod val="50000"/>
                  <a:lumOff val="50000"/>
                </a:schemeClr>
              </a:buClr>
              <a:buFont typeface="Arial" panose="020B0604020202020204" pitchFamily="34" charset="0"/>
              <a:buChar char="•"/>
              <a:defRPr sz="165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Font typeface="Arial" panose="020B0604020202020204" pitchFamily="34" charset="0"/>
              <a:buChar char="•"/>
              <a:defRPr sz="1650" kern="1200">
                <a:solidFill>
                  <a:schemeClr val="tx1"/>
                </a:solidFill>
                <a:latin typeface="+mn-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200"/>
              <a:t>GenProg (Le Goues et al.) – Genetic algorithm to search for a modification that causes all test cases to give desired behavior.</a:t>
            </a:r>
            <a:endParaRPr lang="en-US" sz="2200" dirty="0"/>
          </a:p>
        </p:txBody>
      </p:sp>
    </p:spTree>
    <p:extLst>
      <p:ext uri="{BB962C8B-B14F-4D97-AF65-F5344CB8AC3E}">
        <p14:creationId xmlns:p14="http://schemas.microsoft.com/office/powerpoint/2010/main" val="3054696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72BA342-E517-B3E4-A2F4-19B13344CEB7}"/>
              </a:ext>
            </a:extLst>
          </p:cNvPr>
          <p:cNvSpPr txBox="1">
            <a:spLocks/>
          </p:cNvSpPr>
          <p:nvPr/>
        </p:nvSpPr>
        <p:spPr>
          <a:xfrm>
            <a:off x="401933" y="168072"/>
            <a:ext cx="7599066" cy="399186"/>
          </a:xfrm>
          <a:prstGeom prst="rect">
            <a:avLst/>
          </a:prstGeom>
        </p:spPr>
        <p:txBody>
          <a:bodyPr vert="horz" lIns="91440" tIns="45720" rIns="91440" bIns="45720" rtlCol="0" anchor="ctr">
            <a:normAutofit fontScale="5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a:t>Outline</a:t>
            </a:r>
          </a:p>
        </p:txBody>
      </p:sp>
      <p:sp>
        <p:nvSpPr>
          <p:cNvPr id="5" name="Content Placeholder 2">
            <a:extLst>
              <a:ext uri="{FF2B5EF4-FFF2-40B4-BE49-F238E27FC236}">
                <a16:creationId xmlns:a16="http://schemas.microsoft.com/office/drawing/2014/main" id="{9ADE65E9-FC56-6764-ACA9-DFE977EBB2E9}"/>
              </a:ext>
            </a:extLst>
          </p:cNvPr>
          <p:cNvSpPr txBox="1">
            <a:spLocks/>
          </p:cNvSpPr>
          <p:nvPr/>
        </p:nvSpPr>
        <p:spPr>
          <a:xfrm>
            <a:off x="401933" y="783770"/>
            <a:ext cx="8320035" cy="5312235"/>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Repairs for three types of bugs:</a:t>
            </a:r>
          </a:p>
          <a:p>
            <a:pPr marL="585785" lvl="1" indent="-457200">
              <a:spcBef>
                <a:spcPts val="1000"/>
              </a:spcBef>
              <a:buFont typeface="+mj-lt"/>
              <a:buAutoNum type="arabicPeriod"/>
            </a:pPr>
            <a:r>
              <a:rPr lang="en-US" dirty="0"/>
              <a:t>Integer overflow leading to memory corruption. </a:t>
            </a:r>
            <a:endParaRPr lang="en-US" dirty="0">
              <a:solidFill>
                <a:schemeClr val="accent3">
                  <a:lumMod val="75000"/>
                </a:schemeClr>
              </a:solidFill>
            </a:endParaRPr>
          </a:p>
          <a:p>
            <a:pPr marL="858837" lvl="2" indent="-285750">
              <a:buFont typeface="Arial" panose="020B0604020202020204" pitchFamily="34" charset="0"/>
              <a:buChar char="•"/>
            </a:pPr>
            <a:r>
              <a:rPr lang="en-US" sz="2000" dirty="0">
                <a:solidFill>
                  <a:srgbClr val="0070C0"/>
                </a:solidFill>
              </a:rPr>
              <a:t>Static analysis</a:t>
            </a:r>
          </a:p>
          <a:p>
            <a:pPr marL="585785" lvl="1" indent="-457200">
              <a:spcBef>
                <a:spcPts val="1000"/>
              </a:spcBef>
              <a:buFont typeface="+mj-lt"/>
              <a:buAutoNum type="arabicPeriod"/>
            </a:pPr>
            <a:r>
              <a:rPr lang="en-US" dirty="0"/>
              <a:t>Missing memory bounds checks. </a:t>
            </a:r>
            <a:r>
              <a:rPr lang="en-US" dirty="0">
                <a:solidFill>
                  <a:schemeClr val="accent3">
                    <a:lumMod val="75000"/>
                  </a:schemeClr>
                </a:solidFill>
              </a:rPr>
              <a:t> </a:t>
            </a:r>
          </a:p>
          <a:p>
            <a:pPr marL="858837" lvl="2" indent="-285750">
              <a:buFont typeface="Arial" panose="020B0604020202020204" pitchFamily="34" charset="0"/>
              <a:buChar char="•"/>
            </a:pPr>
            <a:r>
              <a:rPr lang="en-US" sz="2000" dirty="0">
                <a:solidFill>
                  <a:srgbClr val="0070C0"/>
                </a:solidFill>
              </a:rPr>
              <a:t>Static analysis and dynamic analysis</a:t>
            </a:r>
          </a:p>
          <a:p>
            <a:pPr marL="585785" lvl="1" indent="-457200">
              <a:spcBef>
                <a:spcPts val="1000"/>
              </a:spcBef>
              <a:buFont typeface="+mj-lt"/>
              <a:buAutoNum type="arabicPeriod"/>
            </a:pPr>
            <a:r>
              <a:rPr lang="en-US" dirty="0"/>
              <a:t>Missing authorization checks in a client-server application.  </a:t>
            </a:r>
          </a:p>
          <a:p>
            <a:pPr marL="858837" lvl="2" indent="-285750">
              <a:buFont typeface="Arial" panose="020B0604020202020204" pitchFamily="34" charset="0"/>
              <a:buChar char="•"/>
            </a:pPr>
            <a:r>
              <a:rPr lang="en-US" sz="2000" dirty="0">
                <a:solidFill>
                  <a:srgbClr val="0070C0"/>
                </a:solidFill>
              </a:rPr>
              <a:t>Heavyweight formal methods</a:t>
            </a:r>
          </a:p>
          <a:p>
            <a:pPr marL="585785" lvl="1" indent="-457200">
              <a:buFont typeface="+mj-lt"/>
              <a:buAutoNum type="arabicPeriod"/>
            </a:pPr>
            <a:endParaRPr lang="en-US" dirty="0"/>
          </a:p>
        </p:txBody>
      </p:sp>
    </p:spTree>
    <p:extLst>
      <p:ext uri="{BB962C8B-B14F-4D97-AF65-F5344CB8AC3E}">
        <p14:creationId xmlns:p14="http://schemas.microsoft.com/office/powerpoint/2010/main" val="1922388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A843F25-46E6-E527-11C0-6A4E6F4638DD}"/>
              </a:ext>
            </a:extLst>
          </p:cNvPr>
          <p:cNvSpPr txBox="1">
            <a:spLocks/>
          </p:cNvSpPr>
          <p:nvPr/>
        </p:nvSpPr>
        <p:spPr>
          <a:xfrm>
            <a:off x="0" y="0"/>
            <a:ext cx="9143999" cy="102197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600" b="1" dirty="0"/>
              <a:t>Integer Overflow</a:t>
            </a:r>
          </a:p>
        </p:txBody>
      </p:sp>
      <p:sp>
        <p:nvSpPr>
          <p:cNvPr id="5" name="Content Placeholder 2">
            <a:extLst>
              <a:ext uri="{FF2B5EF4-FFF2-40B4-BE49-F238E27FC236}">
                <a16:creationId xmlns:a16="http://schemas.microsoft.com/office/drawing/2014/main" id="{E515EB96-6D42-C25A-8223-DECCB8F8B1EA}"/>
              </a:ext>
            </a:extLst>
          </p:cNvPr>
          <p:cNvSpPr txBox="1">
            <a:spLocks/>
          </p:cNvSpPr>
          <p:nvPr/>
        </p:nvSpPr>
        <p:spPr>
          <a:xfrm>
            <a:off x="401933" y="783770"/>
            <a:ext cx="8320035" cy="531223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1500"/>
              </a:spcBef>
            </a:pPr>
            <a:r>
              <a:rPr lang="en-US" sz="2800" dirty="0"/>
              <a:t>Integers in C are represented by a fixed number of bits </a:t>
            </a:r>
            <a:r>
              <a:rPr lang="en-US" sz="2800" i="1" dirty="0"/>
              <a:t>N</a:t>
            </a:r>
            <a:r>
              <a:rPr lang="en-US" sz="2800" dirty="0"/>
              <a:t>.</a:t>
            </a:r>
          </a:p>
          <a:p>
            <a:pPr lvl="1"/>
            <a:r>
              <a:rPr lang="en-US" sz="2400" dirty="0"/>
              <a:t>Overflow occurs when the result cannot fit in </a:t>
            </a:r>
            <a:r>
              <a:rPr lang="en-US" sz="2400" i="1" dirty="0"/>
              <a:t>N</a:t>
            </a:r>
            <a:r>
              <a:rPr lang="en-US" sz="2400" dirty="0"/>
              <a:t> bits.</a:t>
            </a:r>
          </a:p>
          <a:p>
            <a:pPr lvl="1"/>
            <a:r>
              <a:rPr lang="en-US" sz="2400" dirty="0"/>
              <a:t>Modular arithmetic: Only the least significant </a:t>
            </a:r>
            <a:r>
              <a:rPr lang="en-US" sz="2400" i="1" dirty="0"/>
              <a:t>N</a:t>
            </a:r>
            <a:r>
              <a:rPr lang="en-US" sz="2400" dirty="0"/>
              <a:t> bits are kept.</a:t>
            </a:r>
          </a:p>
          <a:p>
            <a:pPr>
              <a:spcBef>
                <a:spcPts val="1500"/>
              </a:spcBef>
            </a:pPr>
            <a:r>
              <a:rPr lang="en-US" sz="2800" dirty="0"/>
              <a:t>How does integer overflow lead to memory corruption?</a:t>
            </a:r>
          </a:p>
          <a:p>
            <a:pPr marL="471476" lvl="1" indent="-342892">
              <a:buFont typeface="+mj-lt"/>
              <a:buAutoNum type="arabicPeriod"/>
            </a:pPr>
            <a:r>
              <a:rPr lang="en-US" dirty="0"/>
              <a:t>Memory allocation: </a:t>
            </a:r>
            <a:r>
              <a:rPr lang="en-US" dirty="0">
                <a:latin typeface="Consolas" panose="020B0609020204030204" pitchFamily="49" charset="0"/>
                <a:cs typeface="Consolas" panose="020B0609020204030204" pitchFamily="49" charset="0"/>
              </a:rPr>
              <a:t>malloc(</a:t>
            </a:r>
            <a:r>
              <a:rPr lang="en-US" dirty="0">
                <a:latin typeface="Consolas" panose="020B0609020204030204" pitchFamily="49" charset="0"/>
                <a:ea typeface="Cambria Math" panose="02040503050406030204" pitchFamily="18" charset="0"/>
                <a:cs typeface="Consolas" panose="020B0609020204030204" pitchFamily="49" charset="0"/>
              </a:rPr>
              <a:t>∙</a:t>
            </a:r>
            <a:r>
              <a:rPr lang="en-US" dirty="0">
                <a:latin typeface="Consolas" panose="020B0609020204030204" pitchFamily="49" charset="0"/>
                <a:cs typeface="Consolas" panose="020B0609020204030204" pitchFamily="49" charset="0"/>
              </a:rPr>
              <a:t>)</a:t>
            </a:r>
            <a:r>
              <a:rPr lang="en-US" dirty="0"/>
              <a:t>.</a:t>
            </a:r>
          </a:p>
          <a:p>
            <a:pPr marL="471476" lvl="1" indent="-342892">
              <a:buFont typeface="+mj-lt"/>
              <a:buAutoNum type="arabicPeriod"/>
            </a:pPr>
            <a:r>
              <a:rPr lang="en-US" dirty="0"/>
              <a:t>Bounds checks for an array.</a:t>
            </a:r>
          </a:p>
          <a:p>
            <a:pPr>
              <a:spcBef>
                <a:spcPts val="1500"/>
              </a:spcBef>
            </a:pPr>
            <a:r>
              <a:rPr lang="en-US" sz="2800" dirty="0"/>
              <a:t>Example: Android </a:t>
            </a:r>
            <a:r>
              <a:rPr lang="en-US" sz="2800" dirty="0" err="1"/>
              <a:t>Stagefright</a:t>
            </a:r>
            <a:r>
              <a:rPr lang="en-US" sz="2800" dirty="0"/>
              <a:t> bugs (July 2015).</a:t>
            </a:r>
          </a:p>
        </p:txBody>
      </p:sp>
    </p:spTree>
    <p:extLst>
      <p:ext uri="{BB962C8B-B14F-4D97-AF65-F5344CB8AC3E}">
        <p14:creationId xmlns:p14="http://schemas.microsoft.com/office/powerpoint/2010/main" val="580620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8A77176D-11EF-9AE3-4A65-F02D8183E5F9}"/>
              </a:ext>
            </a:extLst>
          </p:cNvPr>
          <p:cNvSpPr/>
          <p:nvPr/>
        </p:nvSpPr>
        <p:spPr>
          <a:xfrm>
            <a:off x="1705270" y="3431542"/>
            <a:ext cx="4932855" cy="686747"/>
          </a:xfrm>
          <a:prstGeom prst="roundRect">
            <a:avLst/>
          </a:prstGeom>
          <a:solidFill>
            <a:srgbClr val="E1F2FF"/>
          </a:solidFill>
          <a:ln w="38100">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5D4498-89B6-06C3-5462-F781561BDAE3}"/>
              </a:ext>
            </a:extLst>
          </p:cNvPr>
          <p:cNvSpPr>
            <a:spLocks noGrp="1"/>
          </p:cNvSpPr>
          <p:nvPr>
            <p:ph type="title"/>
          </p:nvPr>
        </p:nvSpPr>
        <p:spPr>
          <a:xfrm>
            <a:off x="401933" y="168072"/>
            <a:ext cx="7599066" cy="399186"/>
          </a:xfrm>
        </p:spPr>
        <p:txBody>
          <a:bodyPr>
            <a:normAutofit fontScale="90000"/>
          </a:bodyPr>
          <a:lstStyle/>
          <a:p>
            <a:r>
              <a:rPr lang="en-US" b="1" dirty="0"/>
              <a:t>Experimental Results</a:t>
            </a:r>
          </a:p>
        </p:txBody>
      </p:sp>
      <p:graphicFrame>
        <p:nvGraphicFramePr>
          <p:cNvPr id="6" name="Content Placeholder 6">
            <a:extLst>
              <a:ext uri="{FF2B5EF4-FFF2-40B4-BE49-F238E27FC236}">
                <a16:creationId xmlns:a16="http://schemas.microsoft.com/office/drawing/2014/main" id="{D6603F69-8B25-D87F-710C-EE7F6668DCFA}"/>
              </a:ext>
            </a:extLst>
          </p:cNvPr>
          <p:cNvGraphicFramePr>
            <a:graphicFrameLocks noGrp="1"/>
          </p:cNvGraphicFramePr>
          <p:nvPr>
            <p:ph idx="1"/>
            <p:extLst>
              <p:ext uri="{D42A27DB-BD31-4B8C-83A1-F6EECF244321}">
                <p14:modId xmlns:p14="http://schemas.microsoft.com/office/powerpoint/2010/main" val="1678251599"/>
              </p:ext>
            </p:extLst>
          </p:nvPr>
        </p:nvGraphicFramePr>
        <p:xfrm>
          <a:off x="401638" y="975221"/>
          <a:ext cx="8319558" cy="2126252"/>
        </p:xfrm>
        <a:graphic>
          <a:graphicData uri="http://schemas.openxmlformats.org/drawingml/2006/table">
            <a:tbl>
              <a:tblPr>
                <a:tableStyleId>{5C22544A-7EE6-4342-B048-85BDC9FD1C3A}</a:tableStyleId>
              </a:tblPr>
              <a:tblGrid>
                <a:gridCol w="1124553">
                  <a:extLst>
                    <a:ext uri="{9D8B030D-6E8A-4147-A177-3AD203B41FA5}">
                      <a16:colId xmlns:a16="http://schemas.microsoft.com/office/drawing/2014/main" val="20000"/>
                    </a:ext>
                  </a:extLst>
                </a:gridCol>
                <a:gridCol w="1546259">
                  <a:extLst>
                    <a:ext uri="{9D8B030D-6E8A-4147-A177-3AD203B41FA5}">
                      <a16:colId xmlns:a16="http://schemas.microsoft.com/office/drawing/2014/main" val="20001"/>
                    </a:ext>
                  </a:extLst>
                </a:gridCol>
                <a:gridCol w="1388118">
                  <a:extLst>
                    <a:ext uri="{9D8B030D-6E8A-4147-A177-3AD203B41FA5}">
                      <a16:colId xmlns:a16="http://schemas.microsoft.com/office/drawing/2014/main" val="20002"/>
                    </a:ext>
                  </a:extLst>
                </a:gridCol>
                <a:gridCol w="1391422">
                  <a:extLst>
                    <a:ext uri="{9D8B030D-6E8A-4147-A177-3AD203B41FA5}">
                      <a16:colId xmlns:a16="http://schemas.microsoft.com/office/drawing/2014/main" val="20003"/>
                    </a:ext>
                  </a:extLst>
                </a:gridCol>
                <a:gridCol w="1470468">
                  <a:extLst>
                    <a:ext uri="{9D8B030D-6E8A-4147-A177-3AD203B41FA5}">
                      <a16:colId xmlns:a16="http://schemas.microsoft.com/office/drawing/2014/main" val="20004"/>
                    </a:ext>
                  </a:extLst>
                </a:gridCol>
                <a:gridCol w="1398738">
                  <a:extLst>
                    <a:ext uri="{9D8B030D-6E8A-4147-A177-3AD203B41FA5}">
                      <a16:colId xmlns:a16="http://schemas.microsoft.com/office/drawing/2014/main" val="20005"/>
                    </a:ext>
                  </a:extLst>
                </a:gridCol>
              </a:tblGrid>
              <a:tr h="1014122">
                <a:tc>
                  <a:txBody>
                    <a:bodyPr/>
                    <a:lstStyle/>
                    <a:p>
                      <a:pPr algn="l" fontAlgn="b"/>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60325" indent="0" algn="l" fontAlgn="b">
                        <a:spcAft>
                          <a:spcPts val="400"/>
                        </a:spcAft>
                      </a:pPr>
                      <a:r>
                        <a:rPr lang="en-US" sz="1800" u="none" strike="noStrike">
                          <a:effectLst/>
                          <a:latin typeface="Arial" panose="020B0604020202020204" pitchFamily="34" charset="0"/>
                          <a:cs typeface="Arial" panose="020B0604020202020204" pitchFamily="34" charset="0"/>
                        </a:rPr>
                        <a:t>Overflows reported</a:t>
                      </a:r>
                    </a:p>
                    <a:p>
                      <a:pPr marL="60325" indent="0" algn="l" fontAlgn="b"/>
                      <a:r>
                        <a:rPr lang="en-US" sz="1800" u="none" strike="noStrike">
                          <a:effectLst/>
                          <a:latin typeface="Arial" panose="020B0604020202020204" pitchFamily="34" charset="0"/>
                          <a:cs typeface="Arial" panose="020B0604020202020204" pitchFamily="34" charset="0"/>
                        </a:rPr>
                        <a:t>by  Kint</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a:t>
                      </a:r>
                      <a:r>
                        <a:rPr lang="en-US" sz="1800" u="none" strike="noStrike">
                          <a:effectLst/>
                          <a:latin typeface="Arial" panose="020B0604020202020204" pitchFamily="34" charset="0"/>
                          <a:cs typeface="Arial" panose="020B0604020202020204" pitchFamily="34" charset="0"/>
                        </a:rPr>
                        <a:t>that are</a:t>
                      </a:r>
                    </a:p>
                    <a:p>
                      <a:pPr marL="112713" indent="0" algn="l" fontAlgn="b">
                        <a:spcBef>
                          <a:spcPts val="400"/>
                        </a:spcBef>
                      </a:pPr>
                      <a:r>
                        <a:rPr lang="en-US" sz="1800" i="1" u="none" strike="noStrike">
                          <a:effectLst/>
                          <a:latin typeface="Arial" panose="020B0604020202020204" pitchFamily="34" charset="0"/>
                          <a:cs typeface="Arial" panose="020B0604020202020204" pitchFamily="34" charset="0"/>
                        </a:rPr>
                        <a:t>sensitive</a:t>
                      </a:r>
                      <a:endParaRPr lang="en-US" sz="1800" b="0" i="1"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fully repaired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Semi-repair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Unrepaired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83451">
                <a:tc>
                  <a:txBody>
                    <a:bodyPr/>
                    <a:lstStyle/>
                    <a:p>
                      <a:pPr algn="ctr" fontAlgn="b"/>
                      <a:r>
                        <a:rPr lang="en-US" sz="1700" u="none" strike="noStrike">
                          <a:effectLst/>
                          <a:latin typeface="Arial" panose="020B0604020202020204" pitchFamily="34" charset="0"/>
                          <a:cs typeface="Arial" panose="020B0604020202020204" pitchFamily="34" charset="0"/>
                        </a:rPr>
                        <a:t>OpenSSL</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3716"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969</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233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180</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28</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25</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483451">
                <a:tc>
                  <a:txBody>
                    <a:bodyPr/>
                    <a:lstStyle/>
                    <a:p>
                      <a:pPr algn="ctr" fontAlgn="b"/>
                      <a:r>
                        <a:rPr lang="en-US" sz="1700" u="none" strike="noStrike" dirty="0">
                          <a:effectLst/>
                          <a:latin typeface="Arial" panose="020B0604020202020204" pitchFamily="34" charset="0"/>
                          <a:cs typeface="Arial" panose="020B0604020202020204" pitchFamily="34" charset="0"/>
                        </a:rPr>
                        <a:t>Jasper</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02870" marB="102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481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101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  53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32</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16</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7" name="Content Placeholder 5">
            <a:extLst>
              <a:ext uri="{FF2B5EF4-FFF2-40B4-BE49-F238E27FC236}">
                <a16:creationId xmlns:a16="http://schemas.microsoft.com/office/drawing/2014/main" id="{C74F32D1-9711-0E7F-3B2A-FFE3C2CB6B33}"/>
              </a:ext>
            </a:extLst>
          </p:cNvPr>
          <p:cNvSpPr txBox="1">
            <a:spLocks/>
          </p:cNvSpPr>
          <p:nvPr/>
        </p:nvSpPr>
        <p:spPr>
          <a:xfrm>
            <a:off x="1787524" y="3509436"/>
            <a:ext cx="5211996" cy="701765"/>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solidFill>
                  <a:schemeClr val="tx2">
                    <a:lumMod val="75000"/>
                  </a:schemeClr>
                </a:solidFill>
              </a:rPr>
              <a:t>An overflow is </a:t>
            </a:r>
            <a:r>
              <a:rPr lang="en-US" sz="1800" b="1" i="1">
                <a:solidFill>
                  <a:schemeClr val="tx2">
                    <a:lumMod val="75000"/>
                  </a:schemeClr>
                </a:solidFill>
              </a:rPr>
              <a:t>sensitive</a:t>
            </a:r>
            <a:r>
              <a:rPr lang="en-US" sz="1800">
                <a:solidFill>
                  <a:schemeClr val="tx2">
                    <a:lumMod val="75000"/>
                  </a:schemeClr>
                </a:solidFill>
              </a:rPr>
              <a:t> iff </a:t>
            </a:r>
            <a:r>
              <a:rPr lang="en-US" sz="1800" dirty="0">
                <a:solidFill>
                  <a:schemeClr val="tx2">
                    <a:lumMod val="75000"/>
                  </a:schemeClr>
                </a:solidFill>
              </a:rPr>
              <a:t>it involves </a:t>
            </a:r>
            <a:r>
              <a:rPr lang="en-US" sz="1800">
                <a:solidFill>
                  <a:schemeClr val="tx2">
                    <a:lumMod val="75000"/>
                  </a:schemeClr>
                </a:solidFill>
              </a:rPr>
              <a:t>variables associated </a:t>
            </a:r>
            <a:r>
              <a:rPr lang="en-US" sz="1800" dirty="0">
                <a:solidFill>
                  <a:schemeClr val="tx2">
                    <a:lumMod val="75000"/>
                  </a:schemeClr>
                </a:solidFill>
              </a:rPr>
              <a:t>with array indices or </a:t>
            </a:r>
            <a:r>
              <a:rPr lang="en-US" sz="1800">
                <a:solidFill>
                  <a:schemeClr val="tx2">
                    <a:lumMod val="75000"/>
                  </a:schemeClr>
                </a:solidFill>
              </a:rPr>
              <a:t>bounds.</a:t>
            </a:r>
            <a:endParaRPr lang="en-US" sz="1800" dirty="0">
              <a:solidFill>
                <a:schemeClr val="tx2">
                  <a:lumMod val="75000"/>
                </a:schemeClr>
              </a:solidFill>
            </a:endParaRPr>
          </a:p>
        </p:txBody>
      </p:sp>
      <p:sp>
        <p:nvSpPr>
          <p:cNvPr id="8" name="Rectangle 7">
            <a:extLst>
              <a:ext uri="{FF2B5EF4-FFF2-40B4-BE49-F238E27FC236}">
                <a16:creationId xmlns:a16="http://schemas.microsoft.com/office/drawing/2014/main" id="{3C878CEA-FE70-39B2-B51E-E9B64D05A964}"/>
              </a:ext>
            </a:extLst>
          </p:cNvPr>
          <p:cNvSpPr/>
          <p:nvPr/>
        </p:nvSpPr>
        <p:spPr>
          <a:xfrm>
            <a:off x="672404" y="2297819"/>
            <a:ext cx="596317" cy="207749"/>
          </a:xfrm>
          <a:prstGeom prst="rect">
            <a:avLst/>
          </a:prstGeom>
          <a:noFill/>
        </p:spPr>
        <p:txBody>
          <a:bodyPr wrap="none" lIns="0" tIns="0" rIns="0" bIns="0">
            <a:spAutoFit/>
          </a:bodyPr>
          <a:lstStyle/>
          <a:p>
            <a:r>
              <a:rPr lang="en-US" sz="1350">
                <a:latin typeface="Arial" panose="020B0604020202020204" pitchFamily="34" charset="0"/>
                <a:cs typeface="Arial" panose="020B0604020202020204" pitchFamily="34" charset="0"/>
              </a:rPr>
              <a:t>(1.0.2g)</a:t>
            </a:r>
          </a:p>
        </p:txBody>
      </p:sp>
      <p:sp>
        <p:nvSpPr>
          <p:cNvPr id="9" name="TextBox 8">
            <a:extLst>
              <a:ext uri="{FF2B5EF4-FFF2-40B4-BE49-F238E27FC236}">
                <a16:creationId xmlns:a16="http://schemas.microsoft.com/office/drawing/2014/main" id="{C2FCE0F2-F73A-5719-55F7-AD9C71E5D6BE}"/>
              </a:ext>
            </a:extLst>
          </p:cNvPr>
          <p:cNvSpPr txBox="1"/>
          <p:nvPr/>
        </p:nvSpPr>
        <p:spPr>
          <a:xfrm>
            <a:off x="4330700" y="507661"/>
            <a:ext cx="2881943" cy="369332"/>
          </a:xfrm>
          <a:prstGeom prst="rect">
            <a:avLst/>
          </a:prstGeom>
          <a:noFill/>
        </p:spPr>
        <p:txBody>
          <a:bodyPr wrap="none" rtlCol="0">
            <a:spAutoFit/>
          </a:bodyPr>
          <a:lstStyle/>
          <a:p>
            <a:r>
              <a:rPr lang="en-US">
                <a:solidFill>
                  <a:schemeClr val="accent2">
                    <a:lumMod val="75000"/>
                  </a:schemeClr>
                </a:solidFill>
                <a:latin typeface="Arial" panose="020B0604020202020204" pitchFamily="34" charset="0"/>
                <a:cs typeface="Arial" panose="020B0604020202020204" pitchFamily="34" charset="0"/>
              </a:rPr>
              <a:t>Xi Wang et al., OSDI 2012</a:t>
            </a:r>
          </a:p>
        </p:txBody>
      </p:sp>
      <p:sp>
        <p:nvSpPr>
          <p:cNvPr id="10" name="Rounded Rectangle 9">
            <a:extLst>
              <a:ext uri="{FF2B5EF4-FFF2-40B4-BE49-F238E27FC236}">
                <a16:creationId xmlns:a16="http://schemas.microsoft.com/office/drawing/2014/main" id="{E2648AF7-D04A-10CF-34BD-F87CB2A4EA27}"/>
              </a:ext>
            </a:extLst>
          </p:cNvPr>
          <p:cNvSpPr/>
          <p:nvPr/>
        </p:nvSpPr>
        <p:spPr>
          <a:xfrm>
            <a:off x="1980145" y="1633357"/>
            <a:ext cx="537472" cy="335046"/>
          </a:xfrm>
          <a:prstGeom prst="roundRect">
            <a:avLst/>
          </a:prstGeom>
          <a:noFill/>
          <a:ln w="38100">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a:extLst>
              <a:ext uri="{FF2B5EF4-FFF2-40B4-BE49-F238E27FC236}">
                <a16:creationId xmlns:a16="http://schemas.microsoft.com/office/drawing/2014/main" id="{56244B83-C58D-3D01-E1AA-F98F10C42D92}"/>
              </a:ext>
            </a:extLst>
          </p:cNvPr>
          <p:cNvSpPr/>
          <p:nvPr/>
        </p:nvSpPr>
        <p:spPr>
          <a:xfrm>
            <a:off x="2520950" y="682274"/>
            <a:ext cx="1809750" cy="1062037"/>
          </a:xfrm>
          <a:custGeom>
            <a:avLst/>
            <a:gdLst>
              <a:gd name="connsiteX0" fmla="*/ 1809750 w 1809750"/>
              <a:gd name="connsiteY0" fmla="*/ 195 h 1079695"/>
              <a:gd name="connsiteX1" fmla="*/ 7556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195 h 1079695"/>
              <a:gd name="connsiteX1" fmla="*/ 6032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1554 h 1081054"/>
              <a:gd name="connsiteX1" fmla="*/ 603250 w 1809750"/>
              <a:gd name="connsiteY1" fmla="*/ 122204 h 1081054"/>
              <a:gd name="connsiteX2" fmla="*/ 330200 w 1809750"/>
              <a:gd name="connsiteY2" fmla="*/ 852454 h 1081054"/>
              <a:gd name="connsiteX3" fmla="*/ 0 w 1809750"/>
              <a:gd name="connsiteY3" fmla="*/ 1081054 h 1081054"/>
            </a:gdLst>
            <a:ahLst/>
            <a:cxnLst>
              <a:cxn ang="0">
                <a:pos x="connsiteX0" y="connsiteY0"/>
              </a:cxn>
              <a:cxn ang="0">
                <a:pos x="connsiteX1" y="connsiteY1"/>
              </a:cxn>
              <a:cxn ang="0">
                <a:pos x="connsiteX2" y="connsiteY2"/>
              </a:cxn>
              <a:cxn ang="0">
                <a:pos x="connsiteX3" y="connsiteY3"/>
              </a:cxn>
            </a:cxnLst>
            <a:rect l="l" t="t" r="r" b="b"/>
            <a:pathLst>
              <a:path w="1809750" h="1081054">
                <a:moveTo>
                  <a:pt x="1809750" y="1554"/>
                </a:moveTo>
                <a:cubicBezTo>
                  <a:pt x="1395941" y="495"/>
                  <a:pt x="849842" y="-19613"/>
                  <a:pt x="603250" y="122204"/>
                </a:cubicBezTo>
                <a:cubicBezTo>
                  <a:pt x="356658" y="264021"/>
                  <a:pt x="494242" y="686296"/>
                  <a:pt x="330200" y="852454"/>
                </a:cubicBezTo>
                <a:cubicBezTo>
                  <a:pt x="166158" y="1018612"/>
                  <a:pt x="162454" y="989508"/>
                  <a:pt x="0" y="1081054"/>
                </a:cubicBezTo>
              </a:path>
            </a:pathLst>
          </a:custGeom>
          <a:noFill/>
          <a:ln w="38100">
            <a:solidFill>
              <a:schemeClr val="accent4">
                <a:lumMod val="60000"/>
                <a:lumOff val="40000"/>
              </a:schemeClr>
            </a:solidFill>
            <a:head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800E9F6-335A-DA30-C541-104CE0E37E99}"/>
              </a:ext>
            </a:extLst>
          </p:cNvPr>
          <p:cNvSpPr/>
          <p:nvPr/>
        </p:nvSpPr>
        <p:spPr>
          <a:xfrm>
            <a:off x="3185063" y="1633357"/>
            <a:ext cx="1044910" cy="335046"/>
          </a:xfrm>
          <a:prstGeom prst="roundRect">
            <a:avLst/>
          </a:prstGeom>
          <a:noFill/>
          <a:ln w="3810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5">
            <a:extLst>
              <a:ext uri="{FF2B5EF4-FFF2-40B4-BE49-F238E27FC236}">
                <a16:creationId xmlns:a16="http://schemas.microsoft.com/office/drawing/2014/main" id="{D81A5060-D950-EC68-40CA-8EDFF041496C}"/>
              </a:ext>
            </a:extLst>
          </p:cNvPr>
          <p:cNvSpPr txBox="1">
            <a:spLocks/>
          </p:cNvSpPr>
          <p:nvPr/>
        </p:nvSpPr>
        <p:spPr>
          <a:xfrm>
            <a:off x="401639" y="4372806"/>
            <a:ext cx="8342314" cy="1742244"/>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Some of the ‘repairs’ are actually false positives (i.e., operation never overflows). Then our ‘repair’ just adds a little overhead.</a:t>
            </a:r>
            <a:r>
              <a:rPr lang="en-US" sz="1800" b="1" dirty="0">
                <a:solidFill>
                  <a:srgbClr val="0070C0"/>
                </a:solidFill>
              </a:rPr>
              <a:t> It never breaks working code.</a:t>
            </a:r>
            <a:endParaRPr lang="en-US" sz="1800" dirty="0"/>
          </a:p>
        </p:txBody>
      </p:sp>
      <p:cxnSp>
        <p:nvCxnSpPr>
          <p:cNvPr id="14" name="Straight Arrow Connector 13">
            <a:extLst>
              <a:ext uri="{FF2B5EF4-FFF2-40B4-BE49-F238E27FC236}">
                <a16:creationId xmlns:a16="http://schemas.microsoft.com/office/drawing/2014/main" id="{70558C99-D1C7-E49C-BDAD-C884E57286ED}"/>
              </a:ext>
            </a:extLst>
          </p:cNvPr>
          <p:cNvCxnSpPr/>
          <p:nvPr/>
        </p:nvCxnSpPr>
        <p:spPr>
          <a:xfrm>
            <a:off x="3350473" y="1968403"/>
            <a:ext cx="0" cy="1426017"/>
          </a:xfrm>
          <a:prstGeom prst="straightConnector1">
            <a:avLst/>
          </a:prstGeom>
          <a:ln w="3810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47459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EE9E503-5E49-B269-AEF3-8B436319FF6F}"/>
              </a:ext>
            </a:extLst>
          </p:cNvPr>
          <p:cNvSpPr>
            <a:spLocks noGrp="1"/>
          </p:cNvSpPr>
          <p:nvPr>
            <p:ph type="title"/>
          </p:nvPr>
        </p:nvSpPr>
        <p:spPr>
          <a:xfrm>
            <a:off x="401933" y="168072"/>
            <a:ext cx="7599066" cy="399186"/>
          </a:xfrm>
        </p:spPr>
        <p:txBody>
          <a:bodyPr>
            <a:normAutofit fontScale="90000"/>
          </a:bodyPr>
          <a:lstStyle/>
          <a:p>
            <a:r>
              <a:rPr lang="en-US" b="1" dirty="0"/>
              <a:t>Repair Strategy</a:t>
            </a:r>
          </a:p>
        </p:txBody>
      </p:sp>
      <p:sp>
        <p:nvSpPr>
          <p:cNvPr id="5" name="Content Placeholder 2">
            <a:extLst>
              <a:ext uri="{FF2B5EF4-FFF2-40B4-BE49-F238E27FC236}">
                <a16:creationId xmlns:a16="http://schemas.microsoft.com/office/drawing/2014/main" id="{43AD3958-F4AF-F472-CCC7-C78E84F57E03}"/>
              </a:ext>
            </a:extLst>
          </p:cNvPr>
          <p:cNvSpPr>
            <a:spLocks noGrp="1"/>
          </p:cNvSpPr>
          <p:nvPr>
            <p:ph idx="1"/>
          </p:nvPr>
        </p:nvSpPr>
        <p:spPr>
          <a:xfrm>
            <a:off x="401933" y="783770"/>
            <a:ext cx="8320035" cy="5312235"/>
          </a:xfrm>
        </p:spPr>
        <p:txBody>
          <a:bodyPr>
            <a:normAutofit lnSpcReduction="10000"/>
          </a:bodyPr>
          <a:lstStyle/>
          <a:p>
            <a:r>
              <a:rPr lang="en-US" sz="2000"/>
              <a:t>Inferred specification: </a:t>
            </a:r>
            <a:r>
              <a:rPr lang="en-US" sz="2000" b="1" dirty="0">
                <a:solidFill>
                  <a:srgbClr val="0070C0"/>
                </a:solidFill>
              </a:rPr>
              <a:t>inequality comparisons</a:t>
            </a:r>
            <a:r>
              <a:rPr lang="en-US" sz="2000" dirty="0"/>
              <a:t> involving array indices or bounds should behave </a:t>
            </a:r>
            <a:r>
              <a:rPr lang="en-US" sz="2000"/>
              <a:t>as in </a:t>
            </a:r>
            <a:r>
              <a:rPr lang="en-US" sz="2000" dirty="0"/>
              <a:t>normal arithmetic (not modular </a:t>
            </a:r>
            <a:r>
              <a:rPr lang="en-US" sz="2000"/>
              <a:t>arithmetic).</a:t>
            </a:r>
            <a:endParaRPr lang="en-US" sz="2000" dirty="0"/>
          </a:p>
          <a:p>
            <a:pPr lvl="1"/>
            <a:r>
              <a:rPr lang="en-US" sz="1800"/>
              <a:t>Includes </a:t>
            </a:r>
            <a:r>
              <a:rPr lang="en-US" sz="1800">
                <a:latin typeface="Consolas" panose="020B0609020204030204" pitchFamily="49" charset="0"/>
                <a:cs typeface="Consolas" panose="020B0609020204030204" pitchFamily="49" charset="0"/>
              </a:rPr>
              <a:t>malloc</a:t>
            </a:r>
            <a:r>
              <a:rPr lang="en-US" sz="1800"/>
              <a:t>.</a:t>
            </a:r>
            <a:endParaRPr lang="en-US" sz="1800" dirty="0"/>
          </a:p>
          <a:p>
            <a:pPr lvl="1"/>
            <a:r>
              <a:rPr lang="en-US" sz="1800" dirty="0"/>
              <a:t>Excludes crypto and </a:t>
            </a:r>
            <a:r>
              <a:rPr lang="en-US" sz="1800"/>
              <a:t>hashing functions.</a:t>
            </a:r>
          </a:p>
          <a:p>
            <a:pPr lvl="2"/>
            <a:r>
              <a:rPr lang="en-US" sz="1600" spc="200"/>
              <a:t>“</a:t>
            </a:r>
            <a:r>
              <a:rPr lang="en-US" sz="1600" spc="200">
                <a:latin typeface="Consolas" panose="020B0609020204030204" pitchFamily="49" charset="0"/>
                <a:cs typeface="Consolas" panose="020B0609020204030204" pitchFamily="49" charset="0"/>
              </a:rPr>
              <a:t>%</a:t>
            </a:r>
            <a:r>
              <a:rPr lang="en-US" sz="1600"/>
              <a:t>” operator does not propagate sensitivity.</a:t>
            </a:r>
            <a:endParaRPr lang="en-US" sz="1600" dirty="0"/>
          </a:p>
          <a:p>
            <a:pPr>
              <a:spcBef>
                <a:spcPts val="1350"/>
              </a:spcBef>
            </a:pPr>
            <a:r>
              <a:rPr lang="en-US" sz="1800" dirty="0"/>
              <a:t>Repair</a:t>
            </a:r>
            <a:r>
              <a:rPr lang="en-US" sz="1800"/>
              <a:t>: General case is intractable (with bounded memory).</a:t>
            </a:r>
          </a:p>
          <a:p>
            <a:r>
              <a:rPr lang="en-US" sz="1800"/>
              <a:t>Special case that we handle: non-negative </a:t>
            </a:r>
            <a:r>
              <a:rPr lang="en-US" sz="1800" dirty="0"/>
              <a:t>integers with only addition or </a:t>
            </a:r>
            <a:r>
              <a:rPr lang="en-US" sz="1800"/>
              <a:t>multiplication (</a:t>
            </a:r>
            <a:r>
              <a:rPr lang="en-US" sz="1800" dirty="0"/>
              <a:t>no subtraction or </a:t>
            </a:r>
            <a:r>
              <a:rPr lang="en-US" sz="1800"/>
              <a:t>division).</a:t>
            </a:r>
          </a:p>
          <a:p>
            <a:pPr lvl="1">
              <a:spcBef>
                <a:spcPts val="900"/>
              </a:spcBef>
            </a:pPr>
            <a:r>
              <a:rPr lang="en-US" sz="1800"/>
              <a:t>The </a:t>
            </a:r>
            <a:r>
              <a:rPr lang="en-US" sz="1800" dirty="0"/>
              <a:t>value is monotonically non-decreasing (except for multiplication by zero).</a:t>
            </a:r>
          </a:p>
          <a:p>
            <a:pPr lvl="1">
              <a:spcBef>
                <a:spcPts val="900"/>
              </a:spcBef>
            </a:pPr>
            <a:r>
              <a:rPr lang="en-US" sz="1800"/>
              <a:t>Normal </a:t>
            </a:r>
            <a:r>
              <a:rPr lang="en-US" sz="1800" dirty="0"/>
              <a:t>arithmetic can be emulated using </a:t>
            </a:r>
            <a:r>
              <a:rPr lang="en-US" sz="2000" b="1" dirty="0">
                <a:solidFill>
                  <a:srgbClr val="0070C0"/>
                </a:solidFill>
              </a:rPr>
              <a:t>saturation arithmetic</a:t>
            </a:r>
            <a:r>
              <a:rPr lang="en-US" sz="1800" b="1" dirty="0"/>
              <a:t>:</a:t>
            </a:r>
          </a:p>
          <a:p>
            <a:pPr lvl="2">
              <a:spcBef>
                <a:spcPts val="600"/>
              </a:spcBef>
            </a:pPr>
            <a:r>
              <a:rPr lang="en-US" dirty="0"/>
              <a:t>Replace an overflowed value </a:t>
            </a:r>
            <a:r>
              <a:rPr lang="en-US"/>
              <a:t>with greatest representable value (</a:t>
            </a:r>
            <a:r>
              <a:rPr lang="en-US">
                <a:latin typeface="Consolas" panose="020B0609020204030204" pitchFamily="49" charset="0"/>
                <a:cs typeface="Consolas" panose="020B0609020204030204" pitchFamily="49" charset="0"/>
              </a:rPr>
              <a:t>SIZE_MAX</a:t>
            </a:r>
            <a:r>
              <a:rPr lang="en-US"/>
              <a:t>).</a:t>
            </a:r>
            <a:endParaRPr lang="en-US" dirty="0"/>
          </a:p>
          <a:p>
            <a:pPr lvl="1">
              <a:spcBef>
                <a:spcPts val="900"/>
              </a:spcBef>
            </a:pPr>
            <a:r>
              <a:rPr lang="en-US" sz="1800"/>
              <a:t>Assumes all values in calculation are of the same type.</a:t>
            </a:r>
          </a:p>
          <a:p>
            <a:pPr lvl="2">
              <a:spcBef>
                <a:spcPts val="900"/>
              </a:spcBef>
            </a:pPr>
            <a:r>
              <a:rPr lang="en-US"/>
              <a:t>Memory-related integers should be of type </a:t>
            </a:r>
            <a:r>
              <a:rPr lang="en-US">
                <a:latin typeface="Consolas" panose="020B0609020204030204" pitchFamily="49" charset="0"/>
                <a:cs typeface="Consolas" panose="020B0609020204030204" pitchFamily="49" charset="0"/>
              </a:rPr>
              <a:t>size_t</a:t>
            </a:r>
            <a:r>
              <a:rPr lang="en-US"/>
              <a:t>; promote up if smaller.</a:t>
            </a:r>
            <a:endParaRPr lang="en-US" dirty="0"/>
          </a:p>
        </p:txBody>
      </p:sp>
    </p:spTree>
    <p:extLst>
      <p:ext uri="{BB962C8B-B14F-4D97-AF65-F5344CB8AC3E}">
        <p14:creationId xmlns:p14="http://schemas.microsoft.com/office/powerpoint/2010/main" val="29115666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156E7A-8BBD-420C-7DD0-A8926E607519}"/>
              </a:ext>
            </a:extLst>
          </p:cNvPr>
          <p:cNvSpPr>
            <a:spLocks noGrp="1"/>
          </p:cNvSpPr>
          <p:nvPr>
            <p:ph type="title"/>
          </p:nvPr>
        </p:nvSpPr>
        <p:spPr>
          <a:xfrm>
            <a:off x="0" y="383065"/>
            <a:ext cx="9143999" cy="399186"/>
          </a:xfrm>
        </p:spPr>
        <p:txBody>
          <a:bodyPr>
            <a:normAutofit fontScale="90000"/>
          </a:bodyPr>
          <a:lstStyle/>
          <a:p>
            <a:r>
              <a:rPr lang="en-US" dirty="0"/>
              <a:t>Arithmetic for Checking Bounds of an Array</a:t>
            </a:r>
          </a:p>
        </p:txBody>
      </p:sp>
      <p:sp>
        <p:nvSpPr>
          <p:cNvPr id="5" name="Content Placeholder 2">
            <a:extLst>
              <a:ext uri="{FF2B5EF4-FFF2-40B4-BE49-F238E27FC236}">
                <a16:creationId xmlns:a16="http://schemas.microsoft.com/office/drawing/2014/main" id="{122AD31C-2709-9D0A-DA44-26B260AE8EF1}"/>
              </a:ext>
            </a:extLst>
          </p:cNvPr>
          <p:cNvSpPr>
            <a:spLocks noGrp="1"/>
          </p:cNvSpPr>
          <p:nvPr>
            <p:ph idx="1"/>
          </p:nvPr>
        </p:nvSpPr>
        <p:spPr>
          <a:xfrm>
            <a:off x="348147" y="1025087"/>
            <a:ext cx="8433567" cy="1415301"/>
          </a:xfrm>
        </p:spPr>
        <p:txBody>
          <a:bodyPr>
            <a:noAutofit/>
          </a:bodyPr>
          <a:lstStyle/>
          <a:p>
            <a:r>
              <a:rPr lang="en-US" dirty="0"/>
              <a:t>Example: copy </a:t>
            </a:r>
            <a:r>
              <a:rPr lang="en-US" i="1" dirty="0">
                <a:solidFill>
                  <a:srgbClr val="0028FF"/>
                </a:solidFill>
                <a:latin typeface="Consolas" panose="020B0609020204030204" pitchFamily="49" charset="0"/>
                <a:cs typeface="Consolas" panose="020B0609020204030204" pitchFamily="49" charset="0"/>
              </a:rPr>
              <a:t>n</a:t>
            </a:r>
            <a:r>
              <a:rPr lang="en-US" dirty="0"/>
              <a:t> bytes from </a:t>
            </a:r>
            <a:r>
              <a:rPr lang="en-US" i="1" dirty="0">
                <a:latin typeface="Consolas" panose="020B0609020204030204" pitchFamily="49" charset="0"/>
                <a:cs typeface="Consolas" panose="020B0609020204030204" pitchFamily="49" charset="0"/>
              </a:rPr>
              <a:t>src</a:t>
            </a:r>
            <a:r>
              <a:rPr lang="en-US" dirty="0"/>
              <a:t> to </a:t>
            </a:r>
            <a:r>
              <a:rPr lang="en-US" i="1" dirty="0">
                <a:latin typeface="Consolas" panose="020B0609020204030204" pitchFamily="49" charset="0"/>
                <a:cs typeface="Consolas" panose="020B0609020204030204" pitchFamily="49" charset="0"/>
              </a:rPr>
              <a:t>dest</a:t>
            </a:r>
            <a:r>
              <a:rPr lang="en-US" dirty="0"/>
              <a:t>, </a:t>
            </a:r>
            <a:br>
              <a:rPr lang="en-US" dirty="0"/>
            </a:br>
            <a:r>
              <a:rPr lang="en-US" dirty="0"/>
              <a:t>starting at index </a:t>
            </a:r>
            <a:r>
              <a:rPr lang="en-US" i="1" dirty="0">
                <a:solidFill>
                  <a:srgbClr val="0028FF"/>
                </a:solidFill>
                <a:latin typeface="Consolas" panose="020B0609020204030204" pitchFamily="49" charset="0"/>
                <a:cs typeface="Consolas" panose="020B0609020204030204" pitchFamily="49" charset="0"/>
              </a:rPr>
              <a:t>start</a:t>
            </a:r>
            <a:r>
              <a:rPr lang="en-US" dirty="0">
                <a:solidFill>
                  <a:srgbClr val="0028FF"/>
                </a:solidFill>
              </a:rPr>
              <a:t> </a:t>
            </a:r>
            <a:r>
              <a:rPr lang="en-US" dirty="0"/>
              <a:t>of </a:t>
            </a:r>
            <a:r>
              <a:rPr lang="en-US" i="1" dirty="0">
                <a:latin typeface="Consolas" panose="020B0609020204030204" pitchFamily="49" charset="0"/>
                <a:cs typeface="Consolas" panose="020B0609020204030204" pitchFamily="49" charset="0"/>
              </a:rPr>
              <a:t>dest.</a:t>
            </a:r>
            <a:endParaRPr lang="en-US" dirty="0"/>
          </a:p>
        </p:txBody>
      </p:sp>
      <p:sp>
        <p:nvSpPr>
          <p:cNvPr id="6" name="Content Placeholder 2">
            <a:extLst>
              <a:ext uri="{FF2B5EF4-FFF2-40B4-BE49-F238E27FC236}">
                <a16:creationId xmlns:a16="http://schemas.microsoft.com/office/drawing/2014/main" id="{12A27E98-EC74-E7C0-51A1-0382344178FB}"/>
              </a:ext>
            </a:extLst>
          </p:cNvPr>
          <p:cNvSpPr txBox="1">
            <a:spLocks/>
          </p:cNvSpPr>
          <p:nvPr/>
        </p:nvSpPr>
        <p:spPr>
          <a:xfrm>
            <a:off x="348147" y="2652260"/>
            <a:ext cx="4360208" cy="1553479"/>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7" name="Right Brace 6">
            <a:extLst>
              <a:ext uri="{FF2B5EF4-FFF2-40B4-BE49-F238E27FC236}">
                <a16:creationId xmlns:a16="http://schemas.microsoft.com/office/drawing/2014/main" id="{E50E71EB-37C5-1C55-19CE-C2EE5A51C0E3}"/>
              </a:ext>
            </a:extLst>
          </p:cNvPr>
          <p:cNvSpPr/>
          <p:nvPr/>
        </p:nvSpPr>
        <p:spPr>
          <a:xfrm rot="16200000">
            <a:off x="1428472" y="1919955"/>
            <a:ext cx="195266" cy="1269349"/>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8BEB1D05-4DB0-B3B6-5384-B6892574AB43}"/>
              </a:ext>
            </a:extLst>
          </p:cNvPr>
          <p:cNvSpPr txBox="1"/>
          <p:nvPr/>
        </p:nvSpPr>
        <p:spPr>
          <a:xfrm>
            <a:off x="255480" y="2136134"/>
            <a:ext cx="5976125" cy="273290"/>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r>
              <a:rPr lang="en-US" dirty="0">
                <a:solidFill>
                  <a:srgbClr val="C00000"/>
                </a:solidFill>
                <a:latin typeface="Consolas" panose="020B0609020204030204" pitchFamily="49" charset="0"/>
                <a:cs typeface="Consolas" panose="020B0609020204030204" pitchFamily="49" charset="0"/>
              </a:rPr>
              <a:t> </a:t>
            </a:r>
            <a:r>
              <a:rPr lang="en-US" sz="1650" dirty="0">
                <a:solidFill>
                  <a:srgbClr val="008000"/>
                </a:solidFill>
                <a:cs typeface="Consolas" panose="020B0609020204030204" pitchFamily="49" charset="0"/>
              </a:rPr>
              <a:t>/* defined on next slide */</a:t>
            </a:r>
          </a:p>
        </p:txBody>
      </p:sp>
      <p:pic>
        <p:nvPicPr>
          <p:cNvPr id="9" name="Picture 8">
            <a:extLst>
              <a:ext uri="{FF2B5EF4-FFF2-40B4-BE49-F238E27FC236}">
                <a16:creationId xmlns:a16="http://schemas.microsoft.com/office/drawing/2014/main" id="{52B8262F-A66B-DDFD-35F2-8A015D0A89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3225" y="2456996"/>
            <a:ext cx="3516779" cy="3155582"/>
          </a:xfrm>
          <a:prstGeom prst="rect">
            <a:avLst/>
          </a:prstGeom>
        </p:spPr>
      </p:pic>
    </p:spTree>
    <p:extLst>
      <p:ext uri="{BB962C8B-B14F-4D97-AF65-F5344CB8AC3E}">
        <p14:creationId xmlns:p14="http://schemas.microsoft.com/office/powerpoint/2010/main" val="1297002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703CD08-D68D-8599-08EB-9B794E335518}"/>
              </a:ext>
            </a:extLst>
          </p:cNvPr>
          <p:cNvSpPr>
            <a:spLocks noGrp="1"/>
          </p:cNvSpPr>
          <p:nvPr>
            <p:ph type="title"/>
          </p:nvPr>
        </p:nvSpPr>
        <p:spPr>
          <a:xfrm>
            <a:off x="401933" y="168072"/>
            <a:ext cx="7599066" cy="399186"/>
          </a:xfrm>
        </p:spPr>
        <p:txBody>
          <a:bodyPr>
            <a:normAutofit fontScale="90000"/>
          </a:bodyPr>
          <a:lstStyle/>
          <a:p>
            <a:r>
              <a:rPr lang="en-US" dirty="0"/>
              <a:t>wrappers.h</a:t>
            </a:r>
          </a:p>
        </p:txBody>
      </p:sp>
      <p:sp>
        <p:nvSpPr>
          <p:cNvPr id="5" name="Content Placeholder 2">
            <a:extLst>
              <a:ext uri="{FF2B5EF4-FFF2-40B4-BE49-F238E27FC236}">
                <a16:creationId xmlns:a16="http://schemas.microsoft.com/office/drawing/2014/main" id="{586AE776-94EC-D42B-A64B-B8533D4C0C60}"/>
              </a:ext>
            </a:extLst>
          </p:cNvPr>
          <p:cNvSpPr>
            <a:spLocks noGrp="1"/>
          </p:cNvSpPr>
          <p:nvPr>
            <p:ph idx="1"/>
          </p:nvPr>
        </p:nvSpPr>
        <p:spPr>
          <a:xfrm>
            <a:off x="401933" y="783770"/>
            <a:ext cx="8320035" cy="5312235"/>
          </a:xfrm>
        </p:spPr>
        <p:txBody>
          <a:bodyPr>
            <a:noAutofit/>
          </a:bodyPr>
          <a:lstStyle/>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inline static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a:t>
            </a:r>
            <a:r>
              <a:rPr lang="en-US" sz="2100" b="1" dirty="0">
                <a:solidFill>
                  <a:srgbClr val="0028FF"/>
                </a:solidFill>
                <a:latin typeface="Consolas" panose="020B0609020204030204" pitchFamily="49" charset="0"/>
                <a:cs typeface="Consolas" panose="020B0609020204030204" pitchFamily="49" charset="0"/>
              </a:rPr>
              <a:t>UADD</a:t>
            </a:r>
            <a:r>
              <a:rPr lang="en-US" sz="1800" dirty="0">
                <a:latin typeface="Consolas" panose="020B0609020204030204" pitchFamily="49" charset="0"/>
                <a:cs typeface="Consolas" panose="020B0609020204030204" pitchFamily="49" charset="0"/>
              </a:rPr>
              <a:t>(</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lop,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rop) {</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bool</a:t>
            </a:r>
            <a:r>
              <a:rPr lang="en-US" sz="1800" dirty="0">
                <a:latin typeface="Consolas" panose="020B0609020204030204" pitchFamily="49" charset="0"/>
                <a:cs typeface="Consolas" panose="020B0609020204030204" pitchFamily="49" charset="0"/>
              </a:rPr>
              <a:t> flag = </a:t>
            </a:r>
            <a:r>
              <a:rPr lang="en-US" sz="1800" b="1" dirty="0">
                <a:latin typeface="Consolas" panose="020B0609020204030204" pitchFamily="49" charset="0"/>
                <a:cs typeface="Consolas" panose="020B0609020204030204" pitchFamily="49" charset="0"/>
              </a:rPr>
              <a:t>__builtin_add_overflow</a:t>
            </a:r>
            <a:r>
              <a:rPr lang="en-US" sz="1800" dirty="0">
                <a:latin typeface="Consolas" panose="020B0609020204030204" pitchFamily="49" charset="0"/>
                <a:cs typeface="Consolas" panose="020B0609020204030204" pitchFamily="49" charset="0"/>
              </a:rPr>
              <a:t>(lop, rop, &amp;result);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if (flag) {result = SIZE_MAX;}</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return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a:t>
            </a:r>
          </a:p>
          <a:p>
            <a:pPr defTabSz="727454">
              <a:lnSpc>
                <a:spcPct val="120000"/>
              </a:lnSpc>
              <a:spcBef>
                <a:spcPts val="0"/>
              </a:spcBef>
              <a:tabLst>
                <a:tab pos="727454" algn="l"/>
                <a:tab pos="1116778" algn="l"/>
              </a:tabLst>
            </a:pPr>
            <a:endParaRPr lang="en-US" sz="1800" u="sng" dirty="0">
              <a:latin typeface="Consolas" panose="020B0609020204030204" pitchFamily="49" charset="0"/>
              <a:cs typeface="Consolas" panose="020B0609020204030204" pitchFamily="49" charset="0"/>
            </a:endParaRPr>
          </a:p>
        </p:txBody>
      </p:sp>
      <p:grpSp>
        <p:nvGrpSpPr>
          <p:cNvPr id="6" name="Group 5">
            <a:extLst>
              <a:ext uri="{FF2B5EF4-FFF2-40B4-BE49-F238E27FC236}">
                <a16:creationId xmlns:a16="http://schemas.microsoft.com/office/drawing/2014/main" id="{DBE040EB-20AA-B6C5-F080-6BFAC901AAD3}"/>
              </a:ext>
            </a:extLst>
          </p:cNvPr>
          <p:cNvGrpSpPr/>
          <p:nvPr/>
        </p:nvGrpSpPr>
        <p:grpSpPr>
          <a:xfrm>
            <a:off x="305695" y="3554080"/>
            <a:ext cx="4456448" cy="2070434"/>
            <a:chOff x="407593" y="3595771"/>
            <a:chExt cx="5941930" cy="2760579"/>
          </a:xfrm>
        </p:grpSpPr>
        <p:sp>
          <p:nvSpPr>
            <p:cNvPr id="7" name="Content Placeholder 2">
              <a:extLst>
                <a:ext uri="{FF2B5EF4-FFF2-40B4-BE49-F238E27FC236}">
                  <a16:creationId xmlns:a16="http://schemas.microsoft.com/office/drawing/2014/main" id="{BAD463B0-8EFF-7792-6D1A-6298EECF7E95}"/>
                </a:ext>
              </a:extLst>
            </p:cNvPr>
            <p:cNvSpPr txBox="1">
              <a:spLocks/>
            </p:cNvSpPr>
            <p:nvPr/>
          </p:nvSpPr>
          <p:spPr>
            <a:xfrm>
              <a:off x="535912" y="4285045"/>
              <a:ext cx="5813611" cy="2071305"/>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8" name="Right Brace 7">
              <a:extLst>
                <a:ext uri="{FF2B5EF4-FFF2-40B4-BE49-F238E27FC236}">
                  <a16:creationId xmlns:a16="http://schemas.microsoft.com/office/drawing/2014/main" id="{478FBED2-0C02-08E5-6DE7-CE24EF06BFCD}"/>
                </a:ext>
              </a:extLst>
            </p:cNvPr>
            <p:cNvSpPr/>
            <p:nvPr/>
          </p:nvSpPr>
          <p:spPr>
            <a:xfrm rot="16200000">
              <a:off x="1976344" y="3308635"/>
              <a:ext cx="260354" cy="1692465"/>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9" name="TextBox 8">
              <a:extLst>
                <a:ext uri="{FF2B5EF4-FFF2-40B4-BE49-F238E27FC236}">
                  <a16:creationId xmlns:a16="http://schemas.microsoft.com/office/drawing/2014/main" id="{46BD6D72-732E-390B-D343-578B5B0CBE6D}"/>
                </a:ext>
              </a:extLst>
            </p:cNvPr>
            <p:cNvSpPr txBox="1"/>
            <p:nvPr/>
          </p:nvSpPr>
          <p:spPr>
            <a:xfrm>
              <a:off x="407593" y="3595771"/>
              <a:ext cx="2434094" cy="364387"/>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endParaRPr lang="en-US" sz="1650" dirty="0">
                <a:solidFill>
                  <a:srgbClr val="008000"/>
                </a:solidFill>
                <a:cs typeface="Consolas" panose="020B0609020204030204" pitchFamily="49" charset="0"/>
              </a:endParaRPr>
            </a:p>
          </p:txBody>
        </p:sp>
      </p:grpSp>
      <p:sp>
        <p:nvSpPr>
          <p:cNvPr id="10" name="Content Placeholder 2">
            <a:extLst>
              <a:ext uri="{FF2B5EF4-FFF2-40B4-BE49-F238E27FC236}">
                <a16:creationId xmlns:a16="http://schemas.microsoft.com/office/drawing/2014/main" id="{0BB52673-653C-EAC0-26C2-74ADEE727D3B}"/>
              </a:ext>
            </a:extLst>
          </p:cNvPr>
          <p:cNvSpPr txBox="1">
            <a:spLocks/>
          </p:cNvSpPr>
          <p:nvPr/>
        </p:nvSpPr>
        <p:spPr>
          <a:xfrm>
            <a:off x="4341457" y="2534168"/>
            <a:ext cx="4476749" cy="1019912"/>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966" indent="-130966">
              <a:spcBef>
                <a:spcPts val="600"/>
              </a:spcBef>
              <a:buFont typeface="Arial" panose="020B0604020202020204" pitchFamily="34" charset="0"/>
              <a:buChar char="•"/>
            </a:pPr>
            <a:r>
              <a:rPr lang="en-US" sz="1500" dirty="0"/>
              <a:t>What </a:t>
            </a:r>
            <a:r>
              <a:rPr lang="en-US" sz="1500"/>
              <a:t>if </a:t>
            </a:r>
            <a:r>
              <a:rPr lang="en-US" sz="1500">
                <a:latin typeface="Consolas" panose="020B0609020204030204" pitchFamily="49" charset="0"/>
                <a:cs typeface="Consolas" panose="020B0609020204030204" pitchFamily="49" charset="0"/>
              </a:rPr>
              <a:t>dest_size</a:t>
            </a:r>
            <a:r>
              <a:rPr lang="en-US" sz="1500"/>
              <a:t> </a:t>
            </a:r>
            <a:r>
              <a:rPr lang="en-US" sz="1500" dirty="0"/>
              <a:t>is </a:t>
            </a:r>
            <a:r>
              <a:rPr lang="en-US" sz="1500" dirty="0">
                <a:latin typeface="Consolas" panose="020B0609020204030204" pitchFamily="49" charset="0"/>
                <a:cs typeface="Consolas" panose="020B0609020204030204" pitchFamily="49" charset="0"/>
              </a:rPr>
              <a:t>SIZE_MAX</a:t>
            </a:r>
            <a:r>
              <a:rPr lang="en-US" sz="1500" dirty="0"/>
              <a:t>?</a:t>
            </a:r>
          </a:p>
          <a:p>
            <a:pPr marL="130966" indent="-130966">
              <a:spcBef>
                <a:spcPts val="600"/>
              </a:spcBef>
              <a:buFont typeface="Arial" panose="020B0604020202020204" pitchFamily="34" charset="0"/>
              <a:buChar char="•"/>
            </a:pPr>
            <a:r>
              <a:rPr lang="en-US" sz="1500" dirty="0"/>
              <a:t>What if both sides of inequality overflow?</a:t>
            </a:r>
          </a:p>
          <a:p>
            <a:pPr marL="130966" indent="-130966">
              <a:spcBef>
                <a:spcPts val="600"/>
              </a:spcBef>
              <a:buFont typeface="Arial" panose="020B0604020202020204" pitchFamily="34" charset="0"/>
              <a:buChar char="•"/>
            </a:pPr>
            <a:r>
              <a:rPr lang="en-US" sz="1500" dirty="0"/>
              <a:t>What if overflow </a:t>
            </a:r>
            <a:r>
              <a:rPr lang="en-US" sz="1500"/>
              <a:t>reaches a non-comparison sink?</a:t>
            </a:r>
            <a:endParaRPr lang="en-US" sz="1500" dirty="0"/>
          </a:p>
        </p:txBody>
      </p:sp>
    </p:spTree>
    <p:extLst>
      <p:ext uri="{BB962C8B-B14F-4D97-AF65-F5344CB8AC3E}">
        <p14:creationId xmlns:p14="http://schemas.microsoft.com/office/powerpoint/2010/main" val="380668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3B11AE7-070C-37EE-AA94-72C5C4D0B5E9}"/>
              </a:ext>
            </a:extLst>
          </p:cNvPr>
          <p:cNvSpPr>
            <a:spLocks noGrp="1"/>
          </p:cNvSpPr>
          <p:nvPr>
            <p:ph type="title"/>
          </p:nvPr>
        </p:nvSpPr>
        <p:spPr>
          <a:xfrm>
            <a:off x="401933" y="168072"/>
            <a:ext cx="7599066" cy="399186"/>
          </a:xfrm>
        </p:spPr>
        <p:txBody>
          <a:bodyPr>
            <a:normAutofit fontScale="90000"/>
          </a:bodyPr>
          <a:lstStyle/>
          <a:p>
            <a:r>
              <a:rPr lang="en-US" dirty="0"/>
              <a:t>Semi-Repair</a:t>
            </a:r>
          </a:p>
        </p:txBody>
      </p:sp>
      <p:sp>
        <p:nvSpPr>
          <p:cNvPr id="5" name="Content Placeholder 2">
            <a:extLst>
              <a:ext uri="{FF2B5EF4-FFF2-40B4-BE49-F238E27FC236}">
                <a16:creationId xmlns:a16="http://schemas.microsoft.com/office/drawing/2014/main" id="{761CCB45-6B1C-1568-3A8E-C9AAFC1A31BE}"/>
              </a:ext>
            </a:extLst>
          </p:cNvPr>
          <p:cNvSpPr>
            <a:spLocks noGrp="1"/>
          </p:cNvSpPr>
          <p:nvPr>
            <p:ph idx="1"/>
          </p:nvPr>
        </p:nvSpPr>
        <p:spPr>
          <a:xfrm>
            <a:off x="6160577" y="1211968"/>
            <a:ext cx="2543585" cy="872553"/>
          </a:xfr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p>
            <a:pPr>
              <a:spcBef>
                <a:spcPts val="1350"/>
              </a:spcBef>
            </a:pPr>
            <a:r>
              <a:rPr lang="en-US" sz="1500" dirty="0"/>
              <a:t>If a potentially overflowed value is used to index into an array, do a semi-repair.</a:t>
            </a:r>
          </a:p>
        </p:txBody>
      </p:sp>
      <p:sp>
        <p:nvSpPr>
          <p:cNvPr id="6" name="Content Placeholder 2">
            <a:extLst>
              <a:ext uri="{FF2B5EF4-FFF2-40B4-BE49-F238E27FC236}">
                <a16:creationId xmlns:a16="http://schemas.microsoft.com/office/drawing/2014/main" id="{89AB182C-E631-5DED-607A-BAEE65A4E0E9}"/>
              </a:ext>
            </a:extLst>
          </p:cNvPr>
          <p:cNvSpPr txBox="1">
            <a:spLocks/>
          </p:cNvSpPr>
          <p:nvPr/>
        </p:nvSpPr>
        <p:spPr>
          <a:xfrm>
            <a:off x="1184598" y="716024"/>
            <a:ext cx="5092216" cy="5222929"/>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None/>
            </a:pPr>
            <a:r>
              <a:rPr lang="en-US" b="1" dirty="0">
                <a:cs typeface="Consolas" panose="020B0609020204030204" pitchFamily="49" charset="0"/>
              </a:rPr>
              <a:t>Example adapted from CVE-2015-8370: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unsigned cur_len = 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while</a:t>
            </a:r>
            <a:r>
              <a:rPr lang="en-US" sz="1800" dirty="0">
                <a:latin typeface="Consolas" panose="020B0609020204030204" pitchFamily="49" charset="0"/>
                <a:cs typeface="Consolas" panose="020B0609020204030204" pitchFamily="49" charset="0"/>
              </a:rPr>
              <a:t> (1)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key = grub_getkey();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(key == ‘\b’)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if (cur_len == 0)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 </a:t>
            </a:r>
            <a:r>
              <a:rPr lang="en-US" sz="1800" b="1" dirty="0">
                <a:solidFill>
                  <a:srgbClr val="FF0000"/>
                </a:solidFill>
                <a:latin typeface="Consolas" panose="020B0609020204030204" pitchFamily="49" charset="0"/>
                <a:cs typeface="Consolas" panose="020B0609020204030204" pitchFamily="49" charset="0"/>
              </a:rPr>
              <a:t>FI</a:t>
            </a:r>
            <a:r>
              <a:rPr lang="en-US" sz="1800" b="1" spc="75" dirty="0">
                <a:solidFill>
                  <a:srgbClr val="FF0000"/>
                </a:solidFill>
                <a:latin typeface="Consolas" panose="020B0609020204030204" pitchFamily="49" charset="0"/>
                <a:cs typeface="Consolas" panose="020B0609020204030204" pitchFamily="49" charset="0"/>
              </a:rPr>
              <a:t>X</a:t>
            </a:r>
            <a:r>
              <a:rPr lang="en-US" sz="1800" b="1" dirty="0">
                <a:solidFill>
                  <a:srgbClr val="FF0000"/>
                </a:solidFill>
                <a:latin typeface="Consolas" panose="020B0609020204030204" pitchFamily="49" charset="0"/>
                <a:cs typeface="Consolas" panose="020B0609020204030204" pitchFamily="49" charset="0"/>
              </a:rPr>
              <a:t>ME:</a:t>
            </a:r>
            <a:r>
              <a:rPr lang="en-US" sz="1800" b="1" dirty="0">
                <a:solidFill>
                  <a:srgbClr val="E00000"/>
                </a:solidFill>
                <a:latin typeface="Consolas" panose="020B0609020204030204" pitchFamily="49" charset="0"/>
                <a:cs typeface="Consolas" panose="020B0609020204030204" pitchFamily="49" charset="0"/>
              </a:rPr>
              <a:t> Insert error-</a:t>
            </a:r>
            <a:br>
              <a:rPr lang="en-US" sz="1800" b="1" dirty="0">
                <a:solidFill>
                  <a:srgbClr val="E00000"/>
                </a:solidFill>
                <a:latin typeface="Consolas" panose="020B0609020204030204" pitchFamily="49" charset="0"/>
                <a:cs typeface="Consolas" panose="020B0609020204030204" pitchFamily="49" charset="0"/>
              </a:rPr>
            </a:br>
            <a:r>
              <a:rPr lang="en-US" sz="1800" b="1" dirty="0">
                <a:solidFill>
                  <a:srgbClr val="E00000"/>
                </a:solidFill>
                <a:latin typeface="Consolas" panose="020B0609020204030204" pitchFamily="49" charset="0"/>
                <a:cs typeface="Consolas" panose="020B0609020204030204" pitchFamily="49" charset="0"/>
              </a:rPr>
              <a:t>           handling code here.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cur_len--;</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grub_printf(“\b”);</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continue</a:t>
            </a:r>
            <a:r>
              <a:rPr lang="en-US" sz="1800" dirty="0">
                <a:latin typeface="Consolas" panose="020B0609020204030204" pitchFamily="49" charset="0"/>
                <a:cs typeface="Consolas" panose="020B0609020204030204" pitchFamily="49" charset="0"/>
              </a:rPr>
              <a:t>;</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(cur_len + 2 &lt; buf_size)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buf[cur_len++] =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grub_printf(“%c”,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0" indent="0">
              <a:lnSpc>
                <a:spcPct val="100000"/>
              </a:lnSpc>
              <a:spcBef>
                <a:spcPts val="0"/>
              </a:spcBef>
              <a:buNone/>
            </a:pPr>
            <a:endParaRPr lang="en-US" sz="1800" dirty="0">
              <a:latin typeface="Consolas" panose="020B0609020204030204" pitchFamily="49" charset="0"/>
              <a:cs typeface="Consolas" panose="020B0609020204030204" pitchFamily="49" charset="0"/>
            </a:endParaRPr>
          </a:p>
        </p:txBody>
      </p:sp>
      <p:sp>
        <p:nvSpPr>
          <p:cNvPr id="7" name="Left Brace 6">
            <a:extLst>
              <a:ext uri="{FF2B5EF4-FFF2-40B4-BE49-F238E27FC236}">
                <a16:creationId xmlns:a16="http://schemas.microsoft.com/office/drawing/2014/main" id="{C70B9E8F-C5AF-E1F3-E781-44A7CA5B8366}"/>
              </a:ext>
            </a:extLst>
          </p:cNvPr>
          <p:cNvSpPr/>
          <p:nvPr/>
        </p:nvSpPr>
        <p:spPr>
          <a:xfrm>
            <a:off x="913664" y="2270504"/>
            <a:ext cx="192881" cy="1015138"/>
          </a:xfrm>
          <a:prstGeom prst="leftBrace">
            <a:avLst>
              <a:gd name="adj1" fmla="val 62190"/>
              <a:gd name="adj2" fmla="val 50000"/>
            </a:avLst>
          </a:prstGeom>
          <a:ln w="254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2C944BD0-7AC3-7A0C-15E1-B02C18F7E265}"/>
              </a:ext>
            </a:extLst>
          </p:cNvPr>
          <p:cNvSpPr txBox="1"/>
          <p:nvPr/>
        </p:nvSpPr>
        <p:spPr>
          <a:xfrm>
            <a:off x="277573" y="2476670"/>
            <a:ext cx="558038" cy="553998"/>
          </a:xfrm>
          <a:prstGeom prst="rect">
            <a:avLst/>
          </a:prstGeom>
          <a:noFill/>
        </p:spPr>
        <p:txBody>
          <a:bodyPr wrap="none" lIns="0" tIns="0" rIns="0" bIns="0" rtlCol="0">
            <a:spAutoFit/>
          </a:bodyPr>
          <a:lstStyle/>
          <a:p>
            <a:r>
              <a:rPr lang="en-US" dirty="0">
                <a:solidFill>
                  <a:srgbClr val="AF0D1D"/>
                </a:solidFill>
              </a:rPr>
              <a:t>semi-</a:t>
            </a:r>
          </a:p>
          <a:p>
            <a:r>
              <a:rPr lang="en-US" dirty="0">
                <a:solidFill>
                  <a:srgbClr val="AF0D1D"/>
                </a:solidFill>
              </a:rPr>
              <a:t>repair</a:t>
            </a:r>
          </a:p>
        </p:txBody>
      </p:sp>
      <p:sp>
        <p:nvSpPr>
          <p:cNvPr id="9" name="Content Placeholder 2">
            <a:extLst>
              <a:ext uri="{FF2B5EF4-FFF2-40B4-BE49-F238E27FC236}">
                <a16:creationId xmlns:a16="http://schemas.microsoft.com/office/drawing/2014/main" id="{1FB13A49-E971-6602-7DC2-EA5DF5C4F4EB}"/>
              </a:ext>
            </a:extLst>
          </p:cNvPr>
          <p:cNvSpPr txBox="1">
            <a:spLocks/>
          </p:cNvSpPr>
          <p:nvPr/>
        </p:nvSpPr>
        <p:spPr>
          <a:xfrm>
            <a:off x="5908729" y="2270504"/>
            <a:ext cx="2960176" cy="945395"/>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137160" tIns="68580" rIns="68580" bIns="68580" rtlCol="0" anchor="ctr" anchorCtr="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dirty="0"/>
              <a:t>Tool inserts check for overflow. </a:t>
            </a:r>
            <a:br>
              <a:rPr lang="en-US" sz="1500" dirty="0"/>
            </a:br>
            <a:r>
              <a:rPr lang="en-US" sz="1500" dirty="0"/>
              <a:t>User writes error-handling code.</a:t>
            </a:r>
          </a:p>
        </p:txBody>
      </p:sp>
    </p:spTree>
    <p:extLst>
      <p:ext uri="{BB962C8B-B14F-4D97-AF65-F5344CB8AC3E}">
        <p14:creationId xmlns:p14="http://schemas.microsoft.com/office/powerpoint/2010/main" val="1110413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AA93036-588C-5570-DB8B-56CC2366A654}"/>
              </a:ext>
            </a:extLst>
          </p:cNvPr>
          <p:cNvSpPr>
            <a:spLocks noGrp="1"/>
          </p:cNvSpPr>
          <p:nvPr>
            <p:ph type="title"/>
          </p:nvPr>
        </p:nvSpPr>
        <p:spPr>
          <a:xfrm>
            <a:off x="0" y="0"/>
            <a:ext cx="8659905" cy="1094382"/>
          </a:xfrm>
        </p:spPr>
        <p:txBody>
          <a:bodyPr>
            <a:normAutofit fontScale="90000"/>
          </a:bodyPr>
          <a:lstStyle/>
          <a:p>
            <a:r>
              <a:rPr lang="en-US" dirty="0"/>
              <a:t>Repair on source vs a compile-time pass</a:t>
            </a:r>
          </a:p>
        </p:txBody>
      </p:sp>
      <p:sp>
        <p:nvSpPr>
          <p:cNvPr id="7" name="Content Placeholder 2">
            <a:extLst>
              <a:ext uri="{FF2B5EF4-FFF2-40B4-BE49-F238E27FC236}">
                <a16:creationId xmlns:a16="http://schemas.microsoft.com/office/drawing/2014/main" id="{8038C672-847A-D53C-BB2C-68AF5B0746A0}"/>
              </a:ext>
            </a:extLst>
          </p:cNvPr>
          <p:cNvSpPr>
            <a:spLocks noGrp="1"/>
          </p:cNvSpPr>
          <p:nvPr>
            <p:ph idx="1"/>
          </p:nvPr>
        </p:nvSpPr>
        <p:spPr>
          <a:xfrm>
            <a:off x="401933" y="1310894"/>
            <a:ext cx="8536327" cy="5312235"/>
          </a:xfrm>
        </p:spPr>
        <p:txBody>
          <a:bodyPr/>
          <a:lstStyle/>
          <a:p>
            <a:r>
              <a:rPr lang="en-US"/>
              <a:t>A </a:t>
            </a:r>
            <a:r>
              <a:rPr lang="en-US" dirty="0"/>
              <a:t>difficulty we encountered was the </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Sourc</a:t>
            </a:r>
            <a:r>
              <a:rPr lang="en-US" b="1" spc="150" dirty="0">
                <a:solidFill>
                  <a:srgbClr val="0070C0"/>
                </a:solidFill>
                <a:latin typeface="Verdana" panose="020B0604030504040204" pitchFamily="34" charset="0"/>
                <a:ea typeface="Verdana" panose="020B0604030504040204" pitchFamily="34" charset="0"/>
                <a:cs typeface="Verdana" panose="020B0604030504040204" pitchFamily="34" charset="0"/>
              </a:rPr>
              <a:t>e</a:t>
            </a:r>
            <a:r>
              <a:rPr lang="en-US" b="1" spc="150" dirty="0">
                <a:solidFill>
                  <a:srgbClr val="0070C0"/>
                </a:solidFill>
                <a:latin typeface="+mn-lt"/>
                <a:ea typeface="Cambria Math" panose="02040503050406030204" pitchFamily="18" charset="0"/>
              </a:rPr>
              <a:t>↔</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IR</a:t>
            </a:r>
            <a:r>
              <a:rPr lang="en-US" b="1" dirty="0">
                <a:solidFill>
                  <a:srgbClr val="0070C0"/>
                </a:solidFill>
              </a:rPr>
              <a:t> mapping problem</a:t>
            </a:r>
            <a:r>
              <a:rPr lang="en-US" b="1" dirty="0"/>
              <a:t>:</a:t>
            </a:r>
            <a:endParaRPr lang="en-US" dirty="0"/>
          </a:p>
          <a:p>
            <a:pPr lvl="1"/>
            <a:r>
              <a:rPr lang="en-US" sz="2000"/>
              <a:t>Code is most readily analyzed and repaired on a suitable intermediate representation (</a:t>
            </a:r>
            <a:r>
              <a:rPr lang="en-US" sz="2000">
                <a:latin typeface="Verdana" panose="020B0604030504040204" pitchFamily="34" charset="0"/>
                <a:ea typeface="Verdana" panose="020B0604030504040204" pitchFamily="34" charset="0"/>
                <a:cs typeface="Verdana" panose="020B0604030504040204" pitchFamily="34" charset="0"/>
              </a:rPr>
              <a:t>IR</a:t>
            </a:r>
            <a:r>
              <a:rPr lang="en-US" sz="2000"/>
              <a:t>).</a:t>
            </a:r>
          </a:p>
          <a:p>
            <a:pPr lvl="1"/>
            <a:r>
              <a:rPr lang="en-US" sz="2000"/>
              <a:t>Transformations </a:t>
            </a:r>
            <a:r>
              <a:rPr lang="en-US" sz="2000" dirty="0"/>
              <a:t>on the </a:t>
            </a:r>
            <a:r>
              <a:rPr lang="en-US" sz="2000" dirty="0">
                <a:latin typeface="Verdana" panose="020B0604030504040204" pitchFamily="34" charset="0"/>
                <a:ea typeface="Verdana" panose="020B0604030504040204" pitchFamily="34" charset="0"/>
                <a:cs typeface="Verdana" panose="020B0604030504040204" pitchFamily="34" charset="0"/>
              </a:rPr>
              <a:t>IR</a:t>
            </a:r>
            <a:r>
              <a:rPr lang="en-US" sz="2000" dirty="0"/>
              <a:t> aren’t unambiguously mappable to the source.</a:t>
            </a:r>
          </a:p>
          <a:p>
            <a:pPr lvl="1"/>
            <a:r>
              <a:rPr lang="en-US" sz="2000" dirty="0"/>
              <a:t>Macros and </a:t>
            </a:r>
            <a:r>
              <a:rPr lang="en-US" sz="2000" dirty="0">
                <a:latin typeface="Consolas" panose="020B0609020204030204" pitchFamily="49" charset="0"/>
                <a:cs typeface="Consolas" panose="020B0609020204030204" pitchFamily="49" charset="0"/>
              </a:rPr>
              <a:t>#ifdef</a:t>
            </a:r>
            <a:r>
              <a:rPr lang="en-US" sz="2000" dirty="0"/>
              <a:t>s are a further </a:t>
            </a:r>
            <a:r>
              <a:rPr lang="en-US" sz="2000"/>
              <a:t>difficulty.</a:t>
            </a:r>
          </a:p>
          <a:p>
            <a:pPr lvl="1"/>
            <a:r>
              <a:rPr lang="en-US" sz="2000"/>
              <a:t>We </a:t>
            </a:r>
            <a:r>
              <a:rPr lang="en-US" sz="2000" dirty="0"/>
              <a:t>are further investigating these issues this year (FY17).</a:t>
            </a:r>
          </a:p>
          <a:p>
            <a:endParaRPr lang="en-US" sz="2800" dirty="0"/>
          </a:p>
        </p:txBody>
      </p:sp>
    </p:spTree>
    <p:extLst>
      <p:ext uri="{BB962C8B-B14F-4D97-AF65-F5344CB8AC3E}">
        <p14:creationId xmlns:p14="http://schemas.microsoft.com/office/powerpoint/2010/main" val="11473996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27ED1A4C-1EEF-D921-2FA9-12861EB66112}"/>
              </a:ext>
            </a:extLst>
          </p:cNvPr>
          <p:cNvPicPr>
            <a:picLocks noGrp="1" noChangeAspect="1"/>
          </p:cNvPicPr>
          <p:nvPr>
            <p:ph idx="1"/>
          </p:nvPr>
        </p:nvPicPr>
        <p:blipFill>
          <a:blip r:embed="rId2"/>
          <a:stretch>
            <a:fillRect/>
          </a:stretch>
        </p:blipFill>
        <p:spPr>
          <a:xfrm>
            <a:off x="482600" y="1026477"/>
            <a:ext cx="8178799" cy="4805044"/>
          </a:xfrm>
          <a:prstGeom prst="rect">
            <a:avLst/>
          </a:prstGeom>
        </p:spPr>
      </p:pic>
    </p:spTree>
    <p:extLst>
      <p:ext uri="{BB962C8B-B14F-4D97-AF65-F5344CB8AC3E}">
        <p14:creationId xmlns:p14="http://schemas.microsoft.com/office/powerpoint/2010/main" val="18849656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A2097-1557-CED1-1678-017F0FFE6FDC}"/>
              </a:ext>
            </a:extLst>
          </p:cNvPr>
          <p:cNvSpPr>
            <a:spLocks noGrp="1"/>
          </p:cNvSpPr>
          <p:nvPr>
            <p:ph type="title"/>
          </p:nvPr>
        </p:nvSpPr>
        <p:spPr/>
        <p:txBody>
          <a:bodyPr>
            <a:normAutofit fontScale="90000"/>
          </a:bodyPr>
          <a:lstStyle/>
          <a:p>
            <a:r>
              <a:rPr lang="en-IT" dirty="0"/>
              <a:t>Challenges: approaches are bug-type specific</a:t>
            </a:r>
          </a:p>
        </p:txBody>
      </p:sp>
      <p:sp>
        <p:nvSpPr>
          <p:cNvPr id="3" name="Content Placeholder 2">
            <a:extLst>
              <a:ext uri="{FF2B5EF4-FFF2-40B4-BE49-F238E27FC236}">
                <a16:creationId xmlns:a16="http://schemas.microsoft.com/office/drawing/2014/main" id="{96F5F08C-2B92-3987-328F-0CE5C60A8C59}"/>
              </a:ext>
            </a:extLst>
          </p:cNvPr>
          <p:cNvSpPr>
            <a:spLocks noGrp="1"/>
          </p:cNvSpPr>
          <p:nvPr>
            <p:ph idx="1"/>
          </p:nvPr>
        </p:nvSpPr>
        <p:spPr/>
        <p:txBody>
          <a:bodyPr/>
          <a:lstStyle/>
          <a:p>
            <a:r>
              <a:rPr lang="en-GB" dirty="0"/>
              <a:t>E</a:t>
            </a:r>
            <a:r>
              <a:rPr lang="en-IT" dirty="0"/>
              <a:t>.g., security bugs, fixes are in the commit-spec</a:t>
            </a:r>
          </a:p>
          <a:p>
            <a:endParaRPr lang="en-IT" dirty="0"/>
          </a:p>
          <a:p>
            <a:r>
              <a:rPr lang="en-GB" dirty="0"/>
              <a:t>B</a:t>
            </a:r>
            <a:r>
              <a:rPr lang="en-IT" dirty="0"/>
              <a:t>ugs tend to be in the CWE lists and similar</a:t>
            </a:r>
          </a:p>
          <a:p>
            <a:endParaRPr lang="en-GB" dirty="0"/>
          </a:p>
          <a:p>
            <a:r>
              <a:rPr lang="en-GB" dirty="0"/>
              <a:t>S</a:t>
            </a:r>
            <a:r>
              <a:rPr lang="en-IT" dirty="0"/>
              <a:t>pecs are ISO-std compliant</a:t>
            </a:r>
          </a:p>
        </p:txBody>
      </p:sp>
    </p:spTree>
    <p:extLst>
      <p:ext uri="{BB962C8B-B14F-4D97-AF65-F5344CB8AC3E}">
        <p14:creationId xmlns:p14="http://schemas.microsoft.com/office/powerpoint/2010/main" val="267069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316902E-2576-A3CB-A72B-1154C1315B83}"/>
              </a:ext>
            </a:extLst>
          </p:cNvPr>
          <p:cNvPicPr>
            <a:picLocks noGrp="1" noChangeAspect="1"/>
          </p:cNvPicPr>
          <p:nvPr>
            <p:ph idx="1"/>
          </p:nvPr>
        </p:nvPicPr>
        <p:blipFill>
          <a:blip r:embed="rId2"/>
          <a:srcRect l="5889" r="16777" b="-1"/>
          <a:stretch>
            <a:fillRect/>
          </a:stretch>
        </p:blipFill>
        <p:spPr>
          <a:xfrm>
            <a:off x="20" y="1"/>
            <a:ext cx="9143979" cy="6858000"/>
          </a:xfrm>
          <a:prstGeom prst="rect">
            <a:avLst/>
          </a:prstGeom>
        </p:spPr>
      </p:pic>
      <p:sp>
        <p:nvSpPr>
          <p:cNvPr id="6" name="TextBox 5">
            <a:extLst>
              <a:ext uri="{FF2B5EF4-FFF2-40B4-BE49-F238E27FC236}">
                <a16:creationId xmlns:a16="http://schemas.microsoft.com/office/drawing/2014/main" id="{85E7831D-05FC-738C-3B33-83D9100D5FF0}"/>
              </a:ext>
            </a:extLst>
          </p:cNvPr>
          <p:cNvSpPr txBox="1"/>
          <p:nvPr/>
        </p:nvSpPr>
        <p:spPr>
          <a:xfrm>
            <a:off x="1071537" y="3970531"/>
            <a:ext cx="6577149" cy="923330"/>
          </a:xfrm>
          <a:prstGeom prst="rect">
            <a:avLst/>
          </a:prstGeom>
          <a:noFill/>
        </p:spPr>
        <p:txBody>
          <a:bodyPr wrap="square" rtlCol="0">
            <a:spAutoFit/>
          </a:bodyPr>
          <a:lstStyle/>
          <a:p>
            <a:r>
              <a:rPr lang="en-IT" b="1" i="1" dirty="0">
                <a:solidFill>
                  <a:srgbClr val="FF0000"/>
                </a:solidFill>
              </a:rPr>
              <a:t>“as large language models can derive more fix patterns by training on more data, future APR tools could shift focus from adding more fix patterns to synthesis/semantics based approaches”</a:t>
            </a:r>
          </a:p>
        </p:txBody>
      </p:sp>
    </p:spTree>
    <p:extLst>
      <p:ext uri="{BB962C8B-B14F-4D97-AF65-F5344CB8AC3E}">
        <p14:creationId xmlns:p14="http://schemas.microsoft.com/office/powerpoint/2010/main" val="38943652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8DD06D-CC6C-5940-0843-CA09CD62E9C8}"/>
              </a:ext>
            </a:extLst>
          </p:cNvPr>
          <p:cNvSpPr>
            <a:spLocks noGrp="1"/>
          </p:cNvSpPr>
          <p:nvPr>
            <p:ph type="title"/>
          </p:nvPr>
        </p:nvSpPr>
        <p:spPr>
          <a:xfrm>
            <a:off x="473202" y="639520"/>
            <a:ext cx="2571750" cy="1719072"/>
          </a:xfrm>
        </p:spPr>
        <p:txBody>
          <a:bodyPr anchor="b">
            <a:normAutofit fontScale="90000"/>
          </a:bodyPr>
          <a:lstStyle/>
          <a:p>
            <a:pPr>
              <a:lnSpc>
                <a:spcPct val="90000"/>
              </a:lnSpc>
            </a:pPr>
            <a:r>
              <a:rPr lang="en-GB" sz="3600" dirty="0"/>
              <a:t>H</a:t>
            </a:r>
            <a:r>
              <a:rPr lang="en-IT" sz="3600" dirty="0"/>
              <a:t>ow about our beloved concurrency bugs?</a:t>
            </a:r>
          </a:p>
        </p:txBody>
      </p:sp>
      <p:sp>
        <p:nvSpPr>
          <p:cNvPr id="308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2573756"/>
            <a:ext cx="2441321" cy="18288"/>
          </a:xfrm>
          <a:custGeom>
            <a:avLst/>
            <a:gdLst>
              <a:gd name="csX0" fmla="*/ 0 w 2441321"/>
              <a:gd name="csY0" fmla="*/ 0 h 18288"/>
              <a:gd name="csX1" fmla="*/ 585917 w 2441321"/>
              <a:gd name="csY1" fmla="*/ 0 h 18288"/>
              <a:gd name="csX2" fmla="*/ 1196247 w 2441321"/>
              <a:gd name="csY2" fmla="*/ 0 h 18288"/>
              <a:gd name="csX3" fmla="*/ 1806578 w 2441321"/>
              <a:gd name="csY3" fmla="*/ 0 h 18288"/>
              <a:gd name="csX4" fmla="*/ 2441321 w 2441321"/>
              <a:gd name="csY4" fmla="*/ 0 h 18288"/>
              <a:gd name="csX5" fmla="*/ 2441321 w 2441321"/>
              <a:gd name="csY5" fmla="*/ 18288 h 18288"/>
              <a:gd name="csX6" fmla="*/ 1830991 w 2441321"/>
              <a:gd name="csY6" fmla="*/ 18288 h 18288"/>
              <a:gd name="csX7" fmla="*/ 1269487 w 2441321"/>
              <a:gd name="csY7" fmla="*/ 18288 h 18288"/>
              <a:gd name="csX8" fmla="*/ 707983 w 2441321"/>
              <a:gd name="csY8" fmla="*/ 18288 h 18288"/>
              <a:gd name="csX9" fmla="*/ 0 w 2441321"/>
              <a:gd name="csY9" fmla="*/ 18288 h 18288"/>
              <a:gd name="csX10" fmla="*/ 0 w 2441321"/>
              <a:gd name="csY1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8288"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1167" y="8655"/>
                  <a:pt x="2440437" y="9975"/>
                  <a:pt x="2441321" y="18288"/>
                </a:cubicBezTo>
                <a:cubicBezTo>
                  <a:pt x="2169723" y="30506"/>
                  <a:pt x="2045712" y="39140"/>
                  <a:pt x="1830991" y="18288"/>
                </a:cubicBezTo>
                <a:cubicBezTo>
                  <a:pt x="1616270" y="-2564"/>
                  <a:pt x="1505876" y="3949"/>
                  <a:pt x="1269487" y="18288"/>
                </a:cubicBezTo>
                <a:cubicBezTo>
                  <a:pt x="1033098" y="32627"/>
                  <a:pt x="908661" y="41191"/>
                  <a:pt x="707983" y="18288"/>
                </a:cubicBezTo>
                <a:cubicBezTo>
                  <a:pt x="507305" y="-4615"/>
                  <a:pt x="333592" y="20759"/>
                  <a:pt x="0" y="18288"/>
                </a:cubicBezTo>
                <a:cubicBezTo>
                  <a:pt x="-688" y="11716"/>
                  <a:pt x="875" y="6357"/>
                  <a:pt x="0" y="0"/>
                </a:cubicBezTo>
                <a:close/>
              </a:path>
              <a:path w="2441321" h="18288"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735" y="5928"/>
                  <a:pt x="2441551" y="11133"/>
                  <a:pt x="2441321" y="18288"/>
                </a:cubicBezTo>
                <a:cubicBezTo>
                  <a:pt x="2166745" y="28773"/>
                  <a:pt x="2078726" y="15476"/>
                  <a:pt x="1879817" y="18288"/>
                </a:cubicBezTo>
                <a:cubicBezTo>
                  <a:pt x="1680908" y="21100"/>
                  <a:pt x="1548770" y="-4127"/>
                  <a:pt x="1318313" y="18288"/>
                </a:cubicBezTo>
                <a:cubicBezTo>
                  <a:pt x="1087856" y="40703"/>
                  <a:pt x="894613" y="3927"/>
                  <a:pt x="659157" y="18288"/>
                </a:cubicBezTo>
                <a:cubicBezTo>
                  <a:pt x="423701" y="32649"/>
                  <a:pt x="246611" y="33975"/>
                  <a:pt x="0" y="18288"/>
                </a:cubicBezTo>
                <a:cubicBezTo>
                  <a:pt x="-348" y="10388"/>
                  <a:pt x="-12" y="396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6490A71-B418-7B85-BFB0-FC7D7E6626DF}"/>
              </a:ext>
            </a:extLst>
          </p:cNvPr>
          <p:cNvSpPr>
            <a:spLocks noGrp="1"/>
          </p:cNvSpPr>
          <p:nvPr>
            <p:ph idx="1"/>
          </p:nvPr>
        </p:nvSpPr>
        <p:spPr>
          <a:xfrm>
            <a:off x="473202" y="2807208"/>
            <a:ext cx="2571750" cy="3410712"/>
          </a:xfrm>
        </p:spPr>
        <p:txBody>
          <a:bodyPr anchor="t">
            <a:normAutofit/>
          </a:bodyPr>
          <a:lstStyle/>
          <a:p>
            <a:endParaRPr lang="en-IT" sz="1900"/>
          </a:p>
        </p:txBody>
      </p:sp>
      <p:pic>
        <p:nvPicPr>
          <p:cNvPr id="3074" name="Picture 2" descr="Scolopendra - Wikipedia">
            <a:extLst>
              <a:ext uri="{FF2B5EF4-FFF2-40B4-BE49-F238E27FC236}">
                <a16:creationId xmlns:a16="http://schemas.microsoft.com/office/drawing/2014/main" id="{50710FF0-27B6-8248-E0B2-302AA99085C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90722" y="1572811"/>
            <a:ext cx="5177790" cy="37123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86883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2276"/>
            <a:ext cx="8029574" cy="4600575"/>
          </a:xfrm>
        </p:spPr>
        <p:txBody>
          <a:bodyPr>
            <a:normAutofit fontScale="92500" lnSpcReduction="20000"/>
          </a:bodyPr>
          <a:lstStyle/>
          <a:p>
            <a:r>
              <a:rPr lang="en-US" dirty="0">
                <a:solidFill>
                  <a:schemeClr val="tx1"/>
                </a:solidFill>
                <a:latin typeface="Calibri" pitchFamily="34" charset="0"/>
                <a:cs typeface="Calibri" pitchFamily="34" charset="0"/>
              </a:rPr>
              <a:t>Multicore era is </a:t>
            </a:r>
            <a:r>
              <a:rPr lang="en-US" strike="sngStrike" dirty="0">
                <a:solidFill>
                  <a:schemeClr val="tx1"/>
                </a:solidFill>
                <a:latin typeface="Calibri" pitchFamily="34" charset="0"/>
                <a:cs typeface="Calibri" pitchFamily="34" charset="0"/>
              </a:rPr>
              <a:t>coming</a:t>
            </a:r>
            <a:r>
              <a:rPr lang="en-US" dirty="0">
                <a:solidFill>
                  <a:schemeClr val="tx1"/>
                </a:solidFill>
                <a:latin typeface="Calibri" pitchFamily="34" charset="0"/>
                <a:cs typeface="Calibri" pitchFamily="34" charset="0"/>
              </a:rPr>
              <a:t> already here</a:t>
            </a:r>
          </a:p>
          <a:p>
            <a:pPr lvl="1"/>
            <a:r>
              <a:rPr lang="en-US" dirty="0">
                <a:solidFill>
                  <a:schemeClr val="tx1"/>
                </a:solidFill>
                <a:latin typeface="Calibri" pitchFamily="34" charset="0"/>
                <a:cs typeface="Calibri" pitchFamily="34" charset="0"/>
              </a:rPr>
              <a:t>Programmers struggle to reason about concurrency</a:t>
            </a:r>
          </a:p>
          <a:p>
            <a:pPr lvl="1"/>
            <a:r>
              <a:rPr lang="en-US" dirty="0">
                <a:solidFill>
                  <a:schemeClr val="tx1"/>
                </a:solidFill>
                <a:latin typeface="Calibri" pitchFamily="34" charset="0"/>
                <a:cs typeface="Calibri" pitchFamily="34" charset="0"/>
              </a:rPr>
              <a:t>More and more concurrency bugs</a:t>
            </a:r>
          </a:p>
          <a:p>
            <a:r>
              <a:rPr lang="en-US" dirty="0">
                <a:solidFill>
                  <a:schemeClr val="tx1"/>
                </a:solidFill>
                <a:latin typeface="Calibri" pitchFamily="34" charset="0"/>
                <a:cs typeface="Calibri" pitchFamily="34" charset="0"/>
              </a:rPr>
              <a:t>Many concurrency bugs can be automatically detected</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But bugs need to be</a:t>
            </a:r>
            <a:r>
              <a:rPr lang="en-US" sz="4000" dirty="0">
                <a:solidFill>
                  <a:schemeClr val="tx1"/>
                </a:solidFill>
                <a:latin typeface="Calibri" pitchFamily="34" charset="0"/>
                <a:cs typeface="Calibri" pitchFamily="34" charset="0"/>
              </a:rPr>
              <a:t> </a:t>
            </a:r>
            <a:r>
              <a:rPr lang="en-US" sz="4000" b="1" i="1" dirty="0">
                <a:solidFill>
                  <a:schemeClr val="tx1"/>
                </a:solidFill>
                <a:latin typeface="Calibri" pitchFamily="34" charset="0"/>
                <a:cs typeface="Calibri" pitchFamily="34" charset="0"/>
              </a:rPr>
              <a:t>fixed</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016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Everyone Needs to Find Concurrency Bugs</a:t>
            </a:r>
            <a:endParaRPr lang="en-US" b="1" dirty="0">
              <a:latin typeface="Calibri" pitchFamily="34" charset="0"/>
              <a:cs typeface="Calibri" pitchFamily="34" charset="0"/>
            </a:endParaRP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a:t>
            </a:r>
          </a:p>
        </p:txBody>
      </p:sp>
      <p:grpSp>
        <p:nvGrpSpPr>
          <p:cNvPr id="28" name="Group 27"/>
          <p:cNvGrpSpPr/>
          <p:nvPr/>
        </p:nvGrpSpPr>
        <p:grpSpPr>
          <a:xfrm>
            <a:off x="2201557" y="3430167"/>
            <a:ext cx="4304414" cy="1872343"/>
            <a:chOff x="2201557" y="3430167"/>
            <a:chExt cx="4304414" cy="1872343"/>
          </a:xfrm>
        </p:grpSpPr>
        <p:sp>
          <p:nvSpPr>
            <p:cNvPr id="7" name="Rounded Rectangle 6"/>
            <p:cNvSpPr/>
            <p:nvPr/>
          </p:nvSpPr>
          <p:spPr>
            <a:xfrm>
              <a:off x="2201557" y="3430167"/>
              <a:ext cx="4304414" cy="1872343"/>
            </a:xfrm>
            <a:prstGeom prst="round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Rectangle 1"/>
            <p:cNvSpPr/>
            <p:nvPr/>
          </p:nvSpPr>
          <p:spPr>
            <a:xfrm>
              <a:off x="2818429" y="3523232"/>
              <a:ext cx="1182895" cy="369332"/>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8" name="TextBox 7"/>
            <p:cNvSpPr txBox="1"/>
            <p:nvPr/>
          </p:nvSpPr>
          <p:spPr>
            <a:xfrm>
              <a:off x="2479467" y="3905215"/>
              <a:ext cx="1860820" cy="129266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sz="800" dirty="0">
                <a:latin typeface="Calibri" pitchFamily="34" charset="0"/>
                <a:cs typeface="Calibri" pitchFamily="34" charset="0"/>
              </a:endParaRPr>
            </a:p>
            <a:p>
              <a:endParaRPr lang="en-US" sz="800"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endParaRPr lang="en-US" sz="800" dirty="0">
                <a:latin typeface="Calibri" pitchFamily="34" charset="0"/>
                <a:cs typeface="Calibri" pitchFamily="34" charset="0"/>
              </a:endParaRPr>
            </a:p>
            <a:p>
              <a:r>
                <a:rPr lang="en-US" dirty="0">
                  <a:latin typeface="Calibri" pitchFamily="34" charset="0"/>
                  <a:cs typeface="Calibri" pitchFamily="34" charset="0"/>
                </a:rPr>
                <a:t>}</a:t>
              </a:r>
            </a:p>
          </p:txBody>
        </p:sp>
        <p:sp>
          <p:nvSpPr>
            <p:cNvPr id="9" name="Rectangle 8"/>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10" name="TextBox 9"/>
            <p:cNvSpPr txBox="1"/>
            <p:nvPr/>
          </p:nvSpPr>
          <p:spPr>
            <a:xfrm>
              <a:off x="4818310" y="4037296"/>
              <a:ext cx="1283305" cy="646331"/>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12" name="Straight Arrow Connector 11"/>
          <p:cNvCxnSpPr/>
          <p:nvPr/>
        </p:nvCxnSpPr>
        <p:spPr>
          <a:xfrm>
            <a:off x="4109280" y="4037296"/>
            <a:ext cx="843878" cy="106941"/>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5" name="Straight Arrow Connector 14"/>
          <p:cNvCxnSpPr/>
          <p:nvPr/>
        </p:nvCxnSpPr>
        <p:spPr>
          <a:xfrm flipH="1">
            <a:off x="4109280" y="4366338"/>
            <a:ext cx="843878" cy="2121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23" name="Straight Arrow Connector 22"/>
          <p:cNvCxnSpPr/>
          <p:nvPr/>
        </p:nvCxnSpPr>
        <p:spPr>
          <a:xfrm>
            <a:off x="1953928" y="409076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a:off x="1953928" y="465317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H="1">
            <a:off x="6208296" y="4235116"/>
            <a:ext cx="57751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Explosion 2 26"/>
          <p:cNvSpPr/>
          <p:nvPr/>
        </p:nvSpPr>
        <p:spPr>
          <a:xfrm>
            <a:off x="4043028" y="4235116"/>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E1C4D-5D02-2705-6F30-6A8D2581A938}"/>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5D2103F-346A-77CC-DFF3-DFDB966FAB5F}"/>
              </a:ext>
            </a:extLst>
          </p:cNvPr>
          <p:cNvSpPr>
            <a:spLocks noGrp="1"/>
          </p:cNvSpPr>
          <p:nvPr>
            <p:ph idx="1"/>
          </p:nvPr>
        </p:nvSpPr>
        <p:spPr/>
        <p:txBody>
          <a:bodyPr/>
          <a:lstStyle/>
          <a:p>
            <a:endParaRPr lang="en-IT"/>
          </a:p>
        </p:txBody>
      </p:sp>
      <p:pic>
        <p:nvPicPr>
          <p:cNvPr id="4098" name="Picture 2" descr="Segmentation Fault - an overview | ScienceDirect Topics">
            <a:extLst>
              <a:ext uri="{FF2B5EF4-FFF2-40B4-BE49-F238E27FC236}">
                <a16:creationId xmlns:a16="http://schemas.microsoft.com/office/drawing/2014/main" id="{E32FFB61-AC21-086D-4C77-55E1FC23F0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847" y="1417638"/>
            <a:ext cx="9343694" cy="290771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60A553D1-A3EF-4A6F-2216-4528A71A7E4A}"/>
              </a:ext>
            </a:extLst>
          </p:cNvPr>
          <p:cNvSpPr/>
          <p:nvPr/>
        </p:nvSpPr>
        <p:spPr>
          <a:xfrm>
            <a:off x="-144379" y="-128337"/>
            <a:ext cx="9480884" cy="1728537"/>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
        <p:nvSpPr>
          <p:cNvPr id="5" name="Rectangle 4">
            <a:extLst>
              <a:ext uri="{FF2B5EF4-FFF2-40B4-BE49-F238E27FC236}">
                <a16:creationId xmlns:a16="http://schemas.microsoft.com/office/drawing/2014/main" id="{3F4DD187-BCA8-9919-8A40-53A0B181C29D}"/>
              </a:ext>
            </a:extLst>
          </p:cNvPr>
          <p:cNvSpPr/>
          <p:nvPr/>
        </p:nvSpPr>
        <p:spPr>
          <a:xfrm>
            <a:off x="-192505" y="4267200"/>
            <a:ext cx="9436352" cy="259080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1554462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97E63-53D9-0A16-D7B5-4119006E74F9}"/>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45A53599-779E-8506-2344-CABB2266549C}"/>
              </a:ext>
            </a:extLst>
          </p:cNvPr>
          <p:cNvSpPr>
            <a:spLocks noGrp="1"/>
          </p:cNvSpPr>
          <p:nvPr>
            <p:ph idx="1"/>
          </p:nvPr>
        </p:nvSpPr>
        <p:spPr/>
        <p:txBody>
          <a:bodyPr/>
          <a:lstStyle/>
          <a:p>
            <a:endParaRPr lang="en-IT"/>
          </a:p>
        </p:txBody>
      </p:sp>
      <p:pic>
        <p:nvPicPr>
          <p:cNvPr id="5122" name="Picture 2" descr="Kernel panic - Wikipedia">
            <a:extLst>
              <a:ext uri="{FF2B5EF4-FFF2-40B4-BE49-F238E27FC236}">
                <a16:creationId xmlns:a16="http://schemas.microsoft.com/office/drawing/2014/main" id="{DA44F985-119A-45E7-87BA-946DE059B8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00"/>
            <a:ext cx="9144000" cy="6832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942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D1DE3-73C5-1531-6A45-9A27D47CABF1}"/>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260AF00-4AF5-90CB-FF31-1FE380FEE3AE}"/>
              </a:ext>
            </a:extLst>
          </p:cNvPr>
          <p:cNvSpPr>
            <a:spLocks noGrp="1"/>
          </p:cNvSpPr>
          <p:nvPr>
            <p:ph idx="1"/>
          </p:nvPr>
        </p:nvSpPr>
        <p:spPr/>
        <p:txBody>
          <a:bodyPr/>
          <a:lstStyle/>
          <a:p>
            <a:endParaRPr lang="en-IT"/>
          </a:p>
        </p:txBody>
      </p:sp>
      <p:pic>
        <p:nvPicPr>
          <p:cNvPr id="2050" name="Picture 2" descr="Kernel Panic on Mac: Fix Mac Restarted Unexpectedly">
            <a:extLst>
              <a:ext uri="{FF2B5EF4-FFF2-40B4-BE49-F238E27FC236}">
                <a16:creationId xmlns:a16="http://schemas.microsoft.com/office/drawing/2014/main" id="{D9470085-B6D6-3D6C-D456-3C693767E43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456" t="9088" r="17469" b="18904"/>
          <a:stretch>
            <a:fillRect/>
          </a:stretch>
        </p:blipFill>
        <p:spPr bwMode="auto">
          <a:xfrm>
            <a:off x="-1207267" y="-115747"/>
            <a:ext cx="11558534" cy="7072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17072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ounded Rectangle 32"/>
          <p:cNvSpPr/>
          <p:nvPr/>
        </p:nvSpPr>
        <p:spPr>
          <a:xfrm>
            <a:off x="459907" y="2846523"/>
            <a:ext cx="2131093" cy="130196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Understand bug</a:t>
            </a:r>
            <a:r>
              <a:rPr lang="en-US" altLang="zh-CN" baseline="-25000" dirty="0"/>
              <a:t>1</a:t>
            </a:r>
          </a:p>
          <a:p>
            <a:pPr algn="ctr"/>
            <a:r>
              <a:rPr lang="en-US" baseline="-25000" dirty="0"/>
              <a:t>…</a:t>
            </a:r>
          </a:p>
          <a:p>
            <a:pPr algn="ctr"/>
            <a:r>
              <a:rPr lang="en-US" baseline="-25000" dirty="0"/>
              <a:t>…</a:t>
            </a:r>
          </a:p>
          <a:p>
            <a:pPr algn="ctr"/>
            <a:r>
              <a:rPr lang="en-US" dirty="0"/>
              <a:t>Understand </a:t>
            </a:r>
            <a:r>
              <a:rPr lang="en-US" dirty="0" err="1"/>
              <a:t>bug</a:t>
            </a:r>
            <a:r>
              <a:rPr lang="en-US" altLang="zh-CN" baseline="-25000" dirty="0" err="1"/>
              <a:t>n</a:t>
            </a:r>
            <a:endParaRPr lang="en-US" altLang="zh-CN" baseline="-25000" dirty="0"/>
          </a:p>
          <a:p>
            <a:pPr algn="ctr"/>
            <a:endParaRPr lang="en-US" baseline="-25000" dirty="0"/>
          </a:p>
        </p:txBody>
      </p:sp>
      <p:sp>
        <p:nvSpPr>
          <p:cNvPr id="3" name="Content Placeholder 2"/>
          <p:cNvSpPr>
            <a:spLocks noGrp="1"/>
          </p:cNvSpPr>
          <p:nvPr>
            <p:ph idx="1"/>
          </p:nvPr>
        </p:nvSpPr>
        <p:spPr>
          <a:xfrm>
            <a:off x="557212" y="1590675"/>
            <a:ext cx="8163276" cy="4562475"/>
          </a:xfrm>
        </p:spPr>
        <p:txBody>
          <a:bodyPr>
            <a:normAutofit fontScale="85000" lnSpcReduction="10000"/>
          </a:bodyPr>
          <a:lstStyle/>
          <a:p>
            <a:r>
              <a:rPr lang="en-US" dirty="0">
                <a:solidFill>
                  <a:schemeClr val="tx1"/>
                </a:solidFill>
                <a:latin typeface="Calibri" pitchFamily="34" charset="0"/>
                <a:cs typeface="Calibri" pitchFamily="34" charset="0"/>
              </a:rPr>
              <a:t>Process is </a:t>
            </a:r>
            <a:r>
              <a:rPr lang="en-US" dirty="0" err="1">
                <a:solidFill>
                  <a:schemeClr val="tx1"/>
                </a:solidFill>
                <a:latin typeface="Calibri" pitchFamily="34" charset="0"/>
                <a:cs typeface="Calibri" pitchFamily="34" charset="0"/>
              </a:rPr>
              <a:t>obv</a:t>
            </a:r>
            <a:r>
              <a:rPr lang="en-US" dirty="0">
                <a:solidFill>
                  <a:schemeClr val="tx1"/>
                </a:solidFill>
                <a:latin typeface="Calibri" pitchFamily="34" charset="0"/>
                <a:cs typeface="Calibri" pitchFamily="34" charset="0"/>
              </a:rPr>
              <a:t>. length</a:t>
            </a:r>
            <a:r>
              <a:rPr lang="en-US" altLang="zh-CN" dirty="0">
                <a:solidFill>
                  <a:schemeClr val="tx1"/>
                </a:solidFill>
                <a:latin typeface="Calibri" pitchFamily="34" charset="0"/>
                <a:cs typeface="Calibri" pitchFamily="34" charset="0"/>
              </a:rPr>
              <a:t>y</a:t>
            </a:r>
            <a:r>
              <a:rPr lang="en-US" dirty="0">
                <a:solidFill>
                  <a:schemeClr val="tx1"/>
                </a:solidFill>
                <a:latin typeface="Calibri" pitchFamily="34" charset="0"/>
                <a:cs typeface="Calibri" pitchFamily="34" charset="0"/>
              </a:rPr>
              <a:t> and resource consuming</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Nearly 70% of patches are buggy in their first releases, ~86% for concurrency bug-fixes;</a:t>
            </a:r>
          </a:p>
          <a:p>
            <a:r>
              <a:rPr lang="en-US" dirty="0">
                <a:solidFill>
                  <a:schemeClr val="tx1"/>
                </a:solidFill>
                <a:latin typeface="Calibri" pitchFamily="34" charset="0"/>
                <a:cs typeface="Calibri" pitchFamily="34" charset="0"/>
              </a:rPr>
              <a:t>Automated fixing is desired, but difficult in general;</a:t>
            </a: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75867"/>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Concurrency Bug-fixing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7" name="Rounded Rectangle 6"/>
          <p:cNvSpPr/>
          <p:nvPr/>
        </p:nvSpPr>
        <p:spPr>
          <a:xfrm>
            <a:off x="459908" y="3279337"/>
            <a:ext cx="2131093"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Understand a bug</a:t>
            </a:r>
          </a:p>
        </p:txBody>
      </p:sp>
      <p:cxnSp>
        <p:nvCxnSpPr>
          <p:cNvPr id="8" name="Straight Arrow Connector 7"/>
          <p:cNvCxnSpPr>
            <a:stCxn id="7" idx="3"/>
            <a:endCxn id="9" idx="1"/>
          </p:cNvCxnSpPr>
          <p:nvPr/>
        </p:nvCxnSpPr>
        <p:spPr>
          <a:xfrm flipV="1">
            <a:off x="259100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081889" y="3279336"/>
            <a:ext cx="2069432"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Generate a patch</a:t>
            </a:r>
          </a:p>
        </p:txBody>
      </p:sp>
      <p:cxnSp>
        <p:nvCxnSpPr>
          <p:cNvPr id="10" name="Straight Arrow Connector 9"/>
          <p:cNvCxnSpPr>
            <a:stCxn id="9" idx="3"/>
            <a:endCxn id="11" idx="1"/>
          </p:cNvCxnSpPr>
          <p:nvPr/>
        </p:nvCxnSpPr>
        <p:spPr>
          <a:xfrm>
            <a:off x="515132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42209" y="2969098"/>
            <a:ext cx="3113262" cy="1023257"/>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rPr lang="en-US" sz="2000" dirty="0">
                <a:latin typeface="Calibri" pitchFamily="34" charset="0"/>
                <a:cs typeface="Calibri" pitchFamily="34" charset="0"/>
              </a:rPr>
              <a:t>Review</a:t>
            </a:r>
          </a:p>
          <a:p>
            <a:r>
              <a:rPr lang="en-US" sz="2000" dirty="0">
                <a:latin typeface="Calibri" pitchFamily="34" charset="0"/>
                <a:cs typeface="Calibri" pitchFamily="34" charset="0"/>
              </a:rPr>
              <a:t>&amp; test</a:t>
            </a:r>
          </a:p>
          <a:p>
            <a:r>
              <a:rPr lang="en-US" sz="2000" dirty="0">
                <a:latin typeface="Calibri" pitchFamily="34" charset="0"/>
                <a:cs typeface="Calibri" pitchFamily="34" charset="0"/>
              </a:rPr>
              <a:t>the patch</a:t>
            </a:r>
          </a:p>
        </p:txBody>
      </p:sp>
      <p:sp>
        <p:nvSpPr>
          <p:cNvPr id="12" name="Rounded Rectangle 11"/>
          <p:cNvSpPr/>
          <p:nvPr/>
        </p:nvSpPr>
        <p:spPr>
          <a:xfrm>
            <a:off x="7111730" y="3025029"/>
            <a:ext cx="1609344" cy="237744"/>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Correctness</a:t>
            </a:r>
          </a:p>
        </p:txBody>
      </p:sp>
      <p:sp>
        <p:nvSpPr>
          <p:cNvPr id="13" name="Rounded Rectangle 12"/>
          <p:cNvSpPr/>
          <p:nvPr/>
        </p:nvSpPr>
        <p:spPr>
          <a:xfrm>
            <a:off x="7100844" y="3361619"/>
            <a:ext cx="1611086"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Performance</a:t>
            </a:r>
          </a:p>
        </p:txBody>
      </p:sp>
      <p:sp>
        <p:nvSpPr>
          <p:cNvPr id="14" name="Rounded Rectangle 13"/>
          <p:cNvSpPr/>
          <p:nvPr/>
        </p:nvSpPr>
        <p:spPr>
          <a:xfrm>
            <a:off x="7100840" y="3699952"/>
            <a:ext cx="1609344"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Readability</a:t>
            </a:r>
          </a:p>
        </p:txBody>
      </p:sp>
    </p:spTree>
    <p:extLst>
      <p:ext uri="{BB962C8B-B14F-4D97-AF65-F5344CB8AC3E}">
        <p14:creationId xmlns:p14="http://schemas.microsoft.com/office/powerpoint/2010/main" val="71796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500"/>
                                        <p:tgtEl>
                                          <p:spTgt spid="8"/>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00"/>
                                        <p:tgtEl>
                                          <p:spTgt spid="13"/>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500"/>
                                        <p:tgtEl>
                                          <p:spTgt spid="14"/>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7"/>
                                        </p:tgtEl>
                                        <p:attrNameLst>
                                          <p:attrName>style.visibility</p:attrName>
                                        </p:attrNameLst>
                                      </p:cBhvr>
                                      <p:to>
                                        <p:strVal val="hidden"/>
                                      </p:to>
                                    </p:set>
                                  </p:childTnLst>
                                </p:cTn>
                              </p:par>
                            </p:childTnLst>
                          </p:cTn>
                        </p:par>
                        <p:par>
                          <p:cTn id="38" fill="hold">
                            <p:stCondLst>
                              <p:cond delay="0"/>
                            </p:stCondLst>
                            <p:childTnLst>
                              <p:par>
                                <p:cTn id="39" presetID="10" presetClass="entr" presetSubtype="0" fill="hold" grpId="0" nodeType="after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nodeType="clickEffect">
                                  <p:stCondLst>
                                    <p:cond delay="0"/>
                                  </p:stCondLst>
                                  <p:childTnLst>
                                    <p:set>
                                      <p:cBhvr>
                                        <p:cTn id="49"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7" grpId="0" animBg="1"/>
      <p:bldP spid="7" grpId="1" animBg="1"/>
      <p:bldP spid="9" grpId="0" animBg="1"/>
      <p:bldP spid="11" grpId="0" animBg="1"/>
      <p:bldP spid="12" grpId="0" animBg="1"/>
      <p:bldP spid="13" grpId="0" animBg="1"/>
      <p:bldP spid="1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73701" y="535424"/>
            <a:ext cx="8163276" cy="4562475"/>
          </a:xfrm>
        </p:spPr>
        <p:txBody>
          <a:bodyPr/>
          <a:lstStyle/>
          <a:p>
            <a:r>
              <a:rPr lang="en-US" altLang="zh-CN" dirty="0">
                <a:solidFill>
                  <a:schemeClr val="tx1"/>
                </a:solidFill>
                <a:latin typeface="Calibri" pitchFamily="34" charset="0"/>
                <a:cs typeface="Calibri" pitchFamily="34" charset="0"/>
              </a:rPr>
              <a:t>Concurrency bugs are feasible to be fixed automatically</a:t>
            </a:r>
          </a:p>
          <a:p>
            <a:pPr lvl="1"/>
            <a:r>
              <a:rPr lang="en-US" dirty="0">
                <a:solidFill>
                  <a:schemeClr val="tx1"/>
                </a:solidFill>
                <a:latin typeface="Calibri" pitchFamily="34" charset="0"/>
                <a:cs typeface="Calibri" pitchFamily="34" charset="0"/>
              </a:rPr>
              <a:t>Program is correct in most </a:t>
            </a:r>
            <a:r>
              <a:rPr lang="en-US" dirty="0" err="1">
                <a:solidFill>
                  <a:schemeClr val="tx1"/>
                </a:solidFill>
                <a:latin typeface="Calibri" pitchFamily="34" charset="0"/>
                <a:cs typeface="Calibri" pitchFamily="34" charset="0"/>
              </a:rPr>
              <a:t>interleavings</a:t>
            </a:r>
            <a:r>
              <a:rPr lang="en-US" altLang="zh-CN" dirty="0">
                <a:solidFill>
                  <a:schemeClr val="tx1"/>
                </a:solidFill>
                <a:latin typeface="Calibri" pitchFamily="34" charset="0"/>
                <a:cs typeface="Calibri" pitchFamily="34" charset="0"/>
              </a:rPr>
              <a:t>.</a:t>
            </a: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Only need to remove some bad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30700" y="-11333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Automated</a:t>
            </a:r>
            <a:r>
              <a:rPr lang="zh-CN" altLang="en-US" dirty="0">
                <a:latin typeface="Calibri" pitchFamily="34" charset="0"/>
                <a:cs typeface="Calibri" pitchFamily="34" charset="0"/>
              </a:rPr>
              <a:t> </a:t>
            </a:r>
            <a:r>
              <a:rPr lang="en-US" dirty="0">
                <a:latin typeface="Calibri" pitchFamily="34" charset="0"/>
                <a:cs typeface="Calibri" pitchFamily="34" charset="0"/>
              </a:rPr>
              <a:t>Concurrency-Bug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55" name="Group 54"/>
          <p:cNvGrpSpPr/>
          <p:nvPr/>
        </p:nvGrpSpPr>
        <p:grpSpPr>
          <a:xfrm>
            <a:off x="1021685" y="2433946"/>
            <a:ext cx="3314299" cy="1672256"/>
            <a:chOff x="840478" y="2851617"/>
            <a:chExt cx="3314299" cy="1672256"/>
          </a:xfrm>
        </p:grpSpPr>
        <p:grpSp>
          <p:nvGrpSpPr>
            <p:cNvPr id="36" name="Group 35"/>
            <p:cNvGrpSpPr/>
            <p:nvPr/>
          </p:nvGrpSpPr>
          <p:grpSpPr>
            <a:xfrm>
              <a:off x="840478" y="2851617"/>
              <a:ext cx="3314299" cy="1672256"/>
              <a:chOff x="2201557" y="3430166"/>
              <a:chExt cx="4304414" cy="1872343"/>
            </a:xfrm>
          </p:grpSpPr>
          <p:sp>
            <p:nvSpPr>
              <p:cNvPr id="37" name="Rounded Rectangle 36"/>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8" name="Rectangle 37"/>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39" name="TextBox 38"/>
              <p:cNvSpPr txBox="1"/>
              <p:nvPr/>
            </p:nvSpPr>
            <p:spPr>
              <a:xfrm>
                <a:off x="2297561" y="3905215"/>
                <a:ext cx="2425139" cy="1033807"/>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0" name="Rectangle 39"/>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1" name="TextBox 40"/>
              <p:cNvSpPr txBox="1"/>
              <p:nvPr/>
            </p:nvSpPr>
            <p:spPr>
              <a:xfrm>
                <a:off x="4498450" y="467475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43" name="Straight Arrow Connector 42"/>
            <p:cNvCxnSpPr/>
            <p:nvPr/>
          </p:nvCxnSpPr>
          <p:spPr>
            <a:xfrm>
              <a:off x="2553621" y="3793072"/>
              <a:ext cx="228079" cy="2613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56" name="Group 55"/>
          <p:cNvGrpSpPr/>
          <p:nvPr/>
        </p:nvGrpSpPr>
        <p:grpSpPr>
          <a:xfrm>
            <a:off x="4816873" y="2433946"/>
            <a:ext cx="3314299" cy="1750556"/>
            <a:chOff x="4572000" y="2831870"/>
            <a:chExt cx="3314299" cy="1750556"/>
          </a:xfrm>
        </p:grpSpPr>
        <p:grpSp>
          <p:nvGrpSpPr>
            <p:cNvPr id="44" name="Group 43"/>
            <p:cNvGrpSpPr/>
            <p:nvPr/>
          </p:nvGrpSpPr>
          <p:grpSpPr>
            <a:xfrm>
              <a:off x="4572000" y="2831870"/>
              <a:ext cx="3314299" cy="1750556"/>
              <a:chOff x="2201557" y="3430166"/>
              <a:chExt cx="4304414" cy="1937137"/>
            </a:xfrm>
          </p:grpSpPr>
          <p:sp>
            <p:nvSpPr>
              <p:cNvPr id="45" name="Rounded Rectangle 44"/>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46" name="Rectangle 45"/>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47" name="TextBox 46"/>
              <p:cNvSpPr txBox="1"/>
              <p:nvPr/>
            </p:nvSpPr>
            <p:spPr>
              <a:xfrm>
                <a:off x="2297560" y="4345561"/>
                <a:ext cx="2425139" cy="102174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8" name="Rectangle 47"/>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9" name="TextBox 48"/>
              <p:cNvSpPr txBox="1"/>
              <p:nvPr/>
            </p:nvSpPr>
            <p:spPr>
              <a:xfrm>
                <a:off x="4498450" y="3868009"/>
                <a:ext cx="1923027" cy="610132"/>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50" name="Straight Arrow Connector 49"/>
            <p:cNvCxnSpPr/>
            <p:nvPr/>
          </p:nvCxnSpPr>
          <p:spPr>
            <a:xfrm flipH="1">
              <a:off x="6088276" y="3411369"/>
              <a:ext cx="424946" cy="247727"/>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70" name="Group 69"/>
          <p:cNvGrpSpPr/>
          <p:nvPr/>
        </p:nvGrpSpPr>
        <p:grpSpPr>
          <a:xfrm>
            <a:off x="2828157" y="4679356"/>
            <a:ext cx="3314299" cy="1672256"/>
            <a:chOff x="2179617" y="4517986"/>
            <a:chExt cx="3314299" cy="1672256"/>
          </a:xfrm>
        </p:grpSpPr>
        <p:grpSp>
          <p:nvGrpSpPr>
            <p:cNvPr id="58" name="Group 57"/>
            <p:cNvGrpSpPr/>
            <p:nvPr/>
          </p:nvGrpSpPr>
          <p:grpSpPr>
            <a:xfrm>
              <a:off x="2179617" y="4517986"/>
              <a:ext cx="3314299" cy="1672256"/>
              <a:chOff x="2201557" y="3430166"/>
              <a:chExt cx="4304414" cy="1872343"/>
            </a:xfrm>
          </p:grpSpPr>
          <p:sp>
            <p:nvSpPr>
              <p:cNvPr id="60" name="Rounded Rectangle 59"/>
              <p:cNvSpPr/>
              <p:nvPr/>
            </p:nvSpPr>
            <p:spPr>
              <a:xfrm>
                <a:off x="2201557" y="3430166"/>
                <a:ext cx="4304414" cy="187234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61" name="Rectangle 60"/>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62" name="TextBox 61"/>
              <p:cNvSpPr txBox="1"/>
              <p:nvPr/>
            </p:nvSpPr>
            <p:spPr>
              <a:xfrm>
                <a:off x="2297561" y="3905215"/>
                <a:ext cx="2425139" cy="1343949"/>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63" name="Rectangle 62"/>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64" name="TextBox 63"/>
              <p:cNvSpPr txBox="1"/>
              <p:nvPr/>
            </p:nvSpPr>
            <p:spPr>
              <a:xfrm>
                <a:off x="4498450" y="417612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65" name="Straight Arrow Connector 64"/>
            <p:cNvCxnSpPr/>
            <p:nvPr/>
          </p:nvCxnSpPr>
          <p:spPr>
            <a:xfrm>
              <a:off x="3892760" y="5099843"/>
              <a:ext cx="228079" cy="2613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66" name="Straight Arrow Connector 65"/>
            <p:cNvCxnSpPr/>
            <p:nvPr/>
          </p:nvCxnSpPr>
          <p:spPr>
            <a:xfrm flipH="1">
              <a:off x="3836766" y="5418569"/>
              <a:ext cx="296518" cy="247727"/>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grpSp>
      <p:sp>
        <p:nvSpPr>
          <p:cNvPr id="31" name="Explosion 2 30"/>
          <p:cNvSpPr/>
          <p:nvPr/>
        </p:nvSpPr>
        <p:spPr>
          <a:xfrm>
            <a:off x="4075239" y="5576051"/>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extLst>
      <p:ext uri="{BB962C8B-B14F-4D97-AF65-F5344CB8AC3E}">
        <p14:creationId xmlns:p14="http://schemas.microsoft.com/office/powerpoint/2010/main" val="35012655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914808"/>
            <a:ext cx="8029574" cy="4562475"/>
          </a:xfrm>
        </p:spPr>
        <p:txBody>
          <a:bodyPr>
            <a:normAutofit fontScale="92500" lnSpcReduction="20000"/>
          </a:bodyPr>
          <a:lstStyle/>
          <a:p>
            <a:r>
              <a:rPr lang="en-US" altLang="zh-CN" dirty="0">
                <a:solidFill>
                  <a:schemeClr val="tx1"/>
                </a:solidFill>
                <a:latin typeface="Calibri" pitchFamily="34" charset="0"/>
                <a:cs typeface="Calibri" pitchFamily="34" charset="0"/>
              </a:rPr>
              <a:t>Why </a:t>
            </a:r>
            <a:r>
              <a:rPr lang="en-US" dirty="0">
                <a:solidFill>
                  <a:schemeClr val="tx1"/>
                </a:solidFill>
                <a:latin typeface="Calibri" pitchFamily="34" charset="0"/>
                <a:cs typeface="Calibri" pitchFamily="34" charset="0"/>
              </a:rPr>
              <a:t>atomicity-violation bugs?</a:t>
            </a:r>
          </a:p>
          <a:p>
            <a:pPr lvl="1"/>
            <a:r>
              <a:rPr lang="en-US" altLang="zh-CN" dirty="0">
                <a:solidFill>
                  <a:schemeClr val="tx1"/>
                </a:solidFill>
                <a:latin typeface="Calibri" pitchFamily="34" charset="0"/>
                <a:cs typeface="Calibri" pitchFamily="34" charset="0"/>
              </a:rPr>
              <a:t>O</a:t>
            </a:r>
            <a:r>
              <a:rPr lang="en-US" dirty="0">
                <a:solidFill>
                  <a:schemeClr val="tx1"/>
                </a:solidFill>
                <a:latin typeface="Calibri" pitchFamily="34" charset="0"/>
                <a:cs typeface="Calibri" pitchFamily="34" charset="0"/>
              </a:rPr>
              <a:t>ne of the most common types of concurrency bug</a:t>
            </a:r>
          </a:p>
          <a:p>
            <a:r>
              <a:rPr lang="en-US" altLang="zh-CN" dirty="0">
                <a:solidFill>
                  <a:schemeClr val="tx1"/>
                </a:solidFill>
                <a:latin typeface="Calibri" pitchFamily="34" charset="0"/>
                <a:cs typeface="Calibri" pitchFamily="34" charset="0"/>
              </a:rPr>
              <a:t>Strategy</a:t>
            </a:r>
          </a:p>
          <a:p>
            <a:pPr lvl="1"/>
            <a:r>
              <a:rPr lang="en-US" dirty="0">
                <a:solidFill>
                  <a:schemeClr val="tx1"/>
                </a:solidFill>
                <a:latin typeface="Calibri" pitchFamily="34" charset="0"/>
                <a:cs typeface="Calibri" pitchFamily="34" charset="0"/>
              </a:rPr>
              <a:t>Statically adding locks to remove buggy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a:p>
            <a:r>
              <a:rPr lang="en-US" altLang="zh-CN" dirty="0">
                <a:solidFill>
                  <a:schemeClr val="tx1"/>
                </a:solidFill>
                <a:latin typeface="Calibri" pitchFamily="34" charset="0"/>
                <a:cs typeface="Calibri" pitchFamily="34" charset="0"/>
              </a:rPr>
              <a:t>Goal </a:t>
            </a:r>
          </a:p>
          <a:p>
            <a:pPr lvl="1"/>
            <a:r>
              <a:rPr lang="en-US" altLang="zh-CN" dirty="0">
                <a:solidFill>
                  <a:schemeClr val="tx1"/>
                </a:solidFill>
                <a:latin typeface="Calibri" pitchFamily="34" charset="0"/>
                <a:cs typeface="Calibri" pitchFamily="34" charset="0"/>
              </a:rPr>
              <a:t>Automate the whole bug-fixing process</a:t>
            </a:r>
          </a:p>
          <a:p>
            <a:pPr lvl="1"/>
            <a:r>
              <a:rPr lang="en-US" dirty="0">
                <a:solidFill>
                  <a:schemeClr val="tx1"/>
                </a:solidFill>
                <a:latin typeface="Calibri" pitchFamily="34" charset="0"/>
                <a:cs typeface="Calibri" pitchFamily="34" charset="0"/>
              </a:rPr>
              <a:t>Provides </a:t>
            </a:r>
            <a:r>
              <a:rPr lang="en-US" i="1" dirty="0">
                <a:solidFill>
                  <a:schemeClr val="tx1"/>
                </a:solidFill>
                <a:latin typeface="Calibri" pitchFamily="34" charset="0"/>
                <a:cs typeface="Calibri" pitchFamily="34" charset="0"/>
              </a:rPr>
              <a:t>best-effort</a:t>
            </a:r>
            <a:r>
              <a:rPr lang="en-US" dirty="0">
                <a:solidFill>
                  <a:schemeClr val="tx1"/>
                </a:solidFill>
                <a:latin typeface="Calibri" pitchFamily="34" charset="0"/>
                <a:cs typeface="Calibri" pitchFamily="34" charset="0"/>
              </a:rPr>
              <a:t> atomicity-violation patches</a:t>
            </a:r>
          </a:p>
          <a:p>
            <a:pPr lvl="2"/>
            <a:r>
              <a:rPr lang="en-US" sz="2400" dirty="0">
                <a:solidFill>
                  <a:schemeClr val="tx1"/>
                </a:solidFill>
                <a:latin typeface="Calibri" pitchFamily="34" charset="0"/>
                <a:cs typeface="Calibri" pitchFamily="34" charset="0"/>
              </a:rPr>
              <a:t>Correctness</a:t>
            </a:r>
            <a:endParaRPr lang="en-US" dirty="0">
              <a:solidFill>
                <a:schemeClr val="tx1"/>
              </a:solidFill>
              <a:latin typeface="Calibri" pitchFamily="34" charset="0"/>
              <a:cs typeface="Calibri" pitchFamily="34" charset="0"/>
            </a:endParaRPr>
          </a:p>
          <a:p>
            <a:pPr lvl="2"/>
            <a:r>
              <a:rPr lang="en-US" sz="2400" dirty="0">
                <a:solidFill>
                  <a:schemeClr val="tx1"/>
                </a:solidFill>
                <a:latin typeface="Calibri" pitchFamily="34" charset="0"/>
                <a:cs typeface="Calibri" pitchFamily="34" charset="0"/>
              </a:rPr>
              <a:t>Performance</a:t>
            </a:r>
          </a:p>
          <a:p>
            <a:pPr lvl="2"/>
            <a:r>
              <a:rPr lang="en-US" sz="2400" dirty="0">
                <a:solidFill>
                  <a:schemeClr val="tx1"/>
                </a:solidFill>
                <a:latin typeface="Calibri" pitchFamily="34" charset="0"/>
                <a:cs typeface="Calibri" pitchFamily="34" charset="0"/>
              </a:rPr>
              <a:t>Readability</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Automated</a:t>
            </a:r>
            <a:r>
              <a:rPr lang="zh-CN" altLang="en-US" dirty="0">
                <a:latin typeface="Calibri" pitchFamily="34" charset="0"/>
                <a:cs typeface="Calibri" pitchFamily="34" charset="0"/>
              </a:rPr>
              <a:t> </a:t>
            </a:r>
            <a:r>
              <a:rPr lang="en-US" dirty="0">
                <a:latin typeface="Calibri" pitchFamily="34" charset="0"/>
                <a:cs typeface="Calibri" pitchFamily="34" charset="0"/>
              </a:rPr>
              <a:t>Atomicity-Violation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7" name="Picture 3" descr="C:\Users\aliang\AppData\Local\Temp\lock.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0024" y="4050251"/>
            <a:ext cx="2839943" cy="2839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15080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397575"/>
            <a:ext cx="8586787" cy="4581144"/>
          </a:xfrm>
        </p:spPr>
        <p:txBody>
          <a:bodyPr/>
          <a:lstStyle/>
          <a:p>
            <a:r>
              <a:rPr lang="en-US" altLang="zh-CN" dirty="0">
                <a:solidFill>
                  <a:schemeClr val="tx1"/>
                </a:solidFill>
                <a:latin typeface="Calibri" pitchFamily="34" charset="0"/>
                <a:cs typeface="Calibri" pitchFamily="34" charset="0"/>
              </a:rPr>
              <a:t>A single-variable atomicity-violation detection &amp; testing tool</a:t>
            </a:r>
          </a:p>
          <a:p>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It reports a list of buggy instruction triples</a:t>
            </a:r>
          </a:p>
          <a:p>
            <a:pPr lvl="1"/>
            <a:r>
              <a:rPr lang="en-US" dirty="0">
                <a:solidFill>
                  <a:schemeClr val="tx1"/>
                </a:solidFill>
                <a:latin typeface="Calibri" pitchFamily="34" charset="0"/>
                <a:cs typeface="Calibri" pitchFamily="34" charset="0"/>
              </a:rPr>
              <a:t>Abbreviated as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r</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 (</a:t>
            </a:r>
            <a:r>
              <a:rPr lang="en-US" i="1" dirty="0" err="1">
                <a:solidFill>
                  <a:schemeClr val="tx1"/>
                </a:solidFill>
                <a:latin typeface="Calibri" pitchFamily="34" charset="0"/>
                <a:cs typeface="Calibri" pitchFamily="34" charset="0"/>
              </a:rPr>
              <a:t>p</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c</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r</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0" y="37504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CTrigger</a:t>
            </a:r>
            <a:r>
              <a:rPr lang="en-US" dirty="0">
                <a:latin typeface="Calibri" pitchFamily="34" charset="0"/>
                <a:cs typeface="Calibri" pitchFamily="34" charset="0"/>
              </a:rPr>
              <a:t> Bug-Detector Review</a:t>
            </a:r>
          </a:p>
        </p:txBody>
      </p:sp>
      <p:sp>
        <p:nvSpPr>
          <p:cNvPr id="1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19" name="Group 18"/>
          <p:cNvGrpSpPr/>
          <p:nvPr/>
        </p:nvGrpSpPr>
        <p:grpSpPr>
          <a:xfrm>
            <a:off x="2969451" y="4213594"/>
            <a:ext cx="3314299" cy="2684724"/>
            <a:chOff x="2179617" y="4517991"/>
            <a:chExt cx="3314299" cy="1759401"/>
          </a:xfrm>
          <a:noFill/>
        </p:grpSpPr>
        <p:grpSp>
          <p:nvGrpSpPr>
            <p:cNvPr id="22" name="Group 21"/>
            <p:cNvGrpSpPr/>
            <p:nvPr/>
          </p:nvGrpSpPr>
          <p:grpSpPr>
            <a:xfrm>
              <a:off x="2179617" y="4517991"/>
              <a:ext cx="3314299" cy="1759401"/>
              <a:chOff x="2201557" y="3430166"/>
              <a:chExt cx="4304414" cy="1969912"/>
            </a:xfrm>
            <a:grpFill/>
          </p:grpSpPr>
          <p:sp>
            <p:nvSpPr>
              <p:cNvPr id="28" name="Rounded Rectangle 27"/>
              <p:cNvSpPr/>
              <p:nvPr/>
            </p:nvSpPr>
            <p:spPr>
              <a:xfrm>
                <a:off x="2201557" y="3430166"/>
                <a:ext cx="4304414" cy="1872343"/>
              </a:xfrm>
              <a:prstGeom prst="roundRect">
                <a:avLst/>
              </a:prstGeom>
              <a:grpFill/>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30" name="Rectangle 29"/>
              <p:cNvSpPr/>
              <p:nvPr/>
            </p:nvSpPr>
            <p:spPr>
              <a:xfrm>
                <a:off x="2648947" y="3523232"/>
                <a:ext cx="1521858" cy="348647"/>
              </a:xfrm>
              <a:prstGeom prst="rect">
                <a:avLst/>
              </a:prstGeom>
              <a:grpFill/>
            </p:spPr>
            <p:txBody>
              <a:bodyPr wrap="square">
                <a:spAutoFit/>
              </a:bodyPr>
              <a:lstStyle/>
              <a:p>
                <a:pPr algn="ctr"/>
                <a:r>
                  <a:rPr lang="en-US" dirty="0">
                    <a:latin typeface="Calibri" pitchFamily="34" charset="0"/>
                    <a:cs typeface="Calibri" pitchFamily="34" charset="0"/>
                  </a:rPr>
                  <a:t>Thread 1</a:t>
                </a:r>
              </a:p>
            </p:txBody>
          </p:sp>
          <p:sp>
            <p:nvSpPr>
              <p:cNvPr id="31" name="TextBox 30"/>
              <p:cNvSpPr txBox="1"/>
              <p:nvPr/>
            </p:nvSpPr>
            <p:spPr>
              <a:xfrm>
                <a:off x="2297561" y="3905215"/>
                <a:ext cx="2425139" cy="1343949"/>
              </a:xfrm>
              <a:prstGeom prst="rect">
                <a:avLst/>
              </a:prstGeom>
              <a:grp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32" name="Rectangle 31"/>
              <p:cNvSpPr/>
              <p:nvPr/>
            </p:nvSpPr>
            <p:spPr>
              <a:xfrm>
                <a:off x="4953158" y="3535883"/>
                <a:ext cx="1013611" cy="369332"/>
              </a:xfrm>
              <a:prstGeom prst="rect">
                <a:avLst/>
              </a:prstGeom>
              <a:grpFill/>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33" name="TextBox 32"/>
              <p:cNvSpPr txBox="1"/>
              <p:nvPr/>
            </p:nvSpPr>
            <p:spPr>
              <a:xfrm>
                <a:off x="4498450" y="4789945"/>
                <a:ext cx="1923027" cy="610133"/>
              </a:xfrm>
              <a:prstGeom prst="rect">
                <a:avLst/>
              </a:prstGeom>
              <a:grp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23" name="Straight Arrow Connector 22"/>
            <p:cNvCxnSpPr>
              <a:endCxn id="33" idx="0"/>
            </p:cNvCxnSpPr>
            <p:nvPr/>
          </p:nvCxnSpPr>
          <p:spPr>
            <a:xfrm>
              <a:off x="3892760" y="5099843"/>
              <a:ext cx="795754" cy="632617"/>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cxnSp>
          <p:nvCxnSpPr>
            <p:cNvPr id="25" name="Straight Arrow Connector 24"/>
            <p:cNvCxnSpPr/>
            <p:nvPr/>
          </p:nvCxnSpPr>
          <p:spPr>
            <a:xfrm flipH="1" flipV="1">
              <a:off x="3330793" y="5542440"/>
              <a:ext cx="790047" cy="345429"/>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grpSp>
      <p:cxnSp>
        <p:nvCxnSpPr>
          <p:cNvPr id="34" name="Straight Arrow Connector 33"/>
          <p:cNvCxnSpPr/>
          <p:nvPr/>
        </p:nvCxnSpPr>
        <p:spPr>
          <a:xfrm>
            <a:off x="1270535" y="4516441"/>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p:nvPr/>
        </p:nvCxnSpPr>
        <p:spPr>
          <a:xfrm>
            <a:off x="1268667" y="5114965"/>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flipH="1">
            <a:off x="5999842" y="5741066"/>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96942" y="4147109"/>
            <a:ext cx="1709763" cy="523220"/>
          </a:xfrm>
          <a:prstGeom prst="rect">
            <a:avLst/>
          </a:prstGeom>
          <a:noFill/>
        </p:spPr>
        <p:txBody>
          <a:bodyPr wrap="none" rtlCol="0">
            <a:spAutoFit/>
          </a:bodyPr>
          <a:lstStyle/>
          <a:p>
            <a:r>
              <a:rPr lang="en-US" sz="2800" b="1" i="1" dirty="0">
                <a:effectLst>
                  <a:outerShdw blurRad="38100" dist="38100" dir="2700000" algn="tl">
                    <a:srgbClr val="000000">
                      <a:alpha val="43137"/>
                    </a:srgbClr>
                  </a:outerShdw>
                </a:effectLst>
                <a:latin typeface="Calibri" pitchFamily="34" charset="0"/>
                <a:cs typeface="Calibri" pitchFamily="34" charset="0"/>
              </a:rPr>
              <a:t>p</a:t>
            </a:r>
            <a:r>
              <a:rPr lang="en-US" dirty="0">
                <a:latin typeface="Calibri" pitchFamily="34" charset="0"/>
                <a:cs typeface="Calibri" pitchFamily="34" charset="0"/>
              </a:rPr>
              <a:t>revious access</a:t>
            </a:r>
            <a:endParaRPr lang="en-US" dirty="0"/>
          </a:p>
        </p:txBody>
      </p:sp>
      <p:sp>
        <p:nvSpPr>
          <p:cNvPr id="37" name="TextBox 36"/>
          <p:cNvSpPr txBox="1"/>
          <p:nvPr/>
        </p:nvSpPr>
        <p:spPr>
          <a:xfrm>
            <a:off x="1196941" y="4739991"/>
            <a:ext cx="1577355"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c</a:t>
            </a:r>
            <a:r>
              <a:rPr lang="en-US" dirty="0">
                <a:latin typeface="Calibri" pitchFamily="34" charset="0"/>
                <a:cs typeface="Calibri" pitchFamily="34" charset="0"/>
              </a:rPr>
              <a:t>urrent access</a:t>
            </a:r>
            <a:endParaRPr lang="en-US" dirty="0"/>
          </a:p>
        </p:txBody>
      </p:sp>
      <p:sp>
        <p:nvSpPr>
          <p:cNvPr id="38" name="TextBox 37"/>
          <p:cNvSpPr txBox="1"/>
          <p:nvPr/>
        </p:nvSpPr>
        <p:spPr>
          <a:xfrm>
            <a:off x="6123271" y="5356424"/>
            <a:ext cx="1576778"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r</a:t>
            </a:r>
            <a:r>
              <a:rPr lang="en-US" dirty="0">
                <a:latin typeface="Calibri" pitchFamily="34" charset="0"/>
                <a:cs typeface="Calibri" pitchFamily="34" charset="0"/>
              </a:rPr>
              <a:t>emote access</a:t>
            </a:r>
            <a:endParaRPr lang="en-US" dirty="0"/>
          </a:p>
        </p:txBody>
      </p:sp>
    </p:spTree>
    <p:extLst>
      <p:ext uri="{BB962C8B-B14F-4D97-AF65-F5344CB8AC3E}">
        <p14:creationId xmlns:p14="http://schemas.microsoft.com/office/powerpoint/2010/main" val="39910475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ectangle 70"/>
          <p:cNvSpPr/>
          <p:nvPr/>
        </p:nvSpPr>
        <p:spPr>
          <a:xfrm>
            <a:off x="606395" y="2461163"/>
            <a:ext cx="3022332" cy="2023586"/>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4" name="Rounded Rectangle 3"/>
          <p:cNvSpPr/>
          <p:nvPr/>
        </p:nvSpPr>
        <p:spPr>
          <a:xfrm>
            <a:off x="694210" y="1339494"/>
            <a:ext cx="1352101" cy="3046797"/>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sz="2400" dirty="0">
                <a:solidFill>
                  <a:srgbClr val="0070C0"/>
                </a:solidFill>
                <a:latin typeface="Calibri" pitchFamily="34" charset="0"/>
                <a:cs typeface="Calibri" pitchFamily="34" charset="0"/>
              </a:rPr>
              <a:t>Input from </a:t>
            </a:r>
            <a:r>
              <a:rPr lang="en-US" sz="2400" dirty="0" err="1">
                <a:solidFill>
                  <a:srgbClr val="0070C0"/>
                </a:solidFill>
                <a:latin typeface="Calibri" pitchFamily="34" charset="0"/>
                <a:cs typeface="Calibri" pitchFamily="34" charset="0"/>
              </a:rPr>
              <a:t>CTrigger</a:t>
            </a: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p:txBody>
      </p:sp>
      <p:sp>
        <p:nvSpPr>
          <p:cNvPr id="53" name="Rectangle 52"/>
          <p:cNvSpPr/>
          <p:nvPr/>
        </p:nvSpPr>
        <p:spPr>
          <a:xfrm>
            <a:off x="867970" y="391497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2" name="Rectangle 51"/>
          <p:cNvSpPr/>
          <p:nvPr/>
        </p:nvSpPr>
        <p:spPr>
          <a:xfrm>
            <a:off x="867971" y="267809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 name="Title 1"/>
          <p:cNvSpPr txBox="1">
            <a:spLocks/>
          </p:cNvSpPr>
          <p:nvPr/>
        </p:nvSpPr>
        <p:spPr>
          <a:xfrm>
            <a:off x="0" y="685596"/>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Overview</a:t>
            </a:r>
          </a:p>
        </p:txBody>
      </p:sp>
      <p:sp>
        <p:nvSpPr>
          <p:cNvPr id="54" name="Rectangle 53"/>
          <p:cNvSpPr/>
          <p:nvPr/>
        </p:nvSpPr>
        <p:spPr>
          <a:xfrm>
            <a:off x="2565310" y="391497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000" i="1" dirty="0">
                <a:latin typeface="Calibri" pitchFamily="34" charset="0"/>
                <a:cs typeface="Calibri" pitchFamily="34" charset="0"/>
              </a:rPr>
              <a:t>patch</a:t>
            </a:r>
            <a:r>
              <a:rPr lang="en-US" sz="2000" i="1" baseline="-25000" dirty="0">
                <a:latin typeface="Calibri" pitchFamily="34" charset="0"/>
                <a:cs typeface="Calibri" pitchFamily="34" charset="0"/>
              </a:rPr>
              <a:t>n</a:t>
            </a:r>
            <a:endParaRPr lang="en-US" sz="2000" dirty="0"/>
          </a:p>
        </p:txBody>
      </p:sp>
      <p:sp>
        <p:nvSpPr>
          <p:cNvPr id="55" name="Rectangle 54"/>
          <p:cNvSpPr/>
          <p:nvPr/>
        </p:nvSpPr>
        <p:spPr>
          <a:xfrm>
            <a:off x="2565309" y="267809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sp>
        <p:nvSpPr>
          <p:cNvPr id="56" name="Rectangle 55"/>
          <p:cNvSpPr/>
          <p:nvPr/>
        </p:nvSpPr>
        <p:spPr>
          <a:xfrm>
            <a:off x="765460" y="2687620"/>
            <a:ext cx="1198097" cy="1631216"/>
          </a:xfrm>
          <a:prstGeom prst="rect">
            <a:avLst/>
          </a:prstGeom>
        </p:spPr>
        <p:txBody>
          <a:bodyPr wrap="square">
            <a:spAutoFit/>
          </a:bodyPr>
          <a:lstStyle/>
          <a:p>
            <a:r>
              <a:rPr lang="en-US" sz="2000" dirty="0">
                <a:latin typeface="Calibri" pitchFamily="34" charset="0"/>
                <a:cs typeface="Calibri" pitchFamily="34" charset="0"/>
              </a:rPr>
              <a:t>(</a:t>
            </a:r>
            <a:r>
              <a:rPr lang="en-US" sz="2000" i="1" dirty="0">
                <a:latin typeface="Calibri" pitchFamily="34" charset="0"/>
                <a:cs typeface="Calibri" pitchFamily="34" charset="0"/>
              </a:rPr>
              <a:t>p</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c</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r</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r>
              <a:rPr lang="en-US" sz="2000" i="1" dirty="0" err="1">
                <a:latin typeface="Calibri" pitchFamily="34" charset="0"/>
                <a:cs typeface="Calibri" pitchFamily="34" charset="0"/>
              </a:rPr>
              <a:t>p</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c</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r</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a:t>
            </a:r>
          </a:p>
        </p:txBody>
      </p:sp>
      <p:cxnSp>
        <p:nvCxnSpPr>
          <p:cNvPr id="58" name="Straight Arrow Connector 57"/>
          <p:cNvCxnSpPr>
            <a:stCxn id="52" idx="3"/>
            <a:endCxn id="55" idx="1"/>
          </p:cNvCxnSpPr>
          <p:nvPr/>
        </p:nvCxnSpPr>
        <p:spPr>
          <a:xfrm>
            <a:off x="1830000" y="2862761"/>
            <a:ext cx="73530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53" idx="3"/>
            <a:endCxn id="54" idx="1"/>
          </p:cNvCxnSpPr>
          <p:nvPr/>
        </p:nvCxnSpPr>
        <p:spPr>
          <a:xfrm>
            <a:off x="1829999" y="4099641"/>
            <a:ext cx="73531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71" idx="3"/>
            <a:endCxn id="76" idx="1"/>
          </p:cNvCxnSpPr>
          <p:nvPr/>
        </p:nvCxnSpPr>
        <p:spPr>
          <a:xfrm>
            <a:off x="3628727" y="3472956"/>
            <a:ext cx="746446"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4375173" y="2669850"/>
            <a:ext cx="1123950" cy="1606212"/>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78" name="Rectangle 77"/>
          <p:cNvSpPr/>
          <p:nvPr/>
        </p:nvSpPr>
        <p:spPr>
          <a:xfrm>
            <a:off x="4415654" y="2734459"/>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cxnSp>
        <p:nvCxnSpPr>
          <p:cNvPr id="85" name="Straight Arrow Connector 84"/>
          <p:cNvCxnSpPr/>
          <p:nvPr/>
        </p:nvCxnSpPr>
        <p:spPr>
          <a:xfrm>
            <a:off x="5507256" y="3485042"/>
            <a:ext cx="1466852"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99" name="Rectangular Callout 98"/>
          <p:cNvSpPr/>
          <p:nvPr/>
        </p:nvSpPr>
        <p:spPr>
          <a:xfrm>
            <a:off x="5584258" y="2341624"/>
            <a:ext cx="1138240" cy="906602"/>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adding runtime support</a:t>
            </a:r>
            <a:endParaRPr lang="en-US" dirty="0"/>
          </a:p>
        </p:txBody>
      </p:sp>
      <p:sp>
        <p:nvSpPr>
          <p:cNvPr id="102" name="Oval 101"/>
          <p:cNvSpPr/>
          <p:nvPr/>
        </p:nvSpPr>
        <p:spPr>
          <a:xfrm>
            <a:off x="6974108" y="3223846"/>
            <a:ext cx="514350" cy="498216"/>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03" name="Straight Arrow Connector 102"/>
          <p:cNvCxnSpPr/>
          <p:nvPr/>
        </p:nvCxnSpPr>
        <p:spPr>
          <a:xfrm>
            <a:off x="7488458" y="3472954"/>
            <a:ext cx="1150620" cy="1"/>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104" name="Rectangular Callout 103"/>
          <p:cNvSpPr/>
          <p:nvPr/>
        </p:nvSpPr>
        <p:spPr>
          <a:xfrm>
            <a:off x="7488458" y="2458949"/>
            <a:ext cx="883447" cy="789277"/>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patch</a:t>
            </a:r>
          </a:p>
          <a:p>
            <a:pPr algn="ctr"/>
            <a:r>
              <a:rPr lang="en-US" altLang="zh-CN" dirty="0"/>
              <a:t>testing</a:t>
            </a:r>
            <a:endParaRPr lang="en-US" dirty="0"/>
          </a:p>
        </p:txBody>
      </p:sp>
      <p:sp>
        <p:nvSpPr>
          <p:cNvPr id="21" name="Rectangle 20"/>
          <p:cNvSpPr/>
          <p:nvPr/>
        </p:nvSpPr>
        <p:spPr>
          <a:xfrm>
            <a:off x="2565310" y="2995396"/>
            <a:ext cx="745784" cy="1015663"/>
          </a:xfrm>
          <a:prstGeom prst="rect">
            <a:avLst/>
          </a:prstGeom>
        </p:spPr>
        <p:txBody>
          <a:bodyPr wrap="square">
            <a:spAutoFit/>
          </a:bodyPr>
          <a:lstStyle/>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p:txBody>
      </p:sp>
      <p:sp>
        <p:nvSpPr>
          <p:cNvPr id="23" name="Rectangle 22"/>
          <p:cNvSpPr/>
          <p:nvPr/>
        </p:nvSpPr>
        <p:spPr>
          <a:xfrm>
            <a:off x="4415654" y="3602007"/>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err="1">
                <a:latin typeface="Calibri" pitchFamily="34" charset="0"/>
                <a:cs typeface="Calibri" pitchFamily="34" charset="0"/>
              </a:rPr>
              <a:t>patch</a:t>
            </a:r>
            <a:r>
              <a:rPr lang="en-US" altLang="zh-CN" sz="2000" i="1" baseline="-25000" dirty="0" err="1">
                <a:latin typeface="Calibri" pitchFamily="34" charset="0"/>
                <a:cs typeface="Calibri" pitchFamily="34" charset="0"/>
              </a:rPr>
              <a:t>m</a:t>
            </a:r>
            <a:endParaRPr lang="en-US" sz="2000" dirty="0"/>
          </a:p>
        </p:txBody>
      </p:sp>
      <p:sp>
        <p:nvSpPr>
          <p:cNvPr id="24" name="Rectangle 23"/>
          <p:cNvSpPr/>
          <p:nvPr/>
        </p:nvSpPr>
        <p:spPr>
          <a:xfrm>
            <a:off x="4317423" y="2965124"/>
            <a:ext cx="1266830" cy="1015663"/>
          </a:xfrm>
          <a:prstGeom prst="rect">
            <a:avLst/>
          </a:prstGeom>
        </p:spPr>
        <p:txBody>
          <a:bodyPr wrap="square">
            <a:spAutoFit/>
          </a:bodyPr>
          <a:lstStyle/>
          <a:p>
            <a:endParaRPr lang="en-US" sz="2000" dirty="0">
              <a:latin typeface="Calibri" pitchFamily="34" charset="0"/>
              <a:cs typeface="Calibri" pitchFamily="34" charset="0"/>
            </a:endParaRPr>
          </a:p>
          <a:p>
            <a:r>
              <a:rPr lang="en-US" sz="2000" dirty="0">
                <a:latin typeface="Calibri" pitchFamily="34" charset="0"/>
                <a:cs typeface="Calibri" pitchFamily="34" charset="0"/>
              </a:rPr>
              <a:t>…</a:t>
            </a:r>
          </a:p>
          <a:p>
            <a:endParaRPr lang="en-US" sz="2000" dirty="0">
              <a:latin typeface="Calibri" pitchFamily="34" charset="0"/>
              <a:cs typeface="Calibri" pitchFamily="34" charset="0"/>
            </a:endParaRPr>
          </a:p>
        </p:txBody>
      </p:sp>
      <p:sp>
        <p:nvSpPr>
          <p:cNvPr id="2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28" name="Straight Arrow Connector 27"/>
          <p:cNvCxnSpPr>
            <a:stCxn id="35" idx="3"/>
            <a:endCxn id="29" idx="1"/>
          </p:cNvCxnSpPr>
          <p:nvPr/>
        </p:nvCxnSpPr>
        <p:spPr>
          <a:xfrm>
            <a:off x="2117561" y="5368901"/>
            <a:ext cx="44774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565310" y="5167511"/>
            <a:ext cx="4408798"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Patch generation</a:t>
            </a:r>
          </a:p>
        </p:txBody>
      </p:sp>
      <p:cxnSp>
        <p:nvCxnSpPr>
          <p:cNvPr id="30" name="Straight Arrow Connector 29"/>
          <p:cNvCxnSpPr>
            <a:stCxn id="29" idx="3"/>
          </p:cNvCxnSpPr>
          <p:nvPr/>
        </p:nvCxnSpPr>
        <p:spPr>
          <a:xfrm>
            <a:off x="6974108" y="5368901"/>
            <a:ext cx="352967"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25140" y="5090440"/>
            <a:ext cx="1792421"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Bug understanding</a:t>
            </a:r>
          </a:p>
        </p:txBody>
      </p:sp>
      <p:sp>
        <p:nvSpPr>
          <p:cNvPr id="46" name="Rounded Rectangle 45"/>
          <p:cNvSpPr/>
          <p:nvPr/>
        </p:nvSpPr>
        <p:spPr>
          <a:xfrm>
            <a:off x="7316401" y="5090440"/>
            <a:ext cx="1471340"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2000" dirty="0">
                <a:latin typeface="Calibri" pitchFamily="34" charset="0"/>
                <a:cs typeface="Calibri" pitchFamily="34" charset="0"/>
              </a:rPr>
              <a:t>Patch testing</a:t>
            </a:r>
            <a:endParaRPr lang="en-US" sz="2000" dirty="0">
              <a:latin typeface="Calibri" pitchFamily="34" charset="0"/>
              <a:cs typeface="Calibri" pitchFamily="34" charset="0"/>
            </a:endParaRPr>
          </a:p>
        </p:txBody>
      </p:sp>
      <p:cxnSp>
        <p:nvCxnSpPr>
          <p:cNvPr id="16" name="Straight Connector 15"/>
          <p:cNvCxnSpPr/>
          <p:nvPr/>
        </p:nvCxnSpPr>
        <p:spPr>
          <a:xfrm>
            <a:off x="0" y="4773879"/>
            <a:ext cx="9144000" cy="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57" name="Title 1"/>
          <p:cNvSpPr txBox="1">
            <a:spLocks/>
          </p:cNvSpPr>
          <p:nvPr/>
        </p:nvSpPr>
        <p:spPr>
          <a:xfrm>
            <a:off x="0" y="5655613"/>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sz="2000" dirty="0">
                <a:solidFill>
                  <a:schemeClr val="tx1"/>
                </a:solidFill>
                <a:latin typeface="Calibri" pitchFamily="34" charset="0"/>
                <a:cs typeface="Calibri" pitchFamily="34" charset="0"/>
              </a:rPr>
              <a:t>Manual Bug Fixing Progress</a:t>
            </a:r>
            <a:endParaRPr lang="en-US" sz="2000" dirty="0">
              <a:solidFill>
                <a:schemeClr val="tx1"/>
              </a:solidFill>
              <a:latin typeface="Calibri" pitchFamily="34" charset="0"/>
              <a:cs typeface="Calibri" pitchFamily="34" charset="0"/>
            </a:endParaRPr>
          </a:p>
        </p:txBody>
      </p:sp>
    </p:spTree>
    <p:extLst>
      <p:ext uri="{BB962C8B-B14F-4D97-AF65-F5344CB8AC3E}">
        <p14:creationId xmlns:p14="http://schemas.microsoft.com/office/powerpoint/2010/main" val="21294164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flipH="1">
            <a:off x="3720935" y="5506063"/>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57213" y="1067817"/>
            <a:ext cx="8029574" cy="4285869"/>
          </a:xfrm>
        </p:spPr>
        <p:txBody>
          <a:bodyPr/>
          <a:lstStyle/>
          <a:p>
            <a:r>
              <a:rPr lang="en-US" dirty="0">
                <a:solidFill>
                  <a:schemeClr val="tx1"/>
                </a:solidFill>
                <a:latin typeface="Calibri" pitchFamily="34" charset="0"/>
                <a:cs typeface="Calibri" pitchFamily="34" charset="0"/>
              </a:rPr>
              <a:t>Make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code region mutually exclusive with </a:t>
            </a:r>
            <a:r>
              <a:rPr lang="en-US" i="1" dirty="0">
                <a:solidFill>
                  <a:schemeClr val="tx1"/>
                </a:solidFill>
                <a:latin typeface="Calibri" pitchFamily="34" charset="0"/>
                <a:cs typeface="Calibri" pitchFamily="34" charset="0"/>
              </a:rPr>
              <a:t>r</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into a critical section</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r </a:t>
            </a:r>
            <a:r>
              <a:rPr lang="en-US" dirty="0">
                <a:solidFill>
                  <a:schemeClr val="tx1"/>
                </a:solidFill>
                <a:latin typeface="Calibri" pitchFamily="34" charset="0"/>
                <a:cs typeface="Calibri" pitchFamily="34" charset="0"/>
              </a:rPr>
              <a:t>into a critical section</a:t>
            </a:r>
          </a:p>
          <a:p>
            <a:pPr lvl="1"/>
            <a:r>
              <a:rPr lang="en-US" dirty="0">
                <a:solidFill>
                  <a:schemeClr val="tx1"/>
                </a:solidFill>
                <a:latin typeface="Calibri" pitchFamily="34" charset="0"/>
                <a:cs typeface="Calibri" pitchFamily="34" charset="0"/>
              </a:rPr>
              <a:t>Select or introduce a lock for the two critical sections</a:t>
            </a:r>
          </a:p>
        </p:txBody>
      </p:sp>
      <p:sp>
        <p:nvSpPr>
          <p:cNvPr id="5" name="Title 1"/>
          <p:cNvSpPr txBox="1">
            <a:spLocks/>
          </p:cNvSpPr>
          <p:nvPr/>
        </p:nvSpPr>
        <p:spPr>
          <a:xfrm>
            <a:off x="0" y="47410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One Bug Patching</a:t>
            </a:r>
          </a:p>
        </p:txBody>
      </p:sp>
      <p:sp>
        <p:nvSpPr>
          <p:cNvPr id="7" name="Title 1"/>
          <p:cNvSpPr txBox="1">
            <a:spLocks/>
          </p:cNvSpPr>
          <p:nvPr/>
        </p:nvSpPr>
        <p:spPr>
          <a:xfrm>
            <a:off x="0" y="-35829"/>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10</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8" name="Straight Arrow Connector 7"/>
          <p:cNvCxnSpPr>
            <a:stCxn id="9" idx="2"/>
            <a:endCxn id="10" idx="0"/>
          </p:cNvCxnSpPr>
          <p:nvPr/>
        </p:nvCxnSpPr>
        <p:spPr>
          <a:xfrm>
            <a:off x="3711410" y="4812954"/>
            <a:ext cx="0" cy="3883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9" name="TextBox 8"/>
          <p:cNvSpPr txBox="1"/>
          <p:nvPr/>
        </p:nvSpPr>
        <p:spPr>
          <a:xfrm>
            <a:off x="3549485" y="450820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0" name="TextBox 9"/>
          <p:cNvSpPr txBox="1"/>
          <p:nvPr/>
        </p:nvSpPr>
        <p:spPr>
          <a:xfrm>
            <a:off x="3549485" y="52013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cxnSp>
        <p:nvCxnSpPr>
          <p:cNvPr id="15" name="Straight Arrow Connector 14"/>
          <p:cNvCxnSpPr/>
          <p:nvPr/>
        </p:nvCxnSpPr>
        <p:spPr>
          <a:xfrm flipH="1">
            <a:off x="3711411" y="386539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17" name="Picture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535" y="3967445"/>
            <a:ext cx="304800" cy="304800"/>
          </a:xfrm>
          <a:prstGeom prst="rect">
            <a:avLst/>
          </a:prstGeom>
        </p:spPr>
      </p:pic>
      <p:pic>
        <p:nvPicPr>
          <p:cNvPr id="1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5473" y="5563769"/>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4" name="TextBox 23"/>
          <p:cNvSpPr txBox="1"/>
          <p:nvPr/>
        </p:nvSpPr>
        <p:spPr>
          <a:xfrm>
            <a:off x="5221924" y="476979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a:t>
            </a:r>
            <a:endParaRPr lang="en-US" baseline="-25000" dirty="0"/>
          </a:p>
        </p:txBody>
      </p:sp>
      <p:cxnSp>
        <p:nvCxnSpPr>
          <p:cNvPr id="25" name="Straight Arrow Connector 24"/>
          <p:cNvCxnSpPr/>
          <p:nvPr/>
        </p:nvCxnSpPr>
        <p:spPr>
          <a:xfrm flipH="1">
            <a:off x="5383850" y="412698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6" name="Picture 2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0974" y="4229035"/>
            <a:ext cx="304800" cy="304800"/>
          </a:xfrm>
          <a:prstGeom prst="rect">
            <a:avLst/>
          </a:prstGeom>
        </p:spPr>
      </p:pic>
      <p:cxnSp>
        <p:nvCxnSpPr>
          <p:cNvPr id="27" name="Straight Arrow Connector 26"/>
          <p:cNvCxnSpPr/>
          <p:nvPr/>
        </p:nvCxnSpPr>
        <p:spPr>
          <a:xfrm flipH="1">
            <a:off x="5373953" y="5074544"/>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0929" y="5177513"/>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55003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p:nvPr/>
        </p:nvCxnSpPr>
        <p:spPr>
          <a:xfrm>
            <a:off x="5845946" y="2203435"/>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 name="Straight Arrow Connector 7"/>
          <p:cNvCxnSpPr>
            <a:stCxn id="19" idx="1"/>
            <a:endCxn id="22" idx="3"/>
          </p:cNvCxnSpPr>
          <p:nvPr/>
        </p:nvCxnSpPr>
        <p:spPr>
          <a:xfrm flipH="1">
            <a:off x="5290398" y="5337187"/>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5197541" y="4668068"/>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9113" y="593854"/>
            <a:ext cx="8029574" cy="4743069"/>
          </a:xfrm>
        </p:spPr>
        <p:txBody>
          <a:bodyPr/>
          <a:lstStyle/>
          <a:p>
            <a:r>
              <a:rPr lang="en-US" altLang="zh-CN" dirty="0">
                <a:solidFill>
                  <a:schemeClr val="tx1"/>
                </a:solidFill>
                <a:latin typeface="Calibri" pitchFamily="34" charset="0"/>
                <a:cs typeface="Calibri" pitchFamily="34" charset="0"/>
              </a:rPr>
              <a:t>A naïve solution</a:t>
            </a:r>
          </a:p>
          <a:p>
            <a:pPr lvl="1"/>
            <a:r>
              <a:rPr lang="en-US" altLang="zh-CN" dirty="0">
                <a:solidFill>
                  <a:schemeClr val="tx1"/>
                </a:solidFill>
                <a:latin typeface="Calibri" pitchFamily="34" charset="0"/>
                <a:cs typeface="Calibri" pitchFamily="34" charset="0"/>
              </a:rPr>
              <a:t>Add lock on edges reaching </a:t>
            </a:r>
            <a:r>
              <a:rPr lang="en-US" altLang="zh-CN" i="1" dirty="0">
                <a:solidFill>
                  <a:schemeClr val="tx1"/>
                </a:solidFill>
                <a:latin typeface="Calibri" pitchFamily="34" charset="0"/>
                <a:cs typeface="Calibri" pitchFamily="34" charset="0"/>
              </a:rPr>
              <a:t>p</a:t>
            </a:r>
          </a:p>
          <a:p>
            <a:pPr lvl="1"/>
            <a:r>
              <a:rPr lang="en-US" altLang="zh-CN" dirty="0">
                <a:solidFill>
                  <a:schemeClr val="tx1"/>
                </a:solidFill>
                <a:latin typeface="Calibri" pitchFamily="34" charset="0"/>
                <a:cs typeface="Calibri" pitchFamily="34" charset="0"/>
              </a:rPr>
              <a:t>Add unlock on edges leaving </a:t>
            </a:r>
            <a:r>
              <a:rPr lang="en-US" altLang="zh-CN" i="1" dirty="0">
                <a:solidFill>
                  <a:schemeClr val="tx1"/>
                </a:solidFill>
                <a:latin typeface="Calibri" pitchFamily="34" charset="0"/>
                <a:cs typeface="Calibri" pitchFamily="34" charset="0"/>
              </a:rPr>
              <a:t>c</a:t>
            </a:r>
          </a:p>
          <a:p>
            <a:pPr lvl="1"/>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Potential new bugs</a:t>
            </a:r>
          </a:p>
          <a:p>
            <a:pPr lvl="1"/>
            <a:r>
              <a:rPr lang="en-US" altLang="zh-CN" dirty="0">
                <a:solidFill>
                  <a:srgbClr val="C0504D"/>
                </a:solidFill>
                <a:latin typeface="Calibri" pitchFamily="34" charset="0"/>
                <a:cs typeface="Calibri" pitchFamily="34" charset="0"/>
              </a:rPr>
              <a:t>Could lock without unlock</a:t>
            </a:r>
          </a:p>
          <a:p>
            <a:pPr lvl="1"/>
            <a:r>
              <a:rPr lang="en-US" altLang="zh-CN" dirty="0">
                <a:solidFill>
                  <a:srgbClr val="800080"/>
                </a:solidFill>
                <a:latin typeface="Calibri" pitchFamily="34" charset="0"/>
                <a:cs typeface="Calibri" pitchFamily="34" charset="0"/>
              </a:rPr>
              <a:t>Could </a:t>
            </a:r>
            <a:r>
              <a:rPr lang="en-US" dirty="0">
                <a:solidFill>
                  <a:srgbClr val="800080"/>
                </a:solidFill>
                <a:latin typeface="Calibri" pitchFamily="34" charset="0"/>
                <a:cs typeface="Calibri" pitchFamily="34" charset="0"/>
              </a:rPr>
              <a:t>unlock without lock</a:t>
            </a:r>
          </a:p>
          <a:p>
            <a:pPr lvl="1"/>
            <a:r>
              <a:rPr lang="en-US" altLang="zh-CN" dirty="0">
                <a:solidFill>
                  <a:schemeClr val="tx1"/>
                </a:solidFill>
                <a:latin typeface="Calibri" pitchFamily="34" charset="0"/>
                <a:cs typeface="Calibri" pitchFamily="34" charset="0"/>
              </a:rPr>
              <a:t>etc.</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2"/>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7269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naïve </a:t>
            </a:r>
          </a:p>
        </p:txBody>
      </p:sp>
      <p:cxnSp>
        <p:nvCxnSpPr>
          <p:cNvPr id="7" name="Straight Arrow Connector 74"/>
          <p:cNvCxnSpPr>
            <a:stCxn id="20" idx="2"/>
            <a:endCxn id="19" idx="1"/>
          </p:cNvCxnSpPr>
          <p:nvPr/>
        </p:nvCxnSpPr>
        <p:spPr>
          <a:xfrm rot="16200000" flipH="1">
            <a:off x="5773803" y="4668067"/>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5845946" y="2965364"/>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6604848"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5128473" y="5489563"/>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5128473" y="2965364"/>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5128473"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6442923"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6442923"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5704735" y="4270458"/>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5684021" y="266061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4966548"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4966548"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7" name="Straight Arrow Connector 69"/>
          <p:cNvCxnSpPr>
            <a:stCxn id="23" idx="3"/>
            <a:endCxn id="20" idx="0"/>
          </p:cNvCxnSpPr>
          <p:nvPr/>
        </p:nvCxnSpPr>
        <p:spPr>
          <a:xfrm>
            <a:off x="5290398" y="3632212"/>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 name="Straight Arrow Connector 69"/>
          <p:cNvCxnSpPr/>
          <p:nvPr/>
        </p:nvCxnSpPr>
        <p:spPr>
          <a:xfrm rot="10800000" flipV="1">
            <a:off x="5866661" y="3632212"/>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8" name="Straight Arrow Connector 27"/>
          <p:cNvCxnSpPr>
            <a:stCxn id="39" idx="1"/>
            <a:endCxn id="46" idx="3"/>
          </p:cNvCxnSpPr>
          <p:nvPr/>
        </p:nvCxnSpPr>
        <p:spPr>
          <a:xfrm flipH="1">
            <a:off x="5290398" y="5337211"/>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0" name="Straight Arrow Connector 74"/>
          <p:cNvCxnSpPr>
            <a:stCxn id="41" idx="2"/>
            <a:endCxn id="39" idx="1"/>
          </p:cNvCxnSpPr>
          <p:nvPr/>
        </p:nvCxnSpPr>
        <p:spPr>
          <a:xfrm rot="16200000" flipH="1">
            <a:off x="5773803" y="4668091"/>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1" name="Straight Arrow Connector 30"/>
          <p:cNvCxnSpPr>
            <a:stCxn id="45" idx="2"/>
            <a:endCxn id="38" idx="0"/>
          </p:cNvCxnSpPr>
          <p:nvPr/>
        </p:nvCxnSpPr>
        <p:spPr>
          <a:xfrm>
            <a:off x="5845946" y="2965388"/>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8" idx="2"/>
            <a:endCxn id="39" idx="0"/>
          </p:cNvCxnSpPr>
          <p:nvPr/>
        </p:nvCxnSpPr>
        <p:spPr>
          <a:xfrm>
            <a:off x="6604848"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4" name="Straight Arrow Connector 33"/>
          <p:cNvCxnSpPr>
            <a:stCxn id="46" idx="2"/>
          </p:cNvCxnSpPr>
          <p:nvPr/>
        </p:nvCxnSpPr>
        <p:spPr>
          <a:xfrm>
            <a:off x="5128473" y="5489587"/>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5" name="Straight Arrow Connector 34"/>
          <p:cNvCxnSpPr>
            <a:stCxn id="45" idx="2"/>
            <a:endCxn id="47" idx="0"/>
          </p:cNvCxnSpPr>
          <p:nvPr/>
        </p:nvCxnSpPr>
        <p:spPr>
          <a:xfrm flipH="1">
            <a:off x="5128473" y="2965388"/>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7" idx="2"/>
            <a:endCxn id="46" idx="0"/>
          </p:cNvCxnSpPr>
          <p:nvPr/>
        </p:nvCxnSpPr>
        <p:spPr>
          <a:xfrm>
            <a:off x="5128473"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8" name="TextBox 37"/>
          <p:cNvSpPr txBox="1"/>
          <p:nvPr/>
        </p:nvSpPr>
        <p:spPr>
          <a:xfrm>
            <a:off x="6442923"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39" name="TextBox 38"/>
          <p:cNvSpPr txBox="1"/>
          <p:nvPr/>
        </p:nvSpPr>
        <p:spPr>
          <a:xfrm>
            <a:off x="6442923"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41" name="TextBox 40"/>
          <p:cNvSpPr txBox="1"/>
          <p:nvPr/>
        </p:nvSpPr>
        <p:spPr>
          <a:xfrm>
            <a:off x="5704735" y="4270482"/>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5" name="TextBox 44"/>
          <p:cNvSpPr txBox="1"/>
          <p:nvPr/>
        </p:nvSpPr>
        <p:spPr>
          <a:xfrm>
            <a:off x="5684021" y="26606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6" name="TextBox 45"/>
          <p:cNvSpPr txBox="1"/>
          <p:nvPr/>
        </p:nvSpPr>
        <p:spPr>
          <a:xfrm>
            <a:off x="4966548"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7" name="TextBox 46"/>
          <p:cNvSpPr txBox="1"/>
          <p:nvPr/>
        </p:nvSpPr>
        <p:spPr>
          <a:xfrm>
            <a:off x="4966548"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50" name="Straight Arrow Connector 69"/>
          <p:cNvCxnSpPr>
            <a:stCxn id="47" idx="3"/>
            <a:endCxn id="41" idx="0"/>
          </p:cNvCxnSpPr>
          <p:nvPr/>
        </p:nvCxnSpPr>
        <p:spPr>
          <a:xfrm>
            <a:off x="5290398" y="3632236"/>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2" name="Straight Arrow Connector 69"/>
          <p:cNvCxnSpPr/>
          <p:nvPr/>
        </p:nvCxnSpPr>
        <p:spPr>
          <a:xfrm rot="10800000" flipV="1">
            <a:off x="5866661" y="3632236"/>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9" name="Straight Arrow Connector 78"/>
          <p:cNvCxnSpPr>
            <a:stCxn id="41" idx="2"/>
            <a:endCxn id="46" idx="3"/>
          </p:cNvCxnSpPr>
          <p:nvPr/>
        </p:nvCxnSpPr>
        <p:spPr>
          <a:xfrm rot="5400000">
            <a:off x="5197541" y="4668092"/>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53"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54" name="Straight Arrow Connector 53"/>
          <p:cNvCxnSpPr>
            <a:stCxn id="67" idx="1"/>
            <a:endCxn id="73" idx="3"/>
          </p:cNvCxnSpPr>
          <p:nvPr/>
        </p:nvCxnSpPr>
        <p:spPr>
          <a:xfrm flipH="1">
            <a:off x="7330923" y="5335212"/>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5" name="Straight Arrow Connector 78"/>
          <p:cNvCxnSpPr>
            <a:stCxn id="68" idx="2"/>
            <a:endCxn id="73" idx="3"/>
          </p:cNvCxnSpPr>
          <p:nvPr/>
        </p:nvCxnSpPr>
        <p:spPr>
          <a:xfrm rot="5400000">
            <a:off x="7238066" y="4666093"/>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7" name="Straight Arrow Connector 74"/>
          <p:cNvCxnSpPr>
            <a:stCxn id="68" idx="2"/>
            <a:endCxn id="67" idx="1"/>
          </p:cNvCxnSpPr>
          <p:nvPr/>
        </p:nvCxnSpPr>
        <p:spPr>
          <a:xfrm rot="16200000" flipH="1">
            <a:off x="7814328" y="4666092"/>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Straight Arrow Connector 57"/>
          <p:cNvCxnSpPr>
            <a:stCxn id="69" idx="2"/>
            <a:endCxn id="66" idx="0"/>
          </p:cNvCxnSpPr>
          <p:nvPr/>
        </p:nvCxnSpPr>
        <p:spPr>
          <a:xfrm>
            <a:off x="7886471" y="2963389"/>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9" name="Straight Arrow Connector 58"/>
          <p:cNvCxnSpPr>
            <a:stCxn id="66" idx="2"/>
            <a:endCxn id="67" idx="0"/>
          </p:cNvCxnSpPr>
          <p:nvPr/>
        </p:nvCxnSpPr>
        <p:spPr>
          <a:xfrm>
            <a:off x="8645373"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2" name="Straight Arrow Connector 61"/>
          <p:cNvCxnSpPr>
            <a:endCxn id="69" idx="0"/>
          </p:cNvCxnSpPr>
          <p:nvPr/>
        </p:nvCxnSpPr>
        <p:spPr>
          <a:xfrm>
            <a:off x="7886471" y="2201436"/>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3" name="Straight Arrow Connector 62"/>
          <p:cNvCxnSpPr>
            <a:stCxn id="73" idx="2"/>
          </p:cNvCxnSpPr>
          <p:nvPr/>
        </p:nvCxnSpPr>
        <p:spPr>
          <a:xfrm>
            <a:off x="7168998" y="5487588"/>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4" name="Straight Arrow Connector 63"/>
          <p:cNvCxnSpPr>
            <a:stCxn id="69" idx="2"/>
            <a:endCxn id="74" idx="0"/>
          </p:cNvCxnSpPr>
          <p:nvPr/>
        </p:nvCxnSpPr>
        <p:spPr>
          <a:xfrm flipH="1">
            <a:off x="7168998" y="2963389"/>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5" name="Straight Arrow Connector 64"/>
          <p:cNvCxnSpPr>
            <a:stCxn id="74" idx="2"/>
            <a:endCxn id="73" idx="0"/>
          </p:cNvCxnSpPr>
          <p:nvPr/>
        </p:nvCxnSpPr>
        <p:spPr>
          <a:xfrm>
            <a:off x="7168998"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66" name="TextBox 65"/>
          <p:cNvSpPr txBox="1"/>
          <p:nvPr/>
        </p:nvSpPr>
        <p:spPr>
          <a:xfrm>
            <a:off x="8483448"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67" name="TextBox 66"/>
          <p:cNvSpPr txBox="1"/>
          <p:nvPr/>
        </p:nvSpPr>
        <p:spPr>
          <a:xfrm>
            <a:off x="8483448"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68" name="TextBox 67"/>
          <p:cNvSpPr txBox="1"/>
          <p:nvPr/>
        </p:nvSpPr>
        <p:spPr>
          <a:xfrm>
            <a:off x="7745260" y="426848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69" name="TextBox 68"/>
          <p:cNvSpPr txBox="1"/>
          <p:nvPr/>
        </p:nvSpPr>
        <p:spPr>
          <a:xfrm>
            <a:off x="7724546" y="265863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3" name="TextBox 72"/>
          <p:cNvSpPr txBox="1"/>
          <p:nvPr/>
        </p:nvSpPr>
        <p:spPr>
          <a:xfrm>
            <a:off x="7007073"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4" name="TextBox 73"/>
          <p:cNvSpPr txBox="1"/>
          <p:nvPr/>
        </p:nvSpPr>
        <p:spPr>
          <a:xfrm>
            <a:off x="7007073"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75" name="Picture 7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24"/>
            <a:ext cx="304800" cy="304800"/>
          </a:xfrm>
          <a:prstGeom prst="rect">
            <a:avLst/>
          </a:prstGeom>
        </p:spPr>
      </p:pic>
      <p:cxnSp>
        <p:nvCxnSpPr>
          <p:cNvPr id="76" name="Straight Arrow Connector 69"/>
          <p:cNvCxnSpPr>
            <a:stCxn id="74" idx="3"/>
            <a:endCxn id="68" idx="0"/>
          </p:cNvCxnSpPr>
          <p:nvPr/>
        </p:nvCxnSpPr>
        <p:spPr>
          <a:xfrm>
            <a:off x="7330923" y="3630237"/>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7" name="Straight Arrow Connector 69"/>
          <p:cNvCxnSpPr/>
          <p:nvPr/>
        </p:nvCxnSpPr>
        <p:spPr>
          <a:xfrm rot="10800000" flipV="1">
            <a:off x="7907186" y="3630237"/>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7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2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81" name="Straight Arrow Connector 80"/>
          <p:cNvCxnSpPr>
            <a:stCxn id="90" idx="2"/>
            <a:endCxn id="87" idx="0"/>
          </p:cNvCxnSpPr>
          <p:nvPr/>
        </p:nvCxnSpPr>
        <p:spPr>
          <a:xfrm>
            <a:off x="7886471" y="2963413"/>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2" name="Straight Arrow Connector 81"/>
          <p:cNvCxnSpPr>
            <a:stCxn id="87" idx="2"/>
            <a:endCxn id="88" idx="0"/>
          </p:cNvCxnSpPr>
          <p:nvPr/>
        </p:nvCxnSpPr>
        <p:spPr>
          <a:xfrm>
            <a:off x="8645373"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3" name="Straight Arrow Connector 82"/>
          <p:cNvCxnSpPr>
            <a:endCxn id="90" idx="0"/>
          </p:cNvCxnSpPr>
          <p:nvPr/>
        </p:nvCxnSpPr>
        <p:spPr>
          <a:xfrm>
            <a:off x="7886471" y="2201460"/>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4" name="Straight Arrow Connector 83"/>
          <p:cNvCxnSpPr>
            <a:stCxn id="91" idx="2"/>
          </p:cNvCxnSpPr>
          <p:nvPr/>
        </p:nvCxnSpPr>
        <p:spPr>
          <a:xfrm>
            <a:off x="7168998" y="5487612"/>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5" name="Straight Arrow Connector 84"/>
          <p:cNvCxnSpPr>
            <a:stCxn id="90" idx="2"/>
            <a:endCxn id="92" idx="0"/>
          </p:cNvCxnSpPr>
          <p:nvPr/>
        </p:nvCxnSpPr>
        <p:spPr>
          <a:xfrm flipH="1">
            <a:off x="7168998" y="2963413"/>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6" name="Straight Arrow Connector 85"/>
          <p:cNvCxnSpPr>
            <a:stCxn id="92" idx="2"/>
            <a:endCxn id="91" idx="0"/>
          </p:cNvCxnSpPr>
          <p:nvPr/>
        </p:nvCxnSpPr>
        <p:spPr>
          <a:xfrm>
            <a:off x="7168998"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87" name="TextBox 86"/>
          <p:cNvSpPr txBox="1"/>
          <p:nvPr/>
        </p:nvSpPr>
        <p:spPr>
          <a:xfrm>
            <a:off x="8483448"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88" name="TextBox 87"/>
          <p:cNvSpPr txBox="1"/>
          <p:nvPr/>
        </p:nvSpPr>
        <p:spPr>
          <a:xfrm>
            <a:off x="8483448"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89" name="TextBox 88"/>
          <p:cNvSpPr txBox="1"/>
          <p:nvPr/>
        </p:nvSpPr>
        <p:spPr>
          <a:xfrm>
            <a:off x="7745260" y="426850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0" name="TextBox 89"/>
          <p:cNvSpPr txBox="1"/>
          <p:nvPr/>
        </p:nvSpPr>
        <p:spPr>
          <a:xfrm>
            <a:off x="7724546" y="26586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1" name="TextBox 90"/>
          <p:cNvSpPr txBox="1"/>
          <p:nvPr/>
        </p:nvSpPr>
        <p:spPr>
          <a:xfrm>
            <a:off x="7007073"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2" name="TextBox 91"/>
          <p:cNvSpPr txBox="1"/>
          <p:nvPr/>
        </p:nvSpPr>
        <p:spPr>
          <a:xfrm>
            <a:off x="7007073"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94" name="Straight Arrow Connector 69"/>
          <p:cNvCxnSpPr/>
          <p:nvPr/>
        </p:nvCxnSpPr>
        <p:spPr>
          <a:xfrm rot="10800000" flipV="1">
            <a:off x="7907186" y="3630261"/>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5" name="Straight Arrow Connector 78"/>
          <p:cNvCxnSpPr>
            <a:stCxn id="89" idx="2"/>
            <a:endCxn id="91" idx="3"/>
          </p:cNvCxnSpPr>
          <p:nvPr/>
        </p:nvCxnSpPr>
        <p:spPr>
          <a:xfrm rot="5400000">
            <a:off x="7238066" y="4666117"/>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6" name="Picture 9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48"/>
            <a:ext cx="304800" cy="304800"/>
          </a:xfrm>
          <a:prstGeom prst="rect">
            <a:avLst/>
          </a:prstGeom>
        </p:spPr>
      </p:pic>
      <p:cxnSp>
        <p:nvCxnSpPr>
          <p:cNvPr id="80" name="Straight Arrow Connector 74"/>
          <p:cNvCxnSpPr>
            <a:stCxn id="89" idx="2"/>
            <a:endCxn id="88" idx="1"/>
          </p:cNvCxnSpPr>
          <p:nvPr/>
        </p:nvCxnSpPr>
        <p:spPr>
          <a:xfrm rot="16200000" flipH="1">
            <a:off x="7814328" y="4666116"/>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3" name="Straight Arrow Connector 69"/>
          <p:cNvCxnSpPr>
            <a:stCxn id="92" idx="3"/>
            <a:endCxn id="89" idx="0"/>
          </p:cNvCxnSpPr>
          <p:nvPr/>
        </p:nvCxnSpPr>
        <p:spPr>
          <a:xfrm>
            <a:off x="7330923" y="3630261"/>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9" name="Straight Arrow Connector 78"/>
          <p:cNvCxnSpPr>
            <a:stCxn id="88" idx="1"/>
            <a:endCxn id="91" idx="3"/>
          </p:cNvCxnSpPr>
          <p:nvPr/>
        </p:nvCxnSpPr>
        <p:spPr>
          <a:xfrm flipH="1">
            <a:off x="7330923" y="5335236"/>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7"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45"/>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8" name="Picture 9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2997" y="3070223"/>
            <a:ext cx="304800" cy="304800"/>
          </a:xfrm>
          <a:prstGeom prst="rect">
            <a:avLst/>
          </a:prstGeom>
        </p:spPr>
      </p:pic>
      <p:pic>
        <p:nvPicPr>
          <p:cNvPr id="9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26857" y="515632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808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
                                            <p:txEl>
                                              <p:pRg st="1" end="1"/>
                                            </p:txEl>
                                          </p:spTgt>
                                        </p:tgtEl>
                                        <p:attrNameLst>
                                          <p:attrName>style.visibility</p:attrName>
                                        </p:attrNameLst>
                                      </p:cBhvr>
                                      <p:to>
                                        <p:strVal val="visible"/>
                                      </p:to>
                                    </p:set>
                                  </p:childTnLst>
                                </p:cTn>
                              </p:par>
                              <p:par>
                                <p:cTn id="75" presetID="45" presetClass="entr" presetSubtype="0" fill="hold" nodeType="withEffect">
                                  <p:stCondLst>
                                    <p:cond delay="0"/>
                                  </p:stCondLst>
                                  <p:childTnLst>
                                    <p:set>
                                      <p:cBhvr>
                                        <p:cTn id="76" dur="1" fill="hold">
                                          <p:stCondLst>
                                            <p:cond delay="0"/>
                                          </p:stCondLst>
                                        </p:cTn>
                                        <p:tgtEl>
                                          <p:spTgt spid="98"/>
                                        </p:tgtEl>
                                        <p:attrNameLst>
                                          <p:attrName>style.visibility</p:attrName>
                                        </p:attrNameLst>
                                      </p:cBhvr>
                                      <p:to>
                                        <p:strVal val="visible"/>
                                      </p:to>
                                    </p:set>
                                    <p:animEffect transition="in" filter="fade">
                                      <p:cBhvr>
                                        <p:cTn id="77" dur="2000"/>
                                        <p:tgtEl>
                                          <p:spTgt spid="98"/>
                                        </p:tgtEl>
                                      </p:cBhvr>
                                    </p:animEffect>
                                    <p:anim calcmode="lin" valueType="num">
                                      <p:cBhvr>
                                        <p:cTn id="78" dur="2000" fill="hold"/>
                                        <p:tgtEl>
                                          <p:spTgt spid="98"/>
                                        </p:tgtEl>
                                        <p:attrNameLst>
                                          <p:attrName>ppt_w</p:attrName>
                                        </p:attrNameLst>
                                      </p:cBhvr>
                                      <p:tavLst>
                                        <p:tav tm="0" fmla="#ppt_w*sin(2.5*pi*$)">
                                          <p:val>
                                            <p:fltVal val="0"/>
                                          </p:val>
                                        </p:tav>
                                        <p:tav tm="100000">
                                          <p:val>
                                            <p:fltVal val="1"/>
                                          </p:val>
                                        </p:tav>
                                      </p:tavLst>
                                    </p:anim>
                                    <p:anim calcmode="lin" valueType="num">
                                      <p:cBhvr>
                                        <p:cTn id="79" dur="2000" fill="hold"/>
                                        <p:tgtEl>
                                          <p:spTgt spid="98"/>
                                        </p:tgtEl>
                                        <p:attrNameLst>
                                          <p:attrName>ppt_h</p:attrName>
                                        </p:attrNameLst>
                                      </p:cBhvr>
                                      <p:tavLst>
                                        <p:tav tm="0">
                                          <p:val>
                                            <p:strVal val="#ppt_h"/>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3">
                                            <p:txEl>
                                              <p:pRg st="2" end="2"/>
                                            </p:txEl>
                                          </p:spTgt>
                                        </p:tgtEl>
                                        <p:attrNameLst>
                                          <p:attrName>style.visibility</p:attrName>
                                        </p:attrNameLst>
                                      </p:cBhvr>
                                      <p:to>
                                        <p:strVal val="visible"/>
                                      </p:to>
                                    </p:set>
                                  </p:childTnLst>
                                </p:cTn>
                              </p:par>
                              <p:par>
                                <p:cTn id="84" presetID="45" presetClass="entr" presetSubtype="0" fill="hold" nodeType="withEffect">
                                  <p:stCondLst>
                                    <p:cond delay="0"/>
                                  </p:stCondLst>
                                  <p:childTnLst>
                                    <p:set>
                                      <p:cBhvr>
                                        <p:cTn id="85" dur="1" fill="hold">
                                          <p:stCondLst>
                                            <p:cond delay="0"/>
                                          </p:stCondLst>
                                        </p:cTn>
                                        <p:tgtEl>
                                          <p:spTgt spid="99"/>
                                        </p:tgtEl>
                                        <p:attrNameLst>
                                          <p:attrName>style.visibility</p:attrName>
                                        </p:attrNameLst>
                                      </p:cBhvr>
                                      <p:to>
                                        <p:strVal val="visible"/>
                                      </p:to>
                                    </p:set>
                                    <p:animEffect transition="in" filter="fade">
                                      <p:cBhvr>
                                        <p:cTn id="86" dur="2000"/>
                                        <p:tgtEl>
                                          <p:spTgt spid="99"/>
                                        </p:tgtEl>
                                      </p:cBhvr>
                                    </p:animEffect>
                                    <p:anim calcmode="lin" valueType="num">
                                      <p:cBhvr>
                                        <p:cTn id="87" dur="2000" fill="hold"/>
                                        <p:tgtEl>
                                          <p:spTgt spid="99"/>
                                        </p:tgtEl>
                                        <p:attrNameLst>
                                          <p:attrName>ppt_w</p:attrName>
                                        </p:attrNameLst>
                                      </p:cBhvr>
                                      <p:tavLst>
                                        <p:tav tm="0" fmla="#ppt_w*sin(2.5*pi*$)">
                                          <p:val>
                                            <p:fltVal val="0"/>
                                          </p:val>
                                        </p:tav>
                                        <p:tav tm="100000">
                                          <p:val>
                                            <p:fltVal val="1"/>
                                          </p:val>
                                        </p:tav>
                                      </p:tavLst>
                                    </p:anim>
                                    <p:anim calcmode="lin" valueType="num">
                                      <p:cBhvr>
                                        <p:cTn id="88" dur="2000" fill="hold"/>
                                        <p:tgtEl>
                                          <p:spTgt spid="99"/>
                                        </p:tgtEl>
                                        <p:attrNameLst>
                                          <p:attrName>ppt_h</p:attrName>
                                        </p:attrNameLst>
                                      </p:cBhvr>
                                      <p:tavLst>
                                        <p:tav tm="0">
                                          <p:val>
                                            <p:strVal val="#ppt_h"/>
                                          </p:val>
                                        </p:tav>
                                        <p:tav tm="100000">
                                          <p:val>
                                            <p:strVal val="#ppt_h"/>
                                          </p:val>
                                        </p:tav>
                                      </p:tavLst>
                                    </p:anim>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5" end="5"/>
                                            </p:txEl>
                                          </p:spTgt>
                                        </p:tgtEl>
                                        <p:attrNameLst>
                                          <p:attrName>style.visibility</p:attrName>
                                        </p:attrNameLst>
                                      </p:cBhvr>
                                      <p:to>
                                        <p:strVal val="visible"/>
                                      </p:to>
                                    </p:set>
                                  </p:childTnLst>
                                </p:cTn>
                              </p:par>
                              <p:par>
                                <p:cTn id="97" presetID="7" presetClass="emph" presetSubtype="2" fill="hold" nodeType="withEffect">
                                  <p:stCondLst>
                                    <p:cond delay="0"/>
                                  </p:stCondLst>
                                  <p:childTnLst>
                                    <p:animClr clrSpc="rgb" dir="cw">
                                      <p:cBhvr>
                                        <p:cTn id="98" dur="2000" fill="hold"/>
                                        <p:tgtEl>
                                          <p:spTgt spid="33"/>
                                        </p:tgtEl>
                                        <p:attrNameLst>
                                          <p:attrName>stroke.color</p:attrName>
                                        </p:attrNameLst>
                                      </p:cBhvr>
                                      <p:to>
                                        <a:schemeClr val="accent2"/>
                                      </p:to>
                                    </p:animClr>
                                    <p:set>
                                      <p:cBhvr>
                                        <p:cTn id="99" dur="2000" fill="hold"/>
                                        <p:tgtEl>
                                          <p:spTgt spid="33"/>
                                        </p:tgtEl>
                                        <p:attrNameLst>
                                          <p:attrName>stroke.on</p:attrName>
                                        </p:attrNameLst>
                                      </p:cBhvr>
                                      <p:to>
                                        <p:strVal val="true"/>
                                      </p:to>
                                    </p:set>
                                  </p:childTnLst>
                                </p:cTn>
                              </p:par>
                              <p:par>
                                <p:cTn id="100" presetID="7" presetClass="emph" presetSubtype="2" fill="hold" nodeType="withEffect">
                                  <p:stCondLst>
                                    <p:cond delay="0"/>
                                  </p:stCondLst>
                                  <p:childTnLst>
                                    <p:animClr clrSpc="rgb" dir="cw">
                                      <p:cBhvr>
                                        <p:cTn id="101" dur="2000" fill="hold"/>
                                        <p:tgtEl>
                                          <p:spTgt spid="31"/>
                                        </p:tgtEl>
                                        <p:attrNameLst>
                                          <p:attrName>stroke.color</p:attrName>
                                        </p:attrNameLst>
                                      </p:cBhvr>
                                      <p:to>
                                        <a:schemeClr val="accent2"/>
                                      </p:to>
                                    </p:animClr>
                                    <p:set>
                                      <p:cBhvr>
                                        <p:cTn id="102" dur="2000" fill="hold"/>
                                        <p:tgtEl>
                                          <p:spTgt spid="31"/>
                                        </p:tgtEl>
                                        <p:attrNameLst>
                                          <p:attrName>stroke.on</p:attrName>
                                        </p:attrNameLst>
                                      </p:cBhvr>
                                      <p:to>
                                        <p:strVal val="true"/>
                                      </p:to>
                                    </p:set>
                                  </p:childTnLst>
                                </p:cTn>
                              </p:par>
                              <p:par>
                                <p:cTn id="103" presetID="7" presetClass="emph" presetSubtype="2" fill="hold" nodeType="withEffect">
                                  <p:stCondLst>
                                    <p:cond delay="0"/>
                                  </p:stCondLst>
                                  <p:childTnLst>
                                    <p:animClr clrSpc="rgb" dir="cw">
                                      <p:cBhvr>
                                        <p:cTn id="104" dur="2000" fill="hold"/>
                                        <p:tgtEl>
                                          <p:spTgt spid="52"/>
                                        </p:tgtEl>
                                        <p:attrNameLst>
                                          <p:attrName>stroke.color</p:attrName>
                                        </p:attrNameLst>
                                      </p:cBhvr>
                                      <p:to>
                                        <a:schemeClr val="accent2"/>
                                      </p:to>
                                    </p:animClr>
                                    <p:set>
                                      <p:cBhvr>
                                        <p:cTn id="105" dur="2000" fill="hold"/>
                                        <p:tgtEl>
                                          <p:spTgt spid="52"/>
                                        </p:tgtEl>
                                        <p:attrNameLst>
                                          <p:attrName>stroke.on</p:attrName>
                                        </p:attrNameLst>
                                      </p:cBhvr>
                                      <p:to>
                                        <p:strVal val="true"/>
                                      </p:to>
                                    </p:set>
                                  </p:childTnLst>
                                </p:cTn>
                              </p:par>
                              <p:par>
                                <p:cTn id="106" presetID="7" presetClass="emph" presetSubtype="2" fill="hold" nodeType="withEffect">
                                  <p:stCondLst>
                                    <p:cond delay="0"/>
                                  </p:stCondLst>
                                  <p:childTnLst>
                                    <p:animClr clrSpc="rgb" dir="cw">
                                      <p:cBhvr>
                                        <p:cTn id="107" dur="2000" fill="hold"/>
                                        <p:tgtEl>
                                          <p:spTgt spid="29"/>
                                        </p:tgtEl>
                                        <p:attrNameLst>
                                          <p:attrName>stroke.color</p:attrName>
                                        </p:attrNameLst>
                                      </p:cBhvr>
                                      <p:to>
                                        <a:schemeClr val="accent2"/>
                                      </p:to>
                                    </p:animClr>
                                    <p:set>
                                      <p:cBhvr>
                                        <p:cTn id="108" dur="2000" fill="hold"/>
                                        <p:tgtEl>
                                          <p:spTgt spid="29"/>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2000" fill="hold"/>
                                        <p:tgtEl>
                                          <p:spTgt spid="34"/>
                                        </p:tgtEl>
                                        <p:attrNameLst>
                                          <p:attrName>stroke.color</p:attrName>
                                        </p:attrNameLst>
                                      </p:cBhvr>
                                      <p:to>
                                        <a:schemeClr val="accent2"/>
                                      </p:to>
                                    </p:animClr>
                                    <p:set>
                                      <p:cBhvr>
                                        <p:cTn id="111" dur="2000" fill="hold"/>
                                        <p:tgtEl>
                                          <p:spTgt spid="34"/>
                                        </p:tgtEl>
                                        <p:attrNameLst>
                                          <p:attrName>stroke.on</p:attrName>
                                        </p:attrNameLst>
                                      </p:cBhvr>
                                      <p:to>
                                        <p:strVal val="true"/>
                                      </p:to>
                                    </p:set>
                                  </p:childTnLst>
                                </p:cTn>
                              </p:par>
                            </p:childTnLst>
                          </p:cTn>
                        </p:par>
                      </p:childTnLst>
                    </p:cTn>
                  </p:par>
                  <p:par>
                    <p:cTn id="112" fill="hold">
                      <p:stCondLst>
                        <p:cond delay="indefinite"/>
                      </p:stCondLst>
                      <p:childTnLst>
                        <p:par>
                          <p:cTn id="113" fill="hold">
                            <p:stCondLst>
                              <p:cond delay="0"/>
                            </p:stCondLst>
                            <p:childTnLst>
                              <p:par>
                                <p:cTn id="114" presetID="1" presetClass="entr" presetSubtype="0" fill="hold" nodeType="clickEffect">
                                  <p:stCondLst>
                                    <p:cond delay="0"/>
                                  </p:stCondLst>
                                  <p:childTnLst>
                                    <p:set>
                                      <p:cBhvr>
                                        <p:cTn id="115" dur="1" fill="hold">
                                          <p:stCondLst>
                                            <p:cond delay="0"/>
                                          </p:stCondLst>
                                        </p:cTn>
                                        <p:tgtEl>
                                          <p:spTgt spid="83"/>
                                        </p:tgtEl>
                                        <p:attrNameLst>
                                          <p:attrName>style.visibility</p:attrName>
                                        </p:attrNameLst>
                                      </p:cBhvr>
                                      <p:to>
                                        <p:strVal val="visible"/>
                                      </p:to>
                                    </p:set>
                                  </p:childTnLst>
                                </p:cTn>
                              </p:par>
                              <p:par>
                                <p:cTn id="116" presetID="1" presetClass="entr" presetSubtype="0" fill="hold" nodeType="withEffect">
                                  <p:stCondLst>
                                    <p:cond delay="0"/>
                                  </p:stCondLst>
                                  <p:childTnLst>
                                    <p:set>
                                      <p:cBhvr>
                                        <p:cTn id="117" dur="1" fill="hold">
                                          <p:stCondLst>
                                            <p:cond delay="0"/>
                                          </p:stCondLst>
                                        </p:cTn>
                                        <p:tgtEl>
                                          <p:spTgt spid="85"/>
                                        </p:tgtEl>
                                        <p:attrNameLst>
                                          <p:attrName>style.visibility</p:attrName>
                                        </p:attrNameLst>
                                      </p:cBhvr>
                                      <p:to>
                                        <p:strVal val="visible"/>
                                      </p:to>
                                    </p:set>
                                  </p:childTnLst>
                                </p:cTn>
                              </p:par>
                              <p:par>
                                <p:cTn id="118" presetID="1" presetClass="entr" presetSubtype="0" fill="hold" nodeType="withEffect">
                                  <p:stCondLst>
                                    <p:cond delay="0"/>
                                  </p:stCondLst>
                                  <p:childTnLst>
                                    <p:set>
                                      <p:cBhvr>
                                        <p:cTn id="119" dur="1" fill="hold">
                                          <p:stCondLst>
                                            <p:cond delay="0"/>
                                          </p:stCondLst>
                                        </p:cTn>
                                        <p:tgtEl>
                                          <p:spTgt spid="93"/>
                                        </p:tgtEl>
                                        <p:attrNameLst>
                                          <p:attrName>style.visibility</p:attrName>
                                        </p:attrNameLst>
                                      </p:cBhvr>
                                      <p:to>
                                        <p:strVal val="visible"/>
                                      </p:to>
                                    </p:set>
                                  </p:childTnLst>
                                </p:cTn>
                              </p:par>
                              <p:par>
                                <p:cTn id="120" presetID="1" presetClass="entr" presetSubtype="0" fill="hold" nodeType="withEffect">
                                  <p:stCondLst>
                                    <p:cond delay="0"/>
                                  </p:stCondLst>
                                  <p:childTnLst>
                                    <p:set>
                                      <p:cBhvr>
                                        <p:cTn id="121" dur="1" fill="hold">
                                          <p:stCondLst>
                                            <p:cond delay="0"/>
                                          </p:stCondLst>
                                        </p:cTn>
                                        <p:tgtEl>
                                          <p:spTgt spid="80"/>
                                        </p:tgtEl>
                                        <p:attrNameLst>
                                          <p:attrName>style.visibility</p:attrName>
                                        </p:attrNameLst>
                                      </p:cBhvr>
                                      <p:to>
                                        <p:strVal val="visible"/>
                                      </p:to>
                                    </p:set>
                                  </p:childTnLst>
                                </p:cTn>
                              </p:par>
                              <p:par>
                                <p:cTn id="122" presetID="1" presetClass="entr" presetSubtype="0" fill="hold" nodeType="withEffect">
                                  <p:stCondLst>
                                    <p:cond delay="0"/>
                                  </p:stCondLst>
                                  <p:childTnLst>
                                    <p:set>
                                      <p:cBhvr>
                                        <p:cTn id="123" dur="1" fill="hold">
                                          <p:stCondLst>
                                            <p:cond delay="0"/>
                                          </p:stCondLst>
                                        </p:cTn>
                                        <p:tgtEl>
                                          <p:spTgt spid="79"/>
                                        </p:tgtEl>
                                        <p:attrNameLst>
                                          <p:attrName>style.visibility</p:attrName>
                                        </p:attrNameLst>
                                      </p:cBhvr>
                                      <p:to>
                                        <p:strVal val="visible"/>
                                      </p:to>
                                    </p:set>
                                  </p:childTnLst>
                                </p:cTn>
                              </p:par>
                              <p:par>
                                <p:cTn id="124" presetID="1" presetClass="entr" presetSubtype="0" fill="hold" nodeType="withEffect">
                                  <p:stCondLst>
                                    <p:cond delay="0"/>
                                  </p:stCondLst>
                                  <p:childTnLst>
                                    <p:set>
                                      <p:cBhvr>
                                        <p:cTn id="125" dur="1" fill="hold">
                                          <p:stCondLst>
                                            <p:cond delay="0"/>
                                          </p:stCondLst>
                                        </p:cTn>
                                        <p:tgtEl>
                                          <p:spTgt spid="84"/>
                                        </p:tgtEl>
                                        <p:attrNameLst>
                                          <p:attrName>style.visibility</p:attrName>
                                        </p:attrNameLst>
                                      </p:cBhvr>
                                      <p:to>
                                        <p:strVal val="visible"/>
                                      </p:to>
                                    </p:set>
                                  </p:childTnLst>
                                </p:cTn>
                              </p:par>
                              <p:par>
                                <p:cTn id="126" presetID="1" presetClass="entr" presetSubtype="0" fill="hold" nodeType="withEffect">
                                  <p:stCondLst>
                                    <p:cond delay="0"/>
                                  </p:stCondLst>
                                  <p:childTnLst>
                                    <p:set>
                                      <p:cBhvr>
                                        <p:cTn id="127" dur="1" fill="hold">
                                          <p:stCondLst>
                                            <p:cond delay="0"/>
                                          </p:stCondLst>
                                        </p:cTn>
                                        <p:tgtEl>
                                          <p:spTgt spid="54"/>
                                        </p:tgtEl>
                                        <p:attrNameLst>
                                          <p:attrName>style.visibility</p:attrName>
                                        </p:attrNameLst>
                                      </p:cBhvr>
                                      <p:to>
                                        <p:strVal val="visible"/>
                                      </p:to>
                                    </p:set>
                                  </p:childTnLst>
                                </p:cTn>
                              </p:par>
                              <p:par>
                                <p:cTn id="128" presetID="1" presetClass="entr" presetSubtype="0" fill="hold" nodeType="withEffect">
                                  <p:stCondLst>
                                    <p:cond delay="0"/>
                                  </p:stCondLst>
                                  <p:childTnLst>
                                    <p:set>
                                      <p:cBhvr>
                                        <p:cTn id="129" dur="1" fill="hold">
                                          <p:stCondLst>
                                            <p:cond delay="0"/>
                                          </p:stCondLst>
                                        </p:cTn>
                                        <p:tgtEl>
                                          <p:spTgt spid="55"/>
                                        </p:tgtEl>
                                        <p:attrNameLst>
                                          <p:attrName>style.visibility</p:attrName>
                                        </p:attrNameLst>
                                      </p:cBhvr>
                                      <p:to>
                                        <p:strVal val="visible"/>
                                      </p:to>
                                    </p:set>
                                  </p:childTnLst>
                                </p:cTn>
                              </p:par>
                              <p:par>
                                <p:cTn id="130" presetID="1" presetClass="entr" presetSubtype="0" fill="hold" nodeType="withEffect">
                                  <p:stCondLst>
                                    <p:cond delay="0"/>
                                  </p:stCondLst>
                                  <p:childTnLst>
                                    <p:set>
                                      <p:cBhvr>
                                        <p:cTn id="131" dur="1" fill="hold">
                                          <p:stCondLst>
                                            <p:cond delay="0"/>
                                          </p:stCondLst>
                                        </p:cTn>
                                        <p:tgtEl>
                                          <p:spTgt spid="57"/>
                                        </p:tgtEl>
                                        <p:attrNameLst>
                                          <p:attrName>style.visibility</p:attrName>
                                        </p:attrNameLst>
                                      </p:cBhvr>
                                      <p:to>
                                        <p:strVal val="visible"/>
                                      </p:to>
                                    </p:set>
                                  </p:childTnLst>
                                </p:cTn>
                              </p:par>
                              <p:par>
                                <p:cTn id="132" presetID="1"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childTnLst>
                                </p:cTn>
                              </p:par>
                              <p:par>
                                <p:cTn id="134" presetID="1" presetClass="entr" presetSubtype="0" fill="hold" nodeType="withEffect">
                                  <p:stCondLst>
                                    <p:cond delay="0"/>
                                  </p:stCondLst>
                                  <p:childTnLst>
                                    <p:set>
                                      <p:cBhvr>
                                        <p:cTn id="135" dur="1" fill="hold">
                                          <p:stCondLst>
                                            <p:cond delay="0"/>
                                          </p:stCondLst>
                                        </p:cTn>
                                        <p:tgtEl>
                                          <p:spTgt spid="59"/>
                                        </p:tgtEl>
                                        <p:attrNameLst>
                                          <p:attrName>style.visibility</p:attrName>
                                        </p:attrNameLst>
                                      </p:cBhvr>
                                      <p:to>
                                        <p:strVal val="visible"/>
                                      </p:to>
                                    </p:set>
                                  </p:childTnLst>
                                </p:cTn>
                              </p:par>
                              <p:par>
                                <p:cTn id="136" presetID="1" presetClass="entr" presetSubtype="0" fill="hold" nodeType="withEffect">
                                  <p:stCondLst>
                                    <p:cond delay="0"/>
                                  </p:stCondLst>
                                  <p:childTnLst>
                                    <p:set>
                                      <p:cBhvr>
                                        <p:cTn id="137" dur="1" fill="hold">
                                          <p:stCondLst>
                                            <p:cond delay="0"/>
                                          </p:stCondLst>
                                        </p:cTn>
                                        <p:tgtEl>
                                          <p:spTgt spid="62"/>
                                        </p:tgtEl>
                                        <p:attrNameLst>
                                          <p:attrName>style.visibility</p:attrName>
                                        </p:attrNameLst>
                                      </p:cBhvr>
                                      <p:to>
                                        <p:strVal val="visible"/>
                                      </p:to>
                                    </p:set>
                                  </p:childTnLst>
                                </p:cTn>
                              </p:par>
                              <p:par>
                                <p:cTn id="138" presetID="1" presetClass="entr" presetSubtype="0" fill="hold" nodeType="withEffect">
                                  <p:stCondLst>
                                    <p:cond delay="0"/>
                                  </p:stCondLst>
                                  <p:childTnLst>
                                    <p:set>
                                      <p:cBhvr>
                                        <p:cTn id="139" dur="1" fill="hold">
                                          <p:stCondLst>
                                            <p:cond delay="0"/>
                                          </p:stCondLst>
                                        </p:cTn>
                                        <p:tgtEl>
                                          <p:spTgt spid="63"/>
                                        </p:tgtEl>
                                        <p:attrNameLst>
                                          <p:attrName>style.visibility</p:attrName>
                                        </p:attrNameLst>
                                      </p:cBhvr>
                                      <p:to>
                                        <p:strVal val="visible"/>
                                      </p:to>
                                    </p:set>
                                  </p:childTnLst>
                                </p:cTn>
                              </p:par>
                              <p:par>
                                <p:cTn id="140" presetID="1" presetClass="entr" presetSubtype="0" fill="hold" nodeType="withEffect">
                                  <p:stCondLst>
                                    <p:cond delay="0"/>
                                  </p:stCondLst>
                                  <p:childTnLst>
                                    <p:set>
                                      <p:cBhvr>
                                        <p:cTn id="141" dur="1" fill="hold">
                                          <p:stCondLst>
                                            <p:cond delay="0"/>
                                          </p:stCondLst>
                                        </p:cTn>
                                        <p:tgtEl>
                                          <p:spTgt spid="64"/>
                                        </p:tgtEl>
                                        <p:attrNameLst>
                                          <p:attrName>style.visibility</p:attrName>
                                        </p:attrNameLst>
                                      </p:cBhvr>
                                      <p:to>
                                        <p:strVal val="visible"/>
                                      </p:to>
                                    </p:set>
                                  </p:childTnLst>
                                </p:cTn>
                              </p:par>
                              <p:par>
                                <p:cTn id="142" presetID="1" presetClass="entr" presetSubtype="0" fill="hold" nodeType="withEffect">
                                  <p:stCondLst>
                                    <p:cond delay="0"/>
                                  </p:stCondLst>
                                  <p:childTnLst>
                                    <p:set>
                                      <p:cBhvr>
                                        <p:cTn id="143" dur="1" fill="hold">
                                          <p:stCondLst>
                                            <p:cond delay="0"/>
                                          </p:stCondLst>
                                        </p:cTn>
                                        <p:tgtEl>
                                          <p:spTgt spid="65"/>
                                        </p:tgtEl>
                                        <p:attrNameLst>
                                          <p:attrName>style.visibility</p:attrName>
                                        </p:attrNameLst>
                                      </p:cBhvr>
                                      <p:to>
                                        <p:strVal val="visible"/>
                                      </p:to>
                                    </p:set>
                                  </p:childTnLst>
                                </p:cTn>
                              </p:par>
                              <p:par>
                                <p:cTn id="144" presetID="1" presetClass="entr" presetSubtype="0" fill="hold" grpId="0" nodeType="withEffect">
                                  <p:stCondLst>
                                    <p:cond delay="0"/>
                                  </p:stCondLst>
                                  <p:childTnLst>
                                    <p:set>
                                      <p:cBhvr>
                                        <p:cTn id="145" dur="1" fill="hold">
                                          <p:stCondLst>
                                            <p:cond delay="0"/>
                                          </p:stCondLst>
                                        </p:cTn>
                                        <p:tgtEl>
                                          <p:spTgt spid="66"/>
                                        </p:tgtEl>
                                        <p:attrNameLst>
                                          <p:attrName>style.visibility</p:attrName>
                                        </p:attrNameLst>
                                      </p:cBhvr>
                                      <p:to>
                                        <p:strVal val="visible"/>
                                      </p:to>
                                    </p:set>
                                  </p:childTnLst>
                                </p:cTn>
                              </p:par>
                              <p:par>
                                <p:cTn id="146" presetID="1" presetClass="entr" presetSubtype="0" fill="hold" grpId="0" nodeType="withEffect">
                                  <p:stCondLst>
                                    <p:cond delay="0"/>
                                  </p:stCondLst>
                                  <p:childTnLst>
                                    <p:set>
                                      <p:cBhvr>
                                        <p:cTn id="147" dur="1" fill="hold">
                                          <p:stCondLst>
                                            <p:cond delay="0"/>
                                          </p:stCondLst>
                                        </p:cTn>
                                        <p:tgtEl>
                                          <p:spTgt spid="67"/>
                                        </p:tgtEl>
                                        <p:attrNameLst>
                                          <p:attrName>style.visibility</p:attrName>
                                        </p:attrNameLst>
                                      </p:cBhvr>
                                      <p:to>
                                        <p:strVal val="visible"/>
                                      </p:to>
                                    </p:set>
                                  </p:childTnLst>
                                </p:cTn>
                              </p:par>
                              <p:par>
                                <p:cTn id="148" presetID="1"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childTnLst>
                                </p:cTn>
                              </p:par>
                              <p:par>
                                <p:cTn id="150" presetID="1" presetClass="entr" presetSubtype="0" fill="hold" grpId="0" nodeType="withEffect">
                                  <p:stCondLst>
                                    <p:cond delay="0"/>
                                  </p:stCondLst>
                                  <p:childTnLst>
                                    <p:set>
                                      <p:cBhvr>
                                        <p:cTn id="151" dur="1" fill="hold">
                                          <p:stCondLst>
                                            <p:cond delay="0"/>
                                          </p:stCondLst>
                                        </p:cTn>
                                        <p:tgtEl>
                                          <p:spTgt spid="69"/>
                                        </p:tgtEl>
                                        <p:attrNameLst>
                                          <p:attrName>style.visibility</p:attrName>
                                        </p:attrNameLst>
                                      </p:cBhvr>
                                      <p:to>
                                        <p:strVal val="visible"/>
                                      </p:to>
                                    </p:set>
                                  </p:childTnLst>
                                </p:cTn>
                              </p:par>
                              <p:par>
                                <p:cTn id="152" presetID="1" presetClass="entr" presetSubtype="0" fill="hold" grpId="0" nodeType="withEffect">
                                  <p:stCondLst>
                                    <p:cond delay="0"/>
                                  </p:stCondLst>
                                  <p:childTnLst>
                                    <p:set>
                                      <p:cBhvr>
                                        <p:cTn id="153" dur="1" fill="hold">
                                          <p:stCondLst>
                                            <p:cond delay="0"/>
                                          </p:stCondLst>
                                        </p:cTn>
                                        <p:tgtEl>
                                          <p:spTgt spid="73"/>
                                        </p:tgtEl>
                                        <p:attrNameLst>
                                          <p:attrName>style.visibility</p:attrName>
                                        </p:attrNameLst>
                                      </p:cBhvr>
                                      <p:to>
                                        <p:strVal val="visible"/>
                                      </p:to>
                                    </p:set>
                                  </p:childTnLst>
                                </p:cTn>
                              </p:par>
                              <p:par>
                                <p:cTn id="154" presetID="1" presetClass="entr" presetSubtype="0" fill="hold" grpId="0" nodeType="withEffect">
                                  <p:stCondLst>
                                    <p:cond delay="0"/>
                                  </p:stCondLst>
                                  <p:childTnLst>
                                    <p:set>
                                      <p:cBhvr>
                                        <p:cTn id="155" dur="1" fill="hold">
                                          <p:stCondLst>
                                            <p:cond delay="0"/>
                                          </p:stCondLst>
                                        </p:cTn>
                                        <p:tgtEl>
                                          <p:spTgt spid="74"/>
                                        </p:tgtEl>
                                        <p:attrNameLst>
                                          <p:attrName>style.visibility</p:attrName>
                                        </p:attrNameLst>
                                      </p:cBhvr>
                                      <p:to>
                                        <p:strVal val="visible"/>
                                      </p:to>
                                    </p:set>
                                  </p:childTnLst>
                                </p:cTn>
                              </p:par>
                              <p:par>
                                <p:cTn id="156" presetID="1" presetClass="entr" presetSubtype="0" fill="hold" nodeType="withEffect">
                                  <p:stCondLst>
                                    <p:cond delay="0"/>
                                  </p:stCondLst>
                                  <p:childTnLst>
                                    <p:set>
                                      <p:cBhvr>
                                        <p:cTn id="157" dur="1" fill="hold">
                                          <p:stCondLst>
                                            <p:cond delay="0"/>
                                          </p:stCondLst>
                                        </p:cTn>
                                        <p:tgtEl>
                                          <p:spTgt spid="75"/>
                                        </p:tgtEl>
                                        <p:attrNameLst>
                                          <p:attrName>style.visibility</p:attrName>
                                        </p:attrNameLst>
                                      </p:cBhvr>
                                      <p:to>
                                        <p:strVal val="visible"/>
                                      </p:to>
                                    </p:set>
                                  </p:childTnLst>
                                </p:cTn>
                              </p:par>
                              <p:par>
                                <p:cTn id="158" presetID="1" presetClass="entr" presetSubtype="0" fill="hold" nodeType="withEffect">
                                  <p:stCondLst>
                                    <p:cond delay="0"/>
                                  </p:stCondLst>
                                  <p:childTnLst>
                                    <p:set>
                                      <p:cBhvr>
                                        <p:cTn id="159" dur="1" fill="hold">
                                          <p:stCondLst>
                                            <p:cond delay="0"/>
                                          </p:stCondLst>
                                        </p:cTn>
                                        <p:tgtEl>
                                          <p:spTgt spid="76"/>
                                        </p:tgtEl>
                                        <p:attrNameLst>
                                          <p:attrName>style.visibility</p:attrName>
                                        </p:attrNameLst>
                                      </p:cBhvr>
                                      <p:to>
                                        <p:strVal val="visible"/>
                                      </p:to>
                                    </p:set>
                                  </p:childTnLst>
                                </p:cTn>
                              </p:par>
                              <p:par>
                                <p:cTn id="160" presetID="1" presetClass="entr" presetSubtype="0" fill="hold" nodeType="withEffect">
                                  <p:stCondLst>
                                    <p:cond delay="0"/>
                                  </p:stCondLst>
                                  <p:childTnLst>
                                    <p:set>
                                      <p:cBhvr>
                                        <p:cTn id="161" dur="1" fill="hold">
                                          <p:stCondLst>
                                            <p:cond delay="0"/>
                                          </p:stCondLst>
                                        </p:cTn>
                                        <p:tgtEl>
                                          <p:spTgt spid="77"/>
                                        </p:tgtEl>
                                        <p:attrNameLst>
                                          <p:attrName>style.visibility</p:attrName>
                                        </p:attrNameLst>
                                      </p:cBhvr>
                                      <p:to>
                                        <p:strVal val="visible"/>
                                      </p:to>
                                    </p:set>
                                  </p:childTnLst>
                                </p:cTn>
                              </p:par>
                              <p:par>
                                <p:cTn id="162" presetID="1" presetClass="entr" presetSubtype="0" fill="hold" nodeType="withEffect">
                                  <p:stCondLst>
                                    <p:cond delay="0"/>
                                  </p:stCondLst>
                                  <p:childTnLst>
                                    <p:set>
                                      <p:cBhvr>
                                        <p:cTn id="163" dur="1" fill="hold">
                                          <p:stCondLst>
                                            <p:cond delay="0"/>
                                          </p:stCondLst>
                                        </p:cTn>
                                        <p:tgtEl>
                                          <p:spTgt spid="78"/>
                                        </p:tgtEl>
                                        <p:attrNameLst>
                                          <p:attrName>style.visibility</p:attrName>
                                        </p:attrNameLst>
                                      </p:cBhvr>
                                      <p:to>
                                        <p:strVal val="visible"/>
                                      </p:to>
                                    </p:set>
                                  </p:childTnLst>
                                </p:cTn>
                              </p:par>
                              <p:par>
                                <p:cTn id="164" presetID="1" presetClass="entr" presetSubtype="0" fill="hold" nodeType="withEffect">
                                  <p:stCondLst>
                                    <p:cond delay="0"/>
                                  </p:stCondLst>
                                  <p:childTnLst>
                                    <p:set>
                                      <p:cBhvr>
                                        <p:cTn id="165" dur="1" fill="hold">
                                          <p:stCondLst>
                                            <p:cond delay="0"/>
                                          </p:stCondLst>
                                        </p:cTn>
                                        <p:tgtEl>
                                          <p:spTgt spid="81"/>
                                        </p:tgtEl>
                                        <p:attrNameLst>
                                          <p:attrName>style.visibility</p:attrName>
                                        </p:attrNameLst>
                                      </p:cBhvr>
                                      <p:to>
                                        <p:strVal val="visible"/>
                                      </p:to>
                                    </p:set>
                                  </p:childTnLst>
                                </p:cTn>
                              </p:par>
                              <p:par>
                                <p:cTn id="166" presetID="1" presetClass="entr" presetSubtype="0" fill="hold" nodeType="withEffect">
                                  <p:stCondLst>
                                    <p:cond delay="0"/>
                                  </p:stCondLst>
                                  <p:childTnLst>
                                    <p:set>
                                      <p:cBhvr>
                                        <p:cTn id="167" dur="1" fill="hold">
                                          <p:stCondLst>
                                            <p:cond delay="0"/>
                                          </p:stCondLst>
                                        </p:cTn>
                                        <p:tgtEl>
                                          <p:spTgt spid="82"/>
                                        </p:tgtEl>
                                        <p:attrNameLst>
                                          <p:attrName>style.visibility</p:attrName>
                                        </p:attrNameLst>
                                      </p:cBhvr>
                                      <p:to>
                                        <p:strVal val="visible"/>
                                      </p:to>
                                    </p:set>
                                  </p:childTnLst>
                                </p:cTn>
                              </p:par>
                              <p:par>
                                <p:cTn id="168" presetID="1" presetClass="entr" presetSubtype="0" fill="hold" nodeType="withEffect">
                                  <p:stCondLst>
                                    <p:cond delay="0"/>
                                  </p:stCondLst>
                                  <p:childTnLst>
                                    <p:set>
                                      <p:cBhvr>
                                        <p:cTn id="169" dur="1" fill="hold">
                                          <p:stCondLst>
                                            <p:cond delay="0"/>
                                          </p:stCondLst>
                                        </p:cTn>
                                        <p:tgtEl>
                                          <p:spTgt spid="86"/>
                                        </p:tgtEl>
                                        <p:attrNameLst>
                                          <p:attrName>style.visibility</p:attrName>
                                        </p:attrNameLst>
                                      </p:cBhvr>
                                      <p:to>
                                        <p:strVal val="visible"/>
                                      </p:to>
                                    </p:set>
                                  </p:childTnLst>
                                </p:cTn>
                              </p:par>
                              <p:par>
                                <p:cTn id="170" presetID="1" presetClass="entr" presetSubtype="0" fill="hold" grpId="0" nodeType="withEffect">
                                  <p:stCondLst>
                                    <p:cond delay="0"/>
                                  </p:stCondLst>
                                  <p:childTnLst>
                                    <p:set>
                                      <p:cBhvr>
                                        <p:cTn id="171" dur="1" fill="hold">
                                          <p:stCondLst>
                                            <p:cond delay="0"/>
                                          </p:stCondLst>
                                        </p:cTn>
                                        <p:tgtEl>
                                          <p:spTgt spid="87"/>
                                        </p:tgtEl>
                                        <p:attrNameLst>
                                          <p:attrName>style.visibility</p:attrName>
                                        </p:attrNameLst>
                                      </p:cBhvr>
                                      <p:to>
                                        <p:strVal val="visible"/>
                                      </p:to>
                                    </p:set>
                                  </p:childTnLst>
                                </p:cTn>
                              </p:par>
                              <p:par>
                                <p:cTn id="172" presetID="1" presetClass="entr" presetSubtype="0" fill="hold" grpId="0" nodeType="withEffect">
                                  <p:stCondLst>
                                    <p:cond delay="0"/>
                                  </p:stCondLst>
                                  <p:childTnLst>
                                    <p:set>
                                      <p:cBhvr>
                                        <p:cTn id="173" dur="1" fill="hold">
                                          <p:stCondLst>
                                            <p:cond delay="0"/>
                                          </p:stCondLst>
                                        </p:cTn>
                                        <p:tgtEl>
                                          <p:spTgt spid="88"/>
                                        </p:tgtEl>
                                        <p:attrNameLst>
                                          <p:attrName>style.visibility</p:attrName>
                                        </p:attrNameLst>
                                      </p:cBhvr>
                                      <p:to>
                                        <p:strVal val="visible"/>
                                      </p:to>
                                    </p:set>
                                  </p:childTnLst>
                                </p:cTn>
                              </p:par>
                              <p:par>
                                <p:cTn id="174" presetID="1" presetClass="entr" presetSubtype="0" fill="hold" grpId="0" nodeType="withEffect">
                                  <p:stCondLst>
                                    <p:cond delay="0"/>
                                  </p:stCondLst>
                                  <p:childTnLst>
                                    <p:set>
                                      <p:cBhvr>
                                        <p:cTn id="175" dur="1" fill="hold">
                                          <p:stCondLst>
                                            <p:cond delay="0"/>
                                          </p:stCondLst>
                                        </p:cTn>
                                        <p:tgtEl>
                                          <p:spTgt spid="89"/>
                                        </p:tgtEl>
                                        <p:attrNameLst>
                                          <p:attrName>style.visibility</p:attrName>
                                        </p:attrNameLst>
                                      </p:cBhvr>
                                      <p:to>
                                        <p:strVal val="visible"/>
                                      </p:to>
                                    </p:set>
                                  </p:childTnLst>
                                </p:cTn>
                              </p:par>
                              <p:par>
                                <p:cTn id="176" presetID="1" presetClass="entr" presetSubtype="0" fill="hold" grpId="0" nodeType="withEffect">
                                  <p:stCondLst>
                                    <p:cond delay="0"/>
                                  </p:stCondLst>
                                  <p:childTnLst>
                                    <p:set>
                                      <p:cBhvr>
                                        <p:cTn id="177" dur="1" fill="hold">
                                          <p:stCondLst>
                                            <p:cond delay="0"/>
                                          </p:stCondLst>
                                        </p:cTn>
                                        <p:tgtEl>
                                          <p:spTgt spid="90"/>
                                        </p:tgtEl>
                                        <p:attrNameLst>
                                          <p:attrName>style.visibility</p:attrName>
                                        </p:attrNameLst>
                                      </p:cBhvr>
                                      <p:to>
                                        <p:strVal val="visible"/>
                                      </p:to>
                                    </p:set>
                                  </p:childTnLst>
                                </p:cTn>
                              </p:par>
                              <p:par>
                                <p:cTn id="178" presetID="1" presetClass="entr" presetSubtype="0" fill="hold" grpId="0" nodeType="withEffect">
                                  <p:stCondLst>
                                    <p:cond delay="0"/>
                                  </p:stCondLst>
                                  <p:childTnLst>
                                    <p:set>
                                      <p:cBhvr>
                                        <p:cTn id="179" dur="1" fill="hold">
                                          <p:stCondLst>
                                            <p:cond delay="0"/>
                                          </p:stCondLst>
                                        </p:cTn>
                                        <p:tgtEl>
                                          <p:spTgt spid="91"/>
                                        </p:tgtEl>
                                        <p:attrNameLst>
                                          <p:attrName>style.visibility</p:attrName>
                                        </p:attrNameLst>
                                      </p:cBhvr>
                                      <p:to>
                                        <p:strVal val="visible"/>
                                      </p:to>
                                    </p:set>
                                  </p:childTnLst>
                                </p:cTn>
                              </p:par>
                              <p:par>
                                <p:cTn id="180" presetID="1" presetClass="entr" presetSubtype="0" fill="hold" grpId="0" nodeType="withEffect">
                                  <p:stCondLst>
                                    <p:cond delay="0"/>
                                  </p:stCondLst>
                                  <p:childTnLst>
                                    <p:set>
                                      <p:cBhvr>
                                        <p:cTn id="181" dur="1" fill="hold">
                                          <p:stCondLst>
                                            <p:cond delay="0"/>
                                          </p:stCondLst>
                                        </p:cTn>
                                        <p:tgtEl>
                                          <p:spTgt spid="92"/>
                                        </p:tgtEl>
                                        <p:attrNameLst>
                                          <p:attrName>style.visibility</p:attrName>
                                        </p:attrNameLst>
                                      </p:cBhvr>
                                      <p:to>
                                        <p:strVal val="visible"/>
                                      </p:to>
                                    </p:set>
                                  </p:childTnLst>
                                </p:cTn>
                              </p:par>
                              <p:par>
                                <p:cTn id="182" presetID="1" presetClass="entr" presetSubtype="0" fill="hold" nodeType="withEffect">
                                  <p:stCondLst>
                                    <p:cond delay="0"/>
                                  </p:stCondLst>
                                  <p:childTnLst>
                                    <p:set>
                                      <p:cBhvr>
                                        <p:cTn id="183" dur="1" fill="hold">
                                          <p:stCondLst>
                                            <p:cond delay="0"/>
                                          </p:stCondLst>
                                        </p:cTn>
                                        <p:tgtEl>
                                          <p:spTgt spid="94"/>
                                        </p:tgtEl>
                                        <p:attrNameLst>
                                          <p:attrName>style.visibility</p:attrName>
                                        </p:attrNameLst>
                                      </p:cBhvr>
                                      <p:to>
                                        <p:strVal val="visible"/>
                                      </p:to>
                                    </p:set>
                                  </p:childTnLst>
                                </p:cTn>
                              </p:par>
                              <p:par>
                                <p:cTn id="184" presetID="1" presetClass="entr" presetSubtype="0" fill="hold" nodeType="withEffect">
                                  <p:stCondLst>
                                    <p:cond delay="0"/>
                                  </p:stCondLst>
                                  <p:childTnLst>
                                    <p:set>
                                      <p:cBhvr>
                                        <p:cTn id="185" dur="1" fill="hold">
                                          <p:stCondLst>
                                            <p:cond delay="0"/>
                                          </p:stCondLst>
                                        </p:cTn>
                                        <p:tgtEl>
                                          <p:spTgt spid="95"/>
                                        </p:tgtEl>
                                        <p:attrNameLst>
                                          <p:attrName>style.visibility</p:attrName>
                                        </p:attrNameLst>
                                      </p:cBhvr>
                                      <p:to>
                                        <p:strVal val="visible"/>
                                      </p:to>
                                    </p:set>
                                  </p:childTnLst>
                                </p:cTn>
                              </p:par>
                              <p:par>
                                <p:cTn id="186" presetID="1" presetClass="entr" presetSubtype="0" fill="hold" nodeType="withEffect">
                                  <p:stCondLst>
                                    <p:cond delay="0"/>
                                  </p:stCondLst>
                                  <p:childTnLst>
                                    <p:set>
                                      <p:cBhvr>
                                        <p:cTn id="187" dur="1" fill="hold">
                                          <p:stCondLst>
                                            <p:cond delay="0"/>
                                          </p:stCondLst>
                                        </p:cTn>
                                        <p:tgtEl>
                                          <p:spTgt spid="96"/>
                                        </p:tgtEl>
                                        <p:attrNameLst>
                                          <p:attrName>style.visibility</p:attrName>
                                        </p:attrNameLst>
                                      </p:cBhvr>
                                      <p:to>
                                        <p:strVal val="visible"/>
                                      </p:to>
                                    </p:set>
                                  </p:childTnLst>
                                </p:cTn>
                              </p:par>
                              <p:par>
                                <p:cTn id="188" presetID="1" presetClass="entr" presetSubtype="0" fill="hold" nodeType="withEffect">
                                  <p:stCondLst>
                                    <p:cond delay="0"/>
                                  </p:stCondLst>
                                  <p:childTnLst>
                                    <p:set>
                                      <p:cBhvr>
                                        <p:cTn id="189" dur="1" fill="hold">
                                          <p:stCondLst>
                                            <p:cond delay="0"/>
                                          </p:stCondLst>
                                        </p:cTn>
                                        <p:tgtEl>
                                          <p:spTgt spid="97"/>
                                        </p:tgtEl>
                                        <p:attrNameLst>
                                          <p:attrName>style.visibility</p:attrName>
                                        </p:attrNameLst>
                                      </p:cBhvr>
                                      <p:to>
                                        <p:strVal val="visible"/>
                                      </p:to>
                                    </p:set>
                                  </p:childTnLst>
                                </p:cTn>
                              </p:par>
                            </p:childTnLst>
                          </p:cTn>
                        </p:par>
                        <p:par>
                          <p:cTn id="190" fill="hold">
                            <p:stCondLst>
                              <p:cond delay="0"/>
                            </p:stCondLst>
                            <p:childTnLst>
                              <p:par>
                                <p:cTn id="191" presetID="1" presetClass="entr" presetSubtype="0" fill="hold" nodeType="afterEffect">
                                  <p:stCondLst>
                                    <p:cond delay="0"/>
                                  </p:stCondLst>
                                  <p:childTnLst>
                                    <p:set>
                                      <p:cBhvr>
                                        <p:cTn id="192" dur="1" fill="hold">
                                          <p:stCondLst>
                                            <p:cond delay="0"/>
                                          </p:stCondLst>
                                        </p:cTn>
                                        <p:tgtEl>
                                          <p:spTgt spid="3">
                                            <p:txEl>
                                              <p:pRg st="6" end="6"/>
                                            </p:txEl>
                                          </p:spTgt>
                                        </p:tgtEl>
                                        <p:attrNameLst>
                                          <p:attrName>style.visibility</p:attrName>
                                        </p:attrNameLst>
                                      </p:cBhvr>
                                      <p:to>
                                        <p:strVal val="visible"/>
                                      </p:to>
                                    </p:set>
                                  </p:childTnLst>
                                </p:cTn>
                              </p:par>
                              <p:par>
                                <p:cTn id="193" presetID="7" presetClass="emph" presetSubtype="2" fill="hold" nodeType="withEffect">
                                  <p:stCondLst>
                                    <p:cond delay="0"/>
                                  </p:stCondLst>
                                  <p:childTnLst>
                                    <p:animClr clrSpc="rgb" dir="cw">
                                      <p:cBhvr>
                                        <p:cTn id="194" dur="2000" fill="hold"/>
                                        <p:tgtEl>
                                          <p:spTgt spid="83"/>
                                        </p:tgtEl>
                                        <p:attrNameLst>
                                          <p:attrName>stroke.color</p:attrName>
                                        </p:attrNameLst>
                                      </p:cBhvr>
                                      <p:to>
                                        <a:schemeClr val="folHlink"/>
                                      </p:to>
                                    </p:animClr>
                                    <p:set>
                                      <p:cBhvr>
                                        <p:cTn id="195" dur="2000" fill="hold"/>
                                        <p:tgtEl>
                                          <p:spTgt spid="83"/>
                                        </p:tgtEl>
                                        <p:attrNameLst>
                                          <p:attrName>stroke.on</p:attrName>
                                        </p:attrNameLst>
                                      </p:cBhvr>
                                      <p:to>
                                        <p:strVal val="true"/>
                                      </p:to>
                                    </p:set>
                                  </p:childTnLst>
                                </p:cTn>
                              </p:par>
                              <p:par>
                                <p:cTn id="196" presetID="7" presetClass="emph" presetSubtype="2" fill="hold" nodeType="withEffect">
                                  <p:stCondLst>
                                    <p:cond delay="0"/>
                                  </p:stCondLst>
                                  <p:childTnLst>
                                    <p:animClr clrSpc="rgb" dir="cw">
                                      <p:cBhvr>
                                        <p:cTn id="197" dur="2000" fill="hold"/>
                                        <p:tgtEl>
                                          <p:spTgt spid="85"/>
                                        </p:tgtEl>
                                        <p:attrNameLst>
                                          <p:attrName>stroke.color</p:attrName>
                                        </p:attrNameLst>
                                      </p:cBhvr>
                                      <p:to>
                                        <a:schemeClr val="folHlink"/>
                                      </p:to>
                                    </p:animClr>
                                    <p:set>
                                      <p:cBhvr>
                                        <p:cTn id="198" dur="2000" fill="hold"/>
                                        <p:tgtEl>
                                          <p:spTgt spid="85"/>
                                        </p:tgtEl>
                                        <p:attrNameLst>
                                          <p:attrName>stroke.on</p:attrName>
                                        </p:attrNameLst>
                                      </p:cBhvr>
                                      <p:to>
                                        <p:strVal val="true"/>
                                      </p:to>
                                    </p:set>
                                  </p:childTnLst>
                                </p:cTn>
                              </p:par>
                              <p:par>
                                <p:cTn id="199" presetID="7" presetClass="emph" presetSubtype="2" fill="hold" nodeType="withEffect">
                                  <p:stCondLst>
                                    <p:cond delay="0"/>
                                  </p:stCondLst>
                                  <p:childTnLst>
                                    <p:animClr clrSpc="rgb" dir="cw">
                                      <p:cBhvr>
                                        <p:cTn id="200" dur="2000" fill="hold"/>
                                        <p:tgtEl>
                                          <p:spTgt spid="93"/>
                                        </p:tgtEl>
                                        <p:attrNameLst>
                                          <p:attrName>stroke.color</p:attrName>
                                        </p:attrNameLst>
                                      </p:cBhvr>
                                      <p:to>
                                        <a:schemeClr val="folHlink"/>
                                      </p:to>
                                    </p:animClr>
                                    <p:set>
                                      <p:cBhvr>
                                        <p:cTn id="201" dur="2000" fill="hold"/>
                                        <p:tgtEl>
                                          <p:spTgt spid="93"/>
                                        </p:tgtEl>
                                        <p:attrNameLst>
                                          <p:attrName>stroke.on</p:attrName>
                                        </p:attrNameLst>
                                      </p:cBhvr>
                                      <p:to>
                                        <p:strVal val="true"/>
                                      </p:to>
                                    </p:set>
                                  </p:childTnLst>
                                </p:cTn>
                              </p:par>
                              <p:par>
                                <p:cTn id="202" presetID="7" presetClass="emph" presetSubtype="2" fill="hold" nodeType="withEffect">
                                  <p:stCondLst>
                                    <p:cond delay="0"/>
                                  </p:stCondLst>
                                  <p:childTnLst>
                                    <p:animClr clrSpc="rgb" dir="cw">
                                      <p:cBhvr>
                                        <p:cTn id="203" dur="2000" fill="hold"/>
                                        <p:tgtEl>
                                          <p:spTgt spid="80"/>
                                        </p:tgtEl>
                                        <p:attrNameLst>
                                          <p:attrName>stroke.color</p:attrName>
                                        </p:attrNameLst>
                                      </p:cBhvr>
                                      <p:to>
                                        <a:schemeClr val="folHlink"/>
                                      </p:to>
                                    </p:animClr>
                                    <p:set>
                                      <p:cBhvr>
                                        <p:cTn id="204" dur="2000" fill="hold"/>
                                        <p:tgtEl>
                                          <p:spTgt spid="80"/>
                                        </p:tgtEl>
                                        <p:attrNameLst>
                                          <p:attrName>stroke.on</p:attrName>
                                        </p:attrNameLst>
                                      </p:cBhvr>
                                      <p:to>
                                        <p:strVal val="true"/>
                                      </p:to>
                                    </p:set>
                                  </p:childTnLst>
                                </p:cTn>
                              </p:par>
                              <p:par>
                                <p:cTn id="205" presetID="7" presetClass="emph" presetSubtype="2" fill="hold" nodeType="withEffect">
                                  <p:stCondLst>
                                    <p:cond delay="0"/>
                                  </p:stCondLst>
                                  <p:childTnLst>
                                    <p:animClr clrSpc="rgb" dir="cw">
                                      <p:cBhvr>
                                        <p:cTn id="206" dur="2000" fill="hold"/>
                                        <p:tgtEl>
                                          <p:spTgt spid="79"/>
                                        </p:tgtEl>
                                        <p:attrNameLst>
                                          <p:attrName>stroke.color</p:attrName>
                                        </p:attrNameLst>
                                      </p:cBhvr>
                                      <p:to>
                                        <a:schemeClr val="folHlink"/>
                                      </p:to>
                                    </p:animClr>
                                    <p:set>
                                      <p:cBhvr>
                                        <p:cTn id="207" dur="2000" fill="hold"/>
                                        <p:tgtEl>
                                          <p:spTgt spid="79"/>
                                        </p:tgtEl>
                                        <p:attrNameLst>
                                          <p:attrName>stroke.on</p:attrName>
                                        </p:attrNameLst>
                                      </p:cBhvr>
                                      <p:to>
                                        <p:strVal val="true"/>
                                      </p:to>
                                    </p:set>
                                  </p:childTnLst>
                                </p:cTn>
                              </p:par>
                              <p:par>
                                <p:cTn id="208" presetID="7" presetClass="emph" presetSubtype="2" fill="hold" nodeType="withEffect">
                                  <p:stCondLst>
                                    <p:cond delay="0"/>
                                  </p:stCondLst>
                                  <p:childTnLst>
                                    <p:animClr clrSpc="rgb" dir="cw">
                                      <p:cBhvr>
                                        <p:cTn id="209" dur="2000" fill="hold"/>
                                        <p:tgtEl>
                                          <p:spTgt spid="84"/>
                                        </p:tgtEl>
                                        <p:attrNameLst>
                                          <p:attrName>stroke.color</p:attrName>
                                        </p:attrNameLst>
                                      </p:cBhvr>
                                      <p:to>
                                        <a:schemeClr val="folHlink"/>
                                      </p:to>
                                    </p:animClr>
                                    <p:set>
                                      <p:cBhvr>
                                        <p:cTn id="210" dur="2000" fill="hold"/>
                                        <p:tgtEl>
                                          <p:spTgt spid="84"/>
                                        </p:tgtEl>
                                        <p:attrNameLst>
                                          <p:attrName>stroke.on</p:attrName>
                                        </p:attrNameLst>
                                      </p:cBhvr>
                                      <p:to>
                                        <p:strVal val="tru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38" grpId="0" animBg="1"/>
      <p:bldP spid="39" grpId="0" animBg="1"/>
      <p:bldP spid="41" grpId="0" animBg="1"/>
      <p:bldP spid="45" grpId="0" animBg="1"/>
      <p:bldP spid="46" grpId="0" animBg="1"/>
      <p:bldP spid="47" grpId="0" animBg="1"/>
      <p:bldP spid="66" grpId="0" animBg="1"/>
      <p:bldP spid="67" grpId="0" animBg="1"/>
      <p:bldP spid="68" grpId="0" animBg="1"/>
      <p:bldP spid="69" grpId="0" animBg="1"/>
      <p:bldP spid="73" grpId="0" animBg="1"/>
      <p:bldP spid="74" grpId="0" animBg="1"/>
      <p:bldP spid="87" grpId="0" animBg="1"/>
      <p:bldP spid="88" grpId="0" animBg="1"/>
      <p:bldP spid="89" grpId="0" animBg="1"/>
      <p:bldP spid="90" grpId="0" animBg="1"/>
      <p:bldP spid="91" grpId="0" animBg="1"/>
      <p:bldP spid="9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Arrow Connector 7"/>
          <p:cNvCxnSpPr>
            <a:stCxn id="19" idx="1"/>
            <a:endCxn id="22" idx="3"/>
          </p:cNvCxnSpPr>
          <p:nvPr/>
        </p:nvCxnSpPr>
        <p:spPr>
          <a:xfrm flipH="1">
            <a:off x="6970236" y="5338873"/>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6877379" y="4669754"/>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12225" y="1795843"/>
            <a:ext cx="8029574" cy="4743069"/>
          </a:xfrm>
        </p:spPr>
        <p:txBody>
          <a:bodyPr>
            <a:normAutofit lnSpcReduction="10000"/>
          </a:bodyPr>
          <a:lstStyle/>
          <a:p>
            <a:r>
              <a:rPr lang="en-US" dirty="0">
                <a:solidFill>
                  <a:schemeClr val="tx1"/>
                </a:solidFill>
                <a:latin typeface="Calibri" pitchFamily="34" charset="0"/>
                <a:cs typeface="Calibri" pitchFamily="34" charset="0"/>
              </a:rPr>
              <a:t>Assume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are in the same function </a:t>
            </a:r>
            <a:r>
              <a:rPr lang="en-US" i="1" dirty="0">
                <a:solidFill>
                  <a:schemeClr val="tx1"/>
                </a:solidFill>
                <a:latin typeface="Calibri" pitchFamily="34" charset="0"/>
                <a:cs typeface="Calibri" pitchFamily="34" charset="0"/>
              </a:rPr>
              <a:t>f</a:t>
            </a:r>
          </a:p>
          <a:p>
            <a:r>
              <a:rPr lang="en-US" dirty="0">
                <a:solidFill>
                  <a:schemeClr val="tx1"/>
                </a:solidFill>
                <a:latin typeface="Calibri" pitchFamily="34" charset="0"/>
                <a:cs typeface="Calibri" pitchFamily="34" charset="0"/>
              </a:rPr>
              <a:t>Step 1: find protected nodes in critical section</a:t>
            </a:r>
          </a:p>
          <a:p>
            <a:pPr lvl="1"/>
            <a:r>
              <a:rPr lang="en-US" dirty="0">
                <a:solidFill>
                  <a:schemeClr val="tx1"/>
                </a:solidFill>
                <a:latin typeface="Calibri" pitchFamily="34" charset="0"/>
                <a:cs typeface="Calibri" pitchFamily="34" charset="0"/>
              </a:rPr>
              <a:t>In </a:t>
            </a:r>
            <a:r>
              <a:rPr lang="en-US" i="1" dirty="0">
                <a:solidFill>
                  <a:schemeClr val="tx1"/>
                </a:solidFill>
                <a:latin typeface="Calibri" pitchFamily="34" charset="0"/>
                <a:cs typeface="Calibri" pitchFamily="34" charset="0"/>
              </a:rPr>
              <a:t>f</a:t>
            </a:r>
            <a:r>
              <a:rPr lang="en-US" dirty="0">
                <a:solidFill>
                  <a:schemeClr val="tx1"/>
                </a:solidFill>
                <a:latin typeface="Calibri" pitchFamily="34" charset="0"/>
                <a:cs typeface="Calibri" pitchFamily="34" charset="0"/>
              </a:rPr>
              <a:t>’s CFG, find nodes on any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sym typeface="Symbol"/>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path</a:t>
            </a:r>
          </a:p>
          <a:p>
            <a:r>
              <a:rPr lang="en-US" dirty="0">
                <a:solidFill>
                  <a:schemeClr val="tx1"/>
                </a:solidFill>
                <a:latin typeface="Calibri" pitchFamily="34" charset="0"/>
                <a:cs typeface="Calibri" pitchFamily="34" charset="0"/>
              </a:rPr>
              <a:t>Step 2: add lock operations</a:t>
            </a:r>
          </a:p>
          <a:p>
            <a:pPr lvl="1"/>
            <a:r>
              <a:rPr lang="en-US" dirty="0">
                <a:solidFill>
                  <a:schemeClr val="tx1"/>
                </a:solidFill>
                <a:latin typeface="Calibri" pitchFamily="34" charset="0"/>
                <a:cs typeface="Calibri" pitchFamily="34" charset="0"/>
              </a:rPr>
              <a:t>unprotected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protected node</a:t>
            </a:r>
          </a:p>
          <a:p>
            <a:pPr lvl="1"/>
            <a:r>
              <a:rPr lang="en-US" dirty="0">
                <a:solidFill>
                  <a:schemeClr val="tx1"/>
                </a:solidFill>
                <a:latin typeface="Calibri" pitchFamily="34" charset="0"/>
                <a:cs typeface="Calibri" pitchFamily="34" charset="0"/>
              </a:rPr>
              <a:t>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unprotected node</a:t>
            </a:r>
          </a:p>
          <a:p>
            <a:r>
              <a:rPr lang="en-US" dirty="0">
                <a:solidFill>
                  <a:schemeClr val="tx1"/>
                </a:solidFill>
                <a:latin typeface="Calibri" pitchFamily="34" charset="0"/>
                <a:cs typeface="Calibri" pitchFamily="34" charset="0"/>
              </a:rPr>
              <a:t>Avoid those potential bugs mentioned</a:t>
            </a: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6253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a:t>
            </a:r>
            <a:r>
              <a:rPr lang="en-US" altLang="zh-CN" dirty="0" err="1">
                <a:latin typeface="Calibri" pitchFamily="34" charset="0"/>
                <a:cs typeface="Calibri" pitchFamily="34" charset="0"/>
              </a:rPr>
              <a:t>AFix</a:t>
            </a:r>
            <a:endParaRPr lang="en-US" altLang="zh-CN" dirty="0">
              <a:latin typeface="Calibri" pitchFamily="34" charset="0"/>
              <a:cs typeface="Calibri" pitchFamily="34" charset="0"/>
            </a:endParaRPr>
          </a:p>
        </p:txBody>
      </p:sp>
      <p:cxnSp>
        <p:nvCxnSpPr>
          <p:cNvPr id="7" name="Straight Arrow Connector 74"/>
          <p:cNvCxnSpPr>
            <a:stCxn id="20" idx="2"/>
            <a:endCxn id="19" idx="1"/>
          </p:cNvCxnSpPr>
          <p:nvPr/>
        </p:nvCxnSpPr>
        <p:spPr>
          <a:xfrm rot="16200000" flipH="1">
            <a:off x="7453641" y="4669753"/>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7525784" y="2967050"/>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8284686"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3" name="Straight Arrow Connector 12"/>
          <p:cNvCxnSpPr>
            <a:endCxn id="21" idx="0"/>
          </p:cNvCxnSpPr>
          <p:nvPr/>
        </p:nvCxnSpPr>
        <p:spPr>
          <a:xfrm>
            <a:off x="7525784" y="2205097"/>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6808311" y="5491249"/>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6808311" y="2967050"/>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6808311"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8122761"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8122761"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7384573" y="427214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7363859" y="26622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6646386"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6646386"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60" name="Picture 5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75036" y="4919845"/>
            <a:ext cx="304800" cy="304800"/>
          </a:xfrm>
          <a:prstGeom prst="rect">
            <a:avLst/>
          </a:prstGeom>
        </p:spPr>
      </p:pic>
      <p:pic>
        <p:nvPicPr>
          <p:cNvPr id="61" name="Picture 6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835" y="3071885"/>
            <a:ext cx="304800" cy="304800"/>
          </a:xfrm>
          <a:prstGeom prst="rect">
            <a:avLst/>
          </a:prstGeom>
        </p:spPr>
      </p:pic>
      <p:cxnSp>
        <p:nvCxnSpPr>
          <p:cNvPr id="37" name="Straight Arrow Connector 69"/>
          <p:cNvCxnSpPr>
            <a:stCxn id="23" idx="3"/>
            <a:endCxn id="20" idx="0"/>
          </p:cNvCxnSpPr>
          <p:nvPr/>
        </p:nvCxnSpPr>
        <p:spPr>
          <a:xfrm>
            <a:off x="6970236" y="3633898"/>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5967" y="3619682"/>
            <a:ext cx="304800" cy="304800"/>
          </a:xfrm>
          <a:prstGeom prst="rect">
            <a:avLst/>
          </a:prstGeom>
        </p:spPr>
      </p:pic>
      <p:cxnSp>
        <p:nvCxnSpPr>
          <p:cNvPr id="6" name="Straight Arrow Connector 69"/>
          <p:cNvCxnSpPr/>
          <p:nvPr/>
        </p:nvCxnSpPr>
        <p:spPr>
          <a:xfrm rot="10800000" flipV="1">
            <a:off x="7546499" y="3633898"/>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2" name="Straight Arrow Connector 41"/>
          <p:cNvCxnSpPr/>
          <p:nvPr/>
        </p:nvCxnSpPr>
        <p:spPr>
          <a:xfrm>
            <a:off x="8284686" y="3786274"/>
            <a:ext cx="0" cy="1400222"/>
          </a:xfrm>
          <a:prstGeom prst="straightConnector1">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3" name="Straight Arrow Connector 74"/>
          <p:cNvCxnSpPr/>
          <p:nvPr/>
        </p:nvCxnSpPr>
        <p:spPr>
          <a:xfrm rot="16200000" flipH="1">
            <a:off x="7453642" y="4669753"/>
            <a:ext cx="761976" cy="576263"/>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4" name="Straight Arrow Connector 69"/>
          <p:cNvCxnSpPr/>
          <p:nvPr/>
        </p:nvCxnSpPr>
        <p:spPr>
          <a:xfrm rot="10800000" flipV="1">
            <a:off x="7546499" y="3633898"/>
            <a:ext cx="576263" cy="638246"/>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pic>
        <p:nvPicPr>
          <p:cNvPr id="103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6695" y="5157982"/>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30" name="Picture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333" y="3633874"/>
            <a:ext cx="304800" cy="304800"/>
          </a:xfrm>
          <a:prstGeom prst="rect">
            <a:avLst/>
          </a:prstGeom>
        </p:spPr>
      </p:pic>
      <p:pic>
        <p:nvPicPr>
          <p:cNvPr id="31"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32946" y="439235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66711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1"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1"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22" presetClass="entr" presetSubtype="1"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wipe(up)">
                                      <p:cBhvr>
                                        <p:cTn id="53" dur="1000"/>
                                        <p:tgtEl>
                                          <p:spTgt spid="42"/>
                                        </p:tgtEl>
                                      </p:cBhvr>
                                    </p:animEffect>
                                  </p:childTnLst>
                                </p:cTn>
                              </p:par>
                            </p:childTnLst>
                          </p:cTn>
                        </p:par>
                        <p:par>
                          <p:cTn id="54" fill="hold">
                            <p:stCondLst>
                              <p:cond delay="1000"/>
                            </p:stCondLst>
                            <p:childTnLst>
                              <p:par>
                                <p:cTn id="55" presetID="22" presetClass="entr" presetSubtype="1" fill="hold" nodeType="afterEffect">
                                  <p:stCondLst>
                                    <p:cond delay="0"/>
                                  </p:stCondLst>
                                  <p:childTnLst>
                                    <p:set>
                                      <p:cBhvr>
                                        <p:cTn id="56" dur="1" fill="hold">
                                          <p:stCondLst>
                                            <p:cond delay="0"/>
                                          </p:stCondLst>
                                        </p:cTn>
                                        <p:tgtEl>
                                          <p:spTgt spid="44"/>
                                        </p:tgtEl>
                                        <p:attrNameLst>
                                          <p:attrName>style.visibility</p:attrName>
                                        </p:attrNameLst>
                                      </p:cBhvr>
                                      <p:to>
                                        <p:strVal val="visible"/>
                                      </p:to>
                                    </p:set>
                                    <p:animEffect transition="in" filter="wipe(up)">
                                      <p:cBhvr>
                                        <p:cTn id="57" dur="500"/>
                                        <p:tgtEl>
                                          <p:spTgt spid="44"/>
                                        </p:tgtEl>
                                      </p:cBhvr>
                                    </p:animEffect>
                                  </p:childTnLst>
                                </p:cTn>
                              </p:par>
                            </p:childTnLst>
                          </p:cTn>
                        </p:par>
                        <p:par>
                          <p:cTn id="58" fill="hold">
                            <p:stCondLst>
                              <p:cond delay="1500"/>
                            </p:stCondLst>
                            <p:childTnLst>
                              <p:par>
                                <p:cTn id="59" presetID="22" presetClass="entr" presetSubtype="1" fill="hold" nodeType="after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wipe(up)">
                                      <p:cBhvr>
                                        <p:cTn id="61" dur="500"/>
                                        <p:tgtEl>
                                          <p:spTgt spid="43"/>
                                        </p:tgtEl>
                                      </p:cBhvr>
                                    </p:animEffect>
                                  </p:childTnLst>
                                </p:cTn>
                              </p:par>
                            </p:childTnLst>
                          </p:cTn>
                        </p:par>
                        <p:par>
                          <p:cTn id="62" fill="hold">
                            <p:stCondLst>
                              <p:cond delay="2000"/>
                            </p:stCondLst>
                            <p:childTnLst>
                              <p:par>
                                <p:cTn id="63" presetID="23" presetClass="emph" presetSubtype="0" fill="hold" nodeType="afterEffect">
                                  <p:stCondLst>
                                    <p:cond delay="0"/>
                                  </p:stCondLst>
                                  <p:childTnLst>
                                    <p:animClr clrSpc="hsl" dir="cw">
                                      <p:cBhvr override="childStyle">
                                        <p:cTn id="64" dur="500" fill="hold"/>
                                        <p:tgtEl>
                                          <p:spTgt spid="6"/>
                                        </p:tgtEl>
                                        <p:attrNameLst>
                                          <p:attrName>style.color</p:attrName>
                                        </p:attrNameLst>
                                      </p:cBhvr>
                                      <p:by>
                                        <p:hsl h="10842353" s="0" l="0"/>
                                      </p:by>
                                    </p:animClr>
                                    <p:animClr clrSpc="hsl" dir="cw">
                                      <p:cBhvr>
                                        <p:cTn id="65" dur="500" fill="hold"/>
                                        <p:tgtEl>
                                          <p:spTgt spid="6"/>
                                        </p:tgtEl>
                                        <p:attrNameLst>
                                          <p:attrName>fillcolor</p:attrName>
                                        </p:attrNameLst>
                                      </p:cBhvr>
                                      <p:by>
                                        <p:hsl h="10842353" s="0" l="0"/>
                                      </p:by>
                                    </p:animClr>
                                    <p:animClr clrSpc="hsl" dir="cw">
                                      <p:cBhvr>
                                        <p:cTn id="66" dur="500" fill="hold"/>
                                        <p:tgtEl>
                                          <p:spTgt spid="6"/>
                                        </p:tgtEl>
                                        <p:attrNameLst>
                                          <p:attrName>stroke.color</p:attrName>
                                        </p:attrNameLst>
                                      </p:cBhvr>
                                      <p:by>
                                        <p:hsl h="10842353" s="0" l="0"/>
                                      </p:by>
                                    </p:animClr>
                                    <p:set>
                                      <p:cBhvr>
                                        <p:cTn id="67" dur="500" fill="hold"/>
                                        <p:tgtEl>
                                          <p:spTgt spid="6"/>
                                        </p:tgtEl>
                                        <p:attrNameLst>
                                          <p:attrName>fill.type</p:attrName>
                                        </p:attrNameLst>
                                      </p:cBhvr>
                                      <p:to>
                                        <p:strVal val="solid"/>
                                      </p:to>
                                    </p:set>
                                  </p:childTnLst>
                                </p:cTn>
                              </p:par>
                              <p:par>
                                <p:cTn id="68" presetID="23" presetClass="emph" presetSubtype="0" fill="hold" nodeType="withEffect">
                                  <p:stCondLst>
                                    <p:cond delay="0"/>
                                  </p:stCondLst>
                                  <p:childTnLst>
                                    <p:animClr clrSpc="hsl" dir="cw">
                                      <p:cBhvr override="childStyle">
                                        <p:cTn id="69" dur="500" fill="hold"/>
                                        <p:tgtEl>
                                          <p:spTgt spid="7"/>
                                        </p:tgtEl>
                                        <p:attrNameLst>
                                          <p:attrName>style.color</p:attrName>
                                        </p:attrNameLst>
                                      </p:cBhvr>
                                      <p:by>
                                        <p:hsl h="10842353" s="0" l="0"/>
                                      </p:by>
                                    </p:animClr>
                                    <p:animClr clrSpc="hsl" dir="cw">
                                      <p:cBhvr>
                                        <p:cTn id="70" dur="500" fill="hold"/>
                                        <p:tgtEl>
                                          <p:spTgt spid="7"/>
                                        </p:tgtEl>
                                        <p:attrNameLst>
                                          <p:attrName>fillcolor</p:attrName>
                                        </p:attrNameLst>
                                      </p:cBhvr>
                                      <p:by>
                                        <p:hsl h="10842353" s="0" l="0"/>
                                      </p:by>
                                    </p:animClr>
                                    <p:animClr clrSpc="hsl" dir="cw">
                                      <p:cBhvr>
                                        <p:cTn id="71" dur="500" fill="hold"/>
                                        <p:tgtEl>
                                          <p:spTgt spid="7"/>
                                        </p:tgtEl>
                                        <p:attrNameLst>
                                          <p:attrName>stroke.color</p:attrName>
                                        </p:attrNameLst>
                                      </p:cBhvr>
                                      <p:by>
                                        <p:hsl h="10842353" s="0" l="0"/>
                                      </p:by>
                                    </p:animClr>
                                    <p:set>
                                      <p:cBhvr>
                                        <p:cTn id="72" dur="500" fill="hold"/>
                                        <p:tgtEl>
                                          <p:spTgt spid="7"/>
                                        </p:tgtEl>
                                        <p:attrNameLst>
                                          <p:attrName>fill.type</p:attrName>
                                        </p:attrNameLst>
                                      </p:cBhvr>
                                      <p:to>
                                        <p:strVal val="solid"/>
                                      </p:to>
                                    </p:set>
                                  </p:childTnLst>
                                </p:cTn>
                              </p:par>
                              <p:par>
                                <p:cTn id="73" presetID="23" presetClass="emph" presetSubtype="0" fill="hold" nodeType="withEffect">
                                  <p:stCondLst>
                                    <p:cond delay="0"/>
                                  </p:stCondLst>
                                  <p:childTnLst>
                                    <p:animClr clrSpc="hsl" dir="cw">
                                      <p:cBhvr override="childStyle">
                                        <p:cTn id="74" dur="500" fill="hold"/>
                                        <p:tgtEl>
                                          <p:spTgt spid="12"/>
                                        </p:tgtEl>
                                        <p:attrNameLst>
                                          <p:attrName>style.color</p:attrName>
                                        </p:attrNameLst>
                                      </p:cBhvr>
                                      <p:by>
                                        <p:hsl h="10842353" s="0" l="0"/>
                                      </p:by>
                                    </p:animClr>
                                    <p:animClr clrSpc="hsl" dir="cw">
                                      <p:cBhvr>
                                        <p:cTn id="75" dur="500" fill="hold"/>
                                        <p:tgtEl>
                                          <p:spTgt spid="12"/>
                                        </p:tgtEl>
                                        <p:attrNameLst>
                                          <p:attrName>fillcolor</p:attrName>
                                        </p:attrNameLst>
                                      </p:cBhvr>
                                      <p:by>
                                        <p:hsl h="10842353" s="0" l="0"/>
                                      </p:by>
                                    </p:animClr>
                                    <p:animClr clrSpc="hsl" dir="cw">
                                      <p:cBhvr>
                                        <p:cTn id="76" dur="500" fill="hold"/>
                                        <p:tgtEl>
                                          <p:spTgt spid="12"/>
                                        </p:tgtEl>
                                        <p:attrNameLst>
                                          <p:attrName>stroke.color</p:attrName>
                                        </p:attrNameLst>
                                      </p:cBhvr>
                                      <p:by>
                                        <p:hsl h="10842353" s="0" l="0"/>
                                      </p:by>
                                    </p:animClr>
                                    <p:set>
                                      <p:cBhvr>
                                        <p:cTn id="77" dur="500" fill="hold"/>
                                        <p:tgtEl>
                                          <p:spTgt spid="12"/>
                                        </p:tgtEl>
                                        <p:attrNameLst>
                                          <p:attrName>fill.type</p:attrName>
                                        </p:attrNameLst>
                                      </p:cBhvr>
                                      <p:to>
                                        <p:strVal val="solid"/>
                                      </p:to>
                                    </p:set>
                                  </p:childTnLst>
                                </p:cTn>
                              </p:par>
                              <p:par>
                                <p:cTn id="78" presetID="23" presetClass="emph" presetSubtype="0" fill="hold" grpId="0" nodeType="withEffect">
                                  <p:stCondLst>
                                    <p:cond delay="0"/>
                                  </p:stCondLst>
                                  <p:childTnLst>
                                    <p:animClr clrSpc="hsl" dir="cw">
                                      <p:cBhvr override="childStyle">
                                        <p:cTn id="79" dur="500" fill="hold"/>
                                        <p:tgtEl>
                                          <p:spTgt spid="18"/>
                                        </p:tgtEl>
                                        <p:attrNameLst>
                                          <p:attrName>style.color</p:attrName>
                                        </p:attrNameLst>
                                      </p:cBhvr>
                                      <p:by>
                                        <p:hsl h="10842353" s="0" l="0"/>
                                      </p:by>
                                    </p:animClr>
                                    <p:animClr clrSpc="hsl" dir="cw">
                                      <p:cBhvr>
                                        <p:cTn id="80" dur="500" fill="hold"/>
                                        <p:tgtEl>
                                          <p:spTgt spid="18"/>
                                        </p:tgtEl>
                                        <p:attrNameLst>
                                          <p:attrName>fillcolor</p:attrName>
                                        </p:attrNameLst>
                                      </p:cBhvr>
                                      <p:by>
                                        <p:hsl h="10842353" s="0" l="0"/>
                                      </p:by>
                                    </p:animClr>
                                    <p:animClr clrSpc="hsl" dir="cw">
                                      <p:cBhvr>
                                        <p:cTn id="81" dur="500" fill="hold"/>
                                        <p:tgtEl>
                                          <p:spTgt spid="18"/>
                                        </p:tgtEl>
                                        <p:attrNameLst>
                                          <p:attrName>stroke.color</p:attrName>
                                        </p:attrNameLst>
                                      </p:cBhvr>
                                      <p:by>
                                        <p:hsl h="10842353" s="0" l="0"/>
                                      </p:by>
                                    </p:animClr>
                                    <p:set>
                                      <p:cBhvr>
                                        <p:cTn id="82" dur="500" fill="hold"/>
                                        <p:tgtEl>
                                          <p:spTgt spid="18"/>
                                        </p:tgtEl>
                                        <p:attrNameLst>
                                          <p:attrName>fill.type</p:attrName>
                                        </p:attrNameLst>
                                      </p:cBhvr>
                                      <p:to>
                                        <p:strVal val="solid"/>
                                      </p:to>
                                    </p:set>
                                  </p:childTnLst>
                                </p:cTn>
                              </p:par>
                              <p:par>
                                <p:cTn id="83" presetID="23" presetClass="emph" presetSubtype="0" fill="hold" grpId="0" nodeType="withEffect">
                                  <p:stCondLst>
                                    <p:cond delay="0"/>
                                  </p:stCondLst>
                                  <p:childTnLst>
                                    <p:animClr clrSpc="hsl" dir="cw">
                                      <p:cBhvr override="childStyle">
                                        <p:cTn id="84" dur="500" fill="hold"/>
                                        <p:tgtEl>
                                          <p:spTgt spid="19"/>
                                        </p:tgtEl>
                                        <p:attrNameLst>
                                          <p:attrName>style.color</p:attrName>
                                        </p:attrNameLst>
                                      </p:cBhvr>
                                      <p:by>
                                        <p:hsl h="10842353" s="0" l="0"/>
                                      </p:by>
                                    </p:animClr>
                                    <p:animClr clrSpc="hsl" dir="cw">
                                      <p:cBhvr>
                                        <p:cTn id="85" dur="500" fill="hold"/>
                                        <p:tgtEl>
                                          <p:spTgt spid="19"/>
                                        </p:tgtEl>
                                        <p:attrNameLst>
                                          <p:attrName>fillcolor</p:attrName>
                                        </p:attrNameLst>
                                      </p:cBhvr>
                                      <p:by>
                                        <p:hsl h="10842353" s="0" l="0"/>
                                      </p:by>
                                    </p:animClr>
                                    <p:animClr clrSpc="hsl" dir="cw">
                                      <p:cBhvr>
                                        <p:cTn id="86" dur="500" fill="hold"/>
                                        <p:tgtEl>
                                          <p:spTgt spid="19"/>
                                        </p:tgtEl>
                                        <p:attrNameLst>
                                          <p:attrName>stroke.color</p:attrName>
                                        </p:attrNameLst>
                                      </p:cBhvr>
                                      <p:by>
                                        <p:hsl h="10842353" s="0" l="0"/>
                                      </p:by>
                                    </p:animClr>
                                    <p:set>
                                      <p:cBhvr>
                                        <p:cTn id="87" dur="500" fill="hold"/>
                                        <p:tgtEl>
                                          <p:spTgt spid="19"/>
                                        </p:tgtEl>
                                        <p:attrNameLst>
                                          <p:attrName>fill.type</p:attrName>
                                        </p:attrNameLst>
                                      </p:cBhvr>
                                      <p:to>
                                        <p:strVal val="solid"/>
                                      </p:to>
                                    </p:set>
                                  </p:childTnLst>
                                </p:cTn>
                              </p:par>
                              <p:par>
                                <p:cTn id="88" presetID="23" presetClass="emph" presetSubtype="0" fill="hold" grpId="0" nodeType="withEffect">
                                  <p:stCondLst>
                                    <p:cond delay="0"/>
                                  </p:stCondLst>
                                  <p:childTnLst>
                                    <p:animClr clrSpc="hsl" dir="cw">
                                      <p:cBhvr override="childStyle">
                                        <p:cTn id="89" dur="500" fill="hold"/>
                                        <p:tgtEl>
                                          <p:spTgt spid="20"/>
                                        </p:tgtEl>
                                        <p:attrNameLst>
                                          <p:attrName>style.color</p:attrName>
                                        </p:attrNameLst>
                                      </p:cBhvr>
                                      <p:by>
                                        <p:hsl h="10842353" s="0" l="0"/>
                                      </p:by>
                                    </p:animClr>
                                    <p:animClr clrSpc="hsl" dir="cw">
                                      <p:cBhvr>
                                        <p:cTn id="90" dur="500" fill="hold"/>
                                        <p:tgtEl>
                                          <p:spTgt spid="20"/>
                                        </p:tgtEl>
                                        <p:attrNameLst>
                                          <p:attrName>fillcolor</p:attrName>
                                        </p:attrNameLst>
                                      </p:cBhvr>
                                      <p:by>
                                        <p:hsl h="10842353" s="0" l="0"/>
                                      </p:by>
                                    </p:animClr>
                                    <p:animClr clrSpc="hsl" dir="cw">
                                      <p:cBhvr>
                                        <p:cTn id="91" dur="500" fill="hold"/>
                                        <p:tgtEl>
                                          <p:spTgt spid="20"/>
                                        </p:tgtEl>
                                        <p:attrNameLst>
                                          <p:attrName>stroke.color</p:attrName>
                                        </p:attrNameLst>
                                      </p:cBhvr>
                                      <p:by>
                                        <p:hsl h="10842353" s="0" l="0"/>
                                      </p:by>
                                    </p:animClr>
                                    <p:set>
                                      <p:cBhvr>
                                        <p:cTn id="92" dur="500" fill="hold"/>
                                        <p:tgtEl>
                                          <p:spTgt spid="20"/>
                                        </p:tgtEl>
                                        <p:attrNameLst>
                                          <p:attrName>fill.type</p:attrName>
                                        </p:attrNameLst>
                                      </p:cBhvr>
                                      <p:to>
                                        <p:strVal val="solid"/>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3">
                                            <p:txEl>
                                              <p:pRg st="4" end="4"/>
                                            </p:txEl>
                                          </p:spTgt>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3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40"/>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3">
                                            <p:txEl>
                                              <p:pRg st="5" end="5"/>
                                            </p:txEl>
                                          </p:spTgt>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3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030"/>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nodeType="clickEffect">
                                  <p:stCondLst>
                                    <p:cond delay="0"/>
                                  </p:stCondLst>
                                  <p:childTnLst>
                                    <p:set>
                                      <p:cBhvr>
                                        <p:cTn id="1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0" grpId="0" animBg="1"/>
      <p:bldP spid="20" grpId="1" animBg="1"/>
      <p:bldP spid="21" grpId="0" animBg="1"/>
      <p:bldP spid="22" grpId="0" animBg="1"/>
      <p:bldP spid="2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3" name="Straight Connector 52"/>
          <p:cNvCxnSpPr/>
          <p:nvPr/>
        </p:nvCxnSpPr>
        <p:spPr>
          <a:xfrm>
            <a:off x="2200225" y="4480162"/>
            <a:ext cx="1003" cy="319424"/>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2" name="Straight Connector 31"/>
          <p:cNvCxnSpPr/>
          <p:nvPr/>
        </p:nvCxnSpPr>
        <p:spPr>
          <a:xfrm>
            <a:off x="2201228" y="4009104"/>
            <a:ext cx="1003" cy="359675"/>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5" name="Straight Connector 34"/>
          <p:cNvCxnSpPr/>
          <p:nvPr/>
        </p:nvCxnSpPr>
        <p:spPr>
          <a:xfrm flipV="1">
            <a:off x="3043813" y="3705281"/>
            <a:ext cx="784042" cy="6634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7" name="Straight Connector 36"/>
          <p:cNvCxnSpPr/>
          <p:nvPr/>
        </p:nvCxnSpPr>
        <p:spPr>
          <a:xfrm>
            <a:off x="3811421" y="3822585"/>
            <a:ext cx="0" cy="52768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9" name="Straight Connector 38"/>
          <p:cNvCxnSpPr/>
          <p:nvPr/>
        </p:nvCxnSpPr>
        <p:spPr>
          <a:xfrm flipH="1">
            <a:off x="3043813" y="4368779"/>
            <a:ext cx="767608" cy="191653"/>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1" name="Straight Connector 40"/>
          <p:cNvCxnSpPr/>
          <p:nvPr/>
        </p:nvCxnSpPr>
        <p:spPr>
          <a:xfrm>
            <a:off x="3043813" y="4752086"/>
            <a:ext cx="784042" cy="56766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3" name="Straight Connector 42"/>
          <p:cNvCxnSpPr/>
          <p:nvPr/>
        </p:nvCxnSpPr>
        <p:spPr>
          <a:xfrm flipH="1">
            <a:off x="3815151" y="5353227"/>
            <a:ext cx="4001" cy="53035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7" name="Straight Connector 46"/>
          <p:cNvCxnSpPr/>
          <p:nvPr/>
        </p:nvCxnSpPr>
        <p:spPr>
          <a:xfrm flipH="1" flipV="1">
            <a:off x="3043815" y="4931134"/>
            <a:ext cx="784040" cy="1054800"/>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9" name="Straight Connector 48"/>
          <p:cNvCxnSpPr/>
          <p:nvPr/>
        </p:nvCxnSpPr>
        <p:spPr>
          <a:xfrm>
            <a:off x="2201228" y="4879856"/>
            <a:ext cx="1003" cy="4398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sp>
        <p:nvSpPr>
          <p:cNvPr id="6" name="Content Placeholder 2"/>
          <p:cNvSpPr txBox="1">
            <a:spLocks/>
          </p:cNvSpPr>
          <p:nvPr/>
        </p:nvSpPr>
        <p:spPr>
          <a:xfrm>
            <a:off x="541527" y="1041781"/>
            <a:ext cx="8029574" cy="551394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altLang="zh-CN" i="1" dirty="0">
                <a:solidFill>
                  <a:schemeClr val="tx1"/>
                </a:solidFill>
                <a:latin typeface="Calibri" pitchFamily="34" charset="0"/>
                <a:cs typeface="Calibri" pitchFamily="34" charset="0"/>
              </a:rPr>
              <a:t>p</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c</a:t>
            </a:r>
            <a:r>
              <a:rPr lang="en-US" altLang="zh-CN" dirty="0">
                <a:solidFill>
                  <a:schemeClr val="tx1"/>
                </a:solidFill>
                <a:latin typeface="Calibri" pitchFamily="34" charset="0"/>
                <a:cs typeface="Calibri" pitchFamily="34" charset="0"/>
              </a:rPr>
              <a:t> adjustment when </a:t>
            </a:r>
            <a:r>
              <a:rPr lang="en-US" dirty="0">
                <a:solidFill>
                  <a:schemeClr val="tx1"/>
                </a:solidFill>
                <a:latin typeface="Calibri" pitchFamily="34" charset="0"/>
                <a:cs typeface="Calibri" pitchFamily="34" charset="0"/>
              </a:rPr>
              <a:t>they</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are in different functions</a:t>
            </a:r>
          </a:p>
          <a:p>
            <a:pPr lvl="1"/>
            <a:r>
              <a:rPr lang="en-US" altLang="zh-CN" dirty="0">
                <a:solidFill>
                  <a:schemeClr val="tx1"/>
                </a:solidFill>
                <a:latin typeface="Calibri" pitchFamily="34" charset="0"/>
                <a:cs typeface="Calibri" pitchFamily="34" charset="0"/>
              </a:rPr>
              <a:t>Observation: people put </a:t>
            </a:r>
            <a:r>
              <a:rPr lang="en-US" altLang="zh-CN" i="1" dirty="0">
                <a:solidFill>
                  <a:schemeClr val="tx1"/>
                </a:solidFill>
                <a:latin typeface="Calibri" pitchFamily="34" charset="0"/>
                <a:cs typeface="Calibri" pitchFamily="34" charset="0"/>
              </a:rPr>
              <a:t>lock</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unlock</a:t>
            </a:r>
            <a:r>
              <a:rPr lang="en-US" altLang="zh-CN" dirty="0">
                <a:solidFill>
                  <a:schemeClr val="tx1"/>
                </a:solidFill>
                <a:latin typeface="Calibri" pitchFamily="34" charset="0"/>
                <a:cs typeface="Calibri" pitchFamily="34" charset="0"/>
              </a:rPr>
              <a:t> in one function</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Find the longest common prefix of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’s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’s stack traces</a:t>
            </a:r>
          </a:p>
          <a:p>
            <a:pPr lvl="1"/>
            <a:r>
              <a:rPr lang="en-US" dirty="0">
                <a:solidFill>
                  <a:schemeClr val="tx1"/>
                </a:solidFill>
                <a:latin typeface="Calibri" pitchFamily="34" charset="0"/>
                <a:cs typeface="Calibri" pitchFamily="34" charset="0"/>
              </a:rPr>
              <a:t>Adjust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accordingly</a:t>
            </a:r>
          </a:p>
        </p:txBody>
      </p:sp>
      <p:sp>
        <p:nvSpPr>
          <p:cNvPr id="15" name="Rectangle 14"/>
          <p:cNvSpPr/>
          <p:nvPr/>
        </p:nvSpPr>
        <p:spPr>
          <a:xfrm>
            <a:off x="1875090" y="462431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Rectangle 15"/>
          <p:cNvSpPr/>
          <p:nvPr/>
        </p:nvSpPr>
        <p:spPr>
          <a:xfrm>
            <a:off x="1875090" y="4368779"/>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7" name="Rectangle 16"/>
          <p:cNvSpPr/>
          <p:nvPr/>
        </p:nvSpPr>
        <p:spPr>
          <a:xfrm>
            <a:off x="3844290" y="4090244"/>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8" name="Rectangle 17"/>
          <p:cNvSpPr/>
          <p:nvPr/>
        </p:nvSpPr>
        <p:spPr>
          <a:xfrm>
            <a:off x="3844290" y="572549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15686" y="136525"/>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Adjustment</a:t>
            </a:r>
          </a:p>
        </p:txBody>
      </p:sp>
      <p:sp>
        <p:nvSpPr>
          <p:cNvPr id="7" name="TextBox 6"/>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b="1" dirty="0"/>
              <a:t>    close</a:t>
            </a:r>
            <a:r>
              <a:rPr lang="en-US" dirty="0"/>
              <a:t>();</a:t>
            </a:r>
          </a:p>
          <a:p>
            <a:r>
              <a:rPr lang="en-US" b="1" dirty="0"/>
              <a:t>    open</a:t>
            </a:r>
            <a:r>
              <a:rPr lang="en-US" dirty="0"/>
              <a:t>();</a:t>
            </a:r>
          </a:p>
          <a:p>
            <a:r>
              <a:rPr lang="en-US" dirty="0"/>
              <a:t>    …</a:t>
            </a:r>
          </a:p>
          <a:p>
            <a:r>
              <a:rPr lang="en-US" dirty="0"/>
              <a:t>}</a:t>
            </a:r>
          </a:p>
        </p:txBody>
      </p:sp>
      <p:sp>
        <p:nvSpPr>
          <p:cNvPr id="8" name="TextBox 7"/>
          <p:cNvSpPr txBox="1"/>
          <p:nvPr/>
        </p:nvSpPr>
        <p:spPr>
          <a:xfrm>
            <a:off x="3844290" y="3470156"/>
            <a:ext cx="2409825" cy="2862322"/>
          </a:xfrm>
          <a:prstGeom prst="rect">
            <a:avLst/>
          </a:prstGeom>
          <a:noFill/>
        </p:spPr>
        <p:txBody>
          <a:bodyPr wrap="square" rtlCol="0">
            <a:spAutoFit/>
          </a:bodyPr>
          <a:lstStyle/>
          <a:p>
            <a:r>
              <a:rPr lang="en-US" dirty="0"/>
              <a:t>void </a:t>
            </a:r>
            <a:r>
              <a:rPr lang="en-US" b="1" dirty="0"/>
              <a:t>close</a:t>
            </a:r>
            <a:r>
              <a:rPr lang="en-US" dirty="0"/>
              <a:t>() {</a:t>
            </a:r>
          </a:p>
          <a:p>
            <a:r>
              <a:rPr lang="en-US" dirty="0"/>
              <a:t>    …</a:t>
            </a:r>
          </a:p>
          <a:p>
            <a:r>
              <a:rPr lang="en-US" dirty="0"/>
              <a:t>    log = </a:t>
            </a:r>
            <a:r>
              <a:rPr lang="en-US" b="1" dirty="0"/>
              <a:t>CLOSE</a:t>
            </a:r>
            <a:r>
              <a:rPr lang="en-US" dirty="0"/>
              <a:t>;</a:t>
            </a:r>
          </a:p>
          <a:p>
            <a:r>
              <a:rPr lang="en-US" dirty="0"/>
              <a:t>}</a:t>
            </a:r>
          </a:p>
          <a:p>
            <a:endParaRPr lang="en-US" dirty="0"/>
          </a:p>
          <a:p>
            <a:endParaRPr lang="en-US" dirty="0"/>
          </a:p>
          <a:p>
            <a:r>
              <a:rPr lang="en-US" dirty="0"/>
              <a:t>void </a:t>
            </a:r>
            <a:r>
              <a:rPr lang="en-US" b="1" dirty="0"/>
              <a:t>open</a:t>
            </a:r>
            <a:r>
              <a:rPr lang="en-US" dirty="0"/>
              <a:t>() {</a:t>
            </a:r>
          </a:p>
          <a:p>
            <a:r>
              <a:rPr lang="en-US" dirty="0"/>
              <a:t>    …</a:t>
            </a:r>
          </a:p>
          <a:p>
            <a:r>
              <a:rPr lang="en-US" dirty="0"/>
              <a:t>    log = </a:t>
            </a:r>
            <a:r>
              <a:rPr lang="en-US" b="1" dirty="0"/>
              <a:t>OPEN</a:t>
            </a:r>
            <a:r>
              <a:rPr lang="en-US" dirty="0"/>
              <a:t>;</a:t>
            </a:r>
          </a:p>
          <a:p>
            <a:r>
              <a:rPr lang="en-US" dirty="0"/>
              <a:t>}</a:t>
            </a:r>
          </a:p>
        </p:txBody>
      </p:sp>
      <p:sp>
        <p:nvSpPr>
          <p:cNvPr id="13" name="TextBox 12"/>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dirty="0"/>
              <a:t>p: </a:t>
            </a:r>
            <a:r>
              <a:rPr lang="en-US" b="1" dirty="0"/>
              <a:t>close</a:t>
            </a:r>
            <a:r>
              <a:rPr lang="en-US" dirty="0"/>
              <a:t>();</a:t>
            </a:r>
          </a:p>
          <a:p>
            <a:r>
              <a:rPr lang="en-US" dirty="0"/>
              <a:t>c: </a:t>
            </a:r>
            <a:r>
              <a:rPr lang="en-US" b="1" dirty="0"/>
              <a:t>open</a:t>
            </a:r>
            <a:r>
              <a:rPr lang="en-US" dirty="0"/>
              <a:t>();</a:t>
            </a:r>
          </a:p>
          <a:p>
            <a:r>
              <a:rPr lang="en-US" dirty="0"/>
              <a:t>    …</a:t>
            </a:r>
          </a:p>
          <a:p>
            <a:r>
              <a:rPr lang="en-US" dirty="0"/>
              <a:t>}</a:t>
            </a:r>
          </a:p>
        </p:txBody>
      </p:sp>
      <p:sp>
        <p:nvSpPr>
          <p:cNvPr id="14" name="TextBox 13"/>
          <p:cNvSpPr txBox="1"/>
          <p:nvPr/>
        </p:nvSpPr>
        <p:spPr>
          <a:xfrm>
            <a:off x="3835171" y="3472445"/>
            <a:ext cx="2409825" cy="2585323"/>
          </a:xfrm>
          <a:prstGeom prst="rect">
            <a:avLst/>
          </a:prstGeom>
          <a:noFill/>
        </p:spPr>
        <p:txBody>
          <a:bodyPr wrap="square" rtlCol="0">
            <a:spAutoFit/>
          </a:bodyPr>
          <a:lstStyle/>
          <a:p>
            <a:endParaRPr lang="en-US" dirty="0"/>
          </a:p>
          <a:p>
            <a:endParaRPr lang="en-US" dirty="0"/>
          </a:p>
          <a:p>
            <a:r>
              <a:rPr lang="en-US" dirty="0"/>
              <a:t>p:</a:t>
            </a:r>
          </a:p>
          <a:p>
            <a:endParaRPr lang="en-US" dirty="0"/>
          </a:p>
          <a:p>
            <a:endParaRPr lang="en-US" dirty="0"/>
          </a:p>
          <a:p>
            <a:endParaRPr lang="en-US" dirty="0"/>
          </a:p>
          <a:p>
            <a:endParaRPr lang="en-US" dirty="0">
              <a:solidFill>
                <a:prstClr val="black"/>
              </a:solidFill>
            </a:endParaRPr>
          </a:p>
          <a:p>
            <a:endParaRPr lang="en-US" dirty="0">
              <a:solidFill>
                <a:prstClr val="black"/>
              </a:solidFill>
            </a:endParaRPr>
          </a:p>
          <a:p>
            <a:r>
              <a:rPr lang="en-US" dirty="0">
                <a:solidFill>
                  <a:prstClr val="black"/>
                </a:solidFill>
              </a:rPr>
              <a:t>c:</a:t>
            </a:r>
            <a:r>
              <a:rPr lang="en-US" dirty="0"/>
              <a:t> </a:t>
            </a:r>
          </a:p>
        </p:txBody>
      </p:sp>
      <p:cxnSp>
        <p:nvCxnSpPr>
          <p:cNvPr id="4" name="Straight Connector 3"/>
          <p:cNvCxnSpPr/>
          <p:nvPr/>
        </p:nvCxnSpPr>
        <p:spPr>
          <a:xfrm>
            <a:off x="5695760" y="3316661"/>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a:off x="6812472" y="3316661"/>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95760" y="4089830"/>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1" name="Rectangle 20"/>
          <p:cNvSpPr/>
          <p:nvPr/>
        </p:nvSpPr>
        <p:spPr>
          <a:xfrm>
            <a:off x="5695760" y="3833464"/>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2" name="Rectangle 21"/>
          <p:cNvSpPr/>
          <p:nvPr/>
        </p:nvSpPr>
        <p:spPr>
          <a:xfrm>
            <a:off x="5695759" y="3577098"/>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close()</a:t>
            </a:r>
            <a:endParaRPr lang="en-US" dirty="0"/>
          </a:p>
        </p:txBody>
      </p:sp>
      <p:cxnSp>
        <p:nvCxnSpPr>
          <p:cNvPr id="23" name="Straight Connector 22"/>
          <p:cNvCxnSpPr/>
          <p:nvPr/>
        </p:nvCxnSpPr>
        <p:spPr>
          <a:xfrm>
            <a:off x="5695763" y="4952328"/>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p:cNvCxnSpPr/>
          <p:nvPr/>
        </p:nvCxnSpPr>
        <p:spPr>
          <a:xfrm>
            <a:off x="6812475" y="4952328"/>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695763" y="5725497"/>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6" name="Rectangle 25"/>
          <p:cNvSpPr/>
          <p:nvPr/>
        </p:nvSpPr>
        <p:spPr>
          <a:xfrm>
            <a:off x="5695763" y="5469131"/>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7" name="Rectangle 26"/>
          <p:cNvSpPr/>
          <p:nvPr/>
        </p:nvSpPr>
        <p:spPr>
          <a:xfrm>
            <a:off x="5695762" y="5212765"/>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open()</a:t>
            </a:r>
            <a:endParaRPr lang="en-US" dirty="0"/>
          </a:p>
        </p:txBody>
      </p:sp>
      <p:sp>
        <p:nvSpPr>
          <p:cNvPr id="29" name="Curved Left Arrow 28"/>
          <p:cNvSpPr/>
          <p:nvPr/>
        </p:nvSpPr>
        <p:spPr>
          <a:xfrm flipV="1">
            <a:off x="6885432" y="3555342"/>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 name="Curved Left Arrow 29"/>
          <p:cNvSpPr/>
          <p:nvPr/>
        </p:nvSpPr>
        <p:spPr>
          <a:xfrm flipV="1">
            <a:off x="6885432" y="5182447"/>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57" name="Picture 5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045467"/>
            <a:ext cx="304800" cy="304800"/>
          </a:xfrm>
          <a:prstGeom prst="rect">
            <a:avLst/>
          </a:prstGeom>
        </p:spPr>
      </p:pic>
      <p:pic>
        <p:nvPicPr>
          <p:cNvPr id="6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70840" y="4894117"/>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37691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wipe(up)">
                                      <p:cBhvr>
                                        <p:cTn id="18" dur="500"/>
                                        <p:tgtEl>
                                          <p:spTgt spid="32"/>
                                        </p:tgtEl>
                                      </p:cBhvr>
                                    </p:animEffect>
                                  </p:childTnLst>
                                </p:cTn>
                              </p:par>
                            </p:childTnLst>
                          </p:cTn>
                        </p:par>
                        <p:par>
                          <p:cTn id="19" fill="hold">
                            <p:stCondLst>
                              <p:cond delay="500"/>
                            </p:stCondLst>
                            <p:childTnLst>
                              <p:par>
                                <p:cTn id="20" presetID="22" presetClass="entr" presetSubtype="4" fill="hold" nodeType="after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500"/>
                                        <p:tgtEl>
                                          <p:spTgt spid="35"/>
                                        </p:tgtEl>
                                      </p:cBhvr>
                                    </p:animEffect>
                                  </p:childTnLst>
                                </p:cTn>
                              </p:par>
                            </p:childTnLst>
                          </p:cTn>
                        </p:par>
                        <p:par>
                          <p:cTn id="23" fill="hold">
                            <p:stCondLst>
                              <p:cond delay="1000"/>
                            </p:stCondLst>
                            <p:childTnLst>
                              <p:par>
                                <p:cTn id="24" presetID="22" presetClass="entr" presetSubtype="1" fill="hold" nodeType="after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wipe(up)">
                                      <p:cBhvr>
                                        <p:cTn id="26" dur="500"/>
                                        <p:tgtEl>
                                          <p:spTgt spid="37"/>
                                        </p:tgtEl>
                                      </p:cBhvr>
                                    </p:animEffect>
                                  </p:childTnLst>
                                </p:cTn>
                              </p:par>
                            </p:childTnLst>
                          </p:cTn>
                        </p:par>
                        <p:par>
                          <p:cTn id="27" fill="hold">
                            <p:stCondLst>
                              <p:cond delay="1500"/>
                            </p:stCondLst>
                            <p:childTnLst>
                              <p:par>
                                <p:cTn id="28" presetID="22" presetClass="entr" presetSubtype="2" fill="hold" nodeType="after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wipe(right)">
                                      <p:cBhvr>
                                        <p:cTn id="30" dur="500"/>
                                        <p:tgtEl>
                                          <p:spTgt spid="39"/>
                                        </p:tgtEl>
                                      </p:cBhvr>
                                    </p:animEffect>
                                  </p:childTnLst>
                                </p:cTn>
                              </p:par>
                            </p:childTnLst>
                          </p:cTn>
                        </p:par>
                        <p:par>
                          <p:cTn id="31" fill="hold">
                            <p:stCondLst>
                              <p:cond delay="2000"/>
                            </p:stCondLst>
                            <p:childTnLst>
                              <p:par>
                                <p:cTn id="32" presetID="22" presetClass="entr" presetSubtype="1" fill="hold" nodeType="after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wipe(up)">
                                      <p:cBhvr>
                                        <p:cTn id="34" dur="500"/>
                                        <p:tgtEl>
                                          <p:spTgt spid="53"/>
                                        </p:tgtEl>
                                      </p:cBhvr>
                                    </p:animEffect>
                                  </p:childTnLst>
                                </p:cTn>
                              </p:par>
                            </p:childTnLst>
                          </p:cTn>
                        </p:par>
                        <p:par>
                          <p:cTn id="35" fill="hold">
                            <p:stCondLst>
                              <p:cond delay="2500"/>
                            </p:stCondLst>
                            <p:childTnLst>
                              <p:par>
                                <p:cTn id="36" presetID="1" presetClass="entr" presetSubtype="0" fill="hold" nodeType="afterEffect">
                                  <p:stCondLst>
                                    <p:cond delay="0"/>
                                  </p:stCondLst>
                                  <p:childTnLst>
                                    <p:set>
                                      <p:cBhvr>
                                        <p:cTn id="37" dur="1" fill="hold">
                                          <p:stCondLst>
                                            <p:cond delay="0"/>
                                          </p:stCondLst>
                                        </p:cTn>
                                        <p:tgtEl>
                                          <p:spTgt spid="8">
                                            <p:txEl>
                                              <p:pRg st="6" end="6"/>
                                            </p:txEl>
                                          </p:spTgt>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8">
                                            <p:txEl>
                                              <p:pRg st="7" end="7"/>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8">
                                            <p:txEl>
                                              <p:pRg st="8" end="8"/>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8">
                                            <p:txEl>
                                              <p:pRg st="9" end="9"/>
                                            </p:txEl>
                                          </p:spTgt>
                                        </p:tgtEl>
                                        <p:attrNameLst>
                                          <p:attrName>style.visibility</p:attrName>
                                        </p:attrNameLst>
                                      </p:cBhvr>
                                      <p:to>
                                        <p:strVal val="visible"/>
                                      </p:to>
                                    </p:set>
                                  </p:childTnLst>
                                </p:cTn>
                              </p:par>
                            </p:childTnLst>
                          </p:cTn>
                        </p:par>
                        <p:par>
                          <p:cTn id="44" fill="hold">
                            <p:stCondLst>
                              <p:cond delay="2500"/>
                            </p:stCondLst>
                            <p:childTnLst>
                              <p:par>
                                <p:cTn id="45" presetID="22" presetClass="entr" presetSubtype="8" fill="hold" nodeType="after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wipe(left)">
                                      <p:cBhvr>
                                        <p:cTn id="47" dur="500"/>
                                        <p:tgtEl>
                                          <p:spTgt spid="41"/>
                                        </p:tgtEl>
                                      </p:cBhvr>
                                    </p:animEffect>
                                  </p:childTnLst>
                                </p:cTn>
                              </p:par>
                            </p:childTnLst>
                          </p:cTn>
                        </p:par>
                        <p:par>
                          <p:cTn id="48" fill="hold">
                            <p:stCondLst>
                              <p:cond delay="3000"/>
                            </p:stCondLst>
                            <p:childTnLst>
                              <p:par>
                                <p:cTn id="49" presetID="22" presetClass="entr" presetSubtype="1" fill="hold" nodeType="after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wipe(up)">
                                      <p:cBhvr>
                                        <p:cTn id="51" dur="500"/>
                                        <p:tgtEl>
                                          <p:spTgt spid="43"/>
                                        </p:tgtEl>
                                      </p:cBhvr>
                                    </p:animEffect>
                                  </p:childTnLst>
                                </p:cTn>
                              </p:par>
                            </p:childTnLst>
                          </p:cTn>
                        </p:par>
                        <p:par>
                          <p:cTn id="52" fill="hold">
                            <p:stCondLst>
                              <p:cond delay="3500"/>
                            </p:stCondLst>
                            <p:childTnLst>
                              <p:par>
                                <p:cTn id="53" presetID="22" presetClass="entr" presetSubtype="4" fill="hold" nodeType="after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wipe(down)">
                                      <p:cBhvr>
                                        <p:cTn id="55" dur="500"/>
                                        <p:tgtEl>
                                          <p:spTgt spid="47"/>
                                        </p:tgtEl>
                                      </p:cBhvr>
                                    </p:animEffect>
                                  </p:childTnLst>
                                </p:cTn>
                              </p:par>
                            </p:childTnLst>
                          </p:cTn>
                        </p:par>
                        <p:par>
                          <p:cTn id="56" fill="hold">
                            <p:stCondLst>
                              <p:cond delay="4000"/>
                            </p:stCondLst>
                            <p:childTnLst>
                              <p:par>
                                <p:cTn id="57" presetID="22" presetClass="entr" presetSubtype="1" fill="hold" nodeType="afterEffect">
                                  <p:stCondLst>
                                    <p:cond delay="0"/>
                                  </p:stCondLst>
                                  <p:childTnLst>
                                    <p:set>
                                      <p:cBhvr>
                                        <p:cTn id="58" dur="1" fill="hold">
                                          <p:stCondLst>
                                            <p:cond delay="0"/>
                                          </p:stCondLst>
                                        </p:cTn>
                                        <p:tgtEl>
                                          <p:spTgt spid="49"/>
                                        </p:tgtEl>
                                        <p:attrNameLst>
                                          <p:attrName>style.visibility</p:attrName>
                                        </p:attrNameLst>
                                      </p:cBhvr>
                                      <p:to>
                                        <p:strVal val="visible"/>
                                      </p:to>
                                    </p:set>
                                    <p:animEffect transition="in" filter="wipe(up)">
                                      <p:cBhvr>
                                        <p:cTn id="59" dur="500"/>
                                        <p:tgtEl>
                                          <p:spTgt spid="4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4">
                                            <p:txEl>
                                              <p:pRg st="2" end="2"/>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4"/>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9"/>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nodeType="clickEffect">
                                  <p:stCondLst>
                                    <p:cond delay="0"/>
                                  </p:stCondLst>
                                  <p:childTnLst>
                                    <p:set>
                                      <p:cBhvr>
                                        <p:cTn id="79" dur="1" fill="hold">
                                          <p:stCondLst>
                                            <p:cond delay="0"/>
                                          </p:stCondLst>
                                        </p:cTn>
                                        <p:tgtEl>
                                          <p:spTgt spid="14">
                                            <p:txEl>
                                              <p:pRg st="8" end="8"/>
                                            </p:txEl>
                                          </p:spTgt>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23"/>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24"/>
                                        </p:tgtEl>
                                        <p:attrNameLst>
                                          <p:attrName>style.visibility</p:attrName>
                                        </p:attrNameLst>
                                      </p:cBhvr>
                                      <p:to>
                                        <p:strVal val="visible"/>
                                      </p:to>
                                    </p:set>
                                  </p:childTnLst>
                                </p:cTn>
                              </p:par>
                              <p:par>
                                <p:cTn id="86" presetID="1" presetClass="entr" presetSubtype="0" fill="hold" grpId="0" nodeType="withEffect">
                                  <p:stCondLst>
                                    <p:cond delay="0"/>
                                  </p:stCondLst>
                                  <p:childTnLst>
                                    <p:set>
                                      <p:cBhvr>
                                        <p:cTn id="87" dur="1" fill="hold">
                                          <p:stCondLst>
                                            <p:cond delay="0"/>
                                          </p:stCondLst>
                                        </p:cTn>
                                        <p:tgtEl>
                                          <p:spTgt spid="25"/>
                                        </p:tgtEl>
                                        <p:attrNameLst>
                                          <p:attrName>style.visibility</p:attrName>
                                        </p:attrNameLst>
                                      </p:cBhvr>
                                      <p:to>
                                        <p:strVal val="visible"/>
                                      </p:to>
                                    </p:set>
                                  </p:childTnLst>
                                </p:cTn>
                              </p:par>
                              <p:par>
                                <p:cTn id="88" presetID="1"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27"/>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nodeType="clickEffect">
                                  <p:stCondLst>
                                    <p:cond delay="0"/>
                                  </p:stCondLst>
                                  <p:childTnLst>
                                    <p:set>
                                      <p:cBhvr>
                                        <p:cTn id="99" dur="1" fill="hold">
                                          <p:stCondLst>
                                            <p:cond delay="0"/>
                                          </p:stCondLst>
                                        </p:cTn>
                                        <p:tgtEl>
                                          <p:spTgt spid="6">
                                            <p:txEl>
                                              <p:pRg st="2" end="2"/>
                                            </p:txEl>
                                          </p:spTgt>
                                        </p:tgtEl>
                                        <p:attrNameLst>
                                          <p:attrName>style.visibility</p:attrName>
                                        </p:attrNameLst>
                                      </p:cBhvr>
                                      <p:to>
                                        <p:strVal val="visible"/>
                                      </p:to>
                                    </p:set>
                                  </p:childTnLst>
                                </p:cTn>
                              </p:par>
                              <p:par>
                                <p:cTn id="100" presetID="1" presetClass="emph" presetSubtype="2" fill="hold" nodeType="withEffect">
                                  <p:stCondLst>
                                    <p:cond delay="0"/>
                                  </p:stCondLst>
                                  <p:childTnLst>
                                    <p:animClr clrSpc="rgb" dir="cw">
                                      <p:cBhvr>
                                        <p:cTn id="101" dur="2000" fill="hold"/>
                                        <p:tgtEl>
                                          <p:spTgt spid="20"/>
                                        </p:tgtEl>
                                        <p:attrNameLst>
                                          <p:attrName>fillcolor</p:attrName>
                                        </p:attrNameLst>
                                      </p:cBhvr>
                                      <p:to>
                                        <a:schemeClr val="accent2"/>
                                      </p:to>
                                    </p:animClr>
                                    <p:set>
                                      <p:cBhvr>
                                        <p:cTn id="102" dur="2000" fill="hold"/>
                                        <p:tgtEl>
                                          <p:spTgt spid="20"/>
                                        </p:tgtEl>
                                        <p:attrNameLst>
                                          <p:attrName>fill.type</p:attrName>
                                        </p:attrNameLst>
                                      </p:cBhvr>
                                      <p:to>
                                        <p:strVal val="solid"/>
                                      </p:to>
                                    </p:set>
                                    <p:set>
                                      <p:cBhvr>
                                        <p:cTn id="103" dur="2000" fill="hold"/>
                                        <p:tgtEl>
                                          <p:spTgt spid="20"/>
                                        </p:tgtEl>
                                        <p:attrNameLst>
                                          <p:attrName>fill.on</p:attrName>
                                        </p:attrNameLst>
                                      </p:cBhvr>
                                      <p:to>
                                        <p:strVal val="true"/>
                                      </p:to>
                                    </p:set>
                                  </p:childTnLst>
                                </p:cTn>
                              </p:par>
                              <p:par>
                                <p:cTn id="104" presetID="1" presetClass="emph" presetSubtype="2" fill="hold" nodeType="withEffect">
                                  <p:stCondLst>
                                    <p:cond delay="0"/>
                                  </p:stCondLst>
                                  <p:childTnLst>
                                    <p:animClr clrSpc="rgb" dir="cw">
                                      <p:cBhvr>
                                        <p:cTn id="105" dur="2000" fill="hold"/>
                                        <p:tgtEl>
                                          <p:spTgt spid="21"/>
                                        </p:tgtEl>
                                        <p:attrNameLst>
                                          <p:attrName>fillcolor</p:attrName>
                                        </p:attrNameLst>
                                      </p:cBhvr>
                                      <p:to>
                                        <a:schemeClr val="accent2"/>
                                      </p:to>
                                    </p:animClr>
                                    <p:set>
                                      <p:cBhvr>
                                        <p:cTn id="106" dur="2000" fill="hold"/>
                                        <p:tgtEl>
                                          <p:spTgt spid="21"/>
                                        </p:tgtEl>
                                        <p:attrNameLst>
                                          <p:attrName>fill.type</p:attrName>
                                        </p:attrNameLst>
                                      </p:cBhvr>
                                      <p:to>
                                        <p:strVal val="solid"/>
                                      </p:to>
                                    </p:set>
                                    <p:set>
                                      <p:cBhvr>
                                        <p:cTn id="107" dur="2000" fill="hold"/>
                                        <p:tgtEl>
                                          <p:spTgt spid="21"/>
                                        </p:tgtEl>
                                        <p:attrNameLst>
                                          <p:attrName>fill.on</p:attrName>
                                        </p:attrNameLst>
                                      </p:cBhvr>
                                      <p:to>
                                        <p:strVal val="true"/>
                                      </p:to>
                                    </p:set>
                                  </p:childTnLst>
                                </p:cTn>
                              </p:par>
                              <p:par>
                                <p:cTn id="108" presetID="1" presetClass="emph" presetSubtype="2" fill="hold" nodeType="withEffect">
                                  <p:stCondLst>
                                    <p:cond delay="0"/>
                                  </p:stCondLst>
                                  <p:childTnLst>
                                    <p:animClr clrSpc="rgb" dir="cw">
                                      <p:cBhvr>
                                        <p:cTn id="109" dur="2000" fill="hold"/>
                                        <p:tgtEl>
                                          <p:spTgt spid="25"/>
                                        </p:tgtEl>
                                        <p:attrNameLst>
                                          <p:attrName>fillcolor</p:attrName>
                                        </p:attrNameLst>
                                      </p:cBhvr>
                                      <p:to>
                                        <a:schemeClr val="accent2"/>
                                      </p:to>
                                    </p:animClr>
                                    <p:set>
                                      <p:cBhvr>
                                        <p:cTn id="110" dur="2000" fill="hold"/>
                                        <p:tgtEl>
                                          <p:spTgt spid="25"/>
                                        </p:tgtEl>
                                        <p:attrNameLst>
                                          <p:attrName>fill.type</p:attrName>
                                        </p:attrNameLst>
                                      </p:cBhvr>
                                      <p:to>
                                        <p:strVal val="solid"/>
                                      </p:to>
                                    </p:set>
                                    <p:set>
                                      <p:cBhvr>
                                        <p:cTn id="111" dur="2000" fill="hold"/>
                                        <p:tgtEl>
                                          <p:spTgt spid="25"/>
                                        </p:tgtEl>
                                        <p:attrNameLst>
                                          <p:attrName>fill.on</p:attrName>
                                        </p:attrNameLst>
                                      </p:cBhvr>
                                      <p:to>
                                        <p:strVal val="true"/>
                                      </p:to>
                                    </p:set>
                                  </p:childTnLst>
                                </p:cTn>
                              </p:par>
                              <p:par>
                                <p:cTn id="112" presetID="1" presetClass="emph" presetSubtype="2" fill="hold" nodeType="withEffect">
                                  <p:stCondLst>
                                    <p:cond delay="0"/>
                                  </p:stCondLst>
                                  <p:childTnLst>
                                    <p:animClr clrSpc="rgb" dir="cw">
                                      <p:cBhvr>
                                        <p:cTn id="113" dur="2000" fill="hold"/>
                                        <p:tgtEl>
                                          <p:spTgt spid="26"/>
                                        </p:tgtEl>
                                        <p:attrNameLst>
                                          <p:attrName>fillcolor</p:attrName>
                                        </p:attrNameLst>
                                      </p:cBhvr>
                                      <p:to>
                                        <a:schemeClr val="accent2"/>
                                      </p:to>
                                    </p:animClr>
                                    <p:set>
                                      <p:cBhvr>
                                        <p:cTn id="114" dur="2000" fill="hold"/>
                                        <p:tgtEl>
                                          <p:spTgt spid="26"/>
                                        </p:tgtEl>
                                        <p:attrNameLst>
                                          <p:attrName>fill.type</p:attrName>
                                        </p:attrNameLst>
                                      </p:cBhvr>
                                      <p:to>
                                        <p:strVal val="solid"/>
                                      </p:to>
                                    </p:set>
                                    <p:set>
                                      <p:cBhvr>
                                        <p:cTn id="115" dur="2000" fill="hold"/>
                                        <p:tgtEl>
                                          <p:spTgt spid="26"/>
                                        </p:tgtEl>
                                        <p:attrNameLst>
                                          <p:attrName>fill.on</p:attrName>
                                        </p:attrNameLst>
                                      </p:cBhvr>
                                      <p:to>
                                        <p:strVal val="true"/>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nodeType="clickEffect">
                                  <p:stCondLst>
                                    <p:cond delay="0"/>
                                  </p:stCondLst>
                                  <p:childTnLst>
                                    <p:set>
                                      <p:cBhvr>
                                        <p:cTn id="119"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1" presetClass="entr" presetSubtype="0" fill="hold" grpId="0" nodeType="clickEffect">
                                  <p:stCondLst>
                                    <p:cond delay="0"/>
                                  </p:stCondLst>
                                  <p:childTnLst>
                                    <p:set>
                                      <p:cBhvr>
                                        <p:cTn id="123" dur="1" fill="hold">
                                          <p:stCondLst>
                                            <p:cond delay="0"/>
                                          </p:stCondLst>
                                        </p:cTn>
                                        <p:tgtEl>
                                          <p:spTgt spid="30"/>
                                        </p:tgtEl>
                                        <p:attrNameLst>
                                          <p:attrName>style.visibility</p:attrName>
                                        </p:attrNameLst>
                                      </p:cBhvr>
                                      <p:to>
                                        <p:strVal val="visible"/>
                                      </p:to>
                                    </p:set>
                                  </p:childTnLst>
                                </p:cTn>
                              </p:par>
                              <p:par>
                                <p:cTn id="124" presetID="1" presetClass="entr" presetSubtype="0" fill="hold" grpId="0" nodeType="withEffect">
                                  <p:stCondLst>
                                    <p:cond delay="0"/>
                                  </p:stCondLst>
                                  <p:childTnLst>
                                    <p:set>
                                      <p:cBhvr>
                                        <p:cTn id="125" dur="1" fill="hold">
                                          <p:stCondLst>
                                            <p:cond delay="0"/>
                                          </p:stCondLst>
                                        </p:cTn>
                                        <p:tgtEl>
                                          <p:spTgt spid="29"/>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xit" presetSubtype="0" fill="hold" grpId="1" nodeType="clickEffect">
                                  <p:stCondLst>
                                    <p:cond delay="0"/>
                                  </p:stCondLst>
                                  <p:childTnLst>
                                    <p:set>
                                      <p:cBhvr>
                                        <p:cTn id="129" dur="1" fill="hold">
                                          <p:stCondLst>
                                            <p:cond delay="0"/>
                                          </p:stCondLst>
                                        </p:cTn>
                                        <p:tgtEl>
                                          <p:spTgt spid="7"/>
                                        </p:tgtEl>
                                        <p:attrNameLst>
                                          <p:attrName>style.visibility</p:attrName>
                                        </p:attrNameLst>
                                      </p:cBhvr>
                                      <p:to>
                                        <p:strVal val="hidden"/>
                                      </p:to>
                                    </p:set>
                                  </p:childTnLst>
                                </p:cTn>
                              </p:par>
                              <p:par>
                                <p:cTn id="130" presetID="1" presetClass="exit" presetSubtype="0" fill="hold" grpId="0" nodeType="withEffect">
                                  <p:stCondLst>
                                    <p:cond delay="0"/>
                                  </p:stCondLst>
                                  <p:childTnLst>
                                    <p:set>
                                      <p:cBhvr>
                                        <p:cTn id="131" dur="1" fill="hold">
                                          <p:stCondLst>
                                            <p:cond delay="0"/>
                                          </p:stCondLst>
                                        </p:cTn>
                                        <p:tgtEl>
                                          <p:spTgt spid="14">
                                            <p:txEl>
                                              <p:pRg st="2" end="2"/>
                                            </p:txEl>
                                          </p:spTgt>
                                        </p:tgtEl>
                                        <p:attrNameLst>
                                          <p:attrName>style.visibility</p:attrName>
                                        </p:attrNameLst>
                                      </p:cBhvr>
                                      <p:to>
                                        <p:strVal val="hidden"/>
                                      </p:to>
                                    </p:set>
                                  </p:childTnLst>
                                </p:cTn>
                              </p:par>
                              <p:par>
                                <p:cTn id="132" presetID="1" presetClass="exit" presetSubtype="0" fill="hold" grpId="0" nodeType="withEffect">
                                  <p:stCondLst>
                                    <p:cond delay="0"/>
                                  </p:stCondLst>
                                  <p:childTnLst>
                                    <p:set>
                                      <p:cBhvr>
                                        <p:cTn id="133" dur="1" fill="hold">
                                          <p:stCondLst>
                                            <p:cond delay="0"/>
                                          </p:stCondLst>
                                        </p:cTn>
                                        <p:tgtEl>
                                          <p:spTgt spid="14">
                                            <p:txEl>
                                              <p:pRg st="8" end="8"/>
                                            </p:txEl>
                                          </p:spTgt>
                                        </p:tgtEl>
                                        <p:attrNameLst>
                                          <p:attrName>style.visibility</p:attrName>
                                        </p:attrNameLst>
                                      </p:cBhvr>
                                      <p:to>
                                        <p:strVal val="hidden"/>
                                      </p:to>
                                    </p:set>
                                  </p:childTnLst>
                                </p:cTn>
                              </p:par>
                              <p:par>
                                <p:cTn id="134" presetID="1" presetClass="entr" presetSubtype="0" fill="hold" grpId="0" nodeType="withEffect">
                                  <p:stCondLst>
                                    <p:cond delay="0"/>
                                  </p:stCondLst>
                                  <p:childTnLst>
                                    <p:set>
                                      <p:cBhvr>
                                        <p:cTn id="135" dur="1" fill="hold">
                                          <p:stCondLst>
                                            <p:cond delay="0"/>
                                          </p:stCondLst>
                                        </p:cTn>
                                        <p:tgtEl>
                                          <p:spTgt spid="13"/>
                                        </p:tgtEl>
                                        <p:attrNameLst>
                                          <p:attrName>style.visibility</p:attrName>
                                        </p:attrNameLst>
                                      </p:cBhvr>
                                      <p:to>
                                        <p:strVal val="visible"/>
                                      </p:to>
                                    </p:set>
                                  </p:childTnLst>
                                </p:cTn>
                              </p:par>
                              <p:par>
                                <p:cTn id="136" presetID="1" presetClass="entr" presetSubtype="0" fill="hold" grpId="0" nodeType="withEffect">
                                  <p:stCondLst>
                                    <p:cond delay="0"/>
                                  </p:stCondLst>
                                  <p:childTnLst>
                                    <p:set>
                                      <p:cBhvr>
                                        <p:cTn id="137" dur="1" fill="hold">
                                          <p:stCondLst>
                                            <p:cond delay="0"/>
                                          </p:stCondLst>
                                        </p:cTn>
                                        <p:tgtEl>
                                          <p:spTgt spid="15"/>
                                        </p:tgtEl>
                                        <p:attrNameLst>
                                          <p:attrName>style.visibility</p:attrName>
                                        </p:attrNameLst>
                                      </p:cBhvr>
                                      <p:to>
                                        <p:strVal val="visible"/>
                                      </p:to>
                                    </p:set>
                                  </p:childTnLst>
                                </p:cTn>
                              </p:par>
                              <p:par>
                                <p:cTn id="138" presetID="1" presetClass="entr" presetSubtype="0" fill="hold" grpId="0" nodeType="withEffect">
                                  <p:stCondLst>
                                    <p:cond delay="0"/>
                                  </p:stCondLst>
                                  <p:childTnLst>
                                    <p:set>
                                      <p:cBhvr>
                                        <p:cTn id="139" dur="1" fill="hold">
                                          <p:stCondLst>
                                            <p:cond delay="0"/>
                                          </p:stCondLst>
                                        </p:cTn>
                                        <p:tgtEl>
                                          <p:spTgt spid="16"/>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45" presetClass="entr" presetSubtype="0" fill="hold" nodeType="clickEffect">
                                  <p:stCondLst>
                                    <p:cond delay="0"/>
                                  </p:stCondLst>
                                  <p:childTnLst>
                                    <p:set>
                                      <p:cBhvr>
                                        <p:cTn id="143" dur="1" fill="hold">
                                          <p:stCondLst>
                                            <p:cond delay="0"/>
                                          </p:stCondLst>
                                        </p:cTn>
                                        <p:tgtEl>
                                          <p:spTgt spid="57"/>
                                        </p:tgtEl>
                                        <p:attrNameLst>
                                          <p:attrName>style.visibility</p:attrName>
                                        </p:attrNameLst>
                                      </p:cBhvr>
                                      <p:to>
                                        <p:strVal val="visible"/>
                                      </p:to>
                                    </p:set>
                                    <p:animEffect transition="in" filter="fade">
                                      <p:cBhvr>
                                        <p:cTn id="144" dur="500"/>
                                        <p:tgtEl>
                                          <p:spTgt spid="57"/>
                                        </p:tgtEl>
                                      </p:cBhvr>
                                    </p:animEffect>
                                    <p:anim calcmode="lin" valueType="num">
                                      <p:cBhvr>
                                        <p:cTn id="145" dur="500" fill="hold"/>
                                        <p:tgtEl>
                                          <p:spTgt spid="57"/>
                                        </p:tgtEl>
                                        <p:attrNameLst>
                                          <p:attrName>ppt_w</p:attrName>
                                        </p:attrNameLst>
                                      </p:cBhvr>
                                      <p:tavLst>
                                        <p:tav tm="0" fmla="#ppt_w*sin(2.5*pi*$)">
                                          <p:val>
                                            <p:fltVal val="0"/>
                                          </p:val>
                                        </p:tav>
                                        <p:tav tm="100000">
                                          <p:val>
                                            <p:fltVal val="1"/>
                                          </p:val>
                                        </p:tav>
                                      </p:tavLst>
                                    </p:anim>
                                    <p:anim calcmode="lin" valueType="num">
                                      <p:cBhvr>
                                        <p:cTn id="146" dur="500" fill="hold"/>
                                        <p:tgtEl>
                                          <p:spTgt spid="57"/>
                                        </p:tgtEl>
                                        <p:attrNameLst>
                                          <p:attrName>ppt_h</p:attrName>
                                        </p:attrNameLst>
                                      </p:cBhvr>
                                      <p:tavLst>
                                        <p:tav tm="0">
                                          <p:val>
                                            <p:strVal val="#ppt_h"/>
                                          </p:val>
                                        </p:tav>
                                        <p:tav tm="100000">
                                          <p:val>
                                            <p:strVal val="#ppt_h"/>
                                          </p:val>
                                        </p:tav>
                                      </p:tavLst>
                                    </p:anim>
                                  </p:childTnLst>
                                </p:cTn>
                              </p:par>
                            </p:childTnLst>
                          </p:cTn>
                        </p:par>
                        <p:par>
                          <p:cTn id="147" fill="hold">
                            <p:stCondLst>
                              <p:cond delay="500"/>
                            </p:stCondLst>
                            <p:childTnLst>
                              <p:par>
                                <p:cTn id="148" presetID="45" presetClass="entr" presetSubtype="0" fill="hold" nodeType="afterEffect">
                                  <p:stCondLst>
                                    <p:cond delay="0"/>
                                  </p:stCondLst>
                                  <p:childTnLst>
                                    <p:set>
                                      <p:cBhvr>
                                        <p:cTn id="149" dur="1" fill="hold">
                                          <p:stCondLst>
                                            <p:cond delay="0"/>
                                          </p:stCondLst>
                                        </p:cTn>
                                        <p:tgtEl>
                                          <p:spTgt spid="62"/>
                                        </p:tgtEl>
                                        <p:attrNameLst>
                                          <p:attrName>style.visibility</p:attrName>
                                        </p:attrNameLst>
                                      </p:cBhvr>
                                      <p:to>
                                        <p:strVal val="visible"/>
                                      </p:to>
                                    </p:set>
                                    <p:animEffect transition="in" filter="fade">
                                      <p:cBhvr>
                                        <p:cTn id="150" dur="500"/>
                                        <p:tgtEl>
                                          <p:spTgt spid="62"/>
                                        </p:tgtEl>
                                      </p:cBhvr>
                                    </p:animEffect>
                                    <p:anim calcmode="lin" valueType="num">
                                      <p:cBhvr>
                                        <p:cTn id="151" dur="500" fill="hold"/>
                                        <p:tgtEl>
                                          <p:spTgt spid="62"/>
                                        </p:tgtEl>
                                        <p:attrNameLst>
                                          <p:attrName>ppt_w</p:attrName>
                                        </p:attrNameLst>
                                      </p:cBhvr>
                                      <p:tavLst>
                                        <p:tav tm="0" fmla="#ppt_w*sin(2.5*pi*$)">
                                          <p:val>
                                            <p:fltVal val="0"/>
                                          </p:val>
                                        </p:tav>
                                        <p:tav tm="100000">
                                          <p:val>
                                            <p:fltVal val="1"/>
                                          </p:val>
                                        </p:tav>
                                      </p:tavLst>
                                    </p:anim>
                                    <p:anim calcmode="lin" valueType="num">
                                      <p:cBhvr>
                                        <p:cTn id="152" dur="500" fill="hold"/>
                                        <p:tgtEl>
                                          <p:spTgt spid="6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7" grpId="0"/>
      <p:bldP spid="7" grpId="1"/>
      <p:bldP spid="13" grpId="0"/>
      <p:bldP spid="14" grpId="0" uiExpand="1" build="allAtOnce"/>
      <p:bldP spid="20" grpId="0" animBg="1"/>
      <p:bldP spid="21" grpId="0" animBg="1"/>
      <p:bldP spid="22" grpId="0" animBg="1"/>
      <p:bldP spid="25" grpId="0" animBg="1"/>
      <p:bldP spid="26" grpId="0" animBg="1"/>
      <p:bldP spid="27" grpId="0" animBg="1"/>
      <p:bldP spid="29" grpId="0" animBg="1"/>
      <p:bldP spid="3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7146519" y="5600810"/>
            <a:ext cx="342418" cy="256366"/>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dirty="0"/>
          </a:p>
        </p:txBody>
      </p:sp>
      <p:sp>
        <p:nvSpPr>
          <p:cNvPr id="17" name="Rectangle 16"/>
          <p:cNvSpPr/>
          <p:nvPr/>
        </p:nvSpPr>
        <p:spPr>
          <a:xfrm>
            <a:off x="6593883" y="5609954"/>
            <a:ext cx="31898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Rectangle 14"/>
          <p:cNvSpPr/>
          <p:nvPr/>
        </p:nvSpPr>
        <p:spPr>
          <a:xfrm>
            <a:off x="5686615" y="3125113"/>
            <a:ext cx="467297"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put </a:t>
            </a:r>
            <a:r>
              <a:rPr lang="en-US" altLang="zh-CN" sz="2800" i="1" dirty="0">
                <a:latin typeface="Calibri" pitchFamily="34" charset="0"/>
                <a:cs typeface="Calibri" pitchFamily="34" charset="0"/>
              </a:rPr>
              <a:t>r</a:t>
            </a:r>
            <a:r>
              <a:rPr lang="en-US" altLang="zh-CN" sz="2800" dirty="0">
                <a:latin typeface="Calibri" pitchFamily="34" charset="0"/>
                <a:cs typeface="Calibri" pitchFamily="34" charset="0"/>
              </a:rPr>
              <a:t> into a critical section</a:t>
            </a:r>
          </a:p>
        </p:txBody>
      </p:sp>
      <p:sp>
        <p:nvSpPr>
          <p:cNvPr id="6" name="Content Placeholder 2"/>
          <p:cNvSpPr txBox="1">
            <a:spLocks/>
          </p:cNvSpPr>
          <p:nvPr/>
        </p:nvSpPr>
        <p:spPr>
          <a:xfrm>
            <a:off x="557213" y="1591056"/>
            <a:ext cx="8029574"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Lock-acquisition before r, lock-release after r</a:t>
            </a:r>
          </a:p>
          <a:p>
            <a:pPr lvl="1"/>
            <a:r>
              <a:rPr lang="en-US" dirty="0">
                <a:solidFill>
                  <a:schemeClr val="tx1"/>
                </a:solidFill>
                <a:latin typeface="Calibri" pitchFamily="34" charset="0"/>
                <a:cs typeface="Calibri" pitchFamily="34" charset="0"/>
              </a:rPr>
              <a:t>Only if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cannot be reached from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critical section</a:t>
            </a:r>
            <a:endParaRPr lang="en-US" i="1" dirty="0">
              <a:solidFill>
                <a:schemeClr val="tx1"/>
              </a:solidFill>
              <a:latin typeface="Calibri" pitchFamily="34" charset="0"/>
              <a:cs typeface="Calibri" pitchFamily="34" charset="0"/>
            </a:endParaRPr>
          </a:p>
        </p:txBody>
      </p:sp>
      <p:sp>
        <p:nvSpPr>
          <p:cNvPr id="7" name="Oval 6"/>
          <p:cNvSpPr/>
          <p:nvPr/>
        </p:nvSpPr>
        <p:spPr>
          <a:xfrm>
            <a:off x="1635076"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Oval 7"/>
          <p:cNvSpPr/>
          <p:nvPr/>
        </p:nvSpPr>
        <p:spPr>
          <a:xfrm>
            <a:off x="2056175" y="4173914"/>
            <a:ext cx="748476"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9" name="TextBox 8"/>
          <p:cNvSpPr txBox="1"/>
          <p:nvPr/>
        </p:nvSpPr>
        <p:spPr>
          <a:xfrm>
            <a:off x="1698895"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r</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1</a:t>
            </a:r>
          </a:p>
        </p:txBody>
      </p:sp>
      <p:sp>
        <p:nvSpPr>
          <p:cNvPr id="11" name="Oval 10"/>
          <p:cNvSpPr/>
          <p:nvPr/>
        </p:nvSpPr>
        <p:spPr>
          <a:xfrm>
            <a:off x="5528411"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686614" y="4173914"/>
            <a:ext cx="1226249"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13" name="TextBox 12"/>
          <p:cNvSpPr txBox="1"/>
          <p:nvPr/>
        </p:nvSpPr>
        <p:spPr>
          <a:xfrm>
            <a:off x="5592230"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foo() {</a:t>
            </a:r>
            <a:r>
              <a:rPr lang="en-US" dirty="0">
                <a:latin typeface="Calibri" pitchFamily="34" charset="0"/>
                <a:cs typeface="Calibri" pitchFamily="34" charset="0"/>
                <a:sym typeface="Symbol"/>
              </a:rPr>
              <a:t>…r</a:t>
            </a:r>
            <a:r>
              <a:rPr lang="en-US" dirty="0"/>
              <a:t>}</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2</a:t>
            </a:r>
          </a:p>
        </p:txBody>
      </p:sp>
      <p:sp>
        <p:nvSpPr>
          <p:cNvPr id="14" name="TextBox 13"/>
          <p:cNvSpPr txBox="1"/>
          <p:nvPr/>
        </p:nvSpPr>
        <p:spPr>
          <a:xfrm>
            <a:off x="4606782" y="5544327"/>
            <a:ext cx="4074079" cy="369332"/>
          </a:xfrm>
          <a:prstGeom prst="rect">
            <a:avLst/>
          </a:prstGeom>
          <a:noFill/>
        </p:spPr>
        <p:txBody>
          <a:bodyPr wrap="square" rtlCol="0">
            <a:spAutoFit/>
          </a:bodyPr>
          <a:lstStyle/>
          <a:p>
            <a:r>
              <a:rPr lang="en-US" dirty="0"/>
              <a:t>r’s call stack: …</a:t>
            </a:r>
            <a:r>
              <a:rPr lang="en-US" dirty="0">
                <a:latin typeface="Calibri" pitchFamily="34" charset="0"/>
                <a:cs typeface="Calibri" pitchFamily="34" charset="0"/>
                <a:sym typeface="Symbol"/>
              </a:rPr>
              <a:t> </a:t>
            </a:r>
            <a:r>
              <a:rPr lang="en-US" dirty="0" err="1">
                <a:latin typeface="Calibri" pitchFamily="34" charset="0"/>
                <a:cs typeface="Calibri" pitchFamily="34" charset="0"/>
                <a:sym typeface="Symbol"/>
              </a:rPr>
              <a:t>fpc</a:t>
            </a:r>
            <a:r>
              <a:rPr lang="en-US" dirty="0">
                <a:latin typeface="Calibri" pitchFamily="34" charset="0"/>
                <a:cs typeface="Calibri" pitchFamily="34" charset="0"/>
                <a:sym typeface="Symbol"/>
              </a:rPr>
              <a:t> foo …r</a:t>
            </a:r>
            <a:endParaRPr lang="en-US" dirty="0"/>
          </a:p>
        </p:txBody>
      </p:sp>
      <p:sp>
        <p:nvSpPr>
          <p:cNvPr id="1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290418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7" grpId="0" animBg="1"/>
      <p:bldP spid="15" grpId="0" animBg="1"/>
      <p:bldP spid="7" grpId="0" animBg="1"/>
      <p:bldP spid="8" grpId="0" animBg="1"/>
      <p:bldP spid="9" grpId="0"/>
      <p:bldP spid="11" grpId="0" animBg="1"/>
      <p:bldP spid="12" grpId="0" animBg="1"/>
      <p:bldP spid="13" grpId="0"/>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select or introduce a lock</a:t>
            </a:r>
          </a:p>
        </p:txBody>
      </p:sp>
      <p:sp>
        <p:nvSpPr>
          <p:cNvPr id="6" name="Content Placeholder 2"/>
          <p:cNvSpPr txBox="1">
            <a:spLocks/>
          </p:cNvSpPr>
          <p:nvPr/>
        </p:nvSpPr>
        <p:spPr>
          <a:xfrm>
            <a:off x="557213" y="1591056"/>
            <a:ext cx="8029574" cy="4457319"/>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Use the same lock for the critical sections</a:t>
            </a:r>
          </a:p>
          <a:p>
            <a:r>
              <a:rPr lang="en-US" dirty="0">
                <a:solidFill>
                  <a:schemeClr val="tx1"/>
                </a:solidFill>
                <a:latin typeface="Calibri" pitchFamily="34" charset="0"/>
                <a:cs typeface="Calibri" pitchFamily="34" charset="0"/>
              </a:rPr>
              <a:t>Lock type:</a:t>
            </a:r>
          </a:p>
          <a:p>
            <a:pPr lvl="1"/>
            <a:r>
              <a:rPr lang="en-US" dirty="0">
                <a:solidFill>
                  <a:schemeClr val="tx1"/>
                </a:solidFill>
                <a:latin typeface="Calibri" pitchFamily="34" charset="0"/>
                <a:cs typeface="Calibri" pitchFamily="34" charset="0"/>
              </a:rPr>
              <a:t>Lock with timeout         : in case of potential new deadlock</a:t>
            </a:r>
          </a:p>
          <a:p>
            <a:pPr lvl="1"/>
            <a:r>
              <a:rPr lang="en-US" dirty="0">
                <a:solidFill>
                  <a:schemeClr val="tx1"/>
                </a:solidFill>
                <a:latin typeface="Calibri" pitchFamily="34" charset="0"/>
                <a:cs typeface="Calibri" pitchFamily="34" charset="0"/>
              </a:rPr>
              <a:t>Reentrant lock         : in case of recursion </a:t>
            </a:r>
          </a:p>
          <a:p>
            <a:pPr lvl="1"/>
            <a:r>
              <a:rPr lang="en-US" dirty="0">
                <a:solidFill>
                  <a:schemeClr val="tx1"/>
                </a:solidFill>
                <a:latin typeface="Calibri" pitchFamily="34" charset="0"/>
                <a:cs typeface="Calibri" pitchFamily="34" charset="0"/>
              </a:rPr>
              <a:t>Otherwise: normal lock</a:t>
            </a:r>
          </a:p>
          <a:p>
            <a:r>
              <a:rPr lang="en-US" dirty="0">
                <a:solidFill>
                  <a:schemeClr val="tx1"/>
                </a:solidFill>
                <a:latin typeface="Calibri" pitchFamily="34" charset="0"/>
                <a:cs typeface="Calibri" pitchFamily="34" charset="0"/>
              </a:rPr>
              <a:t>Lock instance:</a:t>
            </a:r>
          </a:p>
          <a:p>
            <a:pPr lvl="1"/>
            <a:r>
              <a:rPr lang="en-US" dirty="0">
                <a:solidFill>
                  <a:schemeClr val="tx1"/>
                </a:solidFill>
                <a:latin typeface="Calibri" pitchFamily="34" charset="0"/>
                <a:cs typeface="Calibri" pitchFamily="34" charset="0"/>
              </a:rPr>
              <a:t>Global lock instances are easy to reuse</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6" name="Picture 2" descr="C:\Users\aliang\Desktop\12930K392250-3220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58277" y="2421667"/>
            <a:ext cx="592851" cy="59285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aliang\Desktop\Knit Counter.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0123" y="2818945"/>
            <a:ext cx="594360" cy="59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7593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23" y="4982308"/>
            <a:ext cx="5495173" cy="1370809"/>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1" name="TextBox 80"/>
          <p:cNvSpPr txBox="1"/>
          <p:nvPr/>
        </p:nvSpPr>
        <p:spPr>
          <a:xfrm>
            <a:off x="1250530" y="4011354"/>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80" name="TextBox 79"/>
          <p:cNvSpPr txBox="1"/>
          <p:nvPr/>
        </p:nvSpPr>
        <p:spPr>
          <a:xfrm>
            <a:off x="502944" y="43530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9" name="TextBox 78"/>
          <p:cNvSpPr txBox="1"/>
          <p:nvPr/>
        </p:nvSpPr>
        <p:spPr>
          <a:xfrm>
            <a:off x="826794" y="401135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8" name="TextBox 77"/>
          <p:cNvSpPr txBox="1"/>
          <p:nvPr/>
        </p:nvSpPr>
        <p:spPr>
          <a:xfrm>
            <a:off x="866343" y="4353021"/>
            <a:ext cx="708037"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76" name="TextBox 75"/>
          <p:cNvSpPr txBox="1"/>
          <p:nvPr/>
        </p:nvSpPr>
        <p:spPr>
          <a:xfrm>
            <a:off x="1250530" y="269358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1" name="Straight Arrow Connector 30"/>
          <p:cNvCxnSpPr>
            <a:stCxn id="40" idx="2"/>
            <a:endCxn id="37" idx="0"/>
          </p:cNvCxnSpPr>
          <p:nvPr/>
        </p:nvCxnSpPr>
        <p:spPr>
          <a:xfrm>
            <a:off x="6340671" y="2985466"/>
            <a:ext cx="758902" cy="51447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7" idx="2"/>
            <a:endCxn id="38" idx="0"/>
          </p:cNvCxnSpPr>
          <p:nvPr/>
        </p:nvCxnSpPr>
        <p:spPr>
          <a:xfrm>
            <a:off x="7099573" y="3804690"/>
            <a:ext cx="0" cy="11676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3" name="Straight Arrow Connector 32"/>
          <p:cNvCxnSpPr>
            <a:endCxn id="40" idx="0"/>
          </p:cNvCxnSpPr>
          <p:nvPr/>
        </p:nvCxnSpPr>
        <p:spPr>
          <a:xfrm flipH="1">
            <a:off x="6340671" y="2037747"/>
            <a:ext cx="9526" cy="64296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0" idx="2"/>
            <a:endCxn id="41" idx="0"/>
          </p:cNvCxnSpPr>
          <p:nvPr/>
        </p:nvCxnSpPr>
        <p:spPr>
          <a:xfrm>
            <a:off x="6340671" y="2985466"/>
            <a:ext cx="1" cy="295613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sp>
        <p:nvSpPr>
          <p:cNvPr id="37" name="TextBox 36"/>
          <p:cNvSpPr txBox="1"/>
          <p:nvPr/>
        </p:nvSpPr>
        <p:spPr>
          <a:xfrm>
            <a:off x="6937648" y="349993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c1</a:t>
            </a:r>
            <a:endParaRPr lang="en-US" baseline="-25000" dirty="0"/>
          </a:p>
        </p:txBody>
      </p:sp>
      <p:sp>
        <p:nvSpPr>
          <p:cNvPr id="38" name="TextBox 37"/>
          <p:cNvSpPr txBox="1"/>
          <p:nvPr/>
        </p:nvSpPr>
        <p:spPr>
          <a:xfrm>
            <a:off x="6937648" y="497234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r1</a:t>
            </a:r>
            <a:endParaRPr lang="en-US" dirty="0"/>
          </a:p>
        </p:txBody>
      </p:sp>
      <p:sp>
        <p:nvSpPr>
          <p:cNvPr id="40" name="TextBox 39"/>
          <p:cNvSpPr txBox="1"/>
          <p:nvPr/>
        </p:nvSpPr>
        <p:spPr>
          <a:xfrm>
            <a:off x="6178746" y="268071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p1</a:t>
            </a:r>
            <a:endParaRPr lang="en-US" baseline="-25000" dirty="0"/>
          </a:p>
        </p:txBody>
      </p:sp>
      <p:sp>
        <p:nvSpPr>
          <p:cNvPr id="41" name="TextBox 40"/>
          <p:cNvSpPr txBox="1"/>
          <p:nvPr/>
        </p:nvSpPr>
        <p:spPr>
          <a:xfrm>
            <a:off x="6178747" y="59415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45" name="Straight Arrow Connector 44"/>
          <p:cNvCxnSpPr>
            <a:stCxn id="38" idx="2"/>
            <a:endCxn id="41" idx="0"/>
          </p:cNvCxnSpPr>
          <p:nvPr/>
        </p:nvCxnSpPr>
        <p:spPr>
          <a:xfrm flipH="1">
            <a:off x="6340672" y="5277099"/>
            <a:ext cx="758901" cy="664498"/>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4" name="Straight Arrow Connector 53"/>
          <p:cNvCxnSpPr>
            <a:stCxn id="60" idx="2"/>
            <a:endCxn id="58" idx="0"/>
          </p:cNvCxnSpPr>
          <p:nvPr/>
        </p:nvCxnSpPr>
        <p:spPr>
          <a:xfrm>
            <a:off x="7823107" y="2985465"/>
            <a:ext cx="758902" cy="514471"/>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58" idx="2"/>
            <a:endCxn id="59" idx="0"/>
          </p:cNvCxnSpPr>
          <p:nvPr/>
        </p:nvCxnSpPr>
        <p:spPr>
          <a:xfrm>
            <a:off x="8582009" y="3804689"/>
            <a:ext cx="0" cy="1167657"/>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6" name="Straight Arrow Connector 55"/>
          <p:cNvCxnSpPr>
            <a:endCxn id="60" idx="0"/>
          </p:cNvCxnSpPr>
          <p:nvPr/>
        </p:nvCxnSpPr>
        <p:spPr>
          <a:xfrm>
            <a:off x="7823107" y="2037747"/>
            <a:ext cx="0" cy="642965"/>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60" idx="2"/>
            <a:endCxn id="61" idx="0"/>
          </p:cNvCxnSpPr>
          <p:nvPr/>
        </p:nvCxnSpPr>
        <p:spPr>
          <a:xfrm>
            <a:off x="7823107" y="2985465"/>
            <a:ext cx="1" cy="2956132"/>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58" name="TextBox 57"/>
          <p:cNvSpPr txBox="1"/>
          <p:nvPr/>
        </p:nvSpPr>
        <p:spPr>
          <a:xfrm>
            <a:off x="8420084" y="349993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p2</a:t>
            </a:r>
            <a:endParaRPr lang="en-US" baseline="-25000" dirty="0"/>
          </a:p>
        </p:txBody>
      </p:sp>
      <p:sp>
        <p:nvSpPr>
          <p:cNvPr id="59" name="TextBox 58"/>
          <p:cNvSpPr txBox="1"/>
          <p:nvPr/>
        </p:nvSpPr>
        <p:spPr>
          <a:xfrm>
            <a:off x="8420084" y="497234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c2, r2</a:t>
            </a:r>
            <a:endParaRPr lang="en-US" dirty="0"/>
          </a:p>
        </p:txBody>
      </p:sp>
      <p:sp>
        <p:nvSpPr>
          <p:cNvPr id="60" name="TextBox 59"/>
          <p:cNvSpPr txBox="1"/>
          <p:nvPr/>
        </p:nvSpPr>
        <p:spPr>
          <a:xfrm>
            <a:off x="7661182" y="2680712"/>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61" name="TextBox 60"/>
          <p:cNvSpPr txBox="1"/>
          <p:nvPr/>
        </p:nvSpPr>
        <p:spPr>
          <a:xfrm>
            <a:off x="7661183" y="5941597"/>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cxnSp>
        <p:nvCxnSpPr>
          <p:cNvPr id="62" name="Straight Arrow Connector 61"/>
          <p:cNvCxnSpPr>
            <a:stCxn id="59" idx="2"/>
            <a:endCxn id="61" idx="0"/>
          </p:cNvCxnSpPr>
          <p:nvPr/>
        </p:nvCxnSpPr>
        <p:spPr>
          <a:xfrm flipH="1">
            <a:off x="7823108" y="5277099"/>
            <a:ext cx="758901" cy="664498"/>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3" name="Content Placeholder 2"/>
          <p:cNvSpPr>
            <a:spLocks noGrp="1"/>
          </p:cNvSpPr>
          <p:nvPr>
            <p:ph idx="1"/>
          </p:nvPr>
        </p:nvSpPr>
        <p:spPr>
          <a:xfrm>
            <a:off x="1373950" y="2325681"/>
            <a:ext cx="4477925" cy="3016570"/>
          </a:xfrm>
        </p:spPr>
        <p:txBody>
          <a:bodyPr/>
          <a:lstStyle/>
          <a:p>
            <a:pPr marL="0" indent="0">
              <a:buNone/>
            </a:pPr>
            <a:r>
              <a:rPr lang="en-US" sz="1800" dirty="0">
                <a:solidFill>
                  <a:schemeClr val="tx1"/>
                </a:solidFill>
                <a:latin typeface="Calibri" pitchFamily="34" charset="0"/>
                <a:cs typeface="Calibri" pitchFamily="34" charset="0"/>
              </a:rPr>
              <a:t>void </a:t>
            </a:r>
            <a:r>
              <a:rPr lang="en-US" sz="1800" dirty="0" err="1">
                <a:solidFill>
                  <a:schemeClr val="tx1"/>
                </a:solidFill>
                <a:latin typeface="Calibri" pitchFamily="34" charset="0"/>
                <a:cs typeface="Calibri" pitchFamily="34" charset="0"/>
              </a:rPr>
              <a:t>buf_write</a:t>
            </a:r>
            <a:r>
              <a:rPr lang="en-US" sz="1800" dirty="0">
                <a:solidFill>
                  <a:schemeClr val="tx1"/>
                </a:solidFill>
                <a:latin typeface="Calibri" pitchFamily="34" charset="0"/>
                <a:cs typeface="Calibri" pitchFamily="34" charset="0"/>
              </a:rPr>
              <a:t>() {</a:t>
            </a: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int</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    if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&gt; MAX)</a:t>
            </a:r>
          </a:p>
          <a:p>
            <a:pPr marL="0" indent="0">
              <a:buNone/>
            </a:pPr>
            <a:r>
              <a:rPr lang="en-US" sz="1800" dirty="0">
                <a:solidFill>
                  <a:schemeClr val="tx1"/>
                </a:solidFill>
                <a:latin typeface="Calibri" pitchFamily="34" charset="0"/>
                <a:cs typeface="Calibri" pitchFamily="34" charset="0"/>
              </a:rPr>
              <a:t>        return;</a:t>
            </a:r>
          </a:p>
          <a:p>
            <a:pPr marL="0" indent="0">
              <a:buNone/>
            </a:pPr>
            <a:endParaRPr lang="en-US" sz="1800" dirty="0">
              <a:solidFill>
                <a:schemeClr val="tx1"/>
              </a:solidFill>
              <a:latin typeface="Calibri" pitchFamily="34" charset="0"/>
              <a:cs typeface="Calibri" pitchFamily="34" charset="0"/>
            </a:endParaRP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memcpy</a:t>
            </a:r>
            <a:r>
              <a:rPr lang="en-US" sz="1800" dirty="0">
                <a:solidFill>
                  <a:schemeClr val="tx1"/>
                </a:solidFill>
                <a:latin typeface="Calibri" pitchFamily="34" charset="0"/>
                <a:cs typeface="Calibri" pitchFamily="34" charset="0"/>
              </a:rPr>
              <a:t>(</a:t>
            </a:r>
            <a:r>
              <a:rPr lang="en-US" sz="1800" dirty="0" err="1">
                <a:solidFill>
                  <a:schemeClr val="tx1"/>
                </a:solidFill>
                <a:latin typeface="Calibri" pitchFamily="34" charset="0"/>
                <a:cs typeface="Calibri" pitchFamily="34" charset="0"/>
              </a:rPr>
              <a:t>buf</a:t>
            </a:r>
            <a:r>
              <a:rPr lang="en-US" sz="1800" dirty="0">
                <a:solidFill>
                  <a:schemeClr val="tx1"/>
                </a:solidFill>
                <a:latin typeface="Calibri" pitchFamily="34" charset="0"/>
                <a:cs typeface="Calibri" pitchFamily="34" charset="0"/>
              </a:rPr>
              <a:t>[</a:t>
            </a:r>
            <a:r>
              <a:rPr lang="en-US" sz="1800" b="1" dirty="0" err="1">
                <a:solidFill>
                  <a:schemeClr val="tx1"/>
                </a:solidFill>
                <a:latin typeface="Calibri" pitchFamily="34" charset="0"/>
                <a:cs typeface="Calibri" pitchFamily="34" charset="0"/>
              </a:rPr>
              <a:t>buf_len</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b="1" dirty="0">
                <a:solidFill>
                  <a:schemeClr val="tx1"/>
                </a:solidFill>
                <a:latin typeface="Calibri" pitchFamily="34" charset="0"/>
                <a:cs typeface="Calibri" pitchFamily="34" charset="0"/>
              </a:rPr>
              <a:t>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a:t>
            </a: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Patch Merg</a:t>
            </a:r>
            <a:r>
              <a:rPr lang="en-US" altLang="zh-CN" dirty="0">
                <a:latin typeface="Calibri" pitchFamily="34" charset="0"/>
                <a:cs typeface="Calibri" pitchFamily="34" charset="0"/>
              </a:rPr>
              <a:t>ing</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16</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22" name="Picture 2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7173" y="3892163"/>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3" name="Picture 2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8271" y="2225207"/>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47173" y="4441160"/>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7"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97797" y="3349512"/>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5"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32848" y="5456948"/>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6"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15284" y="545694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chemeClr val="accent1"/>
                </a:solidFill>
              </a14:hiddenFill>
            </a:ext>
          </a:extLst>
        </p:spPr>
      </p:pic>
      <p:pic>
        <p:nvPicPr>
          <p:cNvPr id="67" name="Picture 6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50158" y="309781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75" name="Content Placeholder 2"/>
          <p:cNvSpPr txBox="1">
            <a:spLocks/>
          </p:cNvSpPr>
          <p:nvPr/>
        </p:nvSpPr>
        <p:spPr>
          <a:xfrm>
            <a:off x="234601" y="2014401"/>
            <a:ext cx="1392317" cy="310025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Wingdings" charset="2"/>
              <a:buNone/>
            </a:pPr>
            <a:endParaRPr lang="en-US" sz="1800" dirty="0">
              <a:solidFill>
                <a:schemeClr val="tx1"/>
              </a:solidFill>
              <a:latin typeface="Calibri" pitchFamily="34" charset="0"/>
              <a:cs typeface="Calibri" pitchFamily="34" charset="0"/>
            </a:endParaRPr>
          </a:p>
          <a:p>
            <a:pPr marL="0" indent="0">
              <a:buFont typeface="Wingdings" charset="2"/>
              <a:buNone/>
            </a:pPr>
            <a:endParaRPr lang="en-US" sz="1800" dirty="0">
              <a:solidFill>
                <a:schemeClr val="tx1"/>
              </a:solidFill>
              <a:latin typeface="Calibri" pitchFamily="34" charset="0"/>
              <a:cs typeface="Calibri" pitchFamily="34" charset="0"/>
            </a:endParaRPr>
          </a:p>
          <a:p>
            <a:pPr marL="0" indent="0" algn="r">
              <a:buNone/>
            </a:pPr>
            <a:r>
              <a:rPr lang="en-US" sz="1800" b="1" i="1" dirty="0"/>
              <a:t>p1</a:t>
            </a: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r>
              <a:rPr lang="en-US" sz="1800" b="1" i="1" dirty="0"/>
              <a:t>c1  p2</a:t>
            </a:r>
          </a:p>
          <a:p>
            <a:pPr marL="0" indent="0" algn="r">
              <a:buNone/>
            </a:pPr>
            <a:r>
              <a:rPr lang="en-US" sz="1800" b="1" i="1" dirty="0"/>
              <a:t>r1  c2, r2</a:t>
            </a:r>
            <a:endParaRPr lang="en-US" sz="1800" dirty="0">
              <a:solidFill>
                <a:schemeClr val="tx1"/>
              </a:solidFill>
              <a:latin typeface="Calibri" pitchFamily="34" charset="0"/>
              <a:cs typeface="Calibri" pitchFamily="34" charset="0"/>
            </a:endParaRPr>
          </a:p>
        </p:txBody>
      </p:sp>
      <p:sp>
        <p:nvSpPr>
          <p:cNvPr id="82" name="Content Placeholder 2"/>
          <p:cNvSpPr txBox="1">
            <a:spLocks/>
          </p:cNvSpPr>
          <p:nvPr/>
        </p:nvSpPr>
        <p:spPr>
          <a:xfrm>
            <a:off x="557213" y="4985541"/>
            <a:ext cx="5534083"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Too many lock/unlock operations</a:t>
            </a:r>
          </a:p>
          <a:p>
            <a:r>
              <a:rPr lang="en-US" dirty="0">
                <a:solidFill>
                  <a:schemeClr val="tx1"/>
                </a:solidFill>
                <a:latin typeface="Calibri" pitchFamily="34" charset="0"/>
                <a:cs typeface="Calibri" pitchFamily="34" charset="0"/>
              </a:rPr>
              <a:t>Potential new deadlocks</a:t>
            </a:r>
          </a:p>
          <a:p>
            <a:r>
              <a:rPr lang="en-US" dirty="0">
                <a:solidFill>
                  <a:schemeClr val="tx1"/>
                </a:solidFill>
                <a:latin typeface="Calibri" pitchFamily="34" charset="0"/>
                <a:cs typeface="Calibri" pitchFamily="34" charset="0"/>
              </a:rPr>
              <a:t>May hurt performance and readability</a:t>
            </a:r>
          </a:p>
        </p:txBody>
      </p:sp>
      <p:sp>
        <p:nvSpPr>
          <p:cNvPr id="39" name="Content Placeholder 2"/>
          <p:cNvSpPr txBox="1">
            <a:spLocks/>
          </p:cNvSpPr>
          <p:nvPr/>
        </p:nvSpPr>
        <p:spPr>
          <a:xfrm>
            <a:off x="557212" y="1396506"/>
            <a:ext cx="8186721" cy="456285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One programming mistake can lead to multiple bug reports</a:t>
            </a:r>
          </a:p>
          <a:p>
            <a:pPr lvl="1"/>
            <a:r>
              <a:rPr lang="en-US" dirty="0">
                <a:solidFill>
                  <a:schemeClr val="tx1"/>
                </a:solidFill>
                <a:latin typeface="Calibri" pitchFamily="34" charset="0"/>
                <a:cs typeface="Calibri" pitchFamily="34" charset="0"/>
              </a:rPr>
              <a:t>They should be fixed all together</a:t>
            </a:r>
          </a:p>
        </p:txBody>
      </p:sp>
    </p:spTree>
    <p:extLst>
      <p:ext uri="{BB962C8B-B14F-4D97-AF65-F5344CB8AC3E}">
        <p14:creationId xmlns:p14="http://schemas.microsoft.com/office/powerpoint/2010/main" val="1570947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82">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82">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82">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1" grpId="0" animBg="1"/>
      <p:bldP spid="80" grpId="0" animBg="1"/>
      <p:bldP spid="79" grpId="0" animBg="1"/>
      <p:bldP spid="78" grpId="0" animBg="1"/>
      <p:bldP spid="76" grpId="0" animBg="1"/>
      <p:bldP spid="37" grpId="0" animBg="1"/>
      <p:bldP spid="38" grpId="0" animBg="1"/>
      <p:bldP spid="40" grpId="0" animBg="1"/>
      <p:bldP spid="41" grpId="0" animBg="1"/>
      <p:bldP spid="58" grpId="0" animBg="1"/>
      <p:bldP spid="59" grpId="0" animBg="1"/>
      <p:bldP spid="60" grpId="0" animBg="1"/>
      <p:bldP spid="61" grpId="0" animBg="1"/>
      <p:bldP spid="7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val 15"/>
          <p:cNvSpPr/>
          <p:nvPr/>
        </p:nvSpPr>
        <p:spPr>
          <a:xfrm>
            <a:off x="5453062" y="5050108"/>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p:cNvSpPr/>
          <p:nvPr/>
        </p:nvSpPr>
        <p:spPr>
          <a:xfrm>
            <a:off x="5453062" y="3665114"/>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453062" y="5050108"/>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Oval 1"/>
          <p:cNvSpPr/>
          <p:nvPr/>
        </p:nvSpPr>
        <p:spPr>
          <a:xfrm>
            <a:off x="2514600" y="3695701"/>
            <a:ext cx="1590675" cy="16573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Oval 3"/>
          <p:cNvSpPr/>
          <p:nvPr/>
        </p:nvSpPr>
        <p:spPr>
          <a:xfrm>
            <a:off x="2771775" y="4248148"/>
            <a:ext cx="1076326" cy="600075"/>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457200" y="678104"/>
            <a:ext cx="8029574" cy="5513946"/>
          </a:xfrm>
        </p:spPr>
        <p:txBody>
          <a:bodyPr/>
          <a:lstStyle/>
          <a:p>
            <a:r>
              <a:rPr lang="en-US" dirty="0">
                <a:solidFill>
                  <a:schemeClr val="tx1"/>
                </a:solidFill>
                <a:latin typeface="Calibri" pitchFamily="34" charset="0"/>
                <a:cs typeface="Calibri" pitchFamily="34" charset="0"/>
              </a:rPr>
              <a:t>Redundant patch, when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2</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2</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critical sections</a:t>
            </a:r>
          </a:p>
          <a:p>
            <a:pPr lvl="1"/>
            <a:r>
              <a:rPr lang="en-US" dirty="0">
                <a:solidFill>
                  <a:schemeClr val="tx1"/>
                </a:solidFill>
                <a:latin typeface="Calibri" pitchFamily="34" charset="0"/>
                <a:cs typeface="Calibri" pitchFamily="34" charset="0"/>
              </a:rPr>
              <a:t>are in the same function: redundant when one protected region is a subset of the other</a:t>
            </a:r>
          </a:p>
          <a:p>
            <a:pPr lvl="1"/>
            <a:r>
              <a:rPr lang="en-US" dirty="0">
                <a:solidFill>
                  <a:schemeClr val="tx1"/>
                </a:solidFill>
                <a:latin typeface="Calibri" pitchFamily="34" charset="0"/>
                <a:cs typeface="Calibri" pitchFamily="34" charset="0"/>
              </a:rPr>
              <a:t>are in different functions: consulting the stack trace again</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7" name="Title 1"/>
          <p:cNvSpPr txBox="1">
            <a:spLocks/>
          </p:cNvSpPr>
          <p:nvPr/>
        </p:nvSpPr>
        <p:spPr>
          <a:xfrm>
            <a:off x="0" y="115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a:t>
            </a:r>
            <a:r>
              <a:rPr lang="en-US" altLang="zh-CN" sz="2400" dirty="0">
                <a:latin typeface="Calibri" pitchFamily="34" charset="0"/>
                <a:cs typeface="Calibri" pitchFamily="34" charset="0"/>
              </a:rPr>
              <a:t> redundant patch</a:t>
            </a:r>
          </a:p>
        </p:txBody>
      </p:sp>
      <p:sp>
        <p:nvSpPr>
          <p:cNvPr id="6" name="TextBox 5"/>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c2</a:t>
            </a:r>
          </a:p>
          <a:p>
            <a:pPr algn="ctr"/>
            <a:r>
              <a:rPr lang="en-US" b="1" dirty="0"/>
              <a:t>unlock</a:t>
            </a:r>
            <a:r>
              <a:rPr lang="en-US" dirty="0"/>
              <a:t>(L2)</a:t>
            </a:r>
          </a:p>
          <a:p>
            <a:pPr algn="ctr"/>
            <a:r>
              <a:rPr lang="en-US" dirty="0"/>
              <a:t>c1</a:t>
            </a:r>
          </a:p>
          <a:p>
            <a:pPr algn="ctr"/>
            <a:r>
              <a:rPr lang="en-US" b="1" dirty="0"/>
              <a:t>unlock</a:t>
            </a:r>
            <a:r>
              <a:rPr lang="en-US" dirty="0"/>
              <a:t>(L1)</a:t>
            </a:r>
          </a:p>
        </p:txBody>
      </p:sp>
      <p:sp>
        <p:nvSpPr>
          <p:cNvPr id="8" name="TextBox 7"/>
          <p:cNvSpPr txBox="1"/>
          <p:nvPr/>
        </p:nvSpPr>
        <p:spPr>
          <a:xfrm>
            <a:off x="5057775" y="3394024"/>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9" name="TextBox 8"/>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17" name="TextBox 16"/>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c2</a:t>
            </a:r>
          </a:p>
          <a:p>
            <a:pPr algn="ctr"/>
            <a:endParaRPr lang="en-US" dirty="0"/>
          </a:p>
          <a:p>
            <a:pPr algn="ctr"/>
            <a:r>
              <a:rPr lang="en-US" dirty="0"/>
              <a:t>c1</a:t>
            </a:r>
          </a:p>
          <a:p>
            <a:pPr algn="ctr"/>
            <a:r>
              <a:rPr lang="en-US" b="1" dirty="0"/>
              <a:t>unlock</a:t>
            </a:r>
            <a:r>
              <a:rPr lang="en-US" dirty="0"/>
              <a:t>(L1)</a:t>
            </a:r>
          </a:p>
        </p:txBody>
      </p:sp>
      <p:sp>
        <p:nvSpPr>
          <p:cNvPr id="18" name="TextBox 17"/>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09163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1" nodeType="clickEffect">
                                  <p:stCondLst>
                                    <p:cond delay="0"/>
                                  </p:stCondLst>
                                  <p:childTnLst>
                                    <p:animEffect transition="out" filter="fade">
                                      <p:cBhvr>
                                        <p:cTn id="34" dur="500"/>
                                        <p:tgtEl>
                                          <p:spTgt spid="4"/>
                                        </p:tgtEl>
                                      </p:cBhvr>
                                    </p:animEffect>
                                    <p:set>
                                      <p:cBhvr>
                                        <p:cTn id="35" dur="1" fill="hold">
                                          <p:stCondLst>
                                            <p:cond delay="499"/>
                                          </p:stCondLst>
                                        </p:cTn>
                                        <p:tgtEl>
                                          <p:spTgt spid="4"/>
                                        </p:tgtEl>
                                        <p:attrNameLst>
                                          <p:attrName>style.visibility</p:attrName>
                                        </p:attrNameLst>
                                      </p:cBhvr>
                                      <p:to>
                                        <p:strVal val="hidden"/>
                                      </p:to>
                                    </p:set>
                                  </p:childTnLst>
                                </p:cTn>
                              </p:par>
                              <p:par>
                                <p:cTn id="36" presetID="10" presetClass="exit" presetSubtype="0" fill="hold" grpId="1" nodeType="withEffect">
                                  <p:stCondLst>
                                    <p:cond delay="0"/>
                                  </p:stCondLst>
                                  <p:childTnLst>
                                    <p:animEffect transition="out" filter="fade">
                                      <p:cBhvr>
                                        <p:cTn id="37" dur="500"/>
                                        <p:tgtEl>
                                          <p:spTgt spid="12"/>
                                        </p:tgtEl>
                                      </p:cBhvr>
                                    </p:animEffect>
                                    <p:set>
                                      <p:cBhvr>
                                        <p:cTn id="38" dur="1" fill="hold">
                                          <p:stCondLst>
                                            <p:cond delay="499"/>
                                          </p:stCondLst>
                                        </p:cTn>
                                        <p:tgtEl>
                                          <p:spTgt spid="12"/>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0" presetClass="exit" presetSubtype="0" fill="hold" grpId="1" nodeType="withEffect">
                                  <p:stCondLst>
                                    <p:cond delay="0"/>
                                  </p:stCondLst>
                                  <p:childTnLst>
                                    <p:animEffect transition="out" filter="fade">
                                      <p:cBhvr>
                                        <p:cTn id="42" dur="500"/>
                                        <p:tgtEl>
                                          <p:spTgt spid="6"/>
                                        </p:tgtEl>
                                      </p:cBhvr>
                                    </p:animEffect>
                                    <p:set>
                                      <p:cBhvr>
                                        <p:cTn id="43" dur="1" fill="hold">
                                          <p:stCondLst>
                                            <p:cond delay="499"/>
                                          </p:stCondLst>
                                        </p:cTn>
                                        <p:tgtEl>
                                          <p:spTgt spid="6"/>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500"/>
                                        <p:tgtEl>
                                          <p:spTgt spid="9"/>
                                        </p:tgtEl>
                                      </p:cBhvr>
                                    </p:animEffect>
                                    <p:set>
                                      <p:cBhvr>
                                        <p:cTn id="46" dur="1" fill="hold">
                                          <p:stCondLst>
                                            <p:cond delay="499"/>
                                          </p:stCondLst>
                                        </p:cTn>
                                        <p:tgtEl>
                                          <p:spTgt spid="9"/>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4" grpId="0" animBg="1"/>
      <p:bldP spid="12" grpId="0" animBg="1"/>
      <p:bldP spid="12" grpId="1" animBg="1"/>
      <p:bldP spid="2" grpId="0" animBg="1"/>
      <p:bldP spid="4" grpId="0" animBg="1"/>
      <p:bldP spid="4" grpId="1" animBg="1"/>
      <p:bldP spid="6" grpId="0"/>
      <p:bldP spid="6" grpId="1"/>
      <p:bldP spid="8" grpId="0"/>
      <p:bldP spid="9" grpId="0"/>
      <p:bldP spid="9" grpId="1"/>
      <p:bldP spid="17" grpId="0"/>
      <p:bldP spid="1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Oval 27"/>
          <p:cNvSpPr/>
          <p:nvPr/>
        </p:nvSpPr>
        <p:spPr>
          <a:xfrm>
            <a:off x="2488107" y="3228974"/>
            <a:ext cx="1590676" cy="1657352"/>
          </a:xfrm>
          <a:custGeom>
            <a:avLst/>
            <a:gdLst/>
            <a:ahLst/>
            <a:cxnLst/>
            <a:rect l="l" t="t" r="r" b="b"/>
            <a:pathLst>
              <a:path w="1590676" h="1657352">
                <a:moveTo>
                  <a:pt x="795338" y="0"/>
                </a:moveTo>
                <a:cubicBezTo>
                  <a:pt x="1234591" y="0"/>
                  <a:pt x="1590676" y="242509"/>
                  <a:pt x="1590676" y="541659"/>
                </a:cubicBezTo>
                <a:cubicBezTo>
                  <a:pt x="1590676" y="647604"/>
                  <a:pt x="1546014" y="746445"/>
                  <a:pt x="1467461" y="828676"/>
                </a:cubicBezTo>
                <a:lnTo>
                  <a:pt x="1467461" y="828676"/>
                </a:lnTo>
                <a:cubicBezTo>
                  <a:pt x="1546014" y="910907"/>
                  <a:pt x="1590676" y="1009748"/>
                  <a:pt x="1590676" y="1115693"/>
                </a:cubicBezTo>
                <a:cubicBezTo>
                  <a:pt x="1590676" y="1221638"/>
                  <a:pt x="1546014" y="1320479"/>
                  <a:pt x="1467461" y="1402710"/>
                </a:cubicBezTo>
                <a:cubicBezTo>
                  <a:pt x="1328027" y="1556198"/>
                  <a:pt x="1079028" y="1657352"/>
                  <a:pt x="795338" y="1657352"/>
                </a:cubicBezTo>
                <a:cubicBezTo>
                  <a:pt x="511648" y="1657352"/>
                  <a:pt x="262649" y="1556198"/>
                  <a:pt x="123215" y="1402710"/>
                </a:cubicBezTo>
                <a:cubicBezTo>
                  <a:pt x="44662" y="1320479"/>
                  <a:pt x="0" y="1221638"/>
                  <a:pt x="0" y="1115693"/>
                </a:cubicBezTo>
                <a:cubicBezTo>
                  <a:pt x="0" y="1009748"/>
                  <a:pt x="44662" y="910907"/>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 name="Oval 27"/>
          <p:cNvSpPr/>
          <p:nvPr/>
        </p:nvSpPr>
        <p:spPr>
          <a:xfrm>
            <a:off x="2488107" y="3228975"/>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27"/>
          <p:cNvSpPr/>
          <p:nvPr/>
        </p:nvSpPr>
        <p:spPr>
          <a:xfrm>
            <a:off x="2488107" y="3803009"/>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8" name="Oval 27"/>
          <p:cNvSpPr/>
          <p:nvPr/>
        </p:nvSpPr>
        <p:spPr>
          <a:xfrm>
            <a:off x="2611322" y="3803009"/>
            <a:ext cx="1344246" cy="509285"/>
          </a:xfrm>
          <a:custGeom>
            <a:avLst/>
            <a:gdLst/>
            <a:ahLst/>
            <a:cxnLst/>
            <a:rect l="l" t="t" r="r" b="b"/>
            <a:pathLst>
              <a:path w="1344246" h="509285">
                <a:moveTo>
                  <a:pt x="672123" y="0"/>
                </a:moveTo>
                <a:cubicBezTo>
                  <a:pt x="955813" y="0"/>
                  <a:pt x="1204812" y="101155"/>
                  <a:pt x="1344246" y="254643"/>
                </a:cubicBezTo>
                <a:cubicBezTo>
                  <a:pt x="1204812" y="408131"/>
                  <a:pt x="955813" y="509285"/>
                  <a:pt x="672123" y="509285"/>
                </a:cubicBezTo>
                <a:cubicBezTo>
                  <a:pt x="388433" y="509285"/>
                  <a:pt x="139434" y="408131"/>
                  <a:pt x="0" y="254643"/>
                </a:cubicBezTo>
                <a:cubicBezTo>
                  <a:pt x="139434" y="101155"/>
                  <a:pt x="388433" y="0"/>
                  <a:pt x="672123" y="0"/>
                </a:cubicBezTo>
                <a:close/>
              </a:path>
            </a:pathLst>
          </a:custGeom>
        </p:spPr>
        <p:style>
          <a:lnRef idx="1">
            <a:schemeClr val="accent4"/>
          </a:lnRef>
          <a:fillRef idx="3">
            <a:schemeClr val="accent4"/>
          </a:fillRef>
          <a:effectRef idx="2">
            <a:schemeClr val="accent4"/>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7213" y="1591056"/>
            <a:ext cx="8042038" cy="1074323"/>
          </a:xfrm>
        </p:spPr>
        <p:txBody>
          <a:bodyPr>
            <a:normAutofit fontScale="85000" lnSpcReduction="10000"/>
          </a:bodyPr>
          <a:lstStyle/>
          <a:p>
            <a:r>
              <a:rPr lang="en-US" dirty="0">
                <a:solidFill>
                  <a:schemeClr val="tx1"/>
                </a:solidFill>
                <a:latin typeface="Calibri" pitchFamily="34" charset="0"/>
                <a:cs typeface="Calibri" pitchFamily="34" charset="0"/>
              </a:rPr>
              <a:t>Related patch</a:t>
            </a:r>
          </a:p>
          <a:p>
            <a:pPr lvl="1"/>
            <a:r>
              <a:rPr lang="en-US" dirty="0">
                <a:solidFill>
                  <a:schemeClr val="tx1"/>
                </a:solidFill>
                <a:latin typeface="Calibri" pitchFamily="34" charset="0"/>
                <a:cs typeface="Calibri" pitchFamily="34" charset="0"/>
              </a:rPr>
              <a:t>Merge if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or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is in some other patch’s critical sections</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 </a:t>
            </a:r>
            <a:r>
              <a:rPr lang="en-US" altLang="zh-CN" sz="2400" dirty="0">
                <a:latin typeface="Calibri" pitchFamily="34" charset="0"/>
                <a:cs typeface="Calibri" pitchFamily="34" charset="0"/>
              </a:rPr>
              <a:t>related patch</a:t>
            </a:r>
            <a:endParaRPr lang="en-US" altLang="zh-CN" dirty="0">
              <a:latin typeface="Calibri" pitchFamily="34" charset="0"/>
              <a:cs typeface="Calibri" pitchFamily="34" charset="0"/>
            </a:endParaRPr>
          </a:p>
        </p:txBody>
      </p:sp>
      <p:sp>
        <p:nvSpPr>
          <p:cNvPr id="15" name="Oval 14"/>
          <p:cNvSpPr/>
          <p:nvPr/>
        </p:nvSpPr>
        <p:spPr>
          <a:xfrm>
            <a:off x="5453062" y="4583383"/>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p:cNvSpPr/>
          <p:nvPr/>
        </p:nvSpPr>
        <p:spPr>
          <a:xfrm>
            <a:off x="5453062" y="3198389"/>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p:cNvSpPr/>
          <p:nvPr/>
        </p:nvSpPr>
        <p:spPr>
          <a:xfrm>
            <a:off x="5453062" y="4583383"/>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3" name="TextBox 22"/>
          <p:cNvSpPr txBox="1"/>
          <p:nvPr/>
        </p:nvSpPr>
        <p:spPr>
          <a:xfrm>
            <a:off x="2611627" y="2906613"/>
            <a:ext cx="134363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c1</a:t>
            </a:r>
          </a:p>
          <a:p>
            <a:pPr algn="ctr"/>
            <a:r>
              <a:rPr lang="en-US" b="1" dirty="0"/>
              <a:t>unlock</a:t>
            </a:r>
            <a:r>
              <a:rPr lang="en-US" dirty="0"/>
              <a:t>(L1)</a:t>
            </a:r>
          </a:p>
          <a:p>
            <a:pPr algn="ctr"/>
            <a:r>
              <a:rPr lang="en-US" dirty="0"/>
              <a:t>c2</a:t>
            </a:r>
          </a:p>
          <a:p>
            <a:pPr algn="ctr"/>
            <a:r>
              <a:rPr lang="en-US" b="1" dirty="0"/>
              <a:t>unlock</a:t>
            </a:r>
            <a:r>
              <a:rPr lang="en-US" dirty="0"/>
              <a:t>(L2)</a:t>
            </a:r>
          </a:p>
        </p:txBody>
      </p:sp>
      <p:sp>
        <p:nvSpPr>
          <p:cNvPr id="24" name="TextBox 23"/>
          <p:cNvSpPr txBox="1"/>
          <p:nvPr/>
        </p:nvSpPr>
        <p:spPr>
          <a:xfrm>
            <a:off x="5057775" y="2927299"/>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25" name="TextBox 24"/>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26" name="TextBox 25"/>
          <p:cNvSpPr txBox="1"/>
          <p:nvPr/>
        </p:nvSpPr>
        <p:spPr>
          <a:xfrm>
            <a:off x="2572947" y="2906613"/>
            <a:ext cx="142099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c1</a:t>
            </a:r>
          </a:p>
          <a:p>
            <a:pPr algn="ctr"/>
            <a:endParaRPr lang="en-US" dirty="0"/>
          </a:p>
          <a:p>
            <a:pPr algn="ctr"/>
            <a:r>
              <a:rPr lang="en-US" dirty="0"/>
              <a:t>c2</a:t>
            </a:r>
          </a:p>
          <a:p>
            <a:pPr algn="ctr"/>
            <a:r>
              <a:rPr lang="en-US" b="1" dirty="0"/>
              <a:t>unlock</a:t>
            </a:r>
            <a:r>
              <a:rPr lang="en-US" dirty="0"/>
              <a:t>(L1)</a:t>
            </a:r>
          </a:p>
        </p:txBody>
      </p:sp>
      <p:sp>
        <p:nvSpPr>
          <p:cNvPr id="27" name="TextBox 26"/>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2565912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20"/>
                                        </p:tgtEl>
                                      </p:cBhvr>
                                    </p:animEffect>
                                    <p:set>
                                      <p:cBhvr>
                                        <p:cTn id="31" dur="1" fill="hold">
                                          <p:stCondLst>
                                            <p:cond delay="499"/>
                                          </p:stCondLst>
                                        </p:cTn>
                                        <p:tgtEl>
                                          <p:spTgt spid="20"/>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childTnLst>
                                </p:cTn>
                              </p:par>
                              <p:par>
                                <p:cTn id="34" presetID="10" presetClass="exit" presetSubtype="0" fill="hold" grpId="1" nodeType="withEffect">
                                  <p:stCondLst>
                                    <p:cond delay="0"/>
                                  </p:stCondLst>
                                  <p:childTnLst>
                                    <p:animEffect transition="out" filter="fade">
                                      <p:cBhvr>
                                        <p:cTn id="35" dur="500"/>
                                        <p:tgtEl>
                                          <p:spTgt spid="23"/>
                                        </p:tgtEl>
                                      </p:cBhvr>
                                    </p:animEffect>
                                    <p:set>
                                      <p:cBhvr>
                                        <p:cTn id="36" dur="1" fill="hold">
                                          <p:stCondLst>
                                            <p:cond delay="499"/>
                                          </p:stCondLst>
                                        </p:cTn>
                                        <p:tgtEl>
                                          <p:spTgt spid="23"/>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500"/>
                                        <p:tgtEl>
                                          <p:spTgt spid="25"/>
                                        </p:tgtEl>
                                      </p:cBhvr>
                                    </p:animEffect>
                                    <p:set>
                                      <p:cBhvr>
                                        <p:cTn id="39" dur="1" fill="hold">
                                          <p:stCondLst>
                                            <p:cond delay="499"/>
                                          </p:stCondLst>
                                        </p:cTn>
                                        <p:tgtEl>
                                          <p:spTgt spid="25"/>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par>
                                <p:cTn id="46" presetID="1" presetClass="exit" presetSubtype="0" fill="hold" grpId="1" nodeType="withEffect">
                                  <p:stCondLst>
                                    <p:cond delay="0"/>
                                  </p:stCondLst>
                                  <p:childTnLst>
                                    <p:set>
                                      <p:cBhvr>
                                        <p:cTn id="47" dur="1" fill="hold">
                                          <p:stCondLst>
                                            <p:cond delay="0"/>
                                          </p:stCondLst>
                                        </p:cTn>
                                        <p:tgtEl>
                                          <p:spTgt spid="3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xit" presetSubtype="0" fill="hold" grpId="1" nodeType="withEffect">
                                  <p:stCondLst>
                                    <p:cond delay="0"/>
                                  </p:stCondLst>
                                  <p:childTnLst>
                                    <p:set>
                                      <p:cBhvr>
                                        <p:cTn id="51" dur="1" fill="hold">
                                          <p:stCondLst>
                                            <p:cond delay="0"/>
                                          </p:stCondLst>
                                        </p:cTn>
                                        <p:tgtEl>
                                          <p:spTgt spid="28"/>
                                        </p:tgtEl>
                                        <p:attrNameLst>
                                          <p:attrName>style.visibility</p:attrName>
                                        </p:attrNameLst>
                                      </p:cBhvr>
                                      <p:to>
                                        <p:strVal val="hidden"/>
                                      </p:to>
                                    </p:se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3" grpId="0" animBg="1"/>
      <p:bldP spid="33" grpId="1" animBg="1"/>
      <p:bldP spid="35" grpId="0" animBg="1"/>
      <p:bldP spid="35" grpId="1" animBg="1"/>
      <p:bldP spid="28" grpId="0" animBg="1"/>
      <p:bldP spid="28" grpId="1" animBg="1"/>
      <p:bldP spid="15" grpId="0" animBg="1"/>
      <p:bldP spid="19" grpId="0" animBg="1"/>
      <p:bldP spid="20" grpId="0" animBg="1"/>
      <p:bldP spid="20" grpId="1" animBg="1"/>
      <p:bldP spid="23" grpId="0"/>
      <p:bldP spid="23" grpId="1"/>
      <p:bldP spid="24" grpId="0"/>
      <p:bldP spid="25" grpId="0"/>
      <p:bldP spid="25" grpId="1"/>
      <p:bldP spid="26" grpId="0"/>
      <p:bldP spid="27"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1056"/>
            <a:ext cx="8029574" cy="4609719"/>
          </a:xfrm>
        </p:spPr>
        <p:txBody>
          <a:bodyPr/>
          <a:lstStyle/>
          <a:p>
            <a:pPr marL="342900" lvl="1" indent="-342900"/>
            <a:r>
              <a:rPr lang="en-US" sz="2800" dirty="0">
                <a:solidFill>
                  <a:schemeClr val="tx1"/>
                </a:solidFill>
                <a:latin typeface="Calibri" pitchFamily="34" charset="0"/>
                <a:cs typeface="Calibri" pitchFamily="34" charset="0"/>
              </a:rPr>
              <a:t>Runtime support to handle deadlock</a:t>
            </a:r>
          </a:p>
          <a:p>
            <a:pPr lvl="1"/>
            <a:r>
              <a:rPr lang="en-US" sz="2600" dirty="0">
                <a:solidFill>
                  <a:schemeClr val="tx1"/>
                </a:solidFill>
                <a:latin typeface="Calibri" pitchFamily="34" charset="0"/>
                <a:cs typeface="Calibri" pitchFamily="34" charset="0"/>
              </a:rPr>
              <a:t>Lightweight patch-oriented deadlock detection</a:t>
            </a:r>
          </a:p>
          <a:p>
            <a:pPr lvl="2"/>
            <a:r>
              <a:rPr lang="en-US" sz="2400" dirty="0">
                <a:solidFill>
                  <a:schemeClr val="tx1"/>
                </a:solidFill>
                <a:latin typeface="Calibri" pitchFamily="34" charset="0"/>
                <a:cs typeface="Calibri" pitchFamily="34" charset="0"/>
              </a:rPr>
              <a:t>Whether timeout is caused by potential deadlock?</a:t>
            </a:r>
          </a:p>
          <a:p>
            <a:pPr lvl="2"/>
            <a:r>
              <a:rPr lang="en-US" sz="2400" dirty="0">
                <a:solidFill>
                  <a:schemeClr val="tx1"/>
                </a:solidFill>
                <a:latin typeface="Calibri" pitchFamily="34" charset="0"/>
                <a:cs typeface="Calibri" pitchFamily="34" charset="0"/>
              </a:rPr>
              <a:t>Only detect deadlocks caused by the patches</a:t>
            </a:r>
          </a:p>
          <a:p>
            <a:pPr lvl="2"/>
            <a:r>
              <a:rPr lang="en-US" sz="2400" dirty="0">
                <a:solidFill>
                  <a:schemeClr val="tx1"/>
                </a:solidFill>
                <a:latin typeface="Calibri" pitchFamily="34" charset="0"/>
                <a:cs typeface="Calibri" pitchFamily="34" charset="0"/>
              </a:rPr>
              <a:t>Has low-overhead, and suitable for production runs</a:t>
            </a:r>
          </a:p>
          <a:p>
            <a:pPr lvl="2"/>
            <a:r>
              <a:rPr lang="en-US" sz="2400" dirty="0">
                <a:solidFill>
                  <a:schemeClr val="tx1"/>
                </a:solidFill>
                <a:latin typeface="Calibri" pitchFamily="34" charset="0"/>
                <a:cs typeface="Calibri" pitchFamily="34" charset="0"/>
              </a:rPr>
              <a:t>Help patch refinement</a:t>
            </a:r>
          </a:p>
          <a:p>
            <a:pPr lvl="1"/>
            <a:r>
              <a:rPr lang="en-US" sz="2600" dirty="0">
                <a:solidFill>
                  <a:schemeClr val="tx1"/>
                </a:solidFill>
                <a:latin typeface="Calibri" pitchFamily="34" charset="0"/>
                <a:cs typeface="Calibri" pitchFamily="34" charset="0"/>
              </a:rPr>
              <a:t>Traditional deadlock detection</a:t>
            </a:r>
          </a:p>
          <a:p>
            <a:pPr lvl="1"/>
            <a:endParaRPr lang="en-US" sz="2600" dirty="0">
              <a:solidFill>
                <a:schemeClr val="tx1"/>
              </a:solidFill>
              <a:latin typeface="Calibri" pitchFamily="34" charset="0"/>
              <a:cs typeface="Calibri" pitchFamily="34" charset="0"/>
            </a:endParaRPr>
          </a:p>
          <a:p>
            <a:r>
              <a:rPr lang="en-US" altLang="zh-CN" sz="2800" dirty="0">
                <a:solidFill>
                  <a:schemeClr val="tx1"/>
                </a:solidFill>
                <a:latin typeface="Calibri" pitchFamily="34" charset="0"/>
                <a:cs typeface="Calibri" pitchFamily="34" charset="0"/>
              </a:rPr>
              <a:t>In-house patch testing</a:t>
            </a:r>
            <a:endParaRPr lang="en-US" sz="2800" strike="sngStrike"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Runtime Support and Testing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19</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654131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Evaluation: Overall Patch Quality</a:t>
            </a:r>
            <a:endParaRPr lang="en-US" dirty="0">
              <a:latin typeface="Calibri" pitchFamily="34" charset="0"/>
              <a:cs typeface="Calibri" pitchFamily="34" charset="0"/>
            </a:endParaRPr>
          </a:p>
        </p:txBody>
      </p:sp>
      <p:graphicFrame>
        <p:nvGraphicFramePr>
          <p:cNvPr id="7" name="Content Placeholder 3"/>
          <p:cNvGraphicFramePr>
            <a:graphicFrameLocks noGrp="1"/>
          </p:cNvGraphicFramePr>
          <p:nvPr>
            <p:ph sz="quarter" idx="1"/>
          </p:nvPr>
        </p:nvGraphicFramePr>
        <p:xfrm>
          <a:off x="457200" y="1628775"/>
          <a:ext cx="8229600" cy="3337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70840">
                <a:tc>
                  <a:txBody>
                    <a:bodyPr/>
                    <a:lstStyle/>
                    <a:p>
                      <a:r>
                        <a:rPr lang="en-US" dirty="0">
                          <a:latin typeface="Calibri" pitchFamily="34" charset="0"/>
                          <a:cs typeface="Calibri" pitchFamily="34" charset="0"/>
                        </a:rPr>
                        <a:t>Bug</a:t>
                      </a:r>
                    </a:p>
                  </a:txBody>
                  <a:tcPr marL="44909" marR="44909"/>
                </a:tc>
                <a:tc>
                  <a:txBody>
                    <a:bodyPr/>
                    <a:lstStyle/>
                    <a:p>
                      <a:pPr algn="ctr"/>
                      <a:r>
                        <a:rPr lang="en-US" dirty="0">
                          <a:latin typeface="Calibri" pitchFamily="34" charset="0"/>
                          <a:cs typeface="Calibri" pitchFamily="34" charset="0"/>
                        </a:rPr>
                        <a:t>Naïve</a:t>
                      </a:r>
                    </a:p>
                  </a:txBody>
                  <a:tcPr marL="44909" marR="44909"/>
                </a:tc>
                <a:tc>
                  <a:txBody>
                    <a:bodyPr/>
                    <a:lstStyle/>
                    <a:p>
                      <a:pPr algn="ctr"/>
                      <a:r>
                        <a:rPr lang="en-US" dirty="0">
                          <a:latin typeface="Calibri" pitchFamily="34" charset="0"/>
                          <a:cs typeface="Calibri" pitchFamily="34" charset="0"/>
                        </a:rPr>
                        <a:t>Unmerged</a:t>
                      </a:r>
                    </a:p>
                  </a:txBody>
                  <a:tcPr marL="44909" marR="44909"/>
                </a:tc>
                <a:tc>
                  <a:txBody>
                    <a:bodyPr/>
                    <a:lstStyle/>
                    <a:p>
                      <a:pPr algn="ctr"/>
                      <a:r>
                        <a:rPr lang="en-US" dirty="0">
                          <a:latin typeface="Calibri" pitchFamily="34" charset="0"/>
                          <a:cs typeface="Calibri" pitchFamily="34" charset="0"/>
                        </a:rPr>
                        <a:t>Merged</a:t>
                      </a:r>
                    </a:p>
                  </a:txBody>
                  <a:tcPr marL="44909" marR="44909"/>
                </a:tc>
                <a:tc>
                  <a:txBody>
                    <a:bodyPr/>
                    <a:lstStyle/>
                    <a:p>
                      <a:pPr algn="ctr"/>
                      <a:r>
                        <a:rPr lang="en-US" dirty="0">
                          <a:latin typeface="Calibri" pitchFamily="34" charset="0"/>
                          <a:cs typeface="Calibri" pitchFamily="34" charset="0"/>
                        </a:rPr>
                        <a:t>Manual</a:t>
                      </a:r>
                    </a:p>
                  </a:txBody>
                  <a:tcPr marL="44909" marR="44909"/>
                </a:tc>
                <a:extLst>
                  <a:ext uri="{0D108BD9-81ED-4DB2-BD59-A6C34878D82A}">
                    <a16:rowId xmlns:a16="http://schemas.microsoft.com/office/drawing/2014/main" val="10000"/>
                  </a:ext>
                </a:extLst>
              </a:tr>
              <a:tr h="370840">
                <a:tc>
                  <a:txBody>
                    <a:bodyPr/>
                    <a:lstStyle/>
                    <a:p>
                      <a:r>
                        <a:rPr lang="en-US" dirty="0">
                          <a:latin typeface="Calibri" pitchFamily="34" charset="0"/>
                          <a:cs typeface="Calibri" pitchFamily="34" charset="0"/>
                        </a:rPr>
                        <a:t>Apache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1"/>
                  </a:ext>
                </a:extLst>
              </a:tr>
              <a:tr h="370840">
                <a:tc>
                  <a:txBody>
                    <a:bodyPr/>
                    <a:lstStyle/>
                    <a:p>
                      <a:r>
                        <a:rPr lang="en-US" dirty="0">
                          <a:latin typeface="Calibri" pitchFamily="34" charset="0"/>
                          <a:cs typeface="Calibri" pitchFamily="34" charset="0"/>
                        </a:rPr>
                        <a:t>MySQL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2"/>
                  </a:ext>
                </a:extLst>
              </a:tr>
              <a:tr h="370840">
                <a:tc>
                  <a:txBody>
                    <a:bodyPr/>
                    <a:lstStyle/>
                    <a:p>
                      <a:r>
                        <a:rPr lang="en-US" dirty="0">
                          <a:latin typeface="Calibri" pitchFamily="34" charset="0"/>
                          <a:cs typeface="Calibri" pitchFamily="34" charset="0"/>
                        </a:rPr>
                        <a:t>MySQL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3"/>
                  </a:ext>
                </a:extLst>
              </a:tr>
              <a:tr h="370840">
                <a:tc>
                  <a:txBody>
                    <a:bodyPr/>
                    <a:lstStyle/>
                    <a:p>
                      <a:r>
                        <a:rPr lang="en-US" dirty="0">
                          <a:latin typeface="Calibri" pitchFamily="34" charset="0"/>
                          <a:cs typeface="Calibri" pitchFamily="34" charset="0"/>
                        </a:rPr>
                        <a:t>Mozilla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4"/>
                  </a:ext>
                </a:extLst>
              </a:tr>
              <a:tr h="370840">
                <a:tc>
                  <a:txBody>
                    <a:bodyPr/>
                    <a:lstStyle/>
                    <a:p>
                      <a:r>
                        <a:rPr lang="en-US" dirty="0">
                          <a:latin typeface="Calibri" pitchFamily="34" charset="0"/>
                          <a:cs typeface="Calibri" pitchFamily="34" charset="0"/>
                        </a:rPr>
                        <a:t>Mozilla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5"/>
                  </a:ext>
                </a:extLst>
              </a:tr>
              <a:tr h="370840">
                <a:tc>
                  <a:txBody>
                    <a:bodyPr/>
                    <a:lstStyle/>
                    <a:p>
                      <a:r>
                        <a:rPr lang="en-US" dirty="0">
                          <a:latin typeface="Calibri" pitchFamily="34" charset="0"/>
                          <a:cs typeface="Calibri" pitchFamily="34" charset="0"/>
                        </a:rPr>
                        <a:t>Cherokee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6"/>
                  </a:ext>
                </a:extLst>
              </a:tr>
              <a:tr h="370840">
                <a:tc>
                  <a:txBody>
                    <a:bodyPr/>
                    <a:lstStyle/>
                    <a:p>
                      <a:r>
                        <a:rPr lang="en-US" dirty="0">
                          <a:latin typeface="Calibri" pitchFamily="34" charset="0"/>
                          <a:cs typeface="Calibri" pitchFamily="34" charset="0"/>
                        </a:rPr>
                        <a:t>FFT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7"/>
                  </a:ext>
                </a:extLst>
              </a:tr>
              <a:tr h="370840">
                <a:tc>
                  <a:txBody>
                    <a:bodyPr/>
                    <a:lstStyle/>
                    <a:p>
                      <a:r>
                        <a:rPr lang="en-US" dirty="0">
                          <a:latin typeface="Calibri" pitchFamily="34" charset="0"/>
                          <a:cs typeface="Calibri" pitchFamily="34" charset="0"/>
                        </a:rPr>
                        <a:t>PBZIP2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8"/>
                  </a:ext>
                </a:extLst>
              </a:tr>
            </a:tbl>
          </a:graphicData>
        </a:graphic>
      </p:graphicFrame>
      <p:sp>
        <p:nvSpPr>
          <p:cNvPr id="9" name="Content Placeholder 2"/>
          <p:cNvSpPr txBox="1">
            <a:spLocks/>
          </p:cNvSpPr>
          <p:nvPr/>
        </p:nvSpPr>
        <p:spPr>
          <a:xfrm>
            <a:off x="345282" y="5133974"/>
            <a:ext cx="8453437" cy="158012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Patched failure rates: 0%		</a:t>
            </a:r>
            <a:r>
              <a:rPr lang="en-US" sz="1800" dirty="0">
                <a:solidFill>
                  <a:schemeClr val="tx1"/>
                </a:solidFill>
                <a:latin typeface="Calibri" pitchFamily="34" charset="0"/>
                <a:cs typeface="Calibri" pitchFamily="34" charset="0"/>
              </a:rPr>
              <a:t>(except PBZIP2 and FFT)</a:t>
            </a:r>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Patched overheads: &lt;0.6%	</a:t>
            </a:r>
            <a:r>
              <a:rPr lang="en-US" sz="1800" dirty="0">
                <a:solidFill>
                  <a:schemeClr val="tx1"/>
                </a:solidFill>
                <a:latin typeface="Calibri" pitchFamily="34" charset="0"/>
                <a:cs typeface="Calibri" pitchFamily="34" charset="0"/>
              </a:rPr>
              <a:t>(except PBZIP2)</a:t>
            </a:r>
          </a:p>
          <a:p>
            <a:pPr lvl="1"/>
            <a:r>
              <a:rPr lang="en-US" dirty="0">
                <a:solidFill>
                  <a:schemeClr val="tx1"/>
                </a:solidFill>
                <a:latin typeface="Calibri" pitchFamily="34" charset="0"/>
                <a:cs typeface="Calibri" pitchFamily="34" charset="0"/>
              </a:rPr>
              <a:t>With timeout triggered deadlock detection</a:t>
            </a:r>
          </a:p>
        </p:txBody>
      </p:sp>
      <p:sp>
        <p:nvSpPr>
          <p:cNvPr id="4" name="Rectangle 3"/>
          <p:cNvSpPr/>
          <p:nvPr/>
        </p:nvSpPr>
        <p:spPr>
          <a:xfrm>
            <a:off x="2228850" y="1990725"/>
            <a:ext cx="1390650" cy="3000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p:cNvSpPr/>
          <p:nvPr/>
        </p:nvSpPr>
        <p:spPr>
          <a:xfrm>
            <a:off x="3876675" y="1990726"/>
            <a:ext cx="3028950" cy="381000"/>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p:cNvSpPr/>
          <p:nvPr/>
        </p:nvSpPr>
        <p:spPr>
          <a:xfrm>
            <a:off x="3876675" y="4229100"/>
            <a:ext cx="3028950" cy="761999"/>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13" name="Rectangle 12"/>
          <p:cNvSpPr/>
          <p:nvPr/>
        </p:nvSpPr>
        <p:spPr>
          <a:xfrm>
            <a:off x="3876675" y="2371726"/>
            <a:ext cx="1390650" cy="1857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p:cNvSpPr/>
          <p:nvPr/>
        </p:nvSpPr>
        <p:spPr>
          <a:xfrm>
            <a:off x="5514975" y="1990727"/>
            <a:ext cx="1390650" cy="2238374"/>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87889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4"/>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0" end="0"/>
                                            </p:txEl>
                                          </p:spTgt>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0"/>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1" end="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0" grpId="0" animBg="1"/>
      <p:bldP spid="10" grpId="1" animBg="1"/>
      <p:bldP spid="11" grpId="0" animBg="1"/>
      <p:bldP spid="11" grpId="1" animBg="1"/>
      <p:bldP spid="13" grpId="0" animBg="1"/>
      <p:bldP spid="13" grpId="1" animBg="1"/>
      <p:bldP spid="14" grpId="0" animBg="1"/>
      <p:bldP spid="14"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Conclusion</a:t>
            </a:r>
            <a:endParaRPr lang="en-US" dirty="0">
              <a:latin typeface="Calibri" pitchFamily="34" charset="0"/>
              <a:cs typeface="Calibri" pitchFamily="34" charset="0"/>
            </a:endParaRPr>
          </a:p>
        </p:txBody>
      </p:sp>
      <p:sp>
        <p:nvSpPr>
          <p:cNvPr id="6" name="Content Placeholder 2"/>
          <p:cNvSpPr txBox="1">
            <a:spLocks/>
          </p:cNvSpPr>
          <p:nvPr/>
        </p:nvSpPr>
        <p:spPr>
          <a:xfrm>
            <a:off x="557213" y="1591056"/>
            <a:ext cx="8029574" cy="4082380"/>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Atomicity </a:t>
            </a:r>
            <a:r>
              <a:rPr lang="en-US" altLang="zh-CN" dirty="0">
                <a:solidFill>
                  <a:schemeClr val="tx1"/>
                </a:solidFill>
                <a:latin typeface="Calibri" pitchFamily="34" charset="0"/>
                <a:cs typeface="Calibri" pitchFamily="34" charset="0"/>
              </a:rPr>
              <a:t>v</a:t>
            </a:r>
            <a:r>
              <a:rPr lang="en-US" dirty="0">
                <a:solidFill>
                  <a:schemeClr val="tx1"/>
                </a:solidFill>
                <a:latin typeface="Calibri" pitchFamily="34" charset="0"/>
                <a:cs typeface="Calibri" pitchFamily="34" charset="0"/>
              </a:rPr>
              <a:t>iolations are feasible to be fixed automatically</a:t>
            </a:r>
          </a:p>
          <a:p>
            <a:pPr lvl="1"/>
            <a:r>
              <a:rPr lang="en-US" dirty="0">
                <a:solidFill>
                  <a:schemeClr val="tx1"/>
                </a:solidFill>
                <a:latin typeface="Calibri" pitchFamily="34" charset="0"/>
                <a:cs typeface="Calibri" pitchFamily="34" charset="0"/>
              </a:rPr>
              <a:t>By removing bad </a:t>
            </a:r>
            <a:r>
              <a:rPr lang="en-US" dirty="0" err="1">
                <a:solidFill>
                  <a:schemeClr val="tx1"/>
                </a:solidFill>
                <a:latin typeface="Calibri" pitchFamily="34" charset="0"/>
                <a:cs typeface="Calibri" pitchFamily="34" charset="0"/>
              </a:rPr>
              <a:t>interleavings</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Must be careful in the details</a:t>
            </a:r>
          </a:p>
          <a:p>
            <a:r>
              <a:rPr lang="en-US" dirty="0">
                <a:solidFill>
                  <a:schemeClr val="tx1"/>
                </a:solidFill>
                <a:latin typeface="Calibri" pitchFamily="34" charset="0"/>
                <a:cs typeface="Calibri" pitchFamily="34" charset="0"/>
              </a:rPr>
              <a:t>Use some heuristics, and excellent results in practice</a:t>
            </a:r>
          </a:p>
          <a:p>
            <a:pPr lvl="1"/>
            <a:r>
              <a:rPr lang="en-US" dirty="0">
                <a:solidFill>
                  <a:schemeClr val="tx1"/>
                </a:solidFill>
                <a:latin typeface="Calibri" pitchFamily="34" charset="0"/>
                <a:cs typeface="Calibri" pitchFamily="34" charset="0"/>
              </a:rPr>
              <a:t>Completely eliminates detected bugs in targeted class</a:t>
            </a:r>
          </a:p>
          <a:p>
            <a:pPr lvl="1"/>
            <a:r>
              <a:rPr lang="en-US" dirty="0">
                <a:solidFill>
                  <a:schemeClr val="tx1"/>
                </a:solidFill>
                <a:latin typeface="Calibri" pitchFamily="34" charset="0"/>
                <a:cs typeface="Calibri" pitchFamily="34" charset="0"/>
              </a:rPr>
              <a:t>Overheads too low to reliably measure</a:t>
            </a:r>
          </a:p>
          <a:p>
            <a:pPr lvl="1"/>
            <a:r>
              <a:rPr lang="en-US" dirty="0">
                <a:solidFill>
                  <a:schemeClr val="tx1"/>
                </a:solidFill>
                <a:latin typeface="Calibri" pitchFamily="34" charset="0"/>
                <a:cs typeface="Calibri" pitchFamily="34" charset="0"/>
              </a:rPr>
              <a:t>Produces small, simple, understandable patches</a:t>
            </a:r>
          </a:p>
          <a:p>
            <a:r>
              <a:rPr lang="en-US" dirty="0">
                <a:solidFill>
                  <a:schemeClr val="tx1"/>
                </a:solidFill>
                <a:latin typeface="Calibri" pitchFamily="34" charset="0"/>
                <a:cs typeface="Calibri" pitchFamily="34" charset="0"/>
              </a:rPr>
              <a:t>Future research should do detector and fixer co-design</a:t>
            </a:r>
          </a:p>
          <a:p>
            <a:pPr lvl="1"/>
            <a:endParaRPr lang="en-US" dirty="0">
              <a:solidFill>
                <a:schemeClr val="tx1"/>
              </a:solidFill>
              <a:latin typeface="Calibri" pitchFamily="34" charset="0"/>
              <a:cs typeface="Calibri" pitchFamily="34" charset="0"/>
            </a:endParaRP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8199173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AD5BD-A3BD-3003-CB36-A7616AAB8F05}"/>
              </a:ext>
            </a:extLst>
          </p:cNvPr>
          <p:cNvSpPr>
            <a:spLocks noGrp="1"/>
          </p:cNvSpPr>
          <p:nvPr>
            <p:ph type="title"/>
          </p:nvPr>
        </p:nvSpPr>
        <p:spPr/>
        <p:txBody>
          <a:bodyPr/>
          <a:lstStyle/>
          <a:p>
            <a:r>
              <a:rPr lang="en-IT" dirty="0"/>
              <a:t>The LLM bit…</a:t>
            </a:r>
          </a:p>
        </p:txBody>
      </p:sp>
      <p:pic>
        <p:nvPicPr>
          <p:cNvPr id="5" name="Content Placeholder 4" descr="A close-up of a newspaper&#10;&#10;AI-generated content may be incorrect.">
            <a:extLst>
              <a:ext uri="{FF2B5EF4-FFF2-40B4-BE49-F238E27FC236}">
                <a16:creationId xmlns:a16="http://schemas.microsoft.com/office/drawing/2014/main" id="{633413A5-0873-1704-A945-88CC461E4B25}"/>
              </a:ext>
            </a:extLst>
          </p:cNvPr>
          <p:cNvPicPr>
            <a:picLocks noGrp="1" noChangeAspect="1"/>
          </p:cNvPicPr>
          <p:nvPr>
            <p:ph idx="1"/>
          </p:nvPr>
        </p:nvPicPr>
        <p:blipFill>
          <a:blip r:embed="rId2"/>
          <a:stretch>
            <a:fillRect/>
          </a:stretch>
        </p:blipFill>
        <p:spPr>
          <a:xfrm>
            <a:off x="457200" y="1630591"/>
            <a:ext cx="8229600" cy="4245725"/>
          </a:xfrm>
        </p:spPr>
      </p:pic>
    </p:spTree>
    <p:extLst>
      <p:ext uri="{BB962C8B-B14F-4D97-AF65-F5344CB8AC3E}">
        <p14:creationId xmlns:p14="http://schemas.microsoft.com/office/powerpoint/2010/main" val="39699122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1D5AB-0143-C323-FF63-D2513C7DC14E}"/>
              </a:ext>
            </a:extLst>
          </p:cNvPr>
          <p:cNvSpPr>
            <a:spLocks noGrp="1"/>
          </p:cNvSpPr>
          <p:nvPr>
            <p:ph type="title"/>
          </p:nvPr>
        </p:nvSpPr>
        <p:spPr/>
        <p:txBody>
          <a:bodyPr/>
          <a:lstStyle/>
          <a:p>
            <a:r>
              <a:rPr lang="en-IT" dirty="0"/>
              <a:t>The GiantRepair approach</a:t>
            </a:r>
          </a:p>
        </p:txBody>
      </p:sp>
      <p:pic>
        <p:nvPicPr>
          <p:cNvPr id="5" name="Content Placeholder 4" descr="A diagram of a software project&#10;&#10;AI-generated content may be incorrect.">
            <a:extLst>
              <a:ext uri="{FF2B5EF4-FFF2-40B4-BE49-F238E27FC236}">
                <a16:creationId xmlns:a16="http://schemas.microsoft.com/office/drawing/2014/main" id="{DADD3AE8-1562-FED6-1BCA-62A2E32E736F}"/>
              </a:ext>
            </a:extLst>
          </p:cNvPr>
          <p:cNvPicPr>
            <a:picLocks noGrp="1" noChangeAspect="1"/>
          </p:cNvPicPr>
          <p:nvPr>
            <p:ph idx="1"/>
          </p:nvPr>
        </p:nvPicPr>
        <p:blipFill>
          <a:blip r:embed="rId2"/>
          <a:stretch>
            <a:fillRect/>
          </a:stretch>
        </p:blipFill>
        <p:spPr>
          <a:xfrm>
            <a:off x="-182881" y="1751234"/>
            <a:ext cx="9330882" cy="3021933"/>
          </a:xfrm>
        </p:spPr>
      </p:pic>
    </p:spTree>
    <p:extLst>
      <p:ext uri="{BB962C8B-B14F-4D97-AF65-F5344CB8AC3E}">
        <p14:creationId xmlns:p14="http://schemas.microsoft.com/office/powerpoint/2010/main" val="20049374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10;&#10;AI-generated content may be incorrect.">
            <a:extLst>
              <a:ext uri="{FF2B5EF4-FFF2-40B4-BE49-F238E27FC236}">
                <a16:creationId xmlns:a16="http://schemas.microsoft.com/office/drawing/2014/main" id="{0608C60E-15FA-25E0-1D7D-2152B2C1E476}"/>
              </a:ext>
            </a:extLst>
          </p:cNvPr>
          <p:cNvPicPr>
            <a:picLocks noGrp="1" noChangeAspect="1"/>
          </p:cNvPicPr>
          <p:nvPr>
            <p:ph idx="1"/>
          </p:nvPr>
        </p:nvPicPr>
        <p:blipFill>
          <a:blip r:embed="rId2"/>
          <a:stretch>
            <a:fillRect/>
          </a:stretch>
        </p:blipFill>
        <p:spPr>
          <a:xfrm>
            <a:off x="482600" y="1609217"/>
            <a:ext cx="8178799" cy="3639564"/>
          </a:xfrm>
          <a:prstGeom prst="rect">
            <a:avLst/>
          </a:prstGeom>
        </p:spPr>
      </p:pic>
    </p:spTree>
    <p:extLst>
      <p:ext uri="{BB962C8B-B14F-4D97-AF65-F5344CB8AC3E}">
        <p14:creationId xmlns:p14="http://schemas.microsoft.com/office/powerpoint/2010/main" val="7580961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 and sizes&#10;&#10;AI-generated content may be incorrect.">
            <a:extLst>
              <a:ext uri="{FF2B5EF4-FFF2-40B4-BE49-F238E27FC236}">
                <a16:creationId xmlns:a16="http://schemas.microsoft.com/office/drawing/2014/main" id="{7192CB01-A850-3638-DA9D-F4855CB92692}"/>
              </a:ext>
            </a:extLst>
          </p:cNvPr>
          <p:cNvPicPr>
            <a:picLocks noGrp="1" noChangeAspect="1"/>
          </p:cNvPicPr>
          <p:nvPr>
            <p:ph idx="1"/>
          </p:nvPr>
        </p:nvPicPr>
        <p:blipFill>
          <a:blip r:embed="rId2"/>
          <a:stretch>
            <a:fillRect/>
          </a:stretch>
        </p:blipFill>
        <p:spPr>
          <a:xfrm>
            <a:off x="482600" y="1445642"/>
            <a:ext cx="8178799" cy="3966715"/>
          </a:xfrm>
          <a:prstGeom prst="rect">
            <a:avLst/>
          </a:prstGeom>
        </p:spPr>
      </p:pic>
    </p:spTree>
    <p:extLst>
      <p:ext uri="{BB962C8B-B14F-4D97-AF65-F5344CB8AC3E}">
        <p14:creationId xmlns:p14="http://schemas.microsoft.com/office/powerpoint/2010/main" val="23501163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FF7A-F6B4-1961-C414-25F4B3FA93D3}"/>
              </a:ext>
            </a:extLst>
          </p:cNvPr>
          <p:cNvSpPr>
            <a:spLocks noGrp="1"/>
          </p:cNvSpPr>
          <p:nvPr>
            <p:ph type="title"/>
          </p:nvPr>
        </p:nvSpPr>
        <p:spPr/>
        <p:txBody>
          <a:bodyPr/>
          <a:lstStyle/>
          <a:p>
            <a:r>
              <a:rPr lang="en-IT" dirty="0"/>
              <a:t>So What?</a:t>
            </a:r>
          </a:p>
        </p:txBody>
      </p:sp>
      <p:sp>
        <p:nvSpPr>
          <p:cNvPr id="3" name="Content Placeholder 2">
            <a:extLst>
              <a:ext uri="{FF2B5EF4-FFF2-40B4-BE49-F238E27FC236}">
                <a16:creationId xmlns:a16="http://schemas.microsoft.com/office/drawing/2014/main" id="{2E702D8E-009C-3AC9-DC57-BD7B7D8D7E74}"/>
              </a:ext>
            </a:extLst>
          </p:cNvPr>
          <p:cNvSpPr>
            <a:spLocks noGrp="1"/>
          </p:cNvSpPr>
          <p:nvPr>
            <p:ph idx="1"/>
          </p:nvPr>
        </p:nvSpPr>
        <p:spPr/>
        <p:txBody>
          <a:bodyPr>
            <a:normAutofit lnSpcReduction="10000"/>
          </a:bodyPr>
          <a:lstStyle/>
          <a:p>
            <a:r>
              <a:rPr lang="en-IT" dirty="0"/>
              <a:t>LLMs cannot help fully, yet…</a:t>
            </a:r>
          </a:p>
          <a:p>
            <a:endParaRPr lang="en-IT" dirty="0"/>
          </a:p>
          <a:p>
            <a:r>
              <a:rPr lang="en-IT" dirty="0"/>
              <a:t>Other approaches help in domain-specific fashion;</a:t>
            </a:r>
          </a:p>
          <a:p>
            <a:endParaRPr lang="en-IT" dirty="0"/>
          </a:p>
          <a:p>
            <a:r>
              <a:rPr lang="en-IT" dirty="0"/>
              <a:t>Often only used in mission-/safety-critical domains:</a:t>
            </a:r>
          </a:p>
          <a:p>
            <a:pPr lvl="1"/>
            <a:r>
              <a:rPr lang="en-GB" dirty="0"/>
              <a:t>F</a:t>
            </a:r>
            <a:r>
              <a:rPr lang="en-IT" dirty="0"/>
              <a:t>ormalisms are often required;</a:t>
            </a:r>
          </a:p>
          <a:p>
            <a:pPr lvl="1"/>
            <a:r>
              <a:rPr lang="en-GB" dirty="0"/>
              <a:t>S</a:t>
            </a:r>
            <a:r>
              <a:rPr lang="en-IT" dirty="0"/>
              <a:t>pec must be laying somewhere!</a:t>
            </a:r>
          </a:p>
        </p:txBody>
      </p:sp>
    </p:spTree>
    <p:extLst>
      <p:ext uri="{BB962C8B-B14F-4D97-AF65-F5344CB8AC3E}">
        <p14:creationId xmlns:p14="http://schemas.microsoft.com/office/powerpoint/2010/main" val="4235719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a:extLst>
              <a:ext uri="{FF2B5EF4-FFF2-40B4-BE49-F238E27FC236}">
                <a16:creationId xmlns:a16="http://schemas.microsoft.com/office/drawing/2014/main" id="{0F2EE9D9-AC6D-EF75-66DE-FD8C21873126}"/>
              </a:ext>
            </a:extLst>
          </p:cNvPr>
          <p:cNvPicPr>
            <a:picLocks noGrp="1" noChangeAspect="1"/>
          </p:cNvPicPr>
          <p:nvPr>
            <p:ph idx="1"/>
          </p:nvPr>
        </p:nvPicPr>
        <p:blipFill>
          <a:blip r:embed="rId2"/>
          <a:srcRect r="1317" b="2"/>
          <a:stretch>
            <a:fillRect/>
          </a:stretch>
        </p:blipFill>
        <p:spPr>
          <a:xfrm>
            <a:off x="20" y="1282"/>
            <a:ext cx="9143980" cy="6856718"/>
          </a:xfrm>
          <a:prstGeom prst="rect">
            <a:avLst/>
          </a:prstGeom>
        </p:spPr>
      </p:pic>
    </p:spTree>
    <p:extLst>
      <p:ext uri="{BB962C8B-B14F-4D97-AF65-F5344CB8AC3E}">
        <p14:creationId xmlns:p14="http://schemas.microsoft.com/office/powerpoint/2010/main" val="31350337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8950AD4C-6AF3-49F8-94E1-DBCAFB394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2">
              <a:tint val="95000"/>
              <a:satMod val="1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Meiryo"/>
            </a:endParaRPr>
          </a:p>
        </p:txBody>
      </p:sp>
      <p:sp>
        <p:nvSpPr>
          <p:cNvPr id="6153" name="Freeform: Shape 6152">
            <a:extLst>
              <a:ext uri="{FF2B5EF4-FFF2-40B4-BE49-F238E27FC236}">
                <a16:creationId xmlns:a16="http://schemas.microsoft.com/office/drawing/2014/main" id="{0ACBD85E-A404-45CB-B532-1039E479D4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43714" y="-1643715"/>
            <a:ext cx="5856341" cy="9143771"/>
          </a:xfrm>
          <a:custGeom>
            <a:avLst/>
            <a:gdLst>
              <a:gd name="connsiteX0" fmla="*/ 0 w 5856341"/>
              <a:gd name="connsiteY0" fmla="*/ 12191695 h 12191695"/>
              <a:gd name="connsiteX1" fmla="*/ 0 w 5856341"/>
              <a:gd name="connsiteY1" fmla="*/ 0 h 12191695"/>
              <a:gd name="connsiteX2" fmla="*/ 243849 w 5856341"/>
              <a:gd name="connsiteY2" fmla="*/ 0 h 12191695"/>
              <a:gd name="connsiteX3" fmla="*/ 505121 w 5856341"/>
              <a:gd name="connsiteY3" fmla="*/ 0 h 12191695"/>
              <a:gd name="connsiteX4" fmla="*/ 723207 w 5856341"/>
              <a:gd name="connsiteY4" fmla="*/ 0 h 12191695"/>
              <a:gd name="connsiteX5" fmla="*/ 755828 w 5856341"/>
              <a:gd name="connsiteY5" fmla="*/ 0 h 12191695"/>
              <a:gd name="connsiteX6" fmla="*/ 1411868 w 5856341"/>
              <a:gd name="connsiteY6" fmla="*/ 0 h 12191695"/>
              <a:gd name="connsiteX7" fmla="*/ 1421034 w 5856341"/>
              <a:gd name="connsiteY7" fmla="*/ 0 h 12191695"/>
              <a:gd name="connsiteX8" fmla="*/ 1515206 w 5856341"/>
              <a:gd name="connsiteY8" fmla="*/ 0 h 12191695"/>
              <a:gd name="connsiteX9" fmla="*/ 2636151 w 5856341"/>
              <a:gd name="connsiteY9" fmla="*/ 0 h 12191695"/>
              <a:gd name="connsiteX10" fmla="*/ 4637890 w 5856341"/>
              <a:gd name="connsiteY10" fmla="*/ 0 h 12191695"/>
              <a:gd name="connsiteX11" fmla="*/ 4654499 w 5856341"/>
              <a:gd name="connsiteY11" fmla="*/ 26661 h 12191695"/>
              <a:gd name="connsiteX12" fmla="*/ 5856341 w 5856341"/>
              <a:gd name="connsiteY12" fmla="*/ 6438338 h 12191695"/>
              <a:gd name="connsiteX13" fmla="*/ 4449211 w 5856341"/>
              <a:gd name="connsiteY13" fmla="*/ 11332719 h 12191695"/>
              <a:gd name="connsiteX14" fmla="*/ 4061349 w 5856341"/>
              <a:gd name="connsiteY14" fmla="*/ 12054097 h 12191695"/>
              <a:gd name="connsiteX15" fmla="*/ 3977450 w 5856341"/>
              <a:gd name="connsiteY15" fmla="*/ 12191695 h 12191695"/>
              <a:gd name="connsiteX16" fmla="*/ 2636151 w 5856341"/>
              <a:gd name="connsiteY16" fmla="*/ 12191695 h 12191695"/>
              <a:gd name="connsiteX17" fmla="*/ 1421034 w 5856341"/>
              <a:gd name="connsiteY17" fmla="*/ 12191695 h 12191695"/>
              <a:gd name="connsiteX18" fmla="*/ 1411868 w 5856341"/>
              <a:gd name="connsiteY18" fmla="*/ 12191695 h 12191695"/>
              <a:gd name="connsiteX19" fmla="*/ 1283685 w 5856341"/>
              <a:gd name="connsiteY19" fmla="*/ 12191695 h 12191695"/>
              <a:gd name="connsiteX20" fmla="*/ 755828 w 5856341"/>
              <a:gd name="connsiteY20" fmla="*/ 12191695 h 12191695"/>
              <a:gd name="connsiteX21" fmla="*/ 723207 w 5856341"/>
              <a:gd name="connsiteY21" fmla="*/ 12191695 h 12191695"/>
              <a:gd name="connsiteX22" fmla="*/ 505121 w 5856341"/>
              <a:gd name="connsiteY22" fmla="*/ 12191695 h 12191695"/>
              <a:gd name="connsiteX23" fmla="*/ 243849 w 5856341"/>
              <a:gd name="connsiteY23" fmla="*/ 12191695 h 12191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56341" h="12191695">
                <a:moveTo>
                  <a:pt x="0" y="12191695"/>
                </a:moveTo>
                <a:lnTo>
                  <a:pt x="0" y="0"/>
                </a:lnTo>
                <a:lnTo>
                  <a:pt x="243849" y="0"/>
                </a:lnTo>
                <a:lnTo>
                  <a:pt x="505121" y="0"/>
                </a:lnTo>
                <a:lnTo>
                  <a:pt x="723207" y="0"/>
                </a:lnTo>
                <a:lnTo>
                  <a:pt x="755828" y="0"/>
                </a:lnTo>
                <a:lnTo>
                  <a:pt x="1411868" y="0"/>
                </a:lnTo>
                <a:lnTo>
                  <a:pt x="1421034" y="0"/>
                </a:lnTo>
                <a:lnTo>
                  <a:pt x="1515206" y="0"/>
                </a:lnTo>
                <a:lnTo>
                  <a:pt x="2636151" y="0"/>
                </a:lnTo>
                <a:lnTo>
                  <a:pt x="4637890" y="0"/>
                </a:lnTo>
                <a:lnTo>
                  <a:pt x="4654499" y="26661"/>
                </a:lnTo>
                <a:cubicBezTo>
                  <a:pt x="5425621" y="1341551"/>
                  <a:pt x="5856341" y="3721137"/>
                  <a:pt x="5856341" y="6438338"/>
                </a:cubicBezTo>
                <a:cubicBezTo>
                  <a:pt x="5856341" y="8833790"/>
                  <a:pt x="5159120" y="9960353"/>
                  <a:pt x="4449211" y="11332719"/>
                </a:cubicBezTo>
                <a:cubicBezTo>
                  <a:pt x="4319934" y="11582638"/>
                  <a:pt x="4191839" y="11827452"/>
                  <a:pt x="4061349" y="12054097"/>
                </a:cubicBezTo>
                <a:lnTo>
                  <a:pt x="3977450" y="12191695"/>
                </a:lnTo>
                <a:lnTo>
                  <a:pt x="2636151" y="12191695"/>
                </a:lnTo>
                <a:lnTo>
                  <a:pt x="1421034" y="12191695"/>
                </a:lnTo>
                <a:lnTo>
                  <a:pt x="1411868" y="12191695"/>
                </a:lnTo>
                <a:lnTo>
                  <a:pt x="1283685" y="12191695"/>
                </a:lnTo>
                <a:lnTo>
                  <a:pt x="755828" y="12191695"/>
                </a:lnTo>
                <a:lnTo>
                  <a:pt x="723207" y="12191695"/>
                </a:lnTo>
                <a:lnTo>
                  <a:pt x="505121" y="12191695"/>
                </a:lnTo>
                <a:lnTo>
                  <a:pt x="243849" y="12191695"/>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155" name="Freeform: Shape 6154">
            <a:extLst>
              <a:ext uri="{FF2B5EF4-FFF2-40B4-BE49-F238E27FC236}">
                <a16:creationId xmlns:a16="http://schemas.microsoft.com/office/drawing/2014/main" id="{DB1626B1-BAC7-4893-A5AC-620597685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22316" y="649035"/>
            <a:ext cx="1899138" cy="9143771"/>
          </a:xfrm>
          <a:custGeom>
            <a:avLst/>
            <a:gdLst>
              <a:gd name="connsiteX0" fmla="*/ 1258269 w 2529723"/>
              <a:gd name="connsiteY0" fmla="*/ 0 h 6858000"/>
              <a:gd name="connsiteX1" fmla="*/ 1275627 w 2529723"/>
              <a:gd name="connsiteY1" fmla="*/ 0 h 6858000"/>
              <a:gd name="connsiteX2" fmla="*/ 1302560 w 2529723"/>
              <a:gd name="connsiteY2" fmla="*/ 24338 h 6858000"/>
              <a:gd name="connsiteX3" fmla="*/ 2522825 w 2529723"/>
              <a:gd name="connsiteY3" fmla="*/ 3678515 h 6858000"/>
              <a:gd name="connsiteX4" fmla="*/ 557500 w 2529723"/>
              <a:gd name="connsiteY4" fmla="*/ 6451411 h 6858000"/>
              <a:gd name="connsiteX5" fmla="*/ 32482 w 2529723"/>
              <a:gd name="connsiteY5" fmla="*/ 6849373 h 6858000"/>
              <a:gd name="connsiteX6" fmla="*/ 19531 w 2529723"/>
              <a:gd name="connsiteY6" fmla="*/ 6858000 h 6858000"/>
              <a:gd name="connsiteX7" fmla="*/ 0 w 2529723"/>
              <a:gd name="connsiteY7" fmla="*/ 6858000 h 6858000"/>
              <a:gd name="connsiteX8" fmla="*/ 14202 w 2529723"/>
              <a:gd name="connsiteY8" fmla="*/ 6848540 h 6858000"/>
              <a:gd name="connsiteX9" fmla="*/ 539221 w 2529723"/>
              <a:gd name="connsiteY9" fmla="*/ 6450578 h 6858000"/>
              <a:gd name="connsiteX10" fmla="*/ 2504546 w 2529723"/>
              <a:gd name="connsiteY10" fmla="*/ 3677682 h 6858000"/>
              <a:gd name="connsiteX11" fmla="*/ 1284280 w 2529723"/>
              <a:gd name="connsiteY11" fmla="*/ 235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29723" h="6858000">
                <a:moveTo>
                  <a:pt x="1258269" y="0"/>
                </a:moveTo>
                <a:lnTo>
                  <a:pt x="1275627" y="0"/>
                </a:lnTo>
                <a:lnTo>
                  <a:pt x="1302560" y="24338"/>
                </a:lnTo>
                <a:cubicBezTo>
                  <a:pt x="2156831" y="855667"/>
                  <a:pt x="2590622" y="2191755"/>
                  <a:pt x="2522825" y="3678515"/>
                </a:cubicBezTo>
                <a:cubicBezTo>
                  <a:pt x="2459072" y="5076606"/>
                  <a:pt x="1519830" y="5692656"/>
                  <a:pt x="557500" y="6451411"/>
                </a:cubicBezTo>
                <a:cubicBezTo>
                  <a:pt x="382255" y="6589587"/>
                  <a:pt x="208689" y="6724853"/>
                  <a:pt x="32482" y="6849373"/>
                </a:cubicBezTo>
                <a:lnTo>
                  <a:pt x="19531" y="6858000"/>
                </a:lnTo>
                <a:lnTo>
                  <a:pt x="0" y="6858000"/>
                </a:lnTo>
                <a:lnTo>
                  <a:pt x="14202" y="6848540"/>
                </a:lnTo>
                <a:cubicBezTo>
                  <a:pt x="190409" y="6724020"/>
                  <a:pt x="363976" y="6588754"/>
                  <a:pt x="539221" y="6450578"/>
                </a:cubicBezTo>
                <a:cubicBezTo>
                  <a:pt x="1501550" y="5691822"/>
                  <a:pt x="2440792" y="5075773"/>
                  <a:pt x="2504546" y="3677682"/>
                </a:cubicBezTo>
                <a:cubicBezTo>
                  <a:pt x="2572343" y="2190921"/>
                  <a:pt x="2138551" y="854834"/>
                  <a:pt x="1284280" y="23504"/>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sp>
        <p:nvSpPr>
          <p:cNvPr id="6157" name="Freeform: Shape 6156">
            <a:extLst>
              <a:ext uri="{FF2B5EF4-FFF2-40B4-BE49-F238E27FC236}">
                <a16:creationId xmlns:a16="http://schemas.microsoft.com/office/drawing/2014/main" id="{D64E9910-51FE-45BF-973D-9D2401FD3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9797" y="486388"/>
            <a:ext cx="1904176" cy="9143771"/>
          </a:xfrm>
          <a:custGeom>
            <a:avLst/>
            <a:gdLst>
              <a:gd name="connsiteX0" fmla="*/ 879731 w 2536434"/>
              <a:gd name="connsiteY0" fmla="*/ 0 h 6858000"/>
              <a:gd name="connsiteX1" fmla="*/ 913411 w 2536434"/>
              <a:gd name="connsiteY1" fmla="*/ 0 h 6858000"/>
              <a:gd name="connsiteX2" fmla="*/ 935535 w 2536434"/>
              <a:gd name="connsiteY2" fmla="*/ 14997 h 6858000"/>
              <a:gd name="connsiteX3" fmla="*/ 2536434 w 2536434"/>
              <a:gd name="connsiteY3" fmla="*/ 3621656 h 6858000"/>
              <a:gd name="connsiteX4" fmla="*/ 662084 w 2536434"/>
              <a:gd name="connsiteY4" fmla="*/ 6374814 h 6858000"/>
              <a:gd name="connsiteX5" fmla="*/ 145436 w 2536434"/>
              <a:gd name="connsiteY5" fmla="*/ 6780599 h 6858000"/>
              <a:gd name="connsiteX6" fmla="*/ 33680 w 2536434"/>
              <a:gd name="connsiteY6" fmla="*/ 6858000 h 6858000"/>
              <a:gd name="connsiteX7" fmla="*/ 0 w 2536434"/>
              <a:gd name="connsiteY7" fmla="*/ 6858000 h 6858000"/>
              <a:gd name="connsiteX8" fmla="*/ 111756 w 2536434"/>
              <a:gd name="connsiteY8" fmla="*/ 6780599 h 6858000"/>
              <a:gd name="connsiteX9" fmla="*/ 628404 w 2536434"/>
              <a:gd name="connsiteY9" fmla="*/ 6374814 h 6858000"/>
              <a:gd name="connsiteX10" fmla="*/ 2502754 w 2536434"/>
              <a:gd name="connsiteY10" fmla="*/ 3621656 h 6858000"/>
              <a:gd name="connsiteX11" fmla="*/ 901855 w 2536434"/>
              <a:gd name="connsiteY11" fmla="*/ 1499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6434" h="6858000">
                <a:moveTo>
                  <a:pt x="879731" y="0"/>
                </a:moveTo>
                <a:lnTo>
                  <a:pt x="913411" y="0"/>
                </a:lnTo>
                <a:lnTo>
                  <a:pt x="935535" y="14997"/>
                </a:lnTo>
                <a:cubicBezTo>
                  <a:pt x="1962698" y="754641"/>
                  <a:pt x="2536434" y="2093192"/>
                  <a:pt x="2536434" y="3621656"/>
                </a:cubicBezTo>
                <a:cubicBezTo>
                  <a:pt x="2536434" y="4969131"/>
                  <a:pt x="1607709" y="5602839"/>
                  <a:pt x="662084" y="6374814"/>
                </a:cubicBezTo>
                <a:cubicBezTo>
                  <a:pt x="489881" y="6515397"/>
                  <a:pt x="319254" y="6653108"/>
                  <a:pt x="145436" y="6780599"/>
                </a:cubicBezTo>
                <a:lnTo>
                  <a:pt x="33680" y="6858000"/>
                </a:lnTo>
                <a:lnTo>
                  <a:pt x="0" y="6858000"/>
                </a:lnTo>
                <a:lnTo>
                  <a:pt x="111756" y="6780599"/>
                </a:lnTo>
                <a:cubicBezTo>
                  <a:pt x="285574" y="6653108"/>
                  <a:pt x="456201" y="6515397"/>
                  <a:pt x="628404" y="6374814"/>
                </a:cubicBezTo>
                <a:cubicBezTo>
                  <a:pt x="1574029" y="5602839"/>
                  <a:pt x="2502754" y="4969131"/>
                  <a:pt x="2502754" y="3621656"/>
                </a:cubicBezTo>
                <a:cubicBezTo>
                  <a:pt x="2502754" y="2093192"/>
                  <a:pt x="1929018" y="754641"/>
                  <a:pt x="901855" y="14997"/>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pic>
        <p:nvPicPr>
          <p:cNvPr id="6146" name="Picture 2" descr="Seven Strategies for Handling Difficult Questions - What to Say When You  Don't Know the Answer - ProEdge Skills, Inc.">
            <a:extLst>
              <a:ext uri="{FF2B5EF4-FFF2-40B4-BE49-F238E27FC236}">
                <a16:creationId xmlns:a16="http://schemas.microsoft.com/office/drawing/2014/main" id="{689B9207-4D5F-3906-0B27-618048BC38F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581434" y="938102"/>
            <a:ext cx="5981131" cy="3727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84440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18. References &amp; Further Reading</a:t>
            </a:r>
          </a:p>
        </p:txBody>
      </p:sp>
      <p:sp>
        <p:nvSpPr>
          <p:cNvPr id="3" name="Content Placeholder 2"/>
          <p:cNvSpPr>
            <a:spLocks noGrp="1"/>
          </p:cNvSpPr>
          <p:nvPr>
            <p:ph idx="1"/>
          </p:nvPr>
        </p:nvSpPr>
        <p:spPr>
          <a:xfrm>
            <a:off x="228600" y="1744579"/>
            <a:ext cx="8686800" cy="4525963"/>
          </a:xfrm>
        </p:spPr>
        <p:txBody>
          <a:bodyPr>
            <a:normAutofit/>
          </a:bodyPr>
          <a:lstStyle/>
          <a:p>
            <a:pPr marL="0" indent="0">
              <a:buNone/>
            </a:pPr>
            <a:r>
              <a:rPr sz="2400" dirty="0"/>
              <a:t>• </a:t>
            </a:r>
            <a:r>
              <a:rPr sz="2400" dirty="0" err="1"/>
              <a:t>Monperrus</a:t>
            </a:r>
            <a:r>
              <a:rPr sz="2400" dirty="0"/>
              <a:t>, M. (2018). The Living Review on Automated Program Repair. HAL Id: hal-01956501</a:t>
            </a:r>
            <a:endParaRPr lang="en-GB" sz="2400" dirty="0"/>
          </a:p>
          <a:p>
            <a:pPr marL="0" indent="0">
              <a:buNone/>
            </a:pPr>
            <a:r>
              <a:rPr lang="en-GB" sz="2400" dirty="0"/>
              <a:t>• Weimer et al. (2009). Automatically Finding Patches Using Genetic Programming.</a:t>
            </a:r>
          </a:p>
          <a:p>
            <a:pPr marL="0" indent="0">
              <a:buNone/>
            </a:pPr>
            <a:r>
              <a:rPr lang="en-GB" sz="2400" dirty="0"/>
              <a:t>• Mechtaev et al. (2016). </a:t>
            </a:r>
            <a:r>
              <a:rPr lang="en-GB" sz="2400" dirty="0" err="1"/>
              <a:t>Angelix</a:t>
            </a:r>
            <a:r>
              <a:rPr lang="en-GB" sz="2400" dirty="0"/>
              <a:t>: Scalable Semantics-based Program Repair.</a:t>
            </a:r>
          </a:p>
          <a:p>
            <a:pPr marL="0" indent="0">
              <a:buNone/>
            </a:pPr>
            <a:r>
              <a:rPr sz="2400" dirty="0"/>
              <a:t>• Le </a:t>
            </a:r>
            <a:r>
              <a:rPr sz="2400" dirty="0" err="1"/>
              <a:t>Goues</a:t>
            </a:r>
            <a:r>
              <a:rPr sz="2400" dirty="0"/>
              <a:t> et al. (2012). </a:t>
            </a:r>
            <a:r>
              <a:rPr sz="2400" dirty="0" err="1"/>
              <a:t>GenProg</a:t>
            </a:r>
            <a:r>
              <a:rPr sz="2400" dirty="0"/>
              <a:t>: A Genetic Method for Program Repair.</a:t>
            </a:r>
          </a:p>
          <a:p>
            <a:pPr marL="0" indent="0">
              <a:buNone/>
            </a:pPr>
            <a:r>
              <a:rPr sz="2400" dirty="0"/>
              <a:t>• Zhang et al. (2024). Self-Edit: LLM-driven Automated Code Repair.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1214</TotalTime>
  <Words>4525</Words>
  <Application>Microsoft Macintosh PowerPoint</Application>
  <PresentationFormat>On-screen Show (4:3)</PresentationFormat>
  <Paragraphs>705</Paragraphs>
  <Slides>57</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57</vt:i4>
      </vt:variant>
    </vt:vector>
  </HeadingPairs>
  <TitlesOfParts>
    <vt:vector size="66" baseType="lpstr">
      <vt:lpstr>Meiryo</vt:lpstr>
      <vt:lpstr>Aptos</vt:lpstr>
      <vt:lpstr>Arial</vt:lpstr>
      <vt:lpstr>Calibri</vt:lpstr>
      <vt:lpstr>Cambria Math</vt:lpstr>
      <vt:lpstr>Consolas</vt:lpstr>
      <vt:lpstr>Verdana</vt:lpstr>
      <vt:lpstr>Wingdings</vt:lpstr>
      <vt:lpstr>Office Theme</vt:lpstr>
      <vt:lpstr>Automated Program Repair: Concepts, Techniques, and Challenges</vt:lpstr>
      <vt:lpstr>PowerPoint Presentation</vt:lpstr>
      <vt:lpstr>PowerPoint Presentation</vt:lpstr>
      <vt:lpstr>1. Motivation and Context</vt:lpstr>
      <vt:lpstr>2. What is Automated Program Repair?</vt:lpstr>
      <vt:lpstr>Monperrus The Sage*!</vt:lpstr>
      <vt:lpstr>PowerPoint Presentation</vt:lpstr>
      <vt:lpstr>PowerPoint Presentation</vt:lpstr>
      <vt:lpstr>PowerPoint Presentation</vt:lpstr>
      <vt:lpstr>PowerPoint Presentation</vt:lpstr>
      <vt:lpstr>But…</vt:lpstr>
      <vt:lpstr>What do we do?</vt:lpstr>
      <vt:lpstr>PowerPoint Presentation</vt:lpstr>
      <vt:lpstr>PowerPoint Presentation</vt:lpstr>
      <vt:lpstr>PowerPoint Presentation</vt:lpstr>
      <vt:lpstr>PowerPoint Presentation</vt:lpstr>
      <vt:lpstr>PowerPoint Presentation</vt:lpstr>
      <vt:lpstr>PowerPoint Presentation</vt:lpstr>
      <vt:lpstr>Experimental Results</vt:lpstr>
      <vt:lpstr>Repair Strategy</vt:lpstr>
      <vt:lpstr>Arithmetic for Checking Bounds of an Array</vt:lpstr>
      <vt:lpstr>wrappers.h</vt:lpstr>
      <vt:lpstr>Semi-Repair</vt:lpstr>
      <vt:lpstr>Repair on source vs a compile-time pass</vt:lpstr>
      <vt:lpstr>PowerPoint Presentation</vt:lpstr>
      <vt:lpstr>Challenges: approaches are bug-type specific</vt:lpstr>
      <vt:lpstr>PowerPoint Presentation</vt:lpstr>
      <vt:lpstr>How about our beloved concurrency bugs?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LLM bit…</vt:lpstr>
      <vt:lpstr>The GiantRepair approach</vt:lpstr>
      <vt:lpstr>PowerPoint Presentation</vt:lpstr>
      <vt:lpstr>PowerPoint Presentation</vt:lpstr>
      <vt:lpstr>So What?</vt:lpstr>
      <vt:lpstr>PowerPoint Presentation</vt:lpstr>
      <vt:lpstr>PowerPoint Presentation</vt:lpstr>
      <vt:lpstr>18. References &amp; Further Reading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Damian Andrew Tamburri</cp:lastModifiedBy>
  <cp:revision>65</cp:revision>
  <dcterms:created xsi:type="dcterms:W3CDTF">2013-01-27T09:14:16Z</dcterms:created>
  <dcterms:modified xsi:type="dcterms:W3CDTF">2026-10-20T08:44:04Z</dcterms:modified>
  <cp:category/>
</cp:coreProperties>
</file>