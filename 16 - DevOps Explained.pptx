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rts/chart6.xml" ContentType="application/vnd.openxmlformats-officedocument.drawingml.chart+xml"/>
  <Override PartName="/ppt/notesSlides/notesSlide12.xml" ContentType="application/vnd.openxmlformats-officedocument.presentationml.notesSlide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723" r:id="rId1"/>
  </p:sldMasterIdLst>
  <p:notesMasterIdLst>
    <p:notesMasterId r:id="rId75"/>
  </p:notesMasterIdLst>
  <p:sldIdLst>
    <p:sldId id="256" r:id="rId2"/>
    <p:sldId id="3790" r:id="rId3"/>
    <p:sldId id="397" r:id="rId4"/>
    <p:sldId id="327" r:id="rId5"/>
    <p:sldId id="398" r:id="rId6"/>
    <p:sldId id="328" r:id="rId7"/>
    <p:sldId id="329" r:id="rId8"/>
    <p:sldId id="3763" r:id="rId9"/>
    <p:sldId id="406" r:id="rId10"/>
    <p:sldId id="1098" r:id="rId11"/>
    <p:sldId id="355" r:id="rId12"/>
    <p:sldId id="274" r:id="rId13"/>
    <p:sldId id="263" r:id="rId14"/>
    <p:sldId id="264" r:id="rId15"/>
    <p:sldId id="265" r:id="rId16"/>
    <p:sldId id="266" r:id="rId17"/>
    <p:sldId id="267" r:id="rId18"/>
    <p:sldId id="1093" r:id="rId19"/>
    <p:sldId id="1064" r:id="rId20"/>
    <p:sldId id="269" r:id="rId21"/>
    <p:sldId id="270" r:id="rId22"/>
    <p:sldId id="1065" r:id="rId23"/>
    <p:sldId id="1094" r:id="rId24"/>
    <p:sldId id="349" r:id="rId25"/>
    <p:sldId id="272" r:id="rId26"/>
    <p:sldId id="273" r:id="rId27"/>
    <p:sldId id="3767" r:id="rId28"/>
    <p:sldId id="276" r:id="rId29"/>
    <p:sldId id="275" r:id="rId30"/>
    <p:sldId id="1097" r:id="rId31"/>
    <p:sldId id="1088" r:id="rId32"/>
    <p:sldId id="1049" r:id="rId33"/>
    <p:sldId id="360" r:id="rId34"/>
    <p:sldId id="361" r:id="rId35"/>
    <p:sldId id="1102" r:id="rId36"/>
    <p:sldId id="293" r:id="rId37"/>
    <p:sldId id="3778" r:id="rId38"/>
    <p:sldId id="1101" r:id="rId39"/>
    <p:sldId id="3787" r:id="rId40"/>
    <p:sldId id="258" r:id="rId41"/>
    <p:sldId id="301" r:id="rId42"/>
    <p:sldId id="280" r:id="rId43"/>
    <p:sldId id="262" r:id="rId44"/>
    <p:sldId id="3768" r:id="rId45"/>
    <p:sldId id="279" r:id="rId46"/>
    <p:sldId id="3769" r:id="rId47"/>
    <p:sldId id="3770" r:id="rId48"/>
    <p:sldId id="286" r:id="rId49"/>
    <p:sldId id="281" r:id="rId50"/>
    <p:sldId id="284" r:id="rId51"/>
    <p:sldId id="3771" r:id="rId52"/>
    <p:sldId id="285" r:id="rId53"/>
    <p:sldId id="283" r:id="rId54"/>
    <p:sldId id="3772" r:id="rId55"/>
    <p:sldId id="268" r:id="rId56"/>
    <p:sldId id="3773" r:id="rId57"/>
    <p:sldId id="271" r:id="rId58"/>
    <p:sldId id="3788" r:id="rId59"/>
    <p:sldId id="3774" r:id="rId60"/>
    <p:sldId id="3775" r:id="rId61"/>
    <p:sldId id="278" r:id="rId62"/>
    <p:sldId id="3779" r:id="rId63"/>
    <p:sldId id="3780" r:id="rId64"/>
    <p:sldId id="3781" r:id="rId65"/>
    <p:sldId id="3782" r:id="rId66"/>
    <p:sldId id="3783" r:id="rId67"/>
    <p:sldId id="3784" r:id="rId68"/>
    <p:sldId id="3785" r:id="rId69"/>
    <p:sldId id="3776" r:id="rId70"/>
    <p:sldId id="3789" r:id="rId71"/>
    <p:sldId id="295" r:id="rId72"/>
    <p:sldId id="409" r:id="rId73"/>
    <p:sldId id="282" r:id="rId74"/>
  </p:sldIdLst>
  <p:sldSz cx="9144000" cy="6858000" type="screen4x3"/>
  <p:notesSz cx="7315200" cy="96012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348"/>
    <p:restoredTop sz="92877"/>
  </p:normalViewPr>
  <p:slideViewPr>
    <p:cSldViewPr snapToGrid="0">
      <p:cViewPr varScale="1">
        <p:scale>
          <a:sx n="118" d="100"/>
          <a:sy n="118" d="100"/>
        </p:scale>
        <p:origin x="101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slide" Target="slides/slide73.xml"/><Relationship Id="rId79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oleObject" Target="file:///C:\Users\bto\Desktop\grafici%20DevOps.xlsx" TargetMode="External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oleObject" Target="file:///C:\Users\bto\Desktop\grafici%20DevOps.xlsx" TargetMode="External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oleObject" Target="file:///C:\Users\bto\Desktop\grafici%20DevOps.xlsx" TargetMode="External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oleObject" Target="file:///C:\Users\bto\Desktop\grafici%20DevOps.xlsx" TargetMode="External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oleObject" Target="file:///C:\Users\bto\Desktop\grafici%20DevOps.xlsx" TargetMode="External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6"/>
    </mc:Choice>
    <mc:Fallback>
      <c:style val="6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1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r>
              <a:rPr lang="it-IT" sz="1200"/>
              <a:t>DevOps Roles</a:t>
            </a:r>
          </a:p>
        </c:rich>
      </c:tx>
      <c:layout>
        <c:manualLayout>
          <c:xMode val="edge"/>
          <c:yMode val="edge"/>
          <c:x val="0.43115977690288698"/>
          <c:y val="0.875"/>
        </c:manualLayout>
      </c:layout>
      <c:overlay val="1"/>
      <c:spPr>
        <a:noFill/>
        <a:ln>
          <a:noFill/>
        </a:ln>
        <a:effectLst/>
      </c:spPr>
    </c:title>
    <c:autoTitleDeleted val="0"/>
    <c:plotArea>
      <c:layout>
        <c:manualLayout>
          <c:layoutTarget val="inner"/>
          <c:xMode val="edge"/>
          <c:yMode val="edge"/>
          <c:x val="0.43610236220472498"/>
          <c:y val="0.21296296296296299"/>
          <c:w val="0.44653652668416499"/>
          <c:h val="0.58333333333333304"/>
        </c:manualLayout>
      </c:layout>
      <c:barChart>
        <c:barDir val="bar"/>
        <c:grouping val="clustered"/>
        <c:varyColors val="0"/>
        <c:ser>
          <c:idx val="0"/>
          <c:order val="0"/>
          <c:spPr>
            <a:gradFill rotWithShape="1">
              <a:gsLst>
                <a:gs pos="0">
                  <a:schemeClr val="accent4">
                    <a:shade val="51000"/>
                    <a:satMod val="130000"/>
                  </a:schemeClr>
                </a:gs>
                <a:gs pos="80000">
                  <a:schemeClr val="accent4">
                    <a:shade val="93000"/>
                    <a:satMod val="130000"/>
                  </a:schemeClr>
                </a:gs>
                <a:gs pos="100000">
                  <a:schemeClr val="accent4">
                    <a:shade val="94000"/>
                    <a:satMod val="135000"/>
                  </a:schemeClr>
                </a:gs>
              </a:gsLst>
              <a:lin ang="16200000" scaled="0"/>
            </a:gradFill>
            <a:ln>
              <a:noFill/>
            </a:ln>
            <a:effectLst>
              <a:outerShdw blurRad="40000" dist="23000" dir="5400000" rotWithShape="0">
                <a:srgbClr val="000000">
                  <a:alpha val="35000"/>
                </a:srgbClr>
              </a:outerShdw>
            </a:effectLst>
          </c:spPr>
          <c:invertIfNegative val="0"/>
          <c:dLbls>
            <c:numFmt formatCode="0.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pPr>
                <a:endParaRPr lang="en-IT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2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Foglio1!$A$49:$A$57</c:f>
              <c:strCache>
                <c:ptCount val="9"/>
                <c:pt idx="0">
                  <c:v>Architect</c:v>
                </c:pt>
                <c:pt idx="1">
                  <c:v>Automation</c:v>
                </c:pt>
                <c:pt idx="2">
                  <c:v>DevOps Engineer</c:v>
                </c:pt>
                <c:pt idx="3">
                  <c:v>Build Engineer</c:v>
                </c:pt>
                <c:pt idx="4">
                  <c:v>System Engineer</c:v>
                </c:pt>
                <c:pt idx="5">
                  <c:v>Manager</c:v>
                </c:pt>
                <c:pt idx="6">
                  <c:v>Director</c:v>
                </c:pt>
                <c:pt idx="7">
                  <c:v>VP</c:v>
                </c:pt>
                <c:pt idx="8">
                  <c:v>Other</c:v>
                </c:pt>
              </c:strCache>
            </c:strRef>
          </c:cat>
          <c:val>
            <c:numRef>
              <c:f>Foglio1!$B$49:$B$57</c:f>
              <c:numCache>
                <c:formatCode>0.00%</c:formatCode>
                <c:ptCount val="9"/>
                <c:pt idx="0">
                  <c:v>0.10299999999999999</c:v>
                </c:pt>
                <c:pt idx="1">
                  <c:v>0.105</c:v>
                </c:pt>
                <c:pt idx="2">
                  <c:v>0.313</c:v>
                </c:pt>
                <c:pt idx="3">
                  <c:v>5.1999999999999998E-2</c:v>
                </c:pt>
                <c:pt idx="4">
                  <c:v>0.23400000000000001</c:v>
                </c:pt>
                <c:pt idx="5">
                  <c:v>8.3000000000000004E-2</c:v>
                </c:pt>
                <c:pt idx="6">
                  <c:v>4.8000000000000001E-2</c:v>
                </c:pt>
                <c:pt idx="7">
                  <c:v>8.9999999999999993E-3</c:v>
                </c:pt>
                <c:pt idx="8">
                  <c:v>5.1999999999999998E-2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05A-A24E-B5C1-ABE038A0317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axId val="-2142922360"/>
        <c:axId val="-2142917576"/>
      </c:barChart>
      <c:catAx>
        <c:axId val="-2142922360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2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IT"/>
          </a:p>
        </c:txPr>
        <c:crossAx val="-2142917576"/>
        <c:crosses val="autoZero"/>
        <c:auto val="1"/>
        <c:lblAlgn val="ctr"/>
        <c:lblOffset val="100"/>
        <c:noMultiLvlLbl val="0"/>
      </c:catAx>
      <c:valAx>
        <c:axId val="-2142917576"/>
        <c:scaling>
          <c:orientation val="minMax"/>
        </c:scaling>
        <c:delete val="1"/>
        <c:axPos val="b"/>
        <c:numFmt formatCode="0.00%" sourceLinked="1"/>
        <c:majorTickMark val="none"/>
        <c:minorTickMark val="none"/>
        <c:tickLblPos val="nextTo"/>
        <c:crossAx val="-2142922360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IT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6"/>
    </mc:Choice>
    <mc:Fallback>
      <c:style val="6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1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r>
              <a:rPr lang="it-IT" sz="1200" dirty="0" err="1"/>
              <a:t>Industry</a:t>
            </a:r>
            <a:endParaRPr lang="it-IT" sz="1200" dirty="0"/>
          </a:p>
        </c:rich>
      </c:tx>
      <c:layout>
        <c:manualLayout>
          <c:xMode val="edge"/>
          <c:yMode val="edge"/>
          <c:x val="0.46432387510388201"/>
          <c:y val="0.831824117867216"/>
        </c:manualLayout>
      </c:layout>
      <c:overlay val="1"/>
      <c:spPr>
        <a:noFill/>
        <a:ln>
          <a:noFill/>
        </a:ln>
        <a:effectLst/>
      </c:spPr>
    </c:title>
    <c:autoTitleDeleted val="0"/>
    <c:plotArea>
      <c:layout>
        <c:manualLayout>
          <c:layoutTarget val="inner"/>
          <c:xMode val="edge"/>
          <c:yMode val="edge"/>
          <c:x val="0.42093104265433501"/>
          <c:y val="5.0925925925925902E-2"/>
          <c:w val="0.464283644478304"/>
          <c:h val="0.69874431492808997"/>
        </c:manualLayout>
      </c:layout>
      <c:barChart>
        <c:barDir val="bar"/>
        <c:grouping val="clustered"/>
        <c:varyColors val="0"/>
        <c:ser>
          <c:idx val="0"/>
          <c:order val="0"/>
          <c:spPr>
            <a:gradFill rotWithShape="1">
              <a:gsLst>
                <a:gs pos="0">
                  <a:schemeClr val="accent4">
                    <a:shade val="51000"/>
                    <a:satMod val="130000"/>
                  </a:schemeClr>
                </a:gs>
                <a:gs pos="80000">
                  <a:schemeClr val="accent4">
                    <a:shade val="93000"/>
                    <a:satMod val="130000"/>
                  </a:schemeClr>
                </a:gs>
                <a:gs pos="100000">
                  <a:schemeClr val="accent4">
                    <a:shade val="94000"/>
                    <a:satMod val="135000"/>
                  </a:schemeClr>
                </a:gs>
              </a:gsLst>
              <a:lin ang="16200000" scaled="0"/>
            </a:gradFill>
            <a:ln>
              <a:noFill/>
            </a:ln>
            <a:effectLst>
              <a:outerShdw blurRad="40000" dist="23000" dir="5400000" rotWithShape="0">
                <a:srgbClr val="000000">
                  <a:alpha val="35000"/>
                </a:srgbClr>
              </a:outerShdw>
            </a:effectLst>
          </c:spPr>
          <c:invertIfNegative val="0"/>
          <c:dLbls>
            <c:numFmt formatCode="0.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pPr>
                <a:endParaRPr lang="en-IT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2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Foglio1!$A$1:$A$11</c:f>
              <c:strCache>
                <c:ptCount val="11"/>
                <c:pt idx="0">
                  <c:v>Technology</c:v>
                </c:pt>
                <c:pt idx="1">
                  <c:v>Web Software</c:v>
                </c:pt>
                <c:pt idx="2">
                  <c:v>Education</c:v>
                </c:pt>
                <c:pt idx="3">
                  <c:v>Finance/Banking</c:v>
                </c:pt>
                <c:pt idx="4">
                  <c:v>ENTMT/Media</c:v>
                </c:pt>
                <c:pt idx="5">
                  <c:v>Consulting</c:v>
                </c:pt>
                <c:pt idx="6">
                  <c:v>Telecommunications</c:v>
                </c:pt>
                <c:pt idx="7">
                  <c:v>Government</c:v>
                </c:pt>
                <c:pt idx="8">
                  <c:v>Retail</c:v>
                </c:pt>
                <c:pt idx="9">
                  <c:v>Health-care</c:v>
                </c:pt>
                <c:pt idx="10">
                  <c:v>All Others</c:v>
                </c:pt>
              </c:strCache>
            </c:strRef>
          </c:cat>
          <c:val>
            <c:numRef>
              <c:f>Foglio1!$B$1:$B$11</c:f>
              <c:numCache>
                <c:formatCode>0.00%</c:formatCode>
                <c:ptCount val="11"/>
                <c:pt idx="0">
                  <c:v>0.22700000000000001</c:v>
                </c:pt>
                <c:pt idx="1">
                  <c:v>0.109</c:v>
                </c:pt>
                <c:pt idx="2">
                  <c:v>7.4999999999999997E-2</c:v>
                </c:pt>
                <c:pt idx="3">
                  <c:v>7.3999999999999996E-2</c:v>
                </c:pt>
                <c:pt idx="4">
                  <c:v>6.8000000000000005E-2</c:v>
                </c:pt>
                <c:pt idx="5">
                  <c:v>5.8999999999999997E-2</c:v>
                </c:pt>
                <c:pt idx="6">
                  <c:v>5.7000000000000002E-2</c:v>
                </c:pt>
                <c:pt idx="7">
                  <c:v>4.4999999999999998E-2</c:v>
                </c:pt>
                <c:pt idx="8">
                  <c:v>3.6999999999999998E-2</c:v>
                </c:pt>
                <c:pt idx="9" formatCode="0%">
                  <c:v>0.03</c:v>
                </c:pt>
                <c:pt idx="10">
                  <c:v>0.219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AF5-3545-9079-4DD6AC5EC69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axId val="2072521960"/>
        <c:axId val="2072481592"/>
      </c:barChart>
      <c:catAx>
        <c:axId val="2072521960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2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IT"/>
          </a:p>
        </c:txPr>
        <c:crossAx val="2072481592"/>
        <c:crosses val="autoZero"/>
        <c:auto val="1"/>
        <c:lblAlgn val="ctr"/>
        <c:lblOffset val="100"/>
        <c:noMultiLvlLbl val="0"/>
      </c:catAx>
      <c:valAx>
        <c:axId val="2072481592"/>
        <c:scaling>
          <c:orientation val="minMax"/>
        </c:scaling>
        <c:delete val="1"/>
        <c:axPos val="b"/>
        <c:numFmt formatCode="0%" sourceLinked="0"/>
        <c:majorTickMark val="none"/>
        <c:minorTickMark val="none"/>
        <c:tickLblPos val="nextTo"/>
        <c:crossAx val="2072521960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IT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6"/>
    </mc:Choice>
    <mc:Fallback>
      <c:style val="6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1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r>
              <a:rPr lang="it-IT" sz="1200" dirty="0"/>
              <a:t>Company </a:t>
            </a:r>
            <a:r>
              <a:rPr lang="it-IT" sz="1200" dirty="0" err="1"/>
              <a:t>Size</a:t>
            </a:r>
            <a:r>
              <a:rPr lang="it-IT" sz="1200" dirty="0"/>
              <a:t> by # of </a:t>
            </a:r>
            <a:r>
              <a:rPr lang="it-IT" sz="1200" dirty="0" err="1"/>
              <a:t>Employees</a:t>
            </a:r>
            <a:endParaRPr lang="it-IT" sz="1200" dirty="0"/>
          </a:p>
        </c:rich>
      </c:tx>
      <c:layout>
        <c:manualLayout>
          <c:xMode val="edge"/>
          <c:yMode val="edge"/>
          <c:x val="0.22954982635488"/>
          <c:y val="0.84855414578953303"/>
        </c:manualLayout>
      </c:layout>
      <c:overlay val="0"/>
      <c:spPr>
        <a:noFill/>
        <a:ln>
          <a:noFill/>
        </a:ln>
        <a:effectLst/>
      </c:spPr>
    </c:title>
    <c:autoTitleDeleted val="0"/>
    <c:plotArea>
      <c:layout>
        <c:manualLayout>
          <c:layoutTarget val="inner"/>
          <c:xMode val="edge"/>
          <c:yMode val="edge"/>
          <c:x val="0.340997985147107"/>
          <c:y val="0.17559557349327001"/>
          <c:w val="0.51957131285865898"/>
          <c:h val="0.59445172235750099"/>
        </c:manualLayout>
      </c:layout>
      <c:barChart>
        <c:barDir val="bar"/>
        <c:grouping val="clustered"/>
        <c:varyColors val="0"/>
        <c:ser>
          <c:idx val="0"/>
          <c:order val="0"/>
          <c:spPr>
            <a:gradFill rotWithShape="1">
              <a:gsLst>
                <a:gs pos="0">
                  <a:schemeClr val="accent4">
                    <a:shade val="51000"/>
                    <a:satMod val="130000"/>
                  </a:schemeClr>
                </a:gs>
                <a:gs pos="80000">
                  <a:schemeClr val="accent4">
                    <a:shade val="93000"/>
                    <a:satMod val="130000"/>
                  </a:schemeClr>
                </a:gs>
                <a:gs pos="100000">
                  <a:schemeClr val="accent4">
                    <a:shade val="94000"/>
                    <a:satMod val="135000"/>
                  </a:schemeClr>
                </a:gs>
              </a:gsLst>
              <a:lin ang="16200000" scaled="0"/>
            </a:gradFill>
            <a:ln>
              <a:noFill/>
            </a:ln>
            <a:effectLst>
              <a:outerShdw blurRad="40000" dist="23000" dir="5400000" rotWithShape="0">
                <a:srgbClr val="000000">
                  <a:alpha val="35000"/>
                </a:srgbClr>
              </a:outerShdw>
            </a:effectLst>
          </c:spPr>
          <c:invertIfNegative val="0"/>
          <c:dLbls>
            <c:dLbl>
              <c:idx val="5"/>
              <c:numFmt formatCode="0.0%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2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IT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0-D293-5A4C-A223-C60C811D9FBA}"/>
                </c:ext>
              </c:extLst>
            </c:dLbl>
            <c:numFmt formatCode="0.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pPr>
                <a:endParaRPr lang="en-IT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2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Foglio1!$A$15:$A$23</c:f>
              <c:strCache>
                <c:ptCount val="9"/>
                <c:pt idx="0">
                  <c:v>1-4</c:v>
                </c:pt>
                <c:pt idx="1">
                  <c:v>5-9</c:v>
                </c:pt>
                <c:pt idx="2">
                  <c:v>10-19</c:v>
                </c:pt>
                <c:pt idx="3">
                  <c:v>20-99</c:v>
                </c:pt>
                <c:pt idx="4">
                  <c:v>100-499</c:v>
                </c:pt>
                <c:pt idx="5">
                  <c:v>500-9,999</c:v>
                </c:pt>
                <c:pt idx="6">
                  <c:v>10,000+</c:v>
                </c:pt>
                <c:pt idx="7">
                  <c:v>I don't know</c:v>
                </c:pt>
                <c:pt idx="8">
                  <c:v>Not applicable</c:v>
                </c:pt>
              </c:strCache>
            </c:strRef>
          </c:cat>
          <c:val>
            <c:numRef>
              <c:f>Foglio1!$B$15:$B$23</c:f>
              <c:numCache>
                <c:formatCode>0.00%</c:formatCode>
                <c:ptCount val="9"/>
                <c:pt idx="0">
                  <c:v>5.8000000000000003E-2</c:v>
                </c:pt>
                <c:pt idx="1">
                  <c:v>3.5999999999999997E-2</c:v>
                </c:pt>
                <c:pt idx="2">
                  <c:v>5.8000000000000003E-2</c:v>
                </c:pt>
                <c:pt idx="3">
                  <c:v>0.17100000000000001</c:v>
                </c:pt>
                <c:pt idx="4">
                  <c:v>0.218</c:v>
                </c:pt>
                <c:pt idx="5">
                  <c:v>0.26800000000000002</c:v>
                </c:pt>
                <c:pt idx="6">
                  <c:v>0.158</c:v>
                </c:pt>
                <c:pt idx="7">
                  <c:v>2.1000000000000001E-2</c:v>
                </c:pt>
                <c:pt idx="8">
                  <c:v>1.2999999999999999E-2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293-5A4C-A223-C60C811D9FB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axId val="2072543784"/>
        <c:axId val="2072547416"/>
      </c:barChart>
      <c:catAx>
        <c:axId val="2072543784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2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IT"/>
          </a:p>
        </c:txPr>
        <c:crossAx val="2072547416"/>
        <c:crosses val="autoZero"/>
        <c:auto val="1"/>
        <c:lblAlgn val="ctr"/>
        <c:lblOffset val="100"/>
        <c:noMultiLvlLbl val="0"/>
      </c:catAx>
      <c:valAx>
        <c:axId val="2072547416"/>
        <c:scaling>
          <c:orientation val="minMax"/>
        </c:scaling>
        <c:delete val="1"/>
        <c:axPos val="b"/>
        <c:numFmt formatCode="0%" sourceLinked="0"/>
        <c:majorTickMark val="none"/>
        <c:minorTickMark val="none"/>
        <c:tickLblPos val="nextTo"/>
        <c:crossAx val="207254378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IT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6"/>
    </mc:Choice>
    <mc:Fallback>
      <c:style val="6"/>
    </mc:Fallback>
  </mc:AlternateContent>
  <c:chart>
    <c:title>
      <c:tx>
        <c:rich>
          <a:bodyPr rot="0" spcFirstLastPara="1" vertOverflow="ellipsis" vert="horz" wrap="square" anchor="b" anchorCtr="0"/>
          <a:lstStyle/>
          <a:p>
            <a:pPr>
              <a:defRPr sz="1200" b="1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r>
              <a:rPr lang="it-IT" sz="1200" dirty="0" err="1"/>
              <a:t>Size</a:t>
            </a:r>
            <a:r>
              <a:rPr lang="it-IT" sz="1200" dirty="0"/>
              <a:t> of IT </a:t>
            </a:r>
            <a:r>
              <a:rPr lang="it-IT" sz="1200" dirty="0" err="1"/>
              <a:t>infrastructure</a:t>
            </a:r>
            <a:r>
              <a:rPr lang="it-IT" sz="1200" dirty="0"/>
              <a:t> by # of </a:t>
            </a:r>
            <a:r>
              <a:rPr lang="it-IT" sz="1200" dirty="0" err="1"/>
              <a:t>servers</a:t>
            </a:r>
            <a:endParaRPr lang="it-IT" sz="1200" dirty="0"/>
          </a:p>
        </c:rich>
      </c:tx>
      <c:layout>
        <c:manualLayout>
          <c:xMode val="edge"/>
          <c:yMode val="edge"/>
          <c:x val="4.3917024643906899E-2"/>
          <c:y val="0.87928938138048396"/>
        </c:manualLayout>
      </c:layout>
      <c:overlay val="1"/>
      <c:spPr>
        <a:noFill/>
        <a:ln>
          <a:noFill/>
        </a:ln>
        <a:effectLst/>
      </c:spPr>
    </c:title>
    <c:autoTitleDeleted val="0"/>
    <c:plotArea>
      <c:layout>
        <c:manualLayout>
          <c:layoutTarget val="inner"/>
          <c:xMode val="edge"/>
          <c:yMode val="edge"/>
          <c:x val="0.24726627854397501"/>
          <c:y val="0.11056563266651"/>
          <c:w val="0.45298863893285102"/>
          <c:h val="0.65148662551641601"/>
        </c:manualLayout>
      </c:layout>
      <c:barChart>
        <c:barDir val="bar"/>
        <c:grouping val="clustered"/>
        <c:varyColors val="0"/>
        <c:ser>
          <c:idx val="0"/>
          <c:order val="0"/>
          <c:spPr>
            <a:gradFill rotWithShape="1">
              <a:gsLst>
                <a:gs pos="0">
                  <a:schemeClr val="accent4">
                    <a:shade val="51000"/>
                    <a:satMod val="130000"/>
                  </a:schemeClr>
                </a:gs>
                <a:gs pos="80000">
                  <a:schemeClr val="accent4">
                    <a:shade val="93000"/>
                    <a:satMod val="130000"/>
                  </a:schemeClr>
                </a:gs>
                <a:gs pos="100000">
                  <a:schemeClr val="accent4">
                    <a:shade val="94000"/>
                    <a:satMod val="135000"/>
                  </a:schemeClr>
                </a:gs>
              </a:gsLst>
              <a:lin ang="16200000" scaled="0"/>
            </a:gradFill>
            <a:ln>
              <a:noFill/>
            </a:ln>
            <a:effectLst>
              <a:outerShdw blurRad="40000" dist="23000" dir="5400000" rotWithShape="0">
                <a:srgbClr val="000000">
                  <a:alpha val="35000"/>
                </a:srgbClr>
              </a:outerShdw>
            </a:effectLst>
          </c:spPr>
          <c:invertIfNegative val="0"/>
          <c:dLbls>
            <c:numFmt formatCode="0.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pPr>
                <a:endParaRPr lang="en-IT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2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Foglio1!$A$27:$A$34</c:f>
              <c:strCache>
                <c:ptCount val="8"/>
                <c:pt idx="0">
                  <c:v>&lt;100</c:v>
                </c:pt>
                <c:pt idx="1">
                  <c:v>100-499</c:v>
                </c:pt>
                <c:pt idx="2">
                  <c:v>500-1,999</c:v>
                </c:pt>
                <c:pt idx="3">
                  <c:v>2,000-4,999</c:v>
                </c:pt>
                <c:pt idx="4">
                  <c:v>5,000-9,999</c:v>
                </c:pt>
                <c:pt idx="5">
                  <c:v>10,000 &gt;</c:v>
                </c:pt>
                <c:pt idx="6">
                  <c:v>I don't know</c:v>
                </c:pt>
                <c:pt idx="7">
                  <c:v>NA</c:v>
                </c:pt>
              </c:strCache>
            </c:strRef>
          </c:cat>
          <c:val>
            <c:numRef>
              <c:f>Foglio1!$B$27:$B$34</c:f>
              <c:numCache>
                <c:formatCode>0%</c:formatCode>
                <c:ptCount val="8"/>
                <c:pt idx="0" formatCode="0.00%">
                  <c:v>0.28299999999999997</c:v>
                </c:pt>
                <c:pt idx="1">
                  <c:v>0.23</c:v>
                </c:pt>
                <c:pt idx="2" formatCode="0.00%">
                  <c:v>0.16900000000000001</c:v>
                </c:pt>
                <c:pt idx="3" formatCode="0.00%">
                  <c:v>8.4000000000000005E-2</c:v>
                </c:pt>
                <c:pt idx="4" formatCode="0.00%">
                  <c:v>4.9000000000000002E-2</c:v>
                </c:pt>
                <c:pt idx="5" formatCode="0.00%">
                  <c:v>8.5000000000000006E-2</c:v>
                </c:pt>
                <c:pt idx="6">
                  <c:v>0.08</c:v>
                </c:pt>
                <c:pt idx="7">
                  <c:v>0.02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5FF-5049-8411-4582E101BFB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axId val="2072579272"/>
        <c:axId val="2072582744"/>
      </c:barChart>
      <c:catAx>
        <c:axId val="207257927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2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IT"/>
          </a:p>
        </c:txPr>
        <c:crossAx val="2072582744"/>
        <c:crosses val="autoZero"/>
        <c:auto val="1"/>
        <c:lblAlgn val="ctr"/>
        <c:lblOffset val="100"/>
        <c:noMultiLvlLbl val="0"/>
      </c:catAx>
      <c:valAx>
        <c:axId val="2072582744"/>
        <c:scaling>
          <c:orientation val="minMax"/>
        </c:scaling>
        <c:delete val="1"/>
        <c:axPos val="b"/>
        <c:numFmt formatCode="0.00%" sourceLinked="1"/>
        <c:majorTickMark val="none"/>
        <c:minorTickMark val="none"/>
        <c:tickLblPos val="nextTo"/>
        <c:crossAx val="2072579272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IT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6"/>
    </mc:Choice>
    <mc:Fallback>
      <c:style val="6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1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r>
              <a:rPr lang="it-IT" sz="1200"/>
              <a:t>Departments</a:t>
            </a:r>
          </a:p>
        </c:rich>
      </c:tx>
      <c:layout>
        <c:manualLayout>
          <c:xMode val="edge"/>
          <c:yMode val="edge"/>
          <c:x val="0.39418833896987698"/>
          <c:y val="0.86636418692120398"/>
        </c:manualLayout>
      </c:layout>
      <c:overlay val="1"/>
      <c:spPr>
        <a:noFill/>
        <a:ln>
          <a:noFill/>
        </a:ln>
        <a:effectLst/>
      </c:spPr>
    </c:title>
    <c:autoTitleDeleted val="0"/>
    <c:plotArea>
      <c:layout>
        <c:manualLayout>
          <c:layoutTarget val="inner"/>
          <c:xMode val="edge"/>
          <c:yMode val="edge"/>
          <c:x val="0.41553682649245"/>
          <c:y val="9.2740976484059101E-2"/>
          <c:w val="0.44869180386886698"/>
          <c:h val="0.70582884435737603"/>
        </c:manualLayout>
      </c:layout>
      <c:barChart>
        <c:barDir val="bar"/>
        <c:grouping val="clustered"/>
        <c:varyColors val="0"/>
        <c:ser>
          <c:idx val="0"/>
          <c:order val="0"/>
          <c:spPr>
            <a:gradFill rotWithShape="1">
              <a:gsLst>
                <a:gs pos="0">
                  <a:schemeClr val="accent4">
                    <a:shade val="51000"/>
                    <a:satMod val="130000"/>
                  </a:schemeClr>
                </a:gs>
                <a:gs pos="80000">
                  <a:schemeClr val="accent4">
                    <a:shade val="93000"/>
                    <a:satMod val="130000"/>
                  </a:schemeClr>
                </a:gs>
                <a:gs pos="100000">
                  <a:schemeClr val="accent4">
                    <a:shade val="94000"/>
                    <a:satMod val="135000"/>
                  </a:schemeClr>
                </a:gs>
              </a:gsLst>
              <a:lin ang="16200000" scaled="0"/>
            </a:gradFill>
            <a:ln>
              <a:noFill/>
            </a:ln>
            <a:effectLst>
              <a:outerShdw blurRad="40000" dist="23000" dir="5400000" rotWithShape="0">
                <a:srgbClr val="000000">
                  <a:alpha val="35000"/>
                </a:srgbClr>
              </a:outerShdw>
            </a:effectLst>
          </c:spPr>
          <c:invertIfNegative val="0"/>
          <c:dLbls>
            <c:numFmt formatCode="0.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pPr>
                <a:endParaRPr lang="en-IT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2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Foglio1!$A$37:$A$46</c:f>
              <c:strCache>
                <c:ptCount val="10"/>
                <c:pt idx="0">
                  <c:v>IT Ops</c:v>
                </c:pt>
                <c:pt idx="1">
                  <c:v>Dev/Eng</c:v>
                </c:pt>
                <c:pt idx="2">
                  <c:v>DevOps</c:v>
                </c:pt>
                <c:pt idx="3">
                  <c:v>Consultant</c:v>
                </c:pt>
                <c:pt idx="4">
                  <c:v>C-level Executive</c:v>
                </c:pt>
                <c:pt idx="5">
                  <c:v>Network Operations</c:v>
                </c:pt>
                <c:pt idx="6">
                  <c:v>Information Security</c:v>
                </c:pt>
                <c:pt idx="7">
                  <c:v>Quality Assurance</c:v>
                </c:pt>
                <c:pt idx="8">
                  <c:v>Release Engineering</c:v>
                </c:pt>
                <c:pt idx="9">
                  <c:v>All Others</c:v>
                </c:pt>
              </c:strCache>
            </c:strRef>
          </c:cat>
          <c:val>
            <c:numRef>
              <c:f>Foglio1!$B$37:$B$46</c:f>
              <c:numCache>
                <c:formatCode>0.00%</c:formatCode>
                <c:ptCount val="10"/>
                <c:pt idx="0">
                  <c:v>0.30399999999999999</c:v>
                </c:pt>
                <c:pt idx="1">
                  <c:v>0.28799999999999998</c:v>
                </c:pt>
                <c:pt idx="2" formatCode="0%">
                  <c:v>0.16</c:v>
                </c:pt>
                <c:pt idx="3">
                  <c:v>5.6000000000000001E-2</c:v>
                </c:pt>
                <c:pt idx="4">
                  <c:v>2.3E-2</c:v>
                </c:pt>
                <c:pt idx="5">
                  <c:v>1.9E-2</c:v>
                </c:pt>
                <c:pt idx="6">
                  <c:v>1.4E-2</c:v>
                </c:pt>
                <c:pt idx="7">
                  <c:v>1.2999999999999999E-2</c:v>
                </c:pt>
                <c:pt idx="8">
                  <c:v>1.2E-2</c:v>
                </c:pt>
                <c:pt idx="9">
                  <c:v>0.111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164-3E41-9EC3-3148A44968A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axId val="2072614072"/>
        <c:axId val="-2142968104"/>
      </c:barChart>
      <c:catAx>
        <c:axId val="207261407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2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IT"/>
          </a:p>
        </c:txPr>
        <c:crossAx val="-2142968104"/>
        <c:crosses val="autoZero"/>
        <c:auto val="1"/>
        <c:lblAlgn val="ctr"/>
        <c:lblOffset val="100"/>
        <c:noMultiLvlLbl val="0"/>
      </c:catAx>
      <c:valAx>
        <c:axId val="-2142968104"/>
        <c:scaling>
          <c:orientation val="minMax"/>
        </c:scaling>
        <c:delete val="1"/>
        <c:axPos val="b"/>
        <c:numFmt formatCode="0.00%" sourceLinked="1"/>
        <c:majorTickMark val="none"/>
        <c:minorTickMark val="none"/>
        <c:tickLblPos val="nextTo"/>
        <c:crossAx val="2072614072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IT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layout>
        <c:manualLayout>
          <c:xMode val="edge"/>
          <c:yMode val="edge"/>
          <c:x val="0.12851069587851399"/>
          <c:y val="1.3498263692832701E-2"/>
        </c:manualLayout>
      </c:layout>
      <c:overlay val="0"/>
      <c:txPr>
        <a:bodyPr/>
        <a:lstStyle/>
        <a:p>
          <a:pPr>
            <a:defRPr sz="2000"/>
          </a:pPr>
          <a:endParaRPr lang="en-IT"/>
        </a:p>
      </c:txPr>
    </c:title>
    <c:autoTitleDeleted val="0"/>
    <c:plotArea>
      <c:layout>
        <c:manualLayout>
          <c:layoutTarget val="inner"/>
          <c:xMode val="edge"/>
          <c:yMode val="edge"/>
          <c:x val="0.447708867524021"/>
          <c:y val="0.17223705318571"/>
          <c:w val="0.49436706047446699"/>
          <c:h val="0.73994063404461796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Foglio1!$B$1</c:f>
              <c:strCache>
                <c:ptCount val="1"/>
                <c:pt idx="0">
                  <c:v>DevOps Demand Drivers</c:v>
                </c:pt>
              </c:strCache>
            </c:strRef>
          </c:tx>
          <c:invertIfNegative val="0"/>
          <c:dLbls>
            <c:dLbl>
              <c:idx val="3"/>
              <c:spPr>
                <a:noFill/>
                <a:ln>
                  <a:noFill/>
                </a:ln>
                <a:effectLst/>
              </c:spPr>
              <c:txPr>
                <a:bodyPr anchorCtr="0"/>
                <a:lstStyle/>
                <a:p>
                  <a:pPr algn="r">
                    <a:defRPr sz="900">
                      <a:solidFill>
                        <a:schemeClr val="bg1"/>
                      </a:solidFill>
                    </a:defRPr>
                  </a:pPr>
                  <a:endParaRPr lang="en-IT"/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0-5A6C-864B-BB73-88E7FA83DC77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>
                    <a:solidFill>
                      <a:schemeClr val="bg1"/>
                    </a:solidFill>
                  </a:defRPr>
                </a:pPr>
                <a:endParaRPr lang="en-IT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Foglio1!$A$2:$A$7</c:f>
              <c:strCache>
                <c:ptCount val="6"/>
                <c:pt idx="0">
                  <c:v>Collaboration Needs</c:v>
                </c:pt>
                <c:pt idx="1">
                  <c:v>Quickly Release</c:v>
                </c:pt>
                <c:pt idx="2">
                  <c:v>Increasing use of Mobile Dev.</c:v>
                </c:pt>
                <c:pt idx="3">
                  <c:v>Simultaneous Deployment Needs</c:v>
                </c:pt>
                <c:pt idx="4">
                  <c:v>Improve Customer Experience</c:v>
                </c:pt>
                <c:pt idx="5">
                  <c:v>Improve Quality &amp; Performance</c:v>
                </c:pt>
              </c:strCache>
            </c:strRef>
          </c:cat>
          <c:val>
            <c:numRef>
              <c:f>Foglio1!$B$2:$B$7</c:f>
              <c:numCache>
                <c:formatCode>0%</c:formatCode>
                <c:ptCount val="6"/>
                <c:pt idx="0">
                  <c:v>0.25</c:v>
                </c:pt>
                <c:pt idx="1">
                  <c:v>0.27</c:v>
                </c:pt>
                <c:pt idx="2">
                  <c:v>0.28000000000000003</c:v>
                </c:pt>
                <c:pt idx="3">
                  <c:v>0.28999999999999998</c:v>
                </c:pt>
                <c:pt idx="4">
                  <c:v>0.34</c:v>
                </c:pt>
                <c:pt idx="5">
                  <c:v>0.42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A6C-864B-BB73-88E7FA83DC7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2074371208"/>
        <c:axId val="2074374408"/>
      </c:barChart>
      <c:catAx>
        <c:axId val="2074371208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solidFill>
            <a:schemeClr val="accent5"/>
          </a:solidFill>
        </c:spPr>
        <c:txPr>
          <a:bodyPr/>
          <a:lstStyle/>
          <a:p>
            <a:pPr>
              <a:defRPr sz="1050"/>
            </a:pPr>
            <a:endParaRPr lang="en-IT"/>
          </a:p>
        </c:txPr>
        <c:crossAx val="2074374408"/>
        <c:crosses val="autoZero"/>
        <c:auto val="1"/>
        <c:lblAlgn val="ctr"/>
        <c:lblOffset val="100"/>
        <c:noMultiLvlLbl val="0"/>
      </c:catAx>
      <c:valAx>
        <c:axId val="2074374408"/>
        <c:scaling>
          <c:orientation val="minMax"/>
        </c:scaling>
        <c:delete val="0"/>
        <c:axPos val="b"/>
        <c:numFmt formatCode="0%" sourceLinked="1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  <a:endParaRPr lang="en-IT"/>
          </a:p>
        </c:txPr>
        <c:crossAx val="2074371208"/>
        <c:crosses val="autoZero"/>
        <c:crossBetween val="between"/>
      </c:valAx>
      <c:spPr>
        <a:solidFill>
          <a:schemeClr val="accent5"/>
        </a:solidFill>
      </c:spPr>
    </c:plotArea>
    <c:plotVisOnly val="1"/>
    <c:dispBlanksAs val="gap"/>
    <c:showDLblsOverMax val="0"/>
  </c:chart>
  <c:txPr>
    <a:bodyPr/>
    <a:lstStyle/>
    <a:p>
      <a:pPr>
        <a:defRPr sz="1800"/>
      </a:pPr>
      <a:endParaRPr lang="en-IT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 algn="l">
              <a:defRPr sz="2000"/>
            </a:pPr>
            <a:r>
              <a:rPr lang="it-IT" dirty="0" err="1"/>
              <a:t>DevOps</a:t>
            </a:r>
            <a:r>
              <a:rPr lang="it-IT" dirty="0"/>
              <a:t> </a:t>
            </a:r>
            <a:r>
              <a:rPr lang="it-IT" dirty="0" err="1"/>
              <a:t>Challenges</a:t>
            </a:r>
            <a:endParaRPr lang="it-IT" dirty="0"/>
          </a:p>
        </c:rich>
      </c:tx>
      <c:layout>
        <c:manualLayout>
          <c:xMode val="edge"/>
          <c:yMode val="edge"/>
          <c:x val="0.26003583180658002"/>
          <c:y val="3.5232409822009703E-2"/>
        </c:manualLayout>
      </c:layout>
      <c:overlay val="0"/>
    </c:title>
    <c:autoTitleDeleted val="0"/>
    <c:plotArea>
      <c:layout>
        <c:manualLayout>
          <c:layoutTarget val="inner"/>
          <c:xMode val="edge"/>
          <c:yMode val="edge"/>
          <c:x val="0.45770001215400502"/>
          <c:y val="0.17497221679113001"/>
          <c:w val="0.48718922885090599"/>
          <c:h val="0.7620142805270390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Foglio1!$B$1</c:f>
              <c:strCache>
                <c:ptCount val="1"/>
                <c:pt idx="0">
                  <c:v>DevOps Obstacles</c:v>
                </c:pt>
              </c:strCache>
            </c:strRef>
          </c:tx>
          <c:invertIfNegative val="0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>
                    <a:solidFill>
                      <a:schemeClr val="bg1"/>
                    </a:solidFill>
                  </a:defRPr>
                </a:pPr>
                <a:endParaRPr lang="en-IT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Foglio1!$A$2:$A$8</c:f>
              <c:strCache>
                <c:ptCount val="7"/>
                <c:pt idx="0">
                  <c:v>No support from leadership</c:v>
                </c:pt>
                <c:pt idx="1">
                  <c:v>Lack of understanding of the phases</c:v>
                </c:pt>
                <c:pt idx="2">
                  <c:v>Roles &amp; Responsabilities not aligned</c:v>
                </c:pt>
                <c:pt idx="3">
                  <c:v>Identifying suitable consulting firm</c:v>
                </c:pt>
                <c:pt idx="4">
                  <c:v>Organisational complexity </c:v>
                </c:pt>
                <c:pt idx="5">
                  <c:v>Difficult to justify from a ROI standpoint</c:v>
                </c:pt>
                <c:pt idx="6">
                  <c:v>Security or compliance concerns</c:v>
                </c:pt>
              </c:strCache>
            </c:strRef>
          </c:cat>
          <c:val>
            <c:numRef>
              <c:f>Foglio1!$B$2:$B$8</c:f>
              <c:numCache>
                <c:formatCode>0%</c:formatCode>
                <c:ptCount val="7"/>
                <c:pt idx="0">
                  <c:v>0.18</c:v>
                </c:pt>
                <c:pt idx="1">
                  <c:v>0.19</c:v>
                </c:pt>
                <c:pt idx="2">
                  <c:v>0.25</c:v>
                </c:pt>
                <c:pt idx="3">
                  <c:v>0.26</c:v>
                </c:pt>
                <c:pt idx="4">
                  <c:v>0.27</c:v>
                </c:pt>
                <c:pt idx="5">
                  <c:v>0.27</c:v>
                </c:pt>
                <c:pt idx="6">
                  <c:v>0.28000000000000003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764-E943-8EF7-2E44ACACA1A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2130036936"/>
        <c:axId val="2130109464"/>
      </c:barChart>
      <c:catAx>
        <c:axId val="21300369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solidFill>
            <a:schemeClr val="accent5"/>
          </a:solidFill>
        </c:spPr>
        <c:txPr>
          <a:bodyPr/>
          <a:lstStyle/>
          <a:p>
            <a:pPr>
              <a:defRPr sz="1100"/>
            </a:pPr>
            <a:endParaRPr lang="en-IT"/>
          </a:p>
        </c:txPr>
        <c:crossAx val="2130109464"/>
        <c:crosses val="autoZero"/>
        <c:auto val="1"/>
        <c:lblAlgn val="ctr"/>
        <c:lblOffset val="100"/>
        <c:noMultiLvlLbl val="0"/>
      </c:catAx>
      <c:valAx>
        <c:axId val="2130109464"/>
        <c:scaling>
          <c:orientation val="minMax"/>
        </c:scaling>
        <c:delete val="0"/>
        <c:axPos val="b"/>
        <c:numFmt formatCode="0%" sourceLinked="1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  <a:endParaRPr lang="en-IT"/>
          </a:p>
        </c:txPr>
        <c:crossAx val="2130036936"/>
        <c:crosses val="autoZero"/>
        <c:crossBetween val="between"/>
      </c:valAx>
      <c:spPr>
        <a:solidFill>
          <a:schemeClr val="accent5"/>
        </a:solidFill>
      </c:spPr>
    </c:plotArea>
    <c:plotVisOnly val="1"/>
    <c:dispBlanksAs val="gap"/>
    <c:showDLblsOverMax val="0"/>
  </c:chart>
  <c:txPr>
    <a:bodyPr/>
    <a:lstStyle/>
    <a:p>
      <a:pPr>
        <a:defRPr sz="1800"/>
      </a:pPr>
      <a:endParaRPr lang="en-IT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2000"/>
            </a:pPr>
            <a:r>
              <a:rPr lang="en-US" sz="2000" dirty="0"/>
              <a:t>Expected DevOps </a:t>
            </a:r>
            <a:r>
              <a:rPr lang="en-US" sz="2000" spc="-100" baseline="0" dirty="0"/>
              <a:t>Investmen</a:t>
            </a:r>
            <a:r>
              <a:rPr lang="en-US" sz="2000" dirty="0"/>
              <a:t>t</a:t>
            </a:r>
          </a:p>
        </c:rich>
      </c:tx>
      <c:layout>
        <c:manualLayout>
          <c:xMode val="edge"/>
          <c:yMode val="edge"/>
          <c:x val="0.13168472891776817"/>
          <c:y val="2.6873317067335361E-3"/>
        </c:manualLayout>
      </c:layout>
      <c:overlay val="0"/>
      <c:spPr>
        <a:noFill/>
      </c:spPr>
    </c:title>
    <c:autoTitleDeleted val="0"/>
    <c:plotArea>
      <c:layout>
        <c:manualLayout>
          <c:layoutTarget val="inner"/>
          <c:xMode val="edge"/>
          <c:yMode val="edge"/>
          <c:x val="0.42043059118658799"/>
          <c:y val="0.16720579058659399"/>
          <c:w val="0.52276843283950802"/>
          <c:h val="0.76978072006529197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Foglio1!$B$1</c:f>
              <c:strCache>
                <c:ptCount val="1"/>
                <c:pt idx="0">
                  <c:v>Expected DevOps Investment</c:v>
                </c:pt>
              </c:strCache>
            </c:strRef>
          </c:tx>
          <c:invertIfNegative val="0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>
                    <a:solidFill>
                      <a:schemeClr val="bg1"/>
                    </a:solidFill>
                  </a:defRPr>
                </a:pPr>
                <a:endParaRPr lang="en-IT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Foglio1!$A$2:$A$7</c:f>
              <c:strCache>
                <c:ptCount val="6"/>
                <c:pt idx="0">
                  <c:v>New tools </c:v>
                </c:pt>
                <c:pt idx="1">
                  <c:v>Org. Structure</c:v>
                </c:pt>
                <c:pt idx="2">
                  <c:v>Training personnel</c:v>
                </c:pt>
                <c:pt idx="3">
                  <c:v>Redesigning processes</c:v>
                </c:pt>
                <c:pt idx="4">
                  <c:v>Engaging a consulting firm</c:v>
                </c:pt>
                <c:pt idx="5">
                  <c:v>Hiring new resources</c:v>
                </c:pt>
              </c:strCache>
            </c:strRef>
          </c:cat>
          <c:val>
            <c:numRef>
              <c:f>Foglio1!$B$2:$B$7</c:f>
              <c:numCache>
                <c:formatCode>0%</c:formatCode>
                <c:ptCount val="6"/>
                <c:pt idx="0">
                  <c:v>0.3</c:v>
                </c:pt>
                <c:pt idx="1">
                  <c:v>0.4</c:v>
                </c:pt>
                <c:pt idx="2">
                  <c:v>0.46</c:v>
                </c:pt>
                <c:pt idx="3">
                  <c:v>0.51</c:v>
                </c:pt>
                <c:pt idx="4">
                  <c:v>0.51</c:v>
                </c:pt>
                <c:pt idx="5">
                  <c:v>0.63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A44-554C-904A-5AF019F6F15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2129984008"/>
        <c:axId val="2129993160"/>
      </c:barChart>
      <c:catAx>
        <c:axId val="2129984008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solidFill>
            <a:schemeClr val="accent5"/>
          </a:solidFill>
        </c:spPr>
        <c:txPr>
          <a:bodyPr/>
          <a:lstStyle/>
          <a:p>
            <a:pPr>
              <a:defRPr sz="1050"/>
            </a:pPr>
            <a:endParaRPr lang="en-IT"/>
          </a:p>
        </c:txPr>
        <c:crossAx val="2129993160"/>
        <c:crosses val="autoZero"/>
        <c:auto val="1"/>
        <c:lblAlgn val="ctr"/>
        <c:lblOffset val="100"/>
        <c:noMultiLvlLbl val="0"/>
      </c:catAx>
      <c:valAx>
        <c:axId val="2129993160"/>
        <c:scaling>
          <c:orientation val="minMax"/>
        </c:scaling>
        <c:delete val="0"/>
        <c:axPos val="b"/>
        <c:numFmt formatCode="0%" sourceLinked="1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  <a:endParaRPr lang="en-IT"/>
          </a:p>
        </c:txPr>
        <c:crossAx val="2129984008"/>
        <c:crosses val="autoZero"/>
        <c:crossBetween val="between"/>
      </c:valAx>
      <c:spPr>
        <a:solidFill>
          <a:schemeClr val="accent5"/>
        </a:solidFill>
      </c:spPr>
    </c:plotArea>
    <c:plotVisOnly val="1"/>
    <c:dispBlanksAs val="gap"/>
    <c:showDLblsOverMax val="0"/>
  </c:chart>
  <c:txPr>
    <a:bodyPr/>
    <a:lstStyle/>
    <a:p>
      <a:pPr>
        <a:defRPr sz="1800"/>
      </a:pPr>
      <a:endParaRPr lang="en-IT"/>
    </a:p>
  </c:txPr>
  <c:externalData r:id="rId1">
    <c:autoUpdate val="0"/>
  </c:externalData>
</c:chartSpac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E9E04F7-F6BA-5B4B-9F90-7D634B9FEF08}" type="doc">
      <dgm:prSet loTypeId="urn:microsoft.com/office/officeart/2005/8/layout/cycle2" loCatId="" qsTypeId="urn:microsoft.com/office/officeart/2005/8/quickstyle/simple4" qsCatId="simple" csTypeId="urn:microsoft.com/office/officeart/2005/8/colors/accent1_2" csCatId="accent1" phldr="1"/>
      <dgm:spPr/>
      <dgm:t>
        <a:bodyPr/>
        <a:lstStyle/>
        <a:p>
          <a:endParaRPr lang="en-CA"/>
        </a:p>
      </dgm:t>
    </dgm:pt>
    <dgm:pt modelId="{435F411B-2777-A148-BFE8-7FCF72A01912}">
      <dgm:prSet phldrT="[Text]"/>
      <dgm:spPr>
        <a:solidFill>
          <a:srgbClr val="7100B0"/>
        </a:solidFill>
      </dgm:spPr>
      <dgm:t>
        <a:bodyPr/>
        <a:lstStyle/>
        <a:p>
          <a:r>
            <a:rPr lang="en-CA" dirty="0"/>
            <a:t>1.Configuration Management</a:t>
          </a:r>
        </a:p>
      </dgm:t>
    </dgm:pt>
    <dgm:pt modelId="{812A9148-FD5B-454A-B7D9-C92706EBFCDD}" type="parTrans" cxnId="{E6F4AA43-07D7-AA43-9612-77E3FAD27FE3}">
      <dgm:prSet/>
      <dgm:spPr/>
      <dgm:t>
        <a:bodyPr/>
        <a:lstStyle/>
        <a:p>
          <a:endParaRPr lang="en-CA"/>
        </a:p>
      </dgm:t>
    </dgm:pt>
    <dgm:pt modelId="{B9403083-08CC-0D48-B667-77E44267F1BE}" type="sibTrans" cxnId="{E6F4AA43-07D7-AA43-9612-77E3FAD27FE3}">
      <dgm:prSet/>
      <dgm:spPr/>
      <dgm:t>
        <a:bodyPr/>
        <a:lstStyle/>
        <a:p>
          <a:endParaRPr lang="en-CA"/>
        </a:p>
      </dgm:t>
    </dgm:pt>
    <dgm:pt modelId="{F531024A-BA6B-B14C-8EDE-BBF5EDB45846}">
      <dgm:prSet phldrT="[Text]"/>
      <dgm:spPr>
        <a:solidFill>
          <a:srgbClr val="7100B0"/>
        </a:solidFill>
      </dgm:spPr>
      <dgm:t>
        <a:bodyPr/>
        <a:lstStyle/>
        <a:p>
          <a:r>
            <a:rPr lang="en-CA" dirty="0"/>
            <a:t>2. Server Provisioning</a:t>
          </a:r>
        </a:p>
      </dgm:t>
    </dgm:pt>
    <dgm:pt modelId="{C59C3CF9-8D30-EF42-915A-7F95F5E4A5BA}" type="parTrans" cxnId="{C7ED520E-05B4-6940-90C2-A9DFBAF9F848}">
      <dgm:prSet/>
      <dgm:spPr/>
      <dgm:t>
        <a:bodyPr/>
        <a:lstStyle/>
        <a:p>
          <a:endParaRPr lang="en-CA"/>
        </a:p>
      </dgm:t>
    </dgm:pt>
    <dgm:pt modelId="{C2962A74-0C67-1640-AA94-BCE007FB0320}" type="sibTrans" cxnId="{C7ED520E-05B4-6940-90C2-A9DFBAF9F848}">
      <dgm:prSet/>
      <dgm:spPr/>
      <dgm:t>
        <a:bodyPr/>
        <a:lstStyle/>
        <a:p>
          <a:endParaRPr lang="en-CA"/>
        </a:p>
      </dgm:t>
    </dgm:pt>
    <dgm:pt modelId="{0A0B83BB-5157-3E4A-B697-035B49F8F843}">
      <dgm:prSet phldrT="[Text]"/>
      <dgm:spPr>
        <a:solidFill>
          <a:srgbClr val="31857F"/>
        </a:solidFill>
        <a:ln>
          <a:solidFill>
            <a:srgbClr val="31856E"/>
          </a:solidFill>
        </a:ln>
      </dgm:spPr>
      <dgm:t>
        <a:bodyPr/>
        <a:lstStyle/>
        <a:p>
          <a:r>
            <a:rPr lang="en-CA" dirty="0"/>
            <a:t>5. Self-Adaptation</a:t>
          </a:r>
        </a:p>
      </dgm:t>
    </dgm:pt>
    <dgm:pt modelId="{17F0DBF1-DE71-E04B-B75E-943FB28CAEFB}" type="parTrans" cxnId="{A3E92958-D8A4-9541-9EF9-168D87BC9A48}">
      <dgm:prSet/>
      <dgm:spPr/>
      <dgm:t>
        <a:bodyPr/>
        <a:lstStyle/>
        <a:p>
          <a:endParaRPr lang="en-CA"/>
        </a:p>
      </dgm:t>
    </dgm:pt>
    <dgm:pt modelId="{A39A0D6A-228A-BF4A-B37B-F0AB6214A57E}" type="sibTrans" cxnId="{A3E92958-D8A4-9541-9EF9-168D87BC9A48}">
      <dgm:prSet/>
      <dgm:spPr/>
      <dgm:t>
        <a:bodyPr/>
        <a:lstStyle/>
        <a:p>
          <a:endParaRPr lang="en-CA"/>
        </a:p>
      </dgm:t>
    </dgm:pt>
    <dgm:pt modelId="{EE3E9856-7D33-934C-A914-409DB4E480B1}">
      <dgm:prSet phldrT="[Text]"/>
      <dgm:spPr>
        <a:solidFill>
          <a:srgbClr val="7100B0"/>
        </a:solidFill>
      </dgm:spPr>
      <dgm:t>
        <a:bodyPr/>
        <a:lstStyle/>
        <a:p>
          <a:r>
            <a:rPr lang="en-CA" dirty="0"/>
            <a:t>3. Application Deployment</a:t>
          </a:r>
        </a:p>
      </dgm:t>
    </dgm:pt>
    <dgm:pt modelId="{693CC010-8FBB-C34D-9AA2-E586EDE92410}" type="parTrans" cxnId="{43C012E8-6253-3744-A154-23CF4EB45C8F}">
      <dgm:prSet/>
      <dgm:spPr/>
      <dgm:t>
        <a:bodyPr/>
        <a:lstStyle/>
        <a:p>
          <a:endParaRPr lang="en-US"/>
        </a:p>
      </dgm:t>
    </dgm:pt>
    <dgm:pt modelId="{CCB6065E-F9B3-4744-98A0-17F38B78A844}" type="sibTrans" cxnId="{43C012E8-6253-3744-A154-23CF4EB45C8F}">
      <dgm:prSet/>
      <dgm:spPr/>
      <dgm:t>
        <a:bodyPr/>
        <a:lstStyle/>
        <a:p>
          <a:endParaRPr lang="en-US"/>
        </a:p>
      </dgm:t>
    </dgm:pt>
    <dgm:pt modelId="{BC4A5BA6-F034-7A4E-B033-BE5BEC9FF62F}">
      <dgm:prSet phldrT="[Text]"/>
      <dgm:spPr>
        <a:solidFill>
          <a:srgbClr val="A20000"/>
        </a:solidFill>
      </dgm:spPr>
      <dgm:t>
        <a:bodyPr/>
        <a:lstStyle/>
        <a:p>
          <a:r>
            <a:rPr lang="en-CA" dirty="0"/>
            <a:t>4. Monitoring</a:t>
          </a:r>
        </a:p>
      </dgm:t>
    </dgm:pt>
    <dgm:pt modelId="{93FA2FB0-356F-544A-A8A6-313B1282267F}" type="sibTrans" cxnId="{70954B4F-7115-6B45-B41B-9E307D6A21DF}">
      <dgm:prSet/>
      <dgm:spPr/>
      <dgm:t>
        <a:bodyPr/>
        <a:lstStyle/>
        <a:p>
          <a:endParaRPr lang="en-CA"/>
        </a:p>
      </dgm:t>
    </dgm:pt>
    <dgm:pt modelId="{CC4429A5-7FF8-224F-B675-DA5FED3774B0}" type="parTrans" cxnId="{70954B4F-7115-6B45-B41B-9E307D6A21DF}">
      <dgm:prSet/>
      <dgm:spPr/>
      <dgm:t>
        <a:bodyPr/>
        <a:lstStyle/>
        <a:p>
          <a:endParaRPr lang="en-CA"/>
        </a:p>
      </dgm:t>
    </dgm:pt>
    <dgm:pt modelId="{374B3083-B5BA-874B-AF24-7492F75EC51E}" type="pres">
      <dgm:prSet presAssocID="{8E9E04F7-F6BA-5B4B-9F90-7D634B9FEF08}" presName="cycle" presStyleCnt="0">
        <dgm:presLayoutVars>
          <dgm:dir/>
          <dgm:resizeHandles val="exact"/>
        </dgm:presLayoutVars>
      </dgm:prSet>
      <dgm:spPr/>
    </dgm:pt>
    <dgm:pt modelId="{F5FB07C1-4726-8D41-BC00-4C5F095A46E8}" type="pres">
      <dgm:prSet presAssocID="{435F411B-2777-A148-BFE8-7FCF72A01912}" presName="node" presStyleLbl="node1" presStyleIdx="0" presStyleCnt="5">
        <dgm:presLayoutVars>
          <dgm:bulletEnabled val="1"/>
        </dgm:presLayoutVars>
      </dgm:prSet>
      <dgm:spPr/>
    </dgm:pt>
    <dgm:pt modelId="{CCABDB72-B010-B044-9BAA-8EE2B91DE723}" type="pres">
      <dgm:prSet presAssocID="{B9403083-08CC-0D48-B667-77E44267F1BE}" presName="sibTrans" presStyleLbl="sibTrans2D1" presStyleIdx="0" presStyleCnt="5"/>
      <dgm:spPr/>
    </dgm:pt>
    <dgm:pt modelId="{DD1120B1-3A0D-1B40-8880-3BB039CA497E}" type="pres">
      <dgm:prSet presAssocID="{B9403083-08CC-0D48-B667-77E44267F1BE}" presName="connectorText" presStyleLbl="sibTrans2D1" presStyleIdx="0" presStyleCnt="5"/>
      <dgm:spPr/>
    </dgm:pt>
    <dgm:pt modelId="{F71DC1AD-8E4B-7543-A90C-92E866FBB2E1}" type="pres">
      <dgm:prSet presAssocID="{F531024A-BA6B-B14C-8EDE-BBF5EDB45846}" presName="node" presStyleLbl="node1" presStyleIdx="1" presStyleCnt="5">
        <dgm:presLayoutVars>
          <dgm:bulletEnabled val="1"/>
        </dgm:presLayoutVars>
      </dgm:prSet>
      <dgm:spPr/>
    </dgm:pt>
    <dgm:pt modelId="{D89F0B7F-41D1-0549-880E-E92D1E15918E}" type="pres">
      <dgm:prSet presAssocID="{C2962A74-0C67-1640-AA94-BCE007FB0320}" presName="sibTrans" presStyleLbl="sibTrans2D1" presStyleIdx="1" presStyleCnt="5"/>
      <dgm:spPr/>
    </dgm:pt>
    <dgm:pt modelId="{9DC64873-421D-444D-AA2A-0F1921A7AEAB}" type="pres">
      <dgm:prSet presAssocID="{C2962A74-0C67-1640-AA94-BCE007FB0320}" presName="connectorText" presStyleLbl="sibTrans2D1" presStyleIdx="1" presStyleCnt="5"/>
      <dgm:spPr/>
    </dgm:pt>
    <dgm:pt modelId="{CCF81A23-7B37-BB4A-BB32-BD2D0E5639C6}" type="pres">
      <dgm:prSet presAssocID="{EE3E9856-7D33-934C-A914-409DB4E480B1}" presName="node" presStyleLbl="node1" presStyleIdx="2" presStyleCnt="5">
        <dgm:presLayoutVars>
          <dgm:bulletEnabled val="1"/>
        </dgm:presLayoutVars>
      </dgm:prSet>
      <dgm:spPr/>
    </dgm:pt>
    <dgm:pt modelId="{C22F28AB-53BC-D540-8365-DC798AC7D01A}" type="pres">
      <dgm:prSet presAssocID="{CCB6065E-F9B3-4744-98A0-17F38B78A844}" presName="sibTrans" presStyleLbl="sibTrans2D1" presStyleIdx="2" presStyleCnt="5"/>
      <dgm:spPr/>
    </dgm:pt>
    <dgm:pt modelId="{D829B965-5B8A-B24E-8128-75DE2D10F0DB}" type="pres">
      <dgm:prSet presAssocID="{CCB6065E-F9B3-4744-98A0-17F38B78A844}" presName="connectorText" presStyleLbl="sibTrans2D1" presStyleIdx="2" presStyleCnt="5"/>
      <dgm:spPr/>
    </dgm:pt>
    <dgm:pt modelId="{8D4B18F9-91CF-DF4B-9D8B-4E48A72F9534}" type="pres">
      <dgm:prSet presAssocID="{BC4A5BA6-F034-7A4E-B033-BE5BEC9FF62F}" presName="node" presStyleLbl="node1" presStyleIdx="3" presStyleCnt="5">
        <dgm:presLayoutVars>
          <dgm:bulletEnabled val="1"/>
        </dgm:presLayoutVars>
      </dgm:prSet>
      <dgm:spPr/>
    </dgm:pt>
    <dgm:pt modelId="{F39B420E-1A7A-704F-B3B6-E58DAB8C2BAF}" type="pres">
      <dgm:prSet presAssocID="{93FA2FB0-356F-544A-A8A6-313B1282267F}" presName="sibTrans" presStyleLbl="sibTrans2D1" presStyleIdx="3" presStyleCnt="5"/>
      <dgm:spPr/>
    </dgm:pt>
    <dgm:pt modelId="{FFEC9E19-526E-464D-9E18-D0316EF3B816}" type="pres">
      <dgm:prSet presAssocID="{93FA2FB0-356F-544A-A8A6-313B1282267F}" presName="connectorText" presStyleLbl="sibTrans2D1" presStyleIdx="3" presStyleCnt="5"/>
      <dgm:spPr/>
    </dgm:pt>
    <dgm:pt modelId="{1224AA48-25BE-184C-8AE5-89B4FCFF3B20}" type="pres">
      <dgm:prSet presAssocID="{0A0B83BB-5157-3E4A-B697-035B49F8F843}" presName="node" presStyleLbl="node1" presStyleIdx="4" presStyleCnt="5">
        <dgm:presLayoutVars>
          <dgm:bulletEnabled val="1"/>
        </dgm:presLayoutVars>
      </dgm:prSet>
      <dgm:spPr/>
    </dgm:pt>
    <dgm:pt modelId="{F7D04BC8-445E-DF44-A88F-2B660AD2FD01}" type="pres">
      <dgm:prSet presAssocID="{A39A0D6A-228A-BF4A-B37B-F0AB6214A57E}" presName="sibTrans" presStyleLbl="sibTrans2D1" presStyleIdx="4" presStyleCnt="5"/>
      <dgm:spPr/>
    </dgm:pt>
    <dgm:pt modelId="{4855E35C-13A3-0842-8338-117500261601}" type="pres">
      <dgm:prSet presAssocID="{A39A0D6A-228A-BF4A-B37B-F0AB6214A57E}" presName="connectorText" presStyleLbl="sibTrans2D1" presStyleIdx="4" presStyleCnt="5"/>
      <dgm:spPr/>
    </dgm:pt>
  </dgm:ptLst>
  <dgm:cxnLst>
    <dgm:cxn modelId="{1704DE02-1BD2-5842-893F-A277A576D13D}" type="presOf" srcId="{B9403083-08CC-0D48-B667-77E44267F1BE}" destId="{CCABDB72-B010-B044-9BAA-8EE2B91DE723}" srcOrd="0" destOrd="0" presId="urn:microsoft.com/office/officeart/2005/8/layout/cycle2"/>
    <dgm:cxn modelId="{C7ED520E-05B4-6940-90C2-A9DFBAF9F848}" srcId="{8E9E04F7-F6BA-5B4B-9F90-7D634B9FEF08}" destId="{F531024A-BA6B-B14C-8EDE-BBF5EDB45846}" srcOrd="1" destOrd="0" parTransId="{C59C3CF9-8D30-EF42-915A-7F95F5E4A5BA}" sibTransId="{C2962A74-0C67-1640-AA94-BCE007FB0320}"/>
    <dgm:cxn modelId="{194F8114-53F2-194C-BC31-2C07528A0F60}" type="presOf" srcId="{93FA2FB0-356F-544A-A8A6-313B1282267F}" destId="{F39B420E-1A7A-704F-B3B6-E58DAB8C2BAF}" srcOrd="0" destOrd="0" presId="urn:microsoft.com/office/officeart/2005/8/layout/cycle2"/>
    <dgm:cxn modelId="{8E63311A-05CE-9D46-8E97-5B07946DB066}" type="presOf" srcId="{C2962A74-0C67-1640-AA94-BCE007FB0320}" destId="{D89F0B7F-41D1-0549-880E-E92D1E15918E}" srcOrd="0" destOrd="0" presId="urn:microsoft.com/office/officeart/2005/8/layout/cycle2"/>
    <dgm:cxn modelId="{F98E5A29-233D-1D44-81A0-5011AF354FBA}" type="presOf" srcId="{A39A0D6A-228A-BF4A-B37B-F0AB6214A57E}" destId="{F7D04BC8-445E-DF44-A88F-2B660AD2FD01}" srcOrd="0" destOrd="0" presId="urn:microsoft.com/office/officeart/2005/8/layout/cycle2"/>
    <dgm:cxn modelId="{3FEFAE2A-E883-044C-9FC6-001AB2F2E78E}" type="presOf" srcId="{CCB6065E-F9B3-4744-98A0-17F38B78A844}" destId="{C22F28AB-53BC-D540-8365-DC798AC7D01A}" srcOrd="0" destOrd="0" presId="urn:microsoft.com/office/officeart/2005/8/layout/cycle2"/>
    <dgm:cxn modelId="{28B9353A-0108-C14F-8F31-0C47DE78B881}" type="presOf" srcId="{C2962A74-0C67-1640-AA94-BCE007FB0320}" destId="{9DC64873-421D-444D-AA2A-0F1921A7AEAB}" srcOrd="1" destOrd="0" presId="urn:microsoft.com/office/officeart/2005/8/layout/cycle2"/>
    <dgm:cxn modelId="{804FCF40-AD4E-C54C-92F5-FA5F54A34A0C}" type="presOf" srcId="{EE3E9856-7D33-934C-A914-409DB4E480B1}" destId="{CCF81A23-7B37-BB4A-BB32-BD2D0E5639C6}" srcOrd="0" destOrd="0" presId="urn:microsoft.com/office/officeart/2005/8/layout/cycle2"/>
    <dgm:cxn modelId="{E6F4AA43-07D7-AA43-9612-77E3FAD27FE3}" srcId="{8E9E04F7-F6BA-5B4B-9F90-7D634B9FEF08}" destId="{435F411B-2777-A148-BFE8-7FCF72A01912}" srcOrd="0" destOrd="0" parTransId="{812A9148-FD5B-454A-B7D9-C92706EBFCDD}" sibTransId="{B9403083-08CC-0D48-B667-77E44267F1BE}"/>
    <dgm:cxn modelId="{70954B4F-7115-6B45-B41B-9E307D6A21DF}" srcId="{8E9E04F7-F6BA-5B4B-9F90-7D634B9FEF08}" destId="{BC4A5BA6-F034-7A4E-B033-BE5BEC9FF62F}" srcOrd="3" destOrd="0" parTransId="{CC4429A5-7FF8-224F-B675-DA5FED3774B0}" sibTransId="{93FA2FB0-356F-544A-A8A6-313B1282267F}"/>
    <dgm:cxn modelId="{A3E92958-D8A4-9541-9EF9-168D87BC9A48}" srcId="{8E9E04F7-F6BA-5B4B-9F90-7D634B9FEF08}" destId="{0A0B83BB-5157-3E4A-B697-035B49F8F843}" srcOrd="4" destOrd="0" parTransId="{17F0DBF1-DE71-E04B-B75E-943FB28CAEFB}" sibTransId="{A39A0D6A-228A-BF4A-B37B-F0AB6214A57E}"/>
    <dgm:cxn modelId="{7EB65B5A-E6E8-BD42-BCD9-165FEF39C72D}" type="presOf" srcId="{F531024A-BA6B-B14C-8EDE-BBF5EDB45846}" destId="{F71DC1AD-8E4B-7543-A90C-92E866FBB2E1}" srcOrd="0" destOrd="0" presId="urn:microsoft.com/office/officeart/2005/8/layout/cycle2"/>
    <dgm:cxn modelId="{D943F968-81B7-2E4E-BCCF-B798EB59847F}" type="presOf" srcId="{CCB6065E-F9B3-4744-98A0-17F38B78A844}" destId="{D829B965-5B8A-B24E-8128-75DE2D10F0DB}" srcOrd="1" destOrd="0" presId="urn:microsoft.com/office/officeart/2005/8/layout/cycle2"/>
    <dgm:cxn modelId="{D5BAEF72-3B11-CD49-892B-7D57DEDDA054}" type="presOf" srcId="{B9403083-08CC-0D48-B667-77E44267F1BE}" destId="{DD1120B1-3A0D-1B40-8880-3BB039CA497E}" srcOrd="1" destOrd="0" presId="urn:microsoft.com/office/officeart/2005/8/layout/cycle2"/>
    <dgm:cxn modelId="{2899EE94-9BC7-544C-BAB7-52DB471A269E}" type="presOf" srcId="{0A0B83BB-5157-3E4A-B697-035B49F8F843}" destId="{1224AA48-25BE-184C-8AE5-89B4FCFF3B20}" srcOrd="0" destOrd="0" presId="urn:microsoft.com/office/officeart/2005/8/layout/cycle2"/>
    <dgm:cxn modelId="{5DB6D19C-F913-7247-9814-C2AAE92C1A76}" type="presOf" srcId="{BC4A5BA6-F034-7A4E-B033-BE5BEC9FF62F}" destId="{8D4B18F9-91CF-DF4B-9D8B-4E48A72F9534}" srcOrd="0" destOrd="0" presId="urn:microsoft.com/office/officeart/2005/8/layout/cycle2"/>
    <dgm:cxn modelId="{BE3264C0-8EB1-F245-AD86-7D4AC836C5F1}" type="presOf" srcId="{A39A0D6A-228A-BF4A-B37B-F0AB6214A57E}" destId="{4855E35C-13A3-0842-8338-117500261601}" srcOrd="1" destOrd="0" presId="urn:microsoft.com/office/officeart/2005/8/layout/cycle2"/>
    <dgm:cxn modelId="{0C8EF5C6-913D-2840-AF87-A99E10349E14}" type="presOf" srcId="{435F411B-2777-A148-BFE8-7FCF72A01912}" destId="{F5FB07C1-4726-8D41-BC00-4C5F095A46E8}" srcOrd="0" destOrd="0" presId="urn:microsoft.com/office/officeart/2005/8/layout/cycle2"/>
    <dgm:cxn modelId="{8C2D33D3-8033-5A47-9E1A-DA93CFA894B9}" type="presOf" srcId="{93FA2FB0-356F-544A-A8A6-313B1282267F}" destId="{FFEC9E19-526E-464D-9E18-D0316EF3B816}" srcOrd="1" destOrd="0" presId="urn:microsoft.com/office/officeart/2005/8/layout/cycle2"/>
    <dgm:cxn modelId="{43C012E8-6253-3744-A154-23CF4EB45C8F}" srcId="{8E9E04F7-F6BA-5B4B-9F90-7D634B9FEF08}" destId="{EE3E9856-7D33-934C-A914-409DB4E480B1}" srcOrd="2" destOrd="0" parTransId="{693CC010-8FBB-C34D-9AA2-E586EDE92410}" sibTransId="{CCB6065E-F9B3-4744-98A0-17F38B78A844}"/>
    <dgm:cxn modelId="{5E14B0FA-44CE-2A4E-8BDB-0FE7333B1FF4}" type="presOf" srcId="{8E9E04F7-F6BA-5B4B-9F90-7D634B9FEF08}" destId="{374B3083-B5BA-874B-AF24-7492F75EC51E}" srcOrd="0" destOrd="0" presId="urn:microsoft.com/office/officeart/2005/8/layout/cycle2"/>
    <dgm:cxn modelId="{4D65F06D-A03D-8D47-A9C5-CB3C4F6E82C8}" type="presParOf" srcId="{374B3083-B5BA-874B-AF24-7492F75EC51E}" destId="{F5FB07C1-4726-8D41-BC00-4C5F095A46E8}" srcOrd="0" destOrd="0" presId="urn:microsoft.com/office/officeart/2005/8/layout/cycle2"/>
    <dgm:cxn modelId="{6E900039-107C-AC40-8F1B-1A1436F7B8D9}" type="presParOf" srcId="{374B3083-B5BA-874B-AF24-7492F75EC51E}" destId="{CCABDB72-B010-B044-9BAA-8EE2B91DE723}" srcOrd="1" destOrd="0" presId="urn:microsoft.com/office/officeart/2005/8/layout/cycle2"/>
    <dgm:cxn modelId="{086A9817-1C88-FB4C-A310-A4C82D2C1182}" type="presParOf" srcId="{CCABDB72-B010-B044-9BAA-8EE2B91DE723}" destId="{DD1120B1-3A0D-1B40-8880-3BB039CA497E}" srcOrd="0" destOrd="0" presId="urn:microsoft.com/office/officeart/2005/8/layout/cycle2"/>
    <dgm:cxn modelId="{AC274BFC-DD48-DB46-B24B-004A3D506E4E}" type="presParOf" srcId="{374B3083-B5BA-874B-AF24-7492F75EC51E}" destId="{F71DC1AD-8E4B-7543-A90C-92E866FBB2E1}" srcOrd="2" destOrd="0" presId="urn:microsoft.com/office/officeart/2005/8/layout/cycle2"/>
    <dgm:cxn modelId="{E31F169B-F1BA-AE4B-9649-F128C33F7BE5}" type="presParOf" srcId="{374B3083-B5BA-874B-AF24-7492F75EC51E}" destId="{D89F0B7F-41D1-0549-880E-E92D1E15918E}" srcOrd="3" destOrd="0" presId="urn:microsoft.com/office/officeart/2005/8/layout/cycle2"/>
    <dgm:cxn modelId="{BAB031C9-2710-B441-B614-3BCA8594A1CC}" type="presParOf" srcId="{D89F0B7F-41D1-0549-880E-E92D1E15918E}" destId="{9DC64873-421D-444D-AA2A-0F1921A7AEAB}" srcOrd="0" destOrd="0" presId="urn:microsoft.com/office/officeart/2005/8/layout/cycle2"/>
    <dgm:cxn modelId="{A27DE88A-76D6-BF4F-80D8-DAB179664EFE}" type="presParOf" srcId="{374B3083-B5BA-874B-AF24-7492F75EC51E}" destId="{CCF81A23-7B37-BB4A-BB32-BD2D0E5639C6}" srcOrd="4" destOrd="0" presId="urn:microsoft.com/office/officeart/2005/8/layout/cycle2"/>
    <dgm:cxn modelId="{FC707CBD-F9AF-CF46-819A-8C1692F7DE30}" type="presParOf" srcId="{374B3083-B5BA-874B-AF24-7492F75EC51E}" destId="{C22F28AB-53BC-D540-8365-DC798AC7D01A}" srcOrd="5" destOrd="0" presId="urn:microsoft.com/office/officeart/2005/8/layout/cycle2"/>
    <dgm:cxn modelId="{B212C3F4-6100-0740-BECF-257C4D2F7618}" type="presParOf" srcId="{C22F28AB-53BC-D540-8365-DC798AC7D01A}" destId="{D829B965-5B8A-B24E-8128-75DE2D10F0DB}" srcOrd="0" destOrd="0" presId="urn:microsoft.com/office/officeart/2005/8/layout/cycle2"/>
    <dgm:cxn modelId="{678AAAA2-D293-524B-9476-2DA22F77F6BC}" type="presParOf" srcId="{374B3083-B5BA-874B-AF24-7492F75EC51E}" destId="{8D4B18F9-91CF-DF4B-9D8B-4E48A72F9534}" srcOrd="6" destOrd="0" presId="urn:microsoft.com/office/officeart/2005/8/layout/cycle2"/>
    <dgm:cxn modelId="{1A6F4628-E182-A649-B834-B9A610BDF307}" type="presParOf" srcId="{374B3083-B5BA-874B-AF24-7492F75EC51E}" destId="{F39B420E-1A7A-704F-B3B6-E58DAB8C2BAF}" srcOrd="7" destOrd="0" presId="urn:microsoft.com/office/officeart/2005/8/layout/cycle2"/>
    <dgm:cxn modelId="{6F145F30-DB10-1B44-9ECD-D028F5341C5C}" type="presParOf" srcId="{F39B420E-1A7A-704F-B3B6-E58DAB8C2BAF}" destId="{FFEC9E19-526E-464D-9E18-D0316EF3B816}" srcOrd="0" destOrd="0" presId="urn:microsoft.com/office/officeart/2005/8/layout/cycle2"/>
    <dgm:cxn modelId="{F707A651-E4BC-0E46-8A44-668B392AF7E9}" type="presParOf" srcId="{374B3083-B5BA-874B-AF24-7492F75EC51E}" destId="{1224AA48-25BE-184C-8AE5-89B4FCFF3B20}" srcOrd="8" destOrd="0" presId="urn:microsoft.com/office/officeart/2005/8/layout/cycle2"/>
    <dgm:cxn modelId="{82899342-A1C1-6A4D-833C-5157F0881F7E}" type="presParOf" srcId="{374B3083-B5BA-874B-AF24-7492F75EC51E}" destId="{F7D04BC8-445E-DF44-A88F-2B660AD2FD01}" srcOrd="9" destOrd="0" presId="urn:microsoft.com/office/officeart/2005/8/layout/cycle2"/>
    <dgm:cxn modelId="{B9F00290-9458-DD4E-A5D0-3B12FA67F5C6}" type="presParOf" srcId="{F7D04BC8-445E-DF44-A88F-2B660AD2FD01}" destId="{4855E35C-13A3-0842-8338-117500261601}" srcOrd="0" destOrd="0" presId="urn:microsoft.com/office/officeart/2005/8/layout/cycle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5FB07C1-4726-8D41-BC00-4C5F095A46E8}">
      <dsp:nvSpPr>
        <dsp:cNvPr id="0" name=""/>
        <dsp:cNvSpPr/>
      </dsp:nvSpPr>
      <dsp:spPr>
        <a:xfrm>
          <a:off x="2434828" y="401"/>
          <a:ext cx="1226343" cy="1226343"/>
        </a:xfrm>
        <a:prstGeom prst="ellipse">
          <a:avLst/>
        </a:prstGeom>
        <a:solidFill>
          <a:srgbClr val="7100B0"/>
        </a:soli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1000" kern="1200" dirty="0"/>
            <a:t>1.Configuration Management</a:t>
          </a:r>
        </a:p>
      </dsp:txBody>
      <dsp:txXfrm>
        <a:off x="2614422" y="179995"/>
        <a:ext cx="867155" cy="867155"/>
      </dsp:txXfrm>
    </dsp:sp>
    <dsp:sp modelId="{CCABDB72-B010-B044-9BAA-8EE2B91DE723}">
      <dsp:nvSpPr>
        <dsp:cNvPr id="0" name=""/>
        <dsp:cNvSpPr/>
      </dsp:nvSpPr>
      <dsp:spPr>
        <a:xfrm rot="2160000">
          <a:off x="3622675" y="942976"/>
          <a:ext cx="327092" cy="413891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tint val="60000"/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CA" sz="800" kern="1200"/>
        </a:p>
      </dsp:txBody>
      <dsp:txXfrm>
        <a:off x="3632045" y="996915"/>
        <a:ext cx="228964" cy="248335"/>
      </dsp:txXfrm>
    </dsp:sp>
    <dsp:sp modelId="{F71DC1AD-8E4B-7543-A90C-92E866FBB2E1}">
      <dsp:nvSpPr>
        <dsp:cNvPr id="0" name=""/>
        <dsp:cNvSpPr/>
      </dsp:nvSpPr>
      <dsp:spPr>
        <a:xfrm>
          <a:off x="3926250" y="1083982"/>
          <a:ext cx="1226343" cy="1226343"/>
        </a:xfrm>
        <a:prstGeom prst="ellipse">
          <a:avLst/>
        </a:prstGeom>
        <a:solidFill>
          <a:srgbClr val="7100B0"/>
        </a:soli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1000" kern="1200" dirty="0"/>
            <a:t>2. Server Provisioning</a:t>
          </a:r>
        </a:p>
      </dsp:txBody>
      <dsp:txXfrm>
        <a:off x="4105844" y="1263576"/>
        <a:ext cx="867155" cy="867155"/>
      </dsp:txXfrm>
    </dsp:sp>
    <dsp:sp modelId="{D89F0B7F-41D1-0549-880E-E92D1E15918E}">
      <dsp:nvSpPr>
        <dsp:cNvPr id="0" name=""/>
        <dsp:cNvSpPr/>
      </dsp:nvSpPr>
      <dsp:spPr>
        <a:xfrm rot="6480000">
          <a:off x="4093900" y="2358041"/>
          <a:ext cx="327092" cy="413891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tint val="60000"/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CA" sz="800" kern="1200"/>
        </a:p>
      </dsp:txBody>
      <dsp:txXfrm rot="10800000">
        <a:off x="4158126" y="2394156"/>
        <a:ext cx="228964" cy="248335"/>
      </dsp:txXfrm>
    </dsp:sp>
    <dsp:sp modelId="{CCF81A23-7B37-BB4A-BB32-BD2D0E5639C6}">
      <dsp:nvSpPr>
        <dsp:cNvPr id="0" name=""/>
        <dsp:cNvSpPr/>
      </dsp:nvSpPr>
      <dsp:spPr>
        <a:xfrm>
          <a:off x="3356577" y="2837255"/>
          <a:ext cx="1226343" cy="1226343"/>
        </a:xfrm>
        <a:prstGeom prst="ellipse">
          <a:avLst/>
        </a:prstGeom>
        <a:solidFill>
          <a:srgbClr val="7100B0"/>
        </a:soli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1000" kern="1200" dirty="0"/>
            <a:t>3. Application Deployment</a:t>
          </a:r>
        </a:p>
      </dsp:txBody>
      <dsp:txXfrm>
        <a:off x="3536171" y="3016849"/>
        <a:ext cx="867155" cy="867155"/>
      </dsp:txXfrm>
    </dsp:sp>
    <dsp:sp modelId="{C22F28AB-53BC-D540-8365-DC798AC7D01A}">
      <dsp:nvSpPr>
        <dsp:cNvPr id="0" name=""/>
        <dsp:cNvSpPr/>
      </dsp:nvSpPr>
      <dsp:spPr>
        <a:xfrm rot="10800000">
          <a:off x="2893711" y="3243481"/>
          <a:ext cx="327092" cy="413891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tint val="60000"/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800" kern="1200"/>
        </a:p>
      </dsp:txBody>
      <dsp:txXfrm rot="10800000">
        <a:off x="2991839" y="3326259"/>
        <a:ext cx="228964" cy="248335"/>
      </dsp:txXfrm>
    </dsp:sp>
    <dsp:sp modelId="{8D4B18F9-91CF-DF4B-9D8B-4E48A72F9534}">
      <dsp:nvSpPr>
        <dsp:cNvPr id="0" name=""/>
        <dsp:cNvSpPr/>
      </dsp:nvSpPr>
      <dsp:spPr>
        <a:xfrm>
          <a:off x="1513078" y="2837255"/>
          <a:ext cx="1226343" cy="1226343"/>
        </a:xfrm>
        <a:prstGeom prst="ellipse">
          <a:avLst/>
        </a:prstGeom>
        <a:solidFill>
          <a:srgbClr val="A20000"/>
        </a:soli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1000" kern="1200" dirty="0"/>
            <a:t>4. Monitoring</a:t>
          </a:r>
        </a:p>
      </dsp:txBody>
      <dsp:txXfrm>
        <a:off x="1692672" y="3016849"/>
        <a:ext cx="867155" cy="867155"/>
      </dsp:txXfrm>
    </dsp:sp>
    <dsp:sp modelId="{F39B420E-1A7A-704F-B3B6-E58DAB8C2BAF}">
      <dsp:nvSpPr>
        <dsp:cNvPr id="0" name=""/>
        <dsp:cNvSpPr/>
      </dsp:nvSpPr>
      <dsp:spPr>
        <a:xfrm rot="15120000">
          <a:off x="1680728" y="2375649"/>
          <a:ext cx="327092" cy="413891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tint val="60000"/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CA" sz="800" kern="1200"/>
        </a:p>
      </dsp:txBody>
      <dsp:txXfrm rot="10800000">
        <a:off x="1744954" y="2505090"/>
        <a:ext cx="228964" cy="248335"/>
      </dsp:txXfrm>
    </dsp:sp>
    <dsp:sp modelId="{1224AA48-25BE-184C-8AE5-89B4FCFF3B20}">
      <dsp:nvSpPr>
        <dsp:cNvPr id="0" name=""/>
        <dsp:cNvSpPr/>
      </dsp:nvSpPr>
      <dsp:spPr>
        <a:xfrm>
          <a:off x="943405" y="1083982"/>
          <a:ext cx="1226343" cy="1226343"/>
        </a:xfrm>
        <a:prstGeom prst="ellipse">
          <a:avLst/>
        </a:prstGeom>
        <a:solidFill>
          <a:srgbClr val="31857F"/>
        </a:solidFill>
        <a:ln>
          <a:solidFill>
            <a:srgbClr val="31856E"/>
          </a:solidFill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1000" kern="1200" dirty="0"/>
            <a:t>5. Self-Adaptation</a:t>
          </a:r>
        </a:p>
      </dsp:txBody>
      <dsp:txXfrm>
        <a:off x="1122999" y="1263576"/>
        <a:ext cx="867155" cy="867155"/>
      </dsp:txXfrm>
    </dsp:sp>
    <dsp:sp modelId="{F7D04BC8-445E-DF44-A88F-2B660AD2FD01}">
      <dsp:nvSpPr>
        <dsp:cNvPr id="0" name=""/>
        <dsp:cNvSpPr/>
      </dsp:nvSpPr>
      <dsp:spPr>
        <a:xfrm rot="19440000">
          <a:off x="2131253" y="953859"/>
          <a:ext cx="327092" cy="413891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tint val="60000"/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CA" sz="800" kern="1200"/>
        </a:p>
      </dsp:txBody>
      <dsp:txXfrm>
        <a:off x="2140623" y="1065476"/>
        <a:ext cx="228964" cy="24833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ycle2">
  <dgm:title val=""/>
  <dgm:desc val=""/>
  <dgm:catLst>
    <dgm:cat type="cycle" pri="1000"/>
    <dgm:cat type="convert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ptType="sibTrans" refType="w" refFor="ch" refPtType="node" op="equ" fact="0.25"/>
      <dgm:constr type="sibSp" refType="w" refFor="ch" refPtType="node" fact="0.5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ellipse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sibTransForEach" axis="followSib" ptType="sibTrans" hideLastTrans="0" cnt="1">
            <dgm:layoutNode name="sibTrans">
              <dgm:choose name="Name11">
                <dgm:if name="Name12" axis="par ch" ptType="doc node" func="cnt" op="lt" val="3">
                  <dgm:alg type="conn">
                    <dgm:param type="begPts" val="radial"/>
                    <dgm:param type="endPts" val="radial"/>
                  </dgm:alg>
                </dgm:if>
                <dgm:else name="Name13">
                  <dgm:alg type="conn">
                    <dgm:param type="begPts" val="auto"/>
                    <dgm:param type="endPts" val="auto"/>
                  </dgm:alg>
                </dgm:else>
              </dgm:choose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1.35"/>
                <dgm:constr type="connDist"/>
                <dgm:constr type="w" for="ch" refType="connDist" fact="0.45"/>
                <dgm:constr type="h" for="ch" refType="h"/>
              </dgm:constrLst>
              <dgm:ruleLst/>
              <dgm:layoutNode name="connectorText">
                <dgm:alg type="tx">
                  <dgm:param type="autoTxRot" val="grav"/>
                </dgm:alg>
                <dgm:shape xmlns:r="http://schemas.openxmlformats.org/officeDocument/2006/relationships" type="conn" r:blip="" hideGeom="1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</dgm:layoutNode>
          </dgm:forEach>
        </dgm:if>
        <dgm:else name="Name14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170238" cy="4810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T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143375" y="0"/>
            <a:ext cx="3170238" cy="4810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6FFA7D8-6B73-0B46-ABE6-B3869D4D439C}" type="datetimeFigureOut">
              <a:rPr lang="en-IT" smtClean="0"/>
              <a:t>26/10/2026</a:t>
            </a:fld>
            <a:endParaRPr lang="en-IT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497013" y="1200150"/>
            <a:ext cx="4321175" cy="32400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T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31838" y="4621213"/>
            <a:ext cx="5851525" cy="37798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120188"/>
            <a:ext cx="3170238" cy="48101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143375" y="9120188"/>
            <a:ext cx="3170238" cy="48101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7C15ED1-1A28-2A4C-B8EB-778328DF483F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28242581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ctions/typescript-action" TargetMode="External"/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Relationship Id="rId5" Type="http://schemas.openxmlformats.org/officeDocument/2006/relationships/hyperlink" Target="https://github.com/rfennell/JSONFileVersioner/blob/master/src/main.ts" TargetMode="External"/><Relationship Id="rId4" Type="http://schemas.openxmlformats.org/officeDocument/2006/relationships/hyperlink" Target="https://github.com/rfennell/AzurePipelines/blob/master/Extensions/Versioning/VersionJSONFileTask/src/ApplyVersionToJSONFile.ts" TargetMode="Externa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914" name="Rectangle 2"/>
          <p:cNvSpPr txBox="1">
            <a:spLocks noGrp="1" noRot="1" noChangeAspect="1" noChangeArrowheads="1"/>
          </p:cNvSpPr>
          <p:nvPr>
            <p:ph type="sldImg"/>
          </p:nvPr>
        </p:nvSpPr>
        <p:spPr bwMode="auto">
          <a:xfrm>
            <a:off x="1092200" y="935038"/>
            <a:ext cx="4484688" cy="3362325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294915" name="Rectangle 3"/>
          <p:cNvSpPr txBox="1">
            <a:spLocks noGrp="1" noChangeArrowheads="1"/>
          </p:cNvSpPr>
          <p:nvPr>
            <p:ph type="body" idx="1"/>
          </p:nvPr>
        </p:nvSpPr>
        <p:spPr bwMode="auto">
          <a:xfrm>
            <a:off x="1033097" y="4624535"/>
            <a:ext cx="4608112" cy="3734649"/>
          </a:xfrm>
          <a:prstGeom prst="rect">
            <a:avLst/>
          </a:prstGeom>
          <a:noFill/>
          <a:ln>
            <a:round/>
            <a:headEnd/>
            <a:tailEnd/>
          </a:ln>
        </p:spPr>
        <p:txBody>
          <a:bodyPr wrap="none" lIns="82048" tIns="41023" rIns="82048" bIns="41023" anchor="ctr"/>
          <a:lstStyle/>
          <a:p>
            <a:endParaRPr lang="en-GB">
              <a:latin typeface="Times New Roman" charset="0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914" name="Rectangle 2"/>
          <p:cNvSpPr txBox="1">
            <a:spLocks noGrp="1" noRot="1" noChangeAspect="1" noChangeArrowheads="1"/>
          </p:cNvSpPr>
          <p:nvPr>
            <p:ph type="sldImg"/>
          </p:nvPr>
        </p:nvSpPr>
        <p:spPr bwMode="auto">
          <a:xfrm>
            <a:off x="1092200" y="935038"/>
            <a:ext cx="4484688" cy="3362325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294915" name="Rectangle 3"/>
          <p:cNvSpPr txBox="1">
            <a:spLocks noGrp="1" noChangeArrowheads="1"/>
          </p:cNvSpPr>
          <p:nvPr>
            <p:ph type="body" idx="1"/>
          </p:nvPr>
        </p:nvSpPr>
        <p:spPr bwMode="auto">
          <a:xfrm>
            <a:off x="1033097" y="4624535"/>
            <a:ext cx="4608112" cy="3734649"/>
          </a:xfrm>
          <a:prstGeom prst="rect">
            <a:avLst/>
          </a:prstGeom>
          <a:noFill/>
          <a:ln>
            <a:round/>
            <a:headEnd/>
            <a:tailEnd/>
          </a:ln>
        </p:spPr>
        <p:txBody>
          <a:bodyPr wrap="none" lIns="82048" tIns="41023" rIns="82048" bIns="41023" anchor="ctr"/>
          <a:lstStyle/>
          <a:p>
            <a:endParaRPr lang="en-GB">
              <a:latin typeface="Times New Roman" charset="0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914" name="Rectangle 2"/>
          <p:cNvSpPr txBox="1">
            <a:spLocks noGrp="1" noRot="1" noChangeAspect="1" noChangeArrowheads="1"/>
          </p:cNvSpPr>
          <p:nvPr>
            <p:ph type="sldImg"/>
          </p:nvPr>
        </p:nvSpPr>
        <p:spPr bwMode="auto">
          <a:xfrm>
            <a:off x="1092200" y="935038"/>
            <a:ext cx="4484688" cy="3362325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294915" name="Rectangle 3"/>
          <p:cNvSpPr txBox="1">
            <a:spLocks noGrp="1" noChangeArrowheads="1"/>
          </p:cNvSpPr>
          <p:nvPr>
            <p:ph type="body" idx="1"/>
          </p:nvPr>
        </p:nvSpPr>
        <p:spPr bwMode="auto">
          <a:xfrm>
            <a:off x="1033097" y="4624535"/>
            <a:ext cx="4608112" cy="3734649"/>
          </a:xfrm>
          <a:prstGeom prst="rect">
            <a:avLst/>
          </a:prstGeom>
          <a:noFill/>
          <a:ln>
            <a:round/>
            <a:headEnd/>
            <a:tailEnd/>
          </a:ln>
        </p:spPr>
        <p:txBody>
          <a:bodyPr wrap="none" lIns="82048" tIns="41023" rIns="82048" bIns="41023" anchor="ctr"/>
          <a:lstStyle/>
          <a:p>
            <a:endParaRPr lang="en-GB">
              <a:latin typeface="Times New Roman" charset="0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series of practices, </a:t>
            </a:r>
            <a:r>
              <a:rPr lang="en-US" dirty="0" err="1"/>
              <a:t>ie</a:t>
            </a:r>
            <a:r>
              <a:rPr lang="en-US" dirty="0"/>
              <a:t>.</a:t>
            </a:r>
            <a:r>
              <a:rPr lang="en-US" baseline="0" dirty="0"/>
              <a:t> Best practices that reduce time and friction between development and operations</a:t>
            </a:r>
            <a:r>
              <a:rPr lang="is-IS" baseline="0" dirty="0"/>
              <a:t>… seems fair, seems easy... </a:t>
            </a:r>
            <a:r>
              <a:rPr lang="en-US" baseline="0" dirty="0"/>
              <a:t>N</a:t>
            </a:r>
            <a:r>
              <a:rPr lang="is-IS" baseline="0" dirty="0"/>
              <a:t>ow I was struggling to turn this definition into a form that would make you grasp what devops is really about...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98C6D6A0-4ACD-4D23-A9BC-0920A4858E25}" type="slidenum">
              <a:rPr lang="en-US" smtClean="0"/>
              <a:pPr>
                <a:defRPr/>
              </a:pPr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02326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344100" indent="-344100">
              <a:buFontTx/>
              <a:buChar char="-"/>
            </a:pPr>
            <a:r>
              <a:rPr lang="en-US" sz="2800"/>
              <a:t>DevOps is the union of people, process and products to enable the continuous delivery of value to your end customers</a:t>
            </a:r>
          </a:p>
          <a:p>
            <a:pPr marL="344100" indent="-344100">
              <a:buFontTx/>
              <a:buChar char="-"/>
            </a:pPr>
            <a:endParaRPr lang="en-US" sz="28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D7B9D4F-5F19-438C-92E8-037C6AE8F87D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754477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series of practices, </a:t>
            </a:r>
            <a:r>
              <a:rPr lang="en-US" dirty="0" err="1"/>
              <a:t>ie</a:t>
            </a:r>
            <a:r>
              <a:rPr lang="en-US" dirty="0"/>
              <a:t>.</a:t>
            </a:r>
            <a:r>
              <a:rPr lang="en-US" baseline="0" dirty="0"/>
              <a:t> Best practices that reduce time and friction between development and operations</a:t>
            </a:r>
            <a:r>
              <a:rPr lang="is-IS" baseline="0" dirty="0"/>
              <a:t>… seems fair, seems easy... </a:t>
            </a:r>
            <a:r>
              <a:rPr lang="en-US" baseline="0" dirty="0"/>
              <a:t>N</a:t>
            </a:r>
            <a:r>
              <a:rPr lang="is-IS" baseline="0" dirty="0"/>
              <a:t>ow I was struggling to turn this definition into a form that would make you grasp what devops is really about...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98C6D6A0-4ACD-4D23-A9BC-0920A4858E25}" type="slidenum">
              <a:rPr lang="en-US" smtClean="0"/>
              <a:pPr>
                <a:defRPr/>
              </a:pPr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023263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5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884238" eaLnBrk="0" hangingPunct="0">
              <a:lnSpc>
                <a:spcPct val="89000"/>
              </a:lnSpc>
              <a:spcBef>
                <a:spcPct val="4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15963" indent="-274638" defTabSz="884238" eaLnBrk="0" hangingPunct="0">
              <a:lnSpc>
                <a:spcPct val="89000"/>
              </a:lnSpc>
              <a:spcBef>
                <a:spcPct val="4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01725" indent="-219075" defTabSz="884238" eaLnBrk="0" hangingPunct="0">
              <a:lnSpc>
                <a:spcPct val="89000"/>
              </a:lnSpc>
              <a:spcBef>
                <a:spcPct val="4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543050" indent="-219075" defTabSz="884238" eaLnBrk="0" hangingPunct="0">
              <a:lnSpc>
                <a:spcPct val="89000"/>
              </a:lnSpc>
              <a:spcBef>
                <a:spcPct val="4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1984375" indent="-219075" defTabSz="884238" eaLnBrk="0" hangingPunct="0">
              <a:lnSpc>
                <a:spcPct val="89000"/>
              </a:lnSpc>
              <a:spcBef>
                <a:spcPct val="4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441575" indent="-219075" defTabSz="884238" eaLnBrk="0" fontAlgn="base" hangingPunct="0">
              <a:lnSpc>
                <a:spcPct val="89000"/>
              </a:lnSpc>
              <a:spcBef>
                <a:spcPct val="4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898775" indent="-219075" defTabSz="884238" eaLnBrk="0" fontAlgn="base" hangingPunct="0">
              <a:lnSpc>
                <a:spcPct val="89000"/>
              </a:lnSpc>
              <a:spcBef>
                <a:spcPct val="4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355975" indent="-219075" defTabSz="884238" eaLnBrk="0" fontAlgn="base" hangingPunct="0">
              <a:lnSpc>
                <a:spcPct val="89000"/>
              </a:lnSpc>
              <a:spcBef>
                <a:spcPct val="4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13175" indent="-219075" defTabSz="884238" eaLnBrk="0" fontAlgn="base" hangingPunct="0">
              <a:lnSpc>
                <a:spcPct val="89000"/>
              </a:lnSpc>
              <a:spcBef>
                <a:spcPct val="4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</a:pPr>
            <a:fld id="{A4E658F8-20C5-4408-A6D6-D7EC40752A50}" type="slidenum">
              <a:rPr lang="en-US" altLang="it-IT" sz="1000">
                <a:solidFill>
                  <a:prstClr val="black"/>
                </a:solidFill>
                <a:latin typeface="Times New Roman" panose="02020603050405020304" pitchFamily="18" charset="0"/>
              </a:rPr>
              <a:pPr>
                <a:lnSpc>
                  <a:spcPct val="100000"/>
                </a:lnSpc>
                <a:spcBef>
                  <a:spcPct val="0"/>
                </a:spcBef>
              </a:pPr>
              <a:t>16</a:t>
            </a:fld>
            <a:endParaRPr lang="en-US" altLang="it-IT" sz="1000">
              <a:solidFill>
                <a:prstClr val="black"/>
              </a:solidFill>
              <a:latin typeface="Times New Roman" panose="02020603050405020304" pitchFamily="18" charset="0"/>
            </a:endParaRPr>
          </a:p>
        </p:txBody>
      </p:sp>
      <p:sp>
        <p:nvSpPr>
          <p:cNvPr id="2355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6913"/>
            <a:ext cx="4643438" cy="3481387"/>
          </a:xfrm>
          <a:ln cap="flat"/>
        </p:spPr>
      </p:sp>
      <p:sp>
        <p:nvSpPr>
          <p:cNvPr id="2355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661" tIns="45829" rIns="91661" bIns="45829"/>
          <a:lstStyle/>
          <a:p>
            <a:pPr marL="0" indent="0">
              <a:buNone/>
            </a:pPr>
            <a:endParaRPr lang="it-IT" sz="1200" baseline="0" dirty="0"/>
          </a:p>
        </p:txBody>
      </p:sp>
      <p:sp>
        <p:nvSpPr>
          <p:cNvPr id="3" name="Segnaposto intestazione 2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pPr>
              <a:defRPr/>
            </a:pPr>
            <a:r>
              <a:rPr lang="en-US">
                <a:solidFill>
                  <a:prstClr val="black"/>
                </a:solidFill>
              </a:rPr>
              <a:t>GENERATING INFORMATION: VALUABLE, RAPID AND ACCESSIBLE</a:t>
            </a:r>
          </a:p>
        </p:txBody>
      </p:sp>
    </p:spTree>
    <p:extLst>
      <p:ext uri="{BB962C8B-B14F-4D97-AF65-F5344CB8AC3E}">
        <p14:creationId xmlns:p14="http://schemas.microsoft.com/office/powerpoint/2010/main" val="385418793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5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884238" eaLnBrk="0" hangingPunct="0">
              <a:lnSpc>
                <a:spcPct val="89000"/>
              </a:lnSpc>
              <a:spcBef>
                <a:spcPct val="4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15963" indent="-274638" defTabSz="884238" eaLnBrk="0" hangingPunct="0">
              <a:lnSpc>
                <a:spcPct val="89000"/>
              </a:lnSpc>
              <a:spcBef>
                <a:spcPct val="4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01725" indent="-219075" defTabSz="884238" eaLnBrk="0" hangingPunct="0">
              <a:lnSpc>
                <a:spcPct val="89000"/>
              </a:lnSpc>
              <a:spcBef>
                <a:spcPct val="4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543050" indent="-219075" defTabSz="884238" eaLnBrk="0" hangingPunct="0">
              <a:lnSpc>
                <a:spcPct val="89000"/>
              </a:lnSpc>
              <a:spcBef>
                <a:spcPct val="4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1984375" indent="-219075" defTabSz="884238" eaLnBrk="0" hangingPunct="0">
              <a:lnSpc>
                <a:spcPct val="89000"/>
              </a:lnSpc>
              <a:spcBef>
                <a:spcPct val="4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441575" indent="-219075" defTabSz="884238" eaLnBrk="0" fontAlgn="base" hangingPunct="0">
              <a:lnSpc>
                <a:spcPct val="89000"/>
              </a:lnSpc>
              <a:spcBef>
                <a:spcPct val="4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898775" indent="-219075" defTabSz="884238" eaLnBrk="0" fontAlgn="base" hangingPunct="0">
              <a:lnSpc>
                <a:spcPct val="89000"/>
              </a:lnSpc>
              <a:spcBef>
                <a:spcPct val="4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355975" indent="-219075" defTabSz="884238" eaLnBrk="0" fontAlgn="base" hangingPunct="0">
              <a:lnSpc>
                <a:spcPct val="89000"/>
              </a:lnSpc>
              <a:spcBef>
                <a:spcPct val="4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13175" indent="-219075" defTabSz="884238" eaLnBrk="0" fontAlgn="base" hangingPunct="0">
              <a:lnSpc>
                <a:spcPct val="89000"/>
              </a:lnSpc>
              <a:spcBef>
                <a:spcPct val="4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</a:pPr>
            <a:fld id="{A4E658F8-20C5-4408-A6D6-D7EC40752A50}" type="slidenum">
              <a:rPr lang="en-US" altLang="it-IT" sz="1000">
                <a:solidFill>
                  <a:prstClr val="black"/>
                </a:solidFill>
                <a:latin typeface="Times New Roman" panose="02020603050405020304" pitchFamily="18" charset="0"/>
              </a:rPr>
              <a:pPr>
                <a:lnSpc>
                  <a:spcPct val="100000"/>
                </a:lnSpc>
                <a:spcBef>
                  <a:spcPct val="0"/>
                </a:spcBef>
              </a:pPr>
              <a:t>18</a:t>
            </a:fld>
            <a:endParaRPr lang="en-US" altLang="it-IT" sz="1000">
              <a:solidFill>
                <a:prstClr val="black"/>
              </a:solidFill>
              <a:latin typeface="Times New Roman" panose="02020603050405020304" pitchFamily="18" charset="0"/>
            </a:endParaRPr>
          </a:p>
        </p:txBody>
      </p:sp>
      <p:sp>
        <p:nvSpPr>
          <p:cNvPr id="2355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17575" y="744538"/>
            <a:ext cx="4964113" cy="3722687"/>
          </a:xfrm>
          <a:ln cap="flat"/>
        </p:spPr>
      </p:sp>
      <p:sp>
        <p:nvSpPr>
          <p:cNvPr id="2355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661" tIns="45829" rIns="91661" bIns="45829"/>
          <a:lstStyle/>
          <a:p>
            <a:pPr marL="0" indent="0">
              <a:buNone/>
            </a:pPr>
            <a:endParaRPr lang="it-IT" sz="1200" dirty="0"/>
          </a:p>
        </p:txBody>
      </p:sp>
      <p:sp>
        <p:nvSpPr>
          <p:cNvPr id="3" name="Segnaposto intestazione 2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pPr>
              <a:defRPr/>
            </a:pPr>
            <a:r>
              <a:rPr lang="en-US">
                <a:solidFill>
                  <a:prstClr val="black"/>
                </a:solidFill>
              </a:rPr>
              <a:t>GENERATING INFORMATION: VALUABLE, RAPID AND ACCESSIBLE</a:t>
            </a:r>
          </a:p>
        </p:txBody>
      </p:sp>
    </p:spTree>
    <p:extLst>
      <p:ext uri="{BB962C8B-B14F-4D97-AF65-F5344CB8AC3E}">
        <p14:creationId xmlns:p14="http://schemas.microsoft.com/office/powerpoint/2010/main" val="199134920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7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17575" eaLnBrk="0" hangingPunct="0"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  <a:cs typeface="ＭＳ Ｐゴシック" charset="0"/>
              </a:defRPr>
            </a:lvl1pPr>
            <a:lvl2pPr marL="742950" indent="-285750" defTabSz="917575" eaLnBrk="0" hangingPunct="0"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2pPr>
            <a:lvl3pPr marL="1143000" indent="-228600" defTabSz="917575" eaLnBrk="0" hangingPunct="0"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3pPr>
            <a:lvl4pPr marL="1600200" indent="-228600" defTabSz="917575" eaLnBrk="0" hangingPunct="0"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4pPr>
            <a:lvl5pPr marL="2057400" indent="-228600" defTabSz="917575" eaLnBrk="0" hangingPunct="0"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5pPr>
            <a:lvl6pPr marL="2514600" indent="-228600" defTabSz="917575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6pPr>
            <a:lvl7pPr marL="2971800" indent="-228600" defTabSz="917575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7pPr>
            <a:lvl8pPr marL="3429000" indent="-228600" defTabSz="917575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8pPr>
            <a:lvl9pPr marL="3886200" indent="-228600" defTabSz="917575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9pPr>
          </a:lstStyle>
          <a:p>
            <a:fld id="{594ED28D-5F34-9E4F-83E6-47FDC9248EF9}" type="slidenum">
              <a:rPr lang="en-US" sz="1300"/>
              <a:pPr/>
              <a:t>22</a:t>
            </a:fld>
            <a:endParaRPr lang="en-US" sz="1300"/>
          </a:p>
        </p:txBody>
      </p:sp>
      <p:sp>
        <p:nvSpPr>
          <p:cNvPr id="7065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17575" y="744538"/>
            <a:ext cx="4964113" cy="3722687"/>
          </a:xfrm>
          <a:ln/>
        </p:spPr>
      </p:sp>
      <p:sp>
        <p:nvSpPr>
          <p:cNvPr id="7065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it-IT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9266939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7B9D4F-5F19-438C-92E8-037C6AE8F87D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456958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5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884238" eaLnBrk="0" hangingPunct="0">
              <a:lnSpc>
                <a:spcPct val="89000"/>
              </a:lnSpc>
              <a:spcBef>
                <a:spcPct val="4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15963" indent="-274638" defTabSz="884238" eaLnBrk="0" hangingPunct="0">
              <a:lnSpc>
                <a:spcPct val="89000"/>
              </a:lnSpc>
              <a:spcBef>
                <a:spcPct val="4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01725" indent="-219075" defTabSz="884238" eaLnBrk="0" hangingPunct="0">
              <a:lnSpc>
                <a:spcPct val="89000"/>
              </a:lnSpc>
              <a:spcBef>
                <a:spcPct val="4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543050" indent="-219075" defTabSz="884238" eaLnBrk="0" hangingPunct="0">
              <a:lnSpc>
                <a:spcPct val="89000"/>
              </a:lnSpc>
              <a:spcBef>
                <a:spcPct val="4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1984375" indent="-219075" defTabSz="884238" eaLnBrk="0" hangingPunct="0">
              <a:lnSpc>
                <a:spcPct val="89000"/>
              </a:lnSpc>
              <a:spcBef>
                <a:spcPct val="4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441575" indent="-219075" defTabSz="884238" eaLnBrk="0" fontAlgn="base" hangingPunct="0">
              <a:lnSpc>
                <a:spcPct val="89000"/>
              </a:lnSpc>
              <a:spcBef>
                <a:spcPct val="4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898775" indent="-219075" defTabSz="884238" eaLnBrk="0" fontAlgn="base" hangingPunct="0">
              <a:lnSpc>
                <a:spcPct val="89000"/>
              </a:lnSpc>
              <a:spcBef>
                <a:spcPct val="4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355975" indent="-219075" defTabSz="884238" eaLnBrk="0" fontAlgn="base" hangingPunct="0">
              <a:lnSpc>
                <a:spcPct val="89000"/>
              </a:lnSpc>
              <a:spcBef>
                <a:spcPct val="4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13175" indent="-219075" defTabSz="884238" eaLnBrk="0" fontAlgn="base" hangingPunct="0">
              <a:lnSpc>
                <a:spcPct val="89000"/>
              </a:lnSpc>
              <a:spcBef>
                <a:spcPct val="4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</a:pPr>
            <a:fld id="{A4E658F8-20C5-4408-A6D6-D7EC40752A50}" type="slidenum">
              <a:rPr lang="en-US" altLang="it-IT" sz="1000">
                <a:solidFill>
                  <a:prstClr val="black"/>
                </a:solidFill>
                <a:latin typeface="Times New Roman" panose="02020603050405020304" pitchFamily="18" charset="0"/>
              </a:rPr>
              <a:pPr>
                <a:lnSpc>
                  <a:spcPct val="100000"/>
                </a:lnSpc>
                <a:spcBef>
                  <a:spcPct val="0"/>
                </a:spcBef>
              </a:pPr>
              <a:t>31</a:t>
            </a:fld>
            <a:endParaRPr lang="en-US" altLang="it-IT" sz="1000">
              <a:solidFill>
                <a:prstClr val="black"/>
              </a:solidFill>
              <a:latin typeface="Times New Roman" panose="02020603050405020304" pitchFamily="18" charset="0"/>
            </a:endParaRPr>
          </a:p>
        </p:txBody>
      </p:sp>
      <p:sp>
        <p:nvSpPr>
          <p:cNvPr id="2355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17575" y="744538"/>
            <a:ext cx="4964113" cy="3722687"/>
          </a:xfrm>
          <a:ln cap="flat"/>
        </p:spPr>
      </p:sp>
      <p:sp>
        <p:nvSpPr>
          <p:cNvPr id="2355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661" tIns="45829" rIns="91661" bIns="45829"/>
          <a:lstStyle/>
          <a:p>
            <a:endParaRPr lang="en-US" altLang="it-IT" dirty="0">
              <a:latin typeface="Arial" panose="020B0604020202020204" pitchFamily="34" charset="0"/>
            </a:endParaRPr>
          </a:p>
        </p:txBody>
      </p:sp>
      <p:sp>
        <p:nvSpPr>
          <p:cNvPr id="3" name="Segnaposto intestazione 2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pPr>
              <a:defRPr/>
            </a:pPr>
            <a:r>
              <a:rPr lang="en-US">
                <a:solidFill>
                  <a:prstClr val="black"/>
                </a:solidFill>
              </a:rPr>
              <a:t>GENERATING INFORMATION: VALUABLE, RAPID AND ACCESSIBLE</a:t>
            </a:r>
          </a:p>
        </p:txBody>
      </p:sp>
    </p:spTree>
    <p:extLst>
      <p:ext uri="{BB962C8B-B14F-4D97-AF65-F5344CB8AC3E}">
        <p14:creationId xmlns:p14="http://schemas.microsoft.com/office/powerpoint/2010/main" val="271365276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5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884238" eaLnBrk="0" hangingPunct="0">
              <a:lnSpc>
                <a:spcPct val="89000"/>
              </a:lnSpc>
              <a:spcBef>
                <a:spcPct val="4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15963" indent="-274638" defTabSz="884238" eaLnBrk="0" hangingPunct="0">
              <a:lnSpc>
                <a:spcPct val="89000"/>
              </a:lnSpc>
              <a:spcBef>
                <a:spcPct val="4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01725" indent="-219075" defTabSz="884238" eaLnBrk="0" hangingPunct="0">
              <a:lnSpc>
                <a:spcPct val="89000"/>
              </a:lnSpc>
              <a:spcBef>
                <a:spcPct val="4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543050" indent="-219075" defTabSz="884238" eaLnBrk="0" hangingPunct="0">
              <a:lnSpc>
                <a:spcPct val="89000"/>
              </a:lnSpc>
              <a:spcBef>
                <a:spcPct val="4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1984375" indent="-219075" defTabSz="884238" eaLnBrk="0" hangingPunct="0">
              <a:lnSpc>
                <a:spcPct val="89000"/>
              </a:lnSpc>
              <a:spcBef>
                <a:spcPct val="4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441575" indent="-219075" defTabSz="884238" eaLnBrk="0" fontAlgn="base" hangingPunct="0">
              <a:lnSpc>
                <a:spcPct val="89000"/>
              </a:lnSpc>
              <a:spcBef>
                <a:spcPct val="4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898775" indent="-219075" defTabSz="884238" eaLnBrk="0" fontAlgn="base" hangingPunct="0">
              <a:lnSpc>
                <a:spcPct val="89000"/>
              </a:lnSpc>
              <a:spcBef>
                <a:spcPct val="4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355975" indent="-219075" defTabSz="884238" eaLnBrk="0" fontAlgn="base" hangingPunct="0">
              <a:lnSpc>
                <a:spcPct val="89000"/>
              </a:lnSpc>
              <a:spcBef>
                <a:spcPct val="4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13175" indent="-219075" defTabSz="884238" eaLnBrk="0" fontAlgn="base" hangingPunct="0">
              <a:lnSpc>
                <a:spcPct val="89000"/>
              </a:lnSpc>
              <a:spcBef>
                <a:spcPct val="4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</a:pPr>
            <a:fld id="{A4E658F8-20C5-4408-A6D6-D7EC40752A50}" type="slidenum">
              <a:rPr lang="en-US" altLang="it-IT" sz="1000">
                <a:solidFill>
                  <a:prstClr val="black"/>
                </a:solidFill>
                <a:latin typeface="Times New Roman" panose="02020603050405020304" pitchFamily="18" charset="0"/>
              </a:rPr>
              <a:pPr>
                <a:lnSpc>
                  <a:spcPct val="100000"/>
                </a:lnSpc>
                <a:spcBef>
                  <a:spcPct val="0"/>
                </a:spcBef>
              </a:pPr>
              <a:t>32</a:t>
            </a:fld>
            <a:endParaRPr lang="en-US" altLang="it-IT" sz="1000">
              <a:solidFill>
                <a:prstClr val="black"/>
              </a:solidFill>
              <a:latin typeface="Times New Roman" panose="02020603050405020304" pitchFamily="18" charset="0"/>
            </a:endParaRPr>
          </a:p>
        </p:txBody>
      </p:sp>
      <p:sp>
        <p:nvSpPr>
          <p:cNvPr id="2355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17575" y="744538"/>
            <a:ext cx="4964113" cy="3722687"/>
          </a:xfrm>
          <a:ln cap="flat"/>
        </p:spPr>
      </p:sp>
      <p:sp>
        <p:nvSpPr>
          <p:cNvPr id="2355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661" tIns="45829" rIns="91661" bIns="45829"/>
          <a:lstStyle/>
          <a:p>
            <a:endParaRPr lang="en-US" altLang="it-IT" dirty="0">
              <a:latin typeface="Arial" panose="020B0604020202020204" pitchFamily="34" charset="0"/>
            </a:endParaRPr>
          </a:p>
        </p:txBody>
      </p:sp>
      <p:sp>
        <p:nvSpPr>
          <p:cNvPr id="3" name="Segnaposto intestazione 2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pPr>
              <a:defRPr/>
            </a:pPr>
            <a:r>
              <a:rPr lang="en-US">
                <a:solidFill>
                  <a:prstClr val="black"/>
                </a:solidFill>
              </a:rPr>
              <a:t>GENERATING INFORMATION: VALUABLE, RAPID AND ACCESSIBLE</a:t>
            </a:r>
          </a:p>
        </p:txBody>
      </p:sp>
    </p:spTree>
    <p:extLst>
      <p:ext uri="{BB962C8B-B14F-4D97-AF65-F5344CB8AC3E}">
        <p14:creationId xmlns:p14="http://schemas.microsoft.com/office/powerpoint/2010/main" val="385418793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</a:t>
            </a:r>
            <a:r>
              <a:rPr lang="en-GB" dirty="0" err="1"/>
              <a:t>digital.ai</a:t>
            </a:r>
            <a:r>
              <a:rPr lang="en-GB" dirty="0"/>
              <a:t>/learn/</a:t>
            </a:r>
            <a:r>
              <a:rPr lang="en-GB" dirty="0" err="1"/>
              <a:t>devsecops</a:t>
            </a:r>
            <a:r>
              <a:rPr lang="en-GB" dirty="0"/>
              <a:t>-periodic-table/</a:t>
            </a:r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C15ED1-1A28-2A4C-B8EB-778328DF483F}" type="slidenum">
              <a:rPr lang="en-IT" smtClean="0"/>
              <a:t>37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05691090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</a:t>
            </a:r>
            <a:r>
              <a:rPr lang="en-IT" dirty="0"/>
              <a:t>ake stuff from here</a:t>
            </a:r>
          </a:p>
          <a:p>
            <a:endParaRPr lang="en-IT" dirty="0"/>
          </a:p>
          <a:p>
            <a:r>
              <a:rPr lang="en-IT" dirty="0"/>
              <a:t> </a:t>
            </a:r>
            <a:r>
              <a:rPr lang="en-GB" dirty="0"/>
              <a:t>https://</a:t>
            </a:r>
            <a:r>
              <a:rPr lang="en-GB" dirty="0" err="1"/>
              <a:t>github.com</a:t>
            </a:r>
            <a:r>
              <a:rPr lang="en-GB" dirty="0"/>
              <a:t>/</a:t>
            </a:r>
            <a:r>
              <a:rPr lang="en-GB" dirty="0" err="1"/>
              <a:t>rfennell</a:t>
            </a:r>
            <a:r>
              <a:rPr lang="en-GB" dirty="0"/>
              <a:t>/Presentations/blob/main/Introduction%20to%20DevOps%20with%20Azure%20DevOps%20Pipelines.pptx</a:t>
            </a:r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C15ED1-1A28-2A4C-B8EB-778328DF483F}" type="slidenum">
              <a:rPr lang="en-IT" smtClean="0"/>
              <a:t>38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236035681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Though can consider the items I have called table stakes – the lower level?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Maybe look at them as levels of maturity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There is a mapping but it is open to teams view as which is correct for them,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DB8743-16DD-4990-BEC8-25FDF1844EB0}" type="slidenum">
              <a:rPr lang="en-GB" smtClean="0"/>
              <a:t>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498084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Supposedly said by Peter Drucker the management guru in 2006 (origin in dispute)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IBM, General Motors, and Procter &amp; Gamble – basically created modern enterprise structures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Culture tends to comes first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No good being able to release each day, but only if management/business only allows quarterly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Looking from the other end  Alistair Cockburn ‘Crystal Clear: A Human-Powered Methodology for Small Teams’ talks about a system needs to be Habitable</a:t>
            </a:r>
            <a:endParaRPr lang="en-GB" dirty="0"/>
          </a:p>
          <a:p>
            <a:endParaRPr lang="en-GB" dirty="0"/>
          </a:p>
          <a:p>
            <a:r>
              <a:rPr lang="en-GB" dirty="0"/>
              <a:t>Sneak stuff in – was there a name for that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DB8743-16DD-4990-BEC8-25FDF1844EB0}" type="slidenum">
              <a:rPr lang="en-GB" smtClean="0"/>
              <a:t>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8115525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 means to do CI/CD inside the GitHub experience.</a:t>
            </a:r>
          </a:p>
          <a:p>
            <a:endParaRPr lang="en-GB" dirty="0"/>
          </a:p>
          <a:p>
            <a:r>
              <a:rPr lang="en-GB" dirty="0"/>
              <a:t>For those familiar with Azure DevOps pipeline you will see known concepts, but this is all new language and action wise</a:t>
            </a:r>
          </a:p>
          <a:p>
            <a:endParaRPr lang="en-GB" dirty="0"/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Linux, macOS, Windows, and containers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Matrix builds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Any language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en-GB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GB" dirty="0"/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DB8743-16DD-4990-BEC8-25FDF1844EB0}" type="slidenum">
              <a:rPr lang="en-GB" smtClean="0"/>
              <a:t>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1353397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Live Logs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Built in secret store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Multi-container testing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GB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GB" dirty="0"/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DB8743-16DD-4990-BEC8-25FDF1844EB0}" type="slidenum">
              <a:rPr lang="en-GB" smtClean="0"/>
              <a:t>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7269610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Community-powered workflows</a:t>
            </a: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GitHub Actions connects all of your tools to automate every step of your development workflow. Easily deploy to any cloud, create tickets in Jira, or publish a package to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npm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Want to venture off the beaten path? Use the millions of open source libraries available on GitHub to create your own actions. Write them in JavaScript or create a container Action—both can interact with the full GitHub API and any other public API.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GB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GB" dirty="0"/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DB8743-16DD-4990-BEC8-25FDF1844EB0}" type="slidenum">
              <a:rPr lang="en-GB" smtClean="0"/>
              <a:t>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478521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DB8743-16DD-4990-BEC8-25FDF1844EB0}" type="slidenum">
              <a:rPr lang="en-GB" smtClean="0"/>
              <a:t>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951005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Add a workflow to a hello world node app</a:t>
            </a:r>
          </a:p>
          <a:p>
            <a:r>
              <a:rPr lang="en-GB" dirty="0"/>
              <a:t>When triggered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DB8743-16DD-4990-BEC8-25FDF1844EB0}" type="slidenum">
              <a:rPr lang="en-GB" smtClean="0"/>
              <a:t>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065654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limited to Git operations, also webhooks, basically anything on GitHub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DB8743-16DD-4990-BEC8-25FDF1844EB0}" type="slidenum">
              <a:rPr lang="en-GB" smtClean="0"/>
              <a:t>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2959503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dirty="0"/>
              <a:t>Control over logical flow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GB" dirty="0"/>
              <a:t>Wrapper loads of command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dirty="0"/>
              <a:t>Use of custom tools not present on the agent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GB" dirty="0"/>
              <a:t>Avoid the need to install something, or use a language not present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dirty="0"/>
              <a:t>Aid management of complexity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GB" dirty="0"/>
              <a:t>Related to  both of the about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dirty="0"/>
              <a:t>Code reuse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GB" dirty="0"/>
              <a:t>Avoids need to cut and past </a:t>
            </a:r>
            <a:r>
              <a:rPr lang="en-GB" dirty="0" err="1"/>
              <a:t>blocl</a:t>
            </a:r>
            <a:endParaRPr lang="en-GB" dirty="0"/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DB8743-16DD-4990-BEC8-25FDF1844EB0}" type="slidenum">
              <a:rPr lang="en-GB" smtClean="0"/>
              <a:t>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6464800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DB8743-16DD-4990-BEC8-25FDF1844EB0}" type="slidenum">
              <a:rPr lang="en-GB" smtClean="0"/>
              <a:t>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328462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DB8743-16DD-4990-BEC8-25FDF1844EB0}" type="slidenum">
              <a:rPr lang="en-GB" smtClean="0"/>
              <a:t>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7327123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GB" dirty="0"/>
              <a:t>A metadata file called either </a:t>
            </a:r>
            <a:r>
              <a:rPr lang="en-GB" dirty="0" err="1"/>
              <a:t>action.yml</a:t>
            </a:r>
            <a:r>
              <a:rPr lang="en-GB" dirty="0"/>
              <a:t> or </a:t>
            </a:r>
            <a:r>
              <a:rPr lang="en-GB" dirty="0" err="1"/>
              <a:t>action.yaml</a:t>
            </a:r>
            <a:r>
              <a:rPr lang="en-GB" dirty="0"/>
              <a:t> that defines </a:t>
            </a:r>
          </a:p>
          <a:p>
            <a:pPr lvl="1"/>
            <a:r>
              <a:rPr lang="en-GB" dirty="0"/>
              <a:t>The inputs</a:t>
            </a:r>
          </a:p>
          <a:p>
            <a:pPr lvl="1"/>
            <a:r>
              <a:rPr lang="en-GB" dirty="0"/>
              <a:t>The outputs </a:t>
            </a:r>
          </a:p>
          <a:p>
            <a:pPr lvl="1"/>
            <a:r>
              <a:rPr lang="en-GB" dirty="0"/>
              <a:t>Main </a:t>
            </a:r>
            <a:r>
              <a:rPr lang="en-GB" dirty="0" err="1"/>
              <a:t>entrypoint</a:t>
            </a:r>
            <a:r>
              <a:rPr lang="en-GB" dirty="0"/>
              <a:t> for your action.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DB8743-16DD-4990-BEC8-25FDF1844EB0}" type="slidenum">
              <a:rPr lang="en-GB" smtClean="0"/>
              <a:t>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7197884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DB8743-16DD-4990-BEC8-25FDF1844EB0}" type="slidenum">
              <a:rPr lang="en-GB" smtClean="0"/>
              <a:t>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601489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Of course you can port other languages</a:t>
            </a:r>
          </a:p>
          <a:p>
            <a:r>
              <a:rPr lang="en-GB" dirty="0"/>
              <a:t>Docker opens up interesting opportunities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DB8743-16DD-4990-BEC8-25FDF1844EB0}" type="slidenum">
              <a:rPr lang="en-GB" smtClean="0"/>
              <a:t>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9008325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Create a new repo from </a:t>
            </a:r>
            <a:r>
              <a:rPr lang="en-GB" dirty="0">
                <a:hlinkClick r:id="rId3"/>
              </a:rPr>
              <a:t>https://github.com/actions/typescript-action</a:t>
            </a:r>
            <a:endParaRPr lang="en-GB" dirty="0"/>
          </a:p>
          <a:p>
            <a:r>
              <a:rPr lang="en-GB" dirty="0"/>
              <a:t>Copied in my task code into the repo bit by bit</a:t>
            </a:r>
          </a:p>
          <a:p>
            <a:pPr lvl="1"/>
            <a:r>
              <a:rPr lang="en-GB" dirty="0"/>
              <a:t>Renamed my entry </a:t>
            </a:r>
            <a:r>
              <a:rPr lang="en-GB" dirty="0" err="1">
                <a:hlinkClick r:id="rId4"/>
              </a:rPr>
              <a:t>ApplyVersionToJSONFile.ts</a:t>
            </a:r>
            <a:r>
              <a:rPr lang="en-GB" dirty="0"/>
              <a:t> file to </a:t>
            </a:r>
            <a:r>
              <a:rPr lang="en-GB" dirty="0" err="1">
                <a:hlinkClick r:id="rId5"/>
              </a:rPr>
              <a:t>main.ts</a:t>
            </a:r>
            <a:r>
              <a:rPr lang="en-GB" dirty="0"/>
              <a:t> to keep inline with the template standard</a:t>
            </a:r>
          </a:p>
          <a:p>
            <a:r>
              <a:rPr lang="en-GB" dirty="0"/>
              <a:t>Copied over the AppyVersionToJSONFuncitons.js</a:t>
            </a:r>
          </a:p>
          <a:p>
            <a:r>
              <a:rPr lang="en-GB" dirty="0"/>
              <a:t>I removed any Azure DevOps specific code that was not needed.</a:t>
            </a:r>
          </a:p>
          <a:p>
            <a:r>
              <a:rPr lang="en-GB" dirty="0"/>
              <a:t>In both files swapped the references to “vsts-task-lib/task” to “@actions/core” and update the related function calls to use</a:t>
            </a:r>
          </a:p>
          <a:p>
            <a:pPr lvl="1"/>
            <a:r>
              <a:rPr lang="en-GB" dirty="0" err="1"/>
              <a:t>core.getInput</a:t>
            </a:r>
            <a:r>
              <a:rPr lang="en-GB" dirty="0"/>
              <a:t>()</a:t>
            </a:r>
          </a:p>
          <a:p>
            <a:pPr lvl="1"/>
            <a:r>
              <a:rPr lang="en-GB" dirty="0" err="1"/>
              <a:t>core.debug</a:t>
            </a:r>
            <a:r>
              <a:rPr lang="en-GB" dirty="0"/>
              <a:t>()</a:t>
            </a:r>
          </a:p>
          <a:p>
            <a:pPr lvl="1"/>
            <a:r>
              <a:rPr lang="en-GB" dirty="0" err="1"/>
              <a:t>core.warning</a:t>
            </a:r>
            <a:r>
              <a:rPr lang="en-GB" dirty="0"/>
              <a:t>()</a:t>
            </a:r>
          </a:p>
          <a:p>
            <a:pPr lvl="1"/>
            <a:r>
              <a:rPr lang="en-GB" dirty="0" err="1"/>
              <a:t>core.SetFailed</a:t>
            </a:r>
            <a:r>
              <a:rPr lang="en-GB" dirty="0"/>
              <a:t>()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DB8743-16DD-4990-BEC8-25FDF1844EB0}" type="slidenum">
              <a:rPr lang="en-GB" smtClean="0"/>
              <a:t>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79457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As the scripts run from the repo needs the dependencies</a:t>
            </a:r>
          </a:p>
          <a:p>
            <a:r>
              <a:rPr lang="en-GB" dirty="0"/>
              <a:t>This is a difference from Azure DevOps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DB8743-16DD-4990-BEC8-25FDF1844EB0}" type="slidenum">
              <a:rPr lang="en-GB" smtClean="0"/>
              <a:t>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3758679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DB8743-16DD-4990-BEC8-25FDF1844EB0}" type="slidenum">
              <a:rPr lang="en-GB" smtClean="0"/>
              <a:t>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6292849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DB8743-16DD-4990-BEC8-25FDF1844EB0}" type="slidenum">
              <a:rPr lang="en-GB" smtClean="0"/>
              <a:t>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0344799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DB8743-16DD-4990-BEC8-25FDF1844EB0}" type="slidenum">
              <a:rPr lang="en-GB" smtClean="0"/>
              <a:t>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7320717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A major barrier to innovation has always be time to provision hardware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The time form ‘loading dock to machine room’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Story – worked  project to move updates measure in months to hours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Normally when we talk about IAC we are meaning with cloud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Where the rental model means it is easy to buy only what you use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Vendor agnostic like </a:t>
            </a:r>
            <a:r>
              <a:rPr lang="en-US" dirty="0" err="1"/>
              <a:t>Teraform</a:t>
            </a:r>
            <a:r>
              <a:rPr lang="en-US" dirty="0"/>
              <a:t>, or vendor ARM/Bicep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Should be able to ‘stamp’ out a complete instance of your system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Lint in CI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Deploy in CD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But if on prem still can use some of these technologies if running VMWare Hyper V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We use Lability to automated provision of complete </a:t>
            </a:r>
            <a:r>
              <a:rPr lang="en-US" dirty="0" err="1"/>
              <a:t>enviroments</a:t>
            </a:r>
            <a:r>
              <a:rPr lang="en-US" dirty="0"/>
              <a:t> on Hyper-V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DB8743-16DD-4990-BEC8-25FDF1844EB0}" type="slidenum">
              <a:rPr lang="en-GB" smtClean="0"/>
              <a:t>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3388046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C15ED1-1A28-2A4C-B8EB-778328DF483F}" type="slidenum">
              <a:rPr lang="en-IT" smtClean="0"/>
              <a:t>72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2671441956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DB8743-16DD-4990-BEC8-25FDF1844EB0}" type="slidenum">
              <a:rPr lang="en-GB" smtClean="0"/>
              <a:t>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68489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E5B0F2-DFFB-6746-BA39-AAAE8B19EEAE}" type="datetime1">
              <a:rPr lang="it-IT" smtClean="0"/>
              <a:t>26/10/26</a:t>
            </a:fld>
            <a:endParaRPr lang="en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Sw. Evolution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865F1D-A453-7846-BD01-3780D5BBB9A4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4950478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29EDCF24-7003-9647-AD13-805213F4CA0E}" type="datetime1">
              <a:rPr lang="it-IT" smtClean="0"/>
              <a:t>26/10/26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Sw. Evolution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- </a:t>
            </a:r>
            <a:fld id="{1FD80F94-A66F-8141-8FC6-519E1325CE33}" type="slidenum">
              <a:rPr lang="en-US" smtClean="0"/>
              <a:pPr>
                <a:defRPr/>
              </a:pPr>
              <a:t>‹#›</a:t>
            </a:fld>
            <a:r>
              <a:rPr lang="it-IT"/>
              <a:t> -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75921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D9BF6B56-F8B8-F64E-A58C-3C708F6CC1A6}" type="datetime1">
              <a:rPr lang="it-IT" smtClean="0"/>
              <a:t>26/10/26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Sw. Evolution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- </a:t>
            </a:r>
            <a:fld id="{DD7B5FF6-491A-964E-93AB-D57DBC5C53F8}" type="slidenum">
              <a:rPr lang="en-US" smtClean="0"/>
              <a:pPr>
                <a:defRPr/>
              </a:pPr>
              <a:t>‹#›</a:t>
            </a:fld>
            <a:r>
              <a:rPr lang="it-IT"/>
              <a:t> -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59976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D26DCFC2-4102-D840-AF6D-32BB5CD2014D}" type="datetime1">
              <a:rPr lang="it-IT" smtClean="0"/>
              <a:t>26/10/26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Sw. Evolution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- </a:t>
            </a:r>
            <a:fld id="{CE614AAA-BF25-7148-BDC7-6FE33B59CBAE}" type="slidenum">
              <a:rPr lang="en-US" smtClean="0"/>
              <a:pPr>
                <a:defRPr/>
              </a:pPr>
              <a:t>‹#›</a:t>
            </a:fld>
            <a:r>
              <a:rPr lang="it-IT"/>
              <a:t> -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8257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40F3A802-CD96-A54F-B28D-C4EAA10D6FCE}" type="datetime1">
              <a:rPr lang="it-IT" smtClean="0"/>
              <a:t>26/10/26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Sw. Evolution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- </a:t>
            </a:r>
            <a:fld id="{2634852D-7B20-6846-A279-78A029B7513C}" type="slidenum">
              <a:rPr lang="en-US" smtClean="0"/>
              <a:pPr>
                <a:defRPr/>
              </a:pPr>
              <a:t>‹#›</a:t>
            </a:fld>
            <a:r>
              <a:rPr lang="it-IT"/>
              <a:t> -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85663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76859C77-D10A-E142-A20A-16200A8FB826}" type="datetime1">
              <a:rPr lang="it-IT" smtClean="0"/>
              <a:t>26/10/26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Sw. Evolution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- </a:t>
            </a:r>
            <a:fld id="{CFEF3ADD-0D33-8644-B368-A30405120092}" type="slidenum">
              <a:rPr lang="en-US" smtClean="0"/>
              <a:pPr>
                <a:defRPr/>
              </a:pPr>
              <a:t>‹#›</a:t>
            </a:fld>
            <a:r>
              <a:rPr lang="it-IT"/>
              <a:t> -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15221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BA5D7574-0662-3445-AFB2-D41718B556AA}" type="datetime1">
              <a:rPr lang="it-IT" smtClean="0"/>
              <a:t>26/10/26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Sw. Evolution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- </a:t>
            </a:r>
            <a:fld id="{0D65E5FF-0279-0442-8A18-37024F4C050F}" type="slidenum">
              <a:rPr lang="en-US" smtClean="0"/>
              <a:pPr>
                <a:defRPr/>
              </a:pPr>
              <a:t>‹#›</a:t>
            </a:fld>
            <a:r>
              <a:rPr lang="it-IT"/>
              <a:t> -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226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E406C617-86EB-A74D-922B-B3DA78DBB6DB}" type="datetime1">
              <a:rPr lang="it-IT" smtClean="0"/>
              <a:t>26/10/26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Sw. Evolution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- </a:t>
            </a:r>
            <a:fld id="{699C865C-6739-4A42-AD40-FB1D738BA492}" type="slidenum">
              <a:rPr lang="en-US" smtClean="0"/>
              <a:pPr>
                <a:defRPr/>
              </a:pPr>
              <a:t>‹#›</a:t>
            </a:fld>
            <a:r>
              <a:rPr lang="it-IT"/>
              <a:t> -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27990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3C523020-8502-4945-A8F9-10096E02C725}" type="datetime1">
              <a:rPr lang="it-IT" smtClean="0"/>
              <a:t>26/10/26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Sw. Evolution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- </a:t>
            </a:r>
            <a:fld id="{895494A3-4942-E847-9882-292A17426E8F}" type="slidenum">
              <a:rPr lang="en-US" smtClean="0"/>
              <a:pPr>
                <a:defRPr/>
              </a:pPr>
              <a:t>‹#›</a:t>
            </a:fld>
            <a:r>
              <a:rPr lang="it-IT"/>
              <a:t> -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18943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92C17583-2F19-6143-A108-85D8CF7539C3}" type="datetime1">
              <a:rPr lang="it-IT" smtClean="0"/>
              <a:t>26/10/26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Sw. Evolution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- </a:t>
            </a:r>
            <a:fld id="{92455358-308E-D244-A4B6-B93739CCAC70}" type="slidenum">
              <a:rPr lang="en-US" smtClean="0"/>
              <a:pPr>
                <a:defRPr/>
              </a:pPr>
              <a:t>‹#›</a:t>
            </a:fld>
            <a:r>
              <a:rPr lang="it-IT"/>
              <a:t> -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02082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66224A95-9B68-2F40-B72D-30C6DC8DDD61}" type="datetime1">
              <a:rPr lang="it-IT" smtClean="0"/>
              <a:t>26/10/26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Sw. Evolution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- </a:t>
            </a:r>
            <a:fld id="{9321FBA7-F547-184F-BC32-FD05FF3CF45F}" type="slidenum">
              <a:rPr lang="en-US" smtClean="0"/>
              <a:pPr>
                <a:defRPr/>
              </a:pPr>
              <a:t>‹#›</a:t>
            </a:fld>
            <a:r>
              <a:rPr lang="it-IT"/>
              <a:t> -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944363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ree column text with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0A83EF54-F800-4521-AA68-2B27B0B561A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19818" y="1120575"/>
            <a:ext cx="8504831" cy="611321"/>
          </a:xfr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62"/>
              </a:spcAft>
              <a:buNone/>
              <a:defRPr sz="1324" b="0" i="0">
                <a:solidFill>
                  <a:srgbClr val="000000"/>
                </a:solidFill>
                <a:latin typeface="+mn-lt"/>
              </a:defRPr>
            </a:lvl1pPr>
            <a:lvl2pPr marL="168073" indent="0">
              <a:lnSpc>
                <a:spcPct val="100000"/>
              </a:lnSpc>
              <a:spcBef>
                <a:spcPts val="0"/>
              </a:spcBef>
              <a:spcAft>
                <a:spcPts val="1029"/>
              </a:spcAft>
              <a:buNone/>
              <a:defRPr sz="1324">
                <a:solidFill>
                  <a:srgbClr val="000000"/>
                </a:solidFill>
              </a:defRPr>
            </a:lvl2pPr>
            <a:lvl3pPr marL="336145" indent="0">
              <a:lnSpc>
                <a:spcPct val="100000"/>
              </a:lnSpc>
              <a:spcBef>
                <a:spcPts val="0"/>
              </a:spcBef>
              <a:spcAft>
                <a:spcPts val="1029"/>
              </a:spcAft>
              <a:buNone/>
              <a:defRPr sz="1029">
                <a:solidFill>
                  <a:srgbClr val="000000"/>
                </a:solidFill>
              </a:defRPr>
            </a:lvl3pPr>
            <a:lvl4pPr marL="504218" indent="0">
              <a:spcBef>
                <a:spcPts val="0"/>
              </a:spcBef>
              <a:spcAft>
                <a:spcPts val="956"/>
              </a:spcAft>
              <a:buNone/>
              <a:defRPr sz="1471"/>
            </a:lvl4pPr>
            <a:lvl5pPr marL="672290" indent="0">
              <a:buNone/>
              <a:defRPr/>
            </a:lvl5pPr>
          </a:lstStyle>
          <a:p>
            <a:pPr lvl="0"/>
            <a:r>
              <a:rPr lang="en-US"/>
              <a:t>Body copy Segoe Regular 18. 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</a:t>
            </a:r>
            <a:r>
              <a:rPr lang="en-US" err="1"/>
              <a:t>sed</a:t>
            </a:r>
            <a:r>
              <a:rPr lang="en-US"/>
              <a:t>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labore</a:t>
            </a:r>
            <a:r>
              <a:rPr lang="en-US"/>
              <a:t> et dolore magna </a:t>
            </a:r>
            <a:r>
              <a:rPr lang="en-US" err="1"/>
              <a:t>aliqua</a:t>
            </a:r>
            <a:r>
              <a:rPr lang="en-US"/>
              <a:t>.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exercitation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Duis </a:t>
            </a:r>
            <a:r>
              <a:rPr lang="en-US" err="1"/>
              <a:t>aute</a:t>
            </a:r>
            <a:r>
              <a:rPr lang="en-US"/>
              <a:t> </a:t>
            </a:r>
            <a:r>
              <a:rPr lang="en-US" err="1"/>
              <a:t>irure</a:t>
            </a:r>
            <a:r>
              <a:rPr lang="en-US"/>
              <a:t> dolor in </a:t>
            </a:r>
            <a:r>
              <a:rPr lang="en-US" err="1"/>
              <a:t>reprehenderit</a:t>
            </a:r>
            <a:r>
              <a:rPr lang="en-US"/>
              <a:t> in </a:t>
            </a:r>
            <a:r>
              <a:rPr lang="en-US" err="1"/>
              <a:t>voluptate</a:t>
            </a:r>
            <a:r>
              <a:rPr lang="en-US"/>
              <a:t> </a:t>
            </a:r>
            <a:r>
              <a:rPr lang="en-US" err="1"/>
              <a:t>velit</a:t>
            </a:r>
            <a:r>
              <a:rPr lang="en-US"/>
              <a:t> </a:t>
            </a:r>
            <a:r>
              <a:rPr lang="en-US" err="1"/>
              <a:t>esse</a:t>
            </a:r>
            <a:r>
              <a:rPr lang="en-US"/>
              <a:t> </a:t>
            </a:r>
            <a:r>
              <a:rPr lang="en-US" err="1"/>
              <a:t>cillum</a:t>
            </a:r>
            <a:r>
              <a:rPr lang="en-US"/>
              <a:t>.</a:t>
            </a:r>
          </a:p>
        </p:txBody>
      </p:sp>
      <p:sp>
        <p:nvSpPr>
          <p:cNvPr id="14" name="Title Placeholder 1">
            <a:extLst>
              <a:ext uri="{FF2B5EF4-FFF2-40B4-BE49-F238E27FC236}">
                <a16:creationId xmlns:a16="http://schemas.microsoft.com/office/drawing/2014/main" id="{AE6F3ED0-7F59-40C0-BDE3-5E04439997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9818" y="222583"/>
            <a:ext cx="8502029" cy="739343"/>
          </a:xfrm>
          <a:prstGeom prst="rect">
            <a:avLst/>
          </a:prstGeom>
        </p:spPr>
        <p:txBody>
          <a:bodyPr vert="horz" wrap="square" lIns="0" tIns="164592" rIns="0" bIns="0" rtlCol="0" anchor="t">
            <a:noAutofit/>
          </a:bodyPr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Three column text layout (with bullets)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6849D465-70FF-451A-8BED-41C7ADC6306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19818" y="2310843"/>
            <a:ext cx="2722891" cy="2602491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515"/>
              </a:spcAft>
              <a:buNone/>
              <a:defRPr sz="1029" b="1">
                <a:solidFill>
                  <a:schemeClr val="tx2"/>
                </a:solidFill>
                <a:latin typeface="+mn-lt"/>
              </a:defRPr>
            </a:lvl1pPr>
            <a:lvl2pPr marL="0" marR="0" indent="0" algn="l" defTabSz="68577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15"/>
              </a:spcAft>
              <a:buClrTx/>
              <a:buSzPct val="90000"/>
              <a:buFont typeface="Arial" panose="020B0604020202020204" pitchFamily="34" charset="0"/>
              <a:buNone/>
              <a:tabLst/>
              <a:defRPr sz="1029">
                <a:solidFill>
                  <a:srgbClr val="000000"/>
                </a:solidFill>
              </a:defRPr>
            </a:lvl2pPr>
            <a:lvl3pPr marL="336145" indent="0">
              <a:buNone/>
              <a:defRPr/>
            </a:lvl3pPr>
            <a:lvl4pPr marL="504218" indent="0">
              <a:buNone/>
              <a:defRPr/>
            </a:lvl4pPr>
            <a:lvl5pPr marL="672290" indent="0">
              <a:buNone/>
              <a:defRPr/>
            </a:lvl5pPr>
          </a:lstStyle>
          <a:p>
            <a:pPr lvl="0"/>
            <a:r>
              <a:rPr lang="en-US"/>
              <a:t>Subhead title Segoe UI Regular bold 14</a:t>
            </a:r>
          </a:p>
          <a:p>
            <a:pPr marL="210091" lvl="1" indent="-210091">
              <a:buFont typeface="Arial" panose="020B0604020202020204" pitchFamily="34" charset="0"/>
              <a:buChar char="•"/>
            </a:pPr>
            <a:r>
              <a:rPr lang="en-US"/>
              <a:t>Body copy Segoe Regular 14</a:t>
            </a:r>
          </a:p>
          <a:p>
            <a:pPr marL="210091" lvl="1" indent="-210091">
              <a:buFont typeface="Arial" panose="020B0604020202020204" pitchFamily="34" charset="0"/>
              <a:buChar char="•"/>
            </a:pPr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endParaRPr lang="en-US"/>
          </a:p>
          <a:p>
            <a:pPr marL="210091" lvl="1" indent="-210091">
              <a:buFont typeface="Arial" panose="020B0604020202020204" pitchFamily="34" charset="0"/>
              <a:buChar char="•"/>
            </a:pP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</a:t>
            </a:r>
            <a:r>
              <a:rPr lang="en-US" err="1"/>
              <a:t>sed</a:t>
            </a:r>
            <a:r>
              <a:rPr lang="en-US"/>
              <a:t>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endParaRPr lang="en-US"/>
          </a:p>
          <a:p>
            <a:pPr marL="210091" lvl="1" indent="-210091">
              <a:buFont typeface="Arial" panose="020B0604020202020204" pitchFamily="34" charset="0"/>
              <a:buChar char="•"/>
            </a:pP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labore</a:t>
            </a:r>
            <a:r>
              <a:rPr lang="en-US"/>
              <a:t> et dolore magna</a:t>
            </a:r>
          </a:p>
          <a:p>
            <a:pPr marL="210091" lvl="1" indent="-210091">
              <a:buFont typeface="Arial" panose="020B0604020202020204" pitchFamily="34" charset="0"/>
              <a:buChar char="•"/>
            </a:pP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endParaRPr lang="en-US"/>
          </a:p>
          <a:p>
            <a:pPr marL="210091" lvl="1" indent="-210091">
              <a:buFont typeface="Arial" panose="020B0604020202020204" pitchFamily="34" charset="0"/>
              <a:buChar char="•"/>
            </a:pPr>
            <a:r>
              <a:rPr lang="en-US"/>
              <a:t>Exercitation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endParaRPr lang="en-US"/>
          </a:p>
          <a:p>
            <a:pPr marL="210091" lvl="1" indent="-210091">
              <a:buFont typeface="Arial" panose="020B0604020202020204" pitchFamily="34" charset="0"/>
              <a:buChar char="•"/>
            </a:pP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Duis </a:t>
            </a:r>
            <a:r>
              <a:rPr lang="en-US" err="1"/>
              <a:t>aute</a:t>
            </a:r>
            <a:r>
              <a:rPr lang="en-US"/>
              <a:t> </a:t>
            </a:r>
            <a:r>
              <a:rPr lang="en-US" err="1"/>
              <a:t>irure</a:t>
            </a:r>
            <a:endParaRPr lang="en-US"/>
          </a:p>
          <a:p>
            <a:pPr marL="210091" lvl="1" indent="-210091">
              <a:buFont typeface="Arial" panose="020B0604020202020204" pitchFamily="34" charset="0"/>
              <a:buChar char="•"/>
            </a:pPr>
            <a:r>
              <a:rPr lang="en-US"/>
              <a:t>In </a:t>
            </a:r>
            <a:r>
              <a:rPr lang="en-US" err="1"/>
              <a:t>reprehenderit</a:t>
            </a:r>
            <a:r>
              <a:rPr lang="en-US"/>
              <a:t> in </a:t>
            </a:r>
            <a:r>
              <a:rPr lang="en-US" err="1"/>
              <a:t>voluptate</a:t>
            </a:r>
            <a:r>
              <a:rPr lang="en-US"/>
              <a:t> </a:t>
            </a:r>
            <a:r>
              <a:rPr lang="en-US" err="1"/>
              <a:t>velit</a:t>
            </a:r>
            <a:r>
              <a:rPr lang="en-US"/>
              <a:t> </a:t>
            </a:r>
            <a:r>
              <a:rPr lang="en-US" err="1"/>
              <a:t>esse</a:t>
            </a:r>
            <a:endParaRPr lang="en-US"/>
          </a:p>
          <a:p>
            <a:pPr marL="210091" lvl="1" indent="-210091">
              <a:buFont typeface="Arial" panose="020B0604020202020204" pitchFamily="34" charset="0"/>
              <a:buChar char="•"/>
            </a:pP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A2FCB46-ABD2-4E30-8117-D04A4847253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211021" y="2310843"/>
            <a:ext cx="2717288" cy="2602491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515"/>
              </a:spcAft>
              <a:buNone/>
              <a:defRPr sz="1029" b="1">
                <a:solidFill>
                  <a:schemeClr val="tx2"/>
                </a:solidFill>
                <a:latin typeface="+mn-lt"/>
              </a:defRPr>
            </a:lvl1pPr>
            <a:lvl2pPr marL="0" marR="0" indent="0" algn="l" defTabSz="68577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15"/>
              </a:spcAft>
              <a:buClrTx/>
              <a:buSzPct val="90000"/>
              <a:buFont typeface="Arial" panose="020B0604020202020204" pitchFamily="34" charset="0"/>
              <a:buNone/>
              <a:tabLst/>
              <a:defRPr sz="1029">
                <a:solidFill>
                  <a:srgbClr val="000000"/>
                </a:solidFill>
              </a:defRPr>
            </a:lvl2pPr>
            <a:lvl3pPr marL="336145" indent="0">
              <a:buNone/>
              <a:defRPr/>
            </a:lvl3pPr>
            <a:lvl4pPr marL="504218" indent="0">
              <a:buNone/>
              <a:defRPr/>
            </a:lvl4pPr>
            <a:lvl5pPr marL="672290" indent="0">
              <a:buNone/>
              <a:defRPr/>
            </a:lvl5pPr>
          </a:lstStyle>
          <a:p>
            <a:pPr lvl="0"/>
            <a:r>
              <a:rPr lang="en-US"/>
              <a:t>Subhead title Segoe UI Regular bold 14</a:t>
            </a:r>
          </a:p>
          <a:p>
            <a:pPr marL="210091" lvl="1" indent="-210091">
              <a:buFont typeface="Arial" panose="020B0604020202020204" pitchFamily="34" charset="0"/>
              <a:buChar char="•"/>
            </a:pPr>
            <a:r>
              <a:rPr lang="en-US"/>
              <a:t>Body copy Segoe Regular 14</a:t>
            </a:r>
          </a:p>
          <a:p>
            <a:pPr marL="210091" lvl="1" indent="-210091">
              <a:buFont typeface="Arial" panose="020B0604020202020204" pitchFamily="34" charset="0"/>
              <a:buChar char="•"/>
            </a:pPr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endParaRPr lang="en-US"/>
          </a:p>
          <a:p>
            <a:pPr marL="210091" lvl="1" indent="-210091">
              <a:buFont typeface="Arial" panose="020B0604020202020204" pitchFamily="34" charset="0"/>
              <a:buChar char="•"/>
            </a:pP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</a:t>
            </a:r>
            <a:r>
              <a:rPr lang="en-US" err="1"/>
              <a:t>sed</a:t>
            </a:r>
            <a:r>
              <a:rPr lang="en-US"/>
              <a:t>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endParaRPr lang="en-US"/>
          </a:p>
          <a:p>
            <a:pPr marL="210091" lvl="1" indent="-210091">
              <a:buFont typeface="Arial" panose="020B0604020202020204" pitchFamily="34" charset="0"/>
              <a:buChar char="•"/>
            </a:pP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labore</a:t>
            </a:r>
            <a:r>
              <a:rPr lang="en-US"/>
              <a:t> et dolore magna</a:t>
            </a:r>
          </a:p>
          <a:p>
            <a:pPr marL="210091" lvl="1" indent="-210091">
              <a:buFont typeface="Arial" panose="020B0604020202020204" pitchFamily="34" charset="0"/>
              <a:buChar char="•"/>
            </a:pP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endParaRPr lang="en-US"/>
          </a:p>
          <a:p>
            <a:pPr marL="210091" lvl="1" indent="-210091">
              <a:buFont typeface="Arial" panose="020B0604020202020204" pitchFamily="34" charset="0"/>
              <a:buChar char="•"/>
            </a:pPr>
            <a:r>
              <a:rPr lang="en-US"/>
              <a:t>Exercitation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endParaRPr lang="en-US"/>
          </a:p>
          <a:p>
            <a:pPr marL="210091" lvl="1" indent="-210091">
              <a:buFont typeface="Arial" panose="020B0604020202020204" pitchFamily="34" charset="0"/>
              <a:buChar char="•"/>
            </a:pP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Duis </a:t>
            </a:r>
            <a:r>
              <a:rPr lang="en-US" err="1"/>
              <a:t>aute</a:t>
            </a:r>
            <a:r>
              <a:rPr lang="en-US"/>
              <a:t> </a:t>
            </a:r>
            <a:r>
              <a:rPr lang="en-US" err="1"/>
              <a:t>irure</a:t>
            </a:r>
            <a:endParaRPr lang="en-US"/>
          </a:p>
          <a:p>
            <a:pPr marL="210091" lvl="1" indent="-210091">
              <a:buFont typeface="Arial" panose="020B0604020202020204" pitchFamily="34" charset="0"/>
              <a:buChar char="•"/>
            </a:pPr>
            <a:r>
              <a:rPr lang="en-US"/>
              <a:t>In </a:t>
            </a:r>
            <a:r>
              <a:rPr lang="en-US" err="1"/>
              <a:t>reprehenderit</a:t>
            </a:r>
            <a:r>
              <a:rPr lang="en-US"/>
              <a:t> in </a:t>
            </a:r>
            <a:r>
              <a:rPr lang="en-US" err="1"/>
              <a:t>voluptate</a:t>
            </a:r>
            <a:r>
              <a:rPr lang="en-US"/>
              <a:t> </a:t>
            </a:r>
            <a:r>
              <a:rPr lang="en-US" err="1"/>
              <a:t>velit</a:t>
            </a:r>
            <a:r>
              <a:rPr lang="en-US"/>
              <a:t> </a:t>
            </a:r>
            <a:r>
              <a:rPr lang="en-US" err="1"/>
              <a:t>esse</a:t>
            </a:r>
            <a:endParaRPr lang="en-US"/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36529D97-59E4-4F82-95B3-25E40D5A28F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095223" y="2310842"/>
            <a:ext cx="2722891" cy="2611809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515"/>
              </a:spcAft>
              <a:buNone/>
              <a:defRPr sz="1029" b="1">
                <a:solidFill>
                  <a:schemeClr val="tx2"/>
                </a:solidFill>
                <a:latin typeface="+mn-lt"/>
              </a:defRPr>
            </a:lvl1pPr>
            <a:lvl2pPr marL="0" marR="0" indent="0" algn="l" defTabSz="68577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15"/>
              </a:spcAft>
              <a:buClrTx/>
              <a:buSzPct val="90000"/>
              <a:buFont typeface="Arial" panose="020B0604020202020204" pitchFamily="34" charset="0"/>
              <a:buNone/>
              <a:tabLst/>
              <a:defRPr sz="1029">
                <a:solidFill>
                  <a:srgbClr val="000000"/>
                </a:solidFill>
              </a:defRPr>
            </a:lvl2pPr>
            <a:lvl3pPr marL="336145" indent="0">
              <a:buNone/>
              <a:defRPr/>
            </a:lvl3pPr>
            <a:lvl4pPr marL="504218" indent="0">
              <a:buNone/>
              <a:defRPr/>
            </a:lvl4pPr>
            <a:lvl5pPr marL="672290" indent="0">
              <a:buNone/>
              <a:defRPr/>
            </a:lvl5pPr>
          </a:lstStyle>
          <a:p>
            <a:pPr lvl="0"/>
            <a:r>
              <a:rPr lang="en-US"/>
              <a:t>Subhead title Segoe UI Regular bold 14</a:t>
            </a:r>
          </a:p>
          <a:p>
            <a:pPr marL="210091" lvl="1" indent="-210091">
              <a:buFont typeface="Arial" panose="020B0604020202020204" pitchFamily="34" charset="0"/>
              <a:buChar char="•"/>
            </a:pPr>
            <a:r>
              <a:rPr lang="en-US"/>
              <a:t>Body copy Segoe Regular 14</a:t>
            </a:r>
          </a:p>
          <a:p>
            <a:pPr marL="210091" lvl="1" indent="-210091">
              <a:buFont typeface="Arial" panose="020B0604020202020204" pitchFamily="34" charset="0"/>
              <a:buChar char="•"/>
            </a:pPr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endParaRPr lang="en-US"/>
          </a:p>
          <a:p>
            <a:pPr marL="210091" lvl="1" indent="-210091">
              <a:buFont typeface="Arial" panose="020B0604020202020204" pitchFamily="34" charset="0"/>
              <a:buChar char="•"/>
            </a:pP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</a:t>
            </a:r>
            <a:r>
              <a:rPr lang="en-US" err="1"/>
              <a:t>sed</a:t>
            </a:r>
            <a:r>
              <a:rPr lang="en-US"/>
              <a:t>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endParaRPr lang="en-US"/>
          </a:p>
          <a:p>
            <a:pPr marL="210091" lvl="1" indent="-210091">
              <a:buFont typeface="Arial" panose="020B0604020202020204" pitchFamily="34" charset="0"/>
              <a:buChar char="•"/>
            </a:pP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labore</a:t>
            </a:r>
            <a:r>
              <a:rPr lang="en-US"/>
              <a:t> et dolore magna</a:t>
            </a:r>
          </a:p>
          <a:p>
            <a:pPr marL="210091" lvl="1" indent="-210091">
              <a:buFont typeface="Arial" panose="020B0604020202020204" pitchFamily="34" charset="0"/>
              <a:buChar char="•"/>
            </a:pP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endParaRPr lang="en-US"/>
          </a:p>
          <a:p>
            <a:pPr marL="210091" lvl="1" indent="-210091">
              <a:buFont typeface="Arial" panose="020B0604020202020204" pitchFamily="34" charset="0"/>
              <a:buChar char="•"/>
            </a:pPr>
            <a:r>
              <a:rPr lang="en-US"/>
              <a:t>Exercitation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endParaRPr lang="en-US"/>
          </a:p>
          <a:p>
            <a:pPr marL="210091" lvl="1" indent="-210091">
              <a:buFont typeface="Arial" panose="020B0604020202020204" pitchFamily="34" charset="0"/>
              <a:buChar char="•"/>
            </a:pP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Duis </a:t>
            </a:r>
            <a:r>
              <a:rPr lang="en-US" err="1"/>
              <a:t>aute</a:t>
            </a:r>
            <a:r>
              <a:rPr lang="en-US"/>
              <a:t> </a:t>
            </a:r>
            <a:r>
              <a:rPr lang="en-US" err="1"/>
              <a:t>irure</a:t>
            </a:r>
            <a:endParaRPr lang="en-US"/>
          </a:p>
          <a:p>
            <a:pPr marL="210091" lvl="1" indent="-210091">
              <a:buFont typeface="Arial" panose="020B0604020202020204" pitchFamily="34" charset="0"/>
              <a:buChar char="•"/>
            </a:pPr>
            <a:r>
              <a:rPr lang="en-US"/>
              <a:t>In </a:t>
            </a:r>
            <a:r>
              <a:rPr lang="en-US" err="1"/>
              <a:t>reprehenderit</a:t>
            </a:r>
            <a:r>
              <a:rPr lang="en-US"/>
              <a:t> in </a:t>
            </a:r>
            <a:r>
              <a:rPr lang="en-US" err="1"/>
              <a:t>voluptate</a:t>
            </a:r>
            <a:r>
              <a:rPr lang="en-US"/>
              <a:t> </a:t>
            </a:r>
            <a:r>
              <a:rPr lang="en-US" err="1"/>
              <a:t>velit</a:t>
            </a:r>
            <a:r>
              <a:rPr lang="en-US"/>
              <a:t> </a:t>
            </a:r>
            <a:r>
              <a:rPr lang="en-US" err="1"/>
              <a:t>esse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5488082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genda_Blu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B3C4D2E8-A044-47D8-AC09-65B3F686C510}"/>
              </a:ext>
            </a:extLst>
          </p:cNvPr>
          <p:cNvSpPr/>
          <p:nvPr userDrawn="1"/>
        </p:nvSpPr>
        <p:spPr>
          <a:xfrm>
            <a:off x="0" y="224119"/>
            <a:ext cx="9144000" cy="6490450"/>
          </a:xfrm>
          <a:prstGeom prst="rect">
            <a:avLst/>
          </a:prstGeom>
          <a:gradFill flip="none" rotWithShape="1">
            <a:gsLst>
              <a:gs pos="46000">
                <a:srgbClr val="3CA4DB"/>
              </a:gs>
              <a:gs pos="0">
                <a:srgbClr val="1D8CCB"/>
              </a:gs>
              <a:gs pos="100000">
                <a:srgbClr val="60C0EE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35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06428B4-A13D-4C53-847F-E8E0DE721A3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1063752"/>
            <a:ext cx="9144000" cy="5794248"/>
          </a:xfrm>
          <a:prstGeom prst="rect">
            <a:avLst/>
          </a:prstGeom>
        </p:spPr>
      </p:pic>
      <p:sp>
        <p:nvSpPr>
          <p:cNvPr id="14" name="Title 1">
            <a:extLst>
              <a:ext uri="{FF2B5EF4-FFF2-40B4-BE49-F238E27FC236}">
                <a16:creationId xmlns:a16="http://schemas.microsoft.com/office/drawing/2014/main" id="{3E607E9D-F2D5-4E4A-A958-DBC569F401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8650" y="555812"/>
            <a:ext cx="7886700" cy="3504452"/>
          </a:xfrm>
          <a:prstGeom prst="rect">
            <a:avLst/>
          </a:prstGeom>
        </p:spPr>
        <p:txBody>
          <a:bodyPr anchor="ctr">
            <a:normAutofit/>
          </a:bodyPr>
          <a:lstStyle>
            <a:lvl1pPr>
              <a:lnSpc>
                <a:spcPct val="125000"/>
              </a:lnSpc>
              <a:defRPr sz="33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Agenda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226748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Quote_Blu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B3C4D2E8-A044-47D8-AC09-65B3F686C510}"/>
              </a:ext>
            </a:extLst>
          </p:cNvPr>
          <p:cNvSpPr/>
          <p:nvPr userDrawn="1"/>
        </p:nvSpPr>
        <p:spPr>
          <a:xfrm>
            <a:off x="0" y="233083"/>
            <a:ext cx="9144000" cy="6481483"/>
          </a:xfrm>
          <a:prstGeom prst="rect">
            <a:avLst/>
          </a:prstGeom>
          <a:gradFill flip="none" rotWithShape="1">
            <a:gsLst>
              <a:gs pos="46000">
                <a:srgbClr val="3CA4DB"/>
              </a:gs>
              <a:gs pos="0">
                <a:srgbClr val="1D8CCB"/>
              </a:gs>
              <a:gs pos="100000">
                <a:srgbClr val="60C0EE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35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A043E74-8E28-406E-9AC3-72420AEC985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" y="1063704"/>
            <a:ext cx="9144075" cy="5794296"/>
          </a:xfrm>
          <a:prstGeom prst="rect">
            <a:avLst/>
          </a:prstGeom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596F72CE-91E5-4B36-8EFE-B2346C7BE3C6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1169895" y="814431"/>
            <a:ext cx="6790765" cy="1946697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33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B90F2D10-0255-4C9D-829D-414BFD35DA6B}"/>
              </a:ext>
            </a:extLst>
          </p:cNvPr>
          <p:cNvSpPr>
            <a:spLocks noGrp="1"/>
          </p:cNvSpPr>
          <p:nvPr userDrawn="1">
            <p:ph type="body" idx="1" hasCustomPrompt="1"/>
          </p:nvPr>
        </p:nvSpPr>
        <p:spPr>
          <a:xfrm>
            <a:off x="1169895" y="2959201"/>
            <a:ext cx="6790765" cy="560696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ctr">
              <a:buNone/>
              <a:defRPr sz="2400" i="1" baseline="0">
                <a:solidFill>
                  <a:schemeClr val="bg1"/>
                </a:solidFill>
                <a:latin typeface="+mj-lt"/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citation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C0DFB7D-4777-49A0-8AD5-1A4157601731}"/>
              </a:ext>
            </a:extLst>
          </p:cNvPr>
          <p:cNvSpPr txBox="1"/>
          <p:nvPr userDrawn="1"/>
        </p:nvSpPr>
        <p:spPr>
          <a:xfrm>
            <a:off x="490450" y="442601"/>
            <a:ext cx="901319" cy="168507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GB" sz="10350" dirty="0">
                <a:solidFill>
                  <a:schemeClr val="bg1"/>
                </a:solidFill>
                <a:latin typeface="Arial Rounded MT Bold" panose="020F0704030504030204" pitchFamily="34" charset="0"/>
                <a:cs typeface="Segoe UI" panose="020B0502040204020203" pitchFamily="34" charset="0"/>
              </a:rPr>
              <a:t>“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275768E-4B40-49CD-8136-A5BC01BAEDE8}"/>
              </a:ext>
            </a:extLst>
          </p:cNvPr>
          <p:cNvSpPr txBox="1"/>
          <p:nvPr userDrawn="1"/>
        </p:nvSpPr>
        <p:spPr>
          <a:xfrm rot="10800000">
            <a:off x="7745527" y="1287344"/>
            <a:ext cx="901319" cy="168507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GB" sz="10350" dirty="0">
                <a:solidFill>
                  <a:schemeClr val="bg1"/>
                </a:solidFill>
                <a:latin typeface="Arial Rounded MT Bold" panose="020F0704030504030204" pitchFamily="34" charset="0"/>
                <a:cs typeface="Segoe UI" panose="020B0502040204020203" pitchFamily="34" charset="0"/>
              </a:rPr>
              <a:t>“</a:t>
            </a:r>
          </a:p>
        </p:txBody>
      </p:sp>
    </p:spTree>
    <p:extLst>
      <p:ext uri="{BB962C8B-B14F-4D97-AF65-F5344CB8AC3E}">
        <p14:creationId xmlns:p14="http://schemas.microsoft.com/office/powerpoint/2010/main" val="4040664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A1BB78DF-57CA-B342-A7F3-75E04B14AEE2}" type="datetime1">
              <a:rPr lang="it-IT" smtClean="0"/>
              <a:t>26/10/26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r>
              <a:rPr lang="en-US"/>
              <a:t>Sw. Evolution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r>
              <a:rPr lang="it-IT"/>
              <a:t>- </a:t>
            </a:r>
            <a:fld id="{505E1EDF-8FC7-024D-8297-C6B179318C1A}" type="slidenum">
              <a:rPr lang="en-US" smtClean="0"/>
              <a:pPr>
                <a:defRPr/>
              </a:pPr>
              <a:t>‹#›</a:t>
            </a:fld>
            <a:r>
              <a:rPr lang="it-IT"/>
              <a:t> -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30712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4" r:id="rId1"/>
    <p:sldLayoutId id="2147483725" r:id="rId2"/>
    <p:sldLayoutId id="2147483726" r:id="rId3"/>
    <p:sldLayoutId id="2147483727" r:id="rId4"/>
    <p:sldLayoutId id="2147483728" r:id="rId5"/>
    <p:sldLayoutId id="2147483729" r:id="rId6"/>
    <p:sldLayoutId id="2147483730" r:id="rId7"/>
    <p:sldLayoutId id="2147483731" r:id="rId8"/>
    <p:sldLayoutId id="2147483732" r:id="rId9"/>
    <p:sldLayoutId id="2147483733" r:id="rId10"/>
    <p:sldLayoutId id="2147483734" r:id="rId11"/>
    <p:sldLayoutId id="2147483735" r:id="rId12"/>
    <p:sldLayoutId id="2147483736" r:id="rId13"/>
    <p:sldLayoutId id="2147483737" r:id="rId14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7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0.jpe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6.xml"/><Relationship Id="rId6" Type="http://schemas.openxmlformats.org/officeDocument/2006/relationships/chart" Target="../charts/chart5.xml"/><Relationship Id="rId5" Type="http://schemas.openxmlformats.org/officeDocument/2006/relationships/chart" Target="../charts/chart4.xml"/><Relationship Id="rId4" Type="http://schemas.openxmlformats.org/officeDocument/2006/relationships/chart" Target="../charts/char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2.sv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://web.devopstopologies.com/" TargetMode="External"/><Relationship Id="rId2" Type="http://schemas.openxmlformats.org/officeDocument/2006/relationships/hyperlink" Target="http://blog.matthewskelton.net/2013/10/22/what-team-structure-is-right-for-devops-to-flourish/" TargetMode="Externa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://web.devopstopologies.com/" TargetMode="External"/><Relationship Id="rId2" Type="http://schemas.openxmlformats.org/officeDocument/2006/relationships/hyperlink" Target="http://blog.matthewskelton.net/2013/10/22/what-team-structure-is-right-for-devops-to-flourish/" TargetMode="Externa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8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emf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14.emf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7.jpg"/><Relationship Id="rId18" Type="http://schemas.openxmlformats.org/officeDocument/2006/relationships/image" Target="../media/image32.png"/><Relationship Id="rId26" Type="http://schemas.openxmlformats.org/officeDocument/2006/relationships/image" Target="../media/image40.jpg"/><Relationship Id="rId21" Type="http://schemas.openxmlformats.org/officeDocument/2006/relationships/image" Target="../media/image35.jpg"/><Relationship Id="rId34" Type="http://schemas.openxmlformats.org/officeDocument/2006/relationships/image" Target="../media/image48.png"/><Relationship Id="rId7" Type="http://schemas.openxmlformats.org/officeDocument/2006/relationships/image" Target="../media/image21.png"/><Relationship Id="rId12" Type="http://schemas.openxmlformats.org/officeDocument/2006/relationships/image" Target="../media/image26.jpg"/><Relationship Id="rId17" Type="http://schemas.openxmlformats.org/officeDocument/2006/relationships/image" Target="../media/image31.png"/><Relationship Id="rId25" Type="http://schemas.openxmlformats.org/officeDocument/2006/relationships/image" Target="../media/image39.jpg"/><Relationship Id="rId33" Type="http://schemas.openxmlformats.org/officeDocument/2006/relationships/image" Target="../media/image47.png"/><Relationship Id="rId38" Type="http://schemas.openxmlformats.org/officeDocument/2006/relationships/image" Target="../media/image52.png"/><Relationship Id="rId2" Type="http://schemas.openxmlformats.org/officeDocument/2006/relationships/image" Target="../media/image16.png"/><Relationship Id="rId16" Type="http://schemas.openxmlformats.org/officeDocument/2006/relationships/image" Target="../media/image30.png"/><Relationship Id="rId20" Type="http://schemas.openxmlformats.org/officeDocument/2006/relationships/image" Target="../media/image34.jpg"/><Relationship Id="rId29" Type="http://schemas.openxmlformats.org/officeDocument/2006/relationships/image" Target="../media/image4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0.png"/><Relationship Id="rId11" Type="http://schemas.openxmlformats.org/officeDocument/2006/relationships/image" Target="../media/image25.png"/><Relationship Id="rId24" Type="http://schemas.openxmlformats.org/officeDocument/2006/relationships/image" Target="../media/image38.png"/><Relationship Id="rId32" Type="http://schemas.openxmlformats.org/officeDocument/2006/relationships/image" Target="../media/image46.png"/><Relationship Id="rId37" Type="http://schemas.openxmlformats.org/officeDocument/2006/relationships/image" Target="../media/image51.jpg"/><Relationship Id="rId5" Type="http://schemas.openxmlformats.org/officeDocument/2006/relationships/image" Target="../media/image19.png"/><Relationship Id="rId15" Type="http://schemas.openxmlformats.org/officeDocument/2006/relationships/image" Target="../media/image29.png"/><Relationship Id="rId23" Type="http://schemas.openxmlformats.org/officeDocument/2006/relationships/image" Target="../media/image37.png"/><Relationship Id="rId28" Type="http://schemas.openxmlformats.org/officeDocument/2006/relationships/image" Target="../media/image42.png"/><Relationship Id="rId36" Type="http://schemas.openxmlformats.org/officeDocument/2006/relationships/image" Target="../media/image50.png"/><Relationship Id="rId10" Type="http://schemas.openxmlformats.org/officeDocument/2006/relationships/image" Target="../media/image24.png"/><Relationship Id="rId19" Type="http://schemas.openxmlformats.org/officeDocument/2006/relationships/image" Target="../media/image33.png"/><Relationship Id="rId31" Type="http://schemas.openxmlformats.org/officeDocument/2006/relationships/image" Target="../media/image45.png"/><Relationship Id="rId4" Type="http://schemas.openxmlformats.org/officeDocument/2006/relationships/image" Target="../media/image18.png"/><Relationship Id="rId9" Type="http://schemas.openxmlformats.org/officeDocument/2006/relationships/image" Target="../media/image23.jpg"/><Relationship Id="rId14" Type="http://schemas.openxmlformats.org/officeDocument/2006/relationships/image" Target="../media/image28.png"/><Relationship Id="rId22" Type="http://schemas.openxmlformats.org/officeDocument/2006/relationships/image" Target="../media/image36.png"/><Relationship Id="rId27" Type="http://schemas.openxmlformats.org/officeDocument/2006/relationships/image" Target="../media/image41.png"/><Relationship Id="rId30" Type="http://schemas.openxmlformats.org/officeDocument/2006/relationships/image" Target="../media/image44.png"/><Relationship Id="rId35" Type="http://schemas.openxmlformats.org/officeDocument/2006/relationships/image" Target="../media/image49.svg"/><Relationship Id="rId8" Type="http://schemas.openxmlformats.org/officeDocument/2006/relationships/image" Target="../media/image22.png"/><Relationship Id="rId3" Type="http://schemas.openxmlformats.org/officeDocument/2006/relationships/image" Target="../media/image17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4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6.png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.png"/><Relationship Id="rId3" Type="http://schemas.openxmlformats.org/officeDocument/2006/relationships/image" Target="../media/image60.png"/><Relationship Id="rId7" Type="http://schemas.openxmlformats.org/officeDocument/2006/relationships/image" Target="../media/image6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3.png"/><Relationship Id="rId5" Type="http://schemas.openxmlformats.org/officeDocument/2006/relationships/image" Target="../media/image62.png"/><Relationship Id="rId4" Type="http://schemas.openxmlformats.org/officeDocument/2006/relationships/image" Target="../media/image61.png"/><Relationship Id="rId9" Type="http://schemas.openxmlformats.org/officeDocument/2006/relationships/image" Target="../media/image66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3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70.png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4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ctions/typescript-action" TargetMode="Externa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ctions/toolkit/blob/master/docs/action-versioning.md" TargetMode="External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7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jpe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0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munity/t5/GitHub-Actions/bd-p/actions" TargetMode="External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help.github.com/en/categories/automating-your-workflow-with-github-actions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DC58C-AEE8-58D6-F884-237FADC844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32347" y="1122363"/>
            <a:ext cx="9276347" cy="2387600"/>
          </a:xfrm>
        </p:spPr>
        <p:txBody>
          <a:bodyPr>
            <a:normAutofit fontScale="90000"/>
          </a:bodyPr>
          <a:lstStyle/>
          <a:p>
            <a:r>
              <a:rPr lang="en-GB" dirty="0"/>
              <a:t>From Dev to -Ops and back again: DevOps Pipelines &amp; Their Evolution</a:t>
            </a:r>
            <a:endParaRPr lang="en-IT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E990762-F314-B4C3-9D6A-7A60BA286E5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IT" sz="3200" b="1" dirty="0"/>
              <a:t>D.A. Tamburri, Ph.D.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F0AB527-7066-F144-49BA-FD09A297A6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Sw. Evolution</a:t>
            </a:r>
          </a:p>
        </p:txBody>
      </p:sp>
    </p:spTree>
    <p:extLst>
      <p:ext uri="{BB962C8B-B14F-4D97-AF65-F5344CB8AC3E}">
        <p14:creationId xmlns:p14="http://schemas.microsoft.com/office/powerpoint/2010/main" val="24082330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201F31-7B60-7622-4948-3932C35CE7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E8A07D-7B02-7958-9133-6F820AA982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58FEBC9-0A9A-FC49-9CF2-79CC2BD011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Sw. Evolution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1F8BBF5-3EA0-2A6D-4FFA-AA20867CC5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49351" y="681037"/>
            <a:ext cx="9442701" cy="52768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28936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But first...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where it all began...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it-IT" altLang="en-US"/>
              <a:t>Design and software architecture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1B1625E7-A0C6-CE42-A3E8-6094708A5C26}" type="slidenum">
              <a:rPr lang="it-IT" altLang="en-US" smtClean="0"/>
              <a:pPr>
                <a:defRPr/>
              </a:pPr>
              <a:t>3</a:t>
            </a:fld>
            <a:endParaRPr lang="it-IT" altLang="en-US"/>
          </a:p>
        </p:txBody>
      </p:sp>
    </p:spTree>
    <p:extLst>
      <p:ext uri="{BB962C8B-B14F-4D97-AF65-F5344CB8AC3E}">
        <p14:creationId xmlns:p14="http://schemas.microsoft.com/office/powerpoint/2010/main" val="884191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0" y="170123"/>
            <a:ext cx="7668344" cy="838200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Why DevOps? </a:t>
            </a:r>
            <a:br>
              <a:rPr lang="en-US" b="1" dirty="0"/>
            </a:br>
            <a:r>
              <a:rPr lang="en-US" b="1" dirty="0"/>
              <a:t>Top failure causes so far*</a:t>
            </a:r>
            <a:endParaRPr lang="en-US" dirty="0"/>
          </a:p>
        </p:txBody>
      </p:sp>
      <p:sp>
        <p:nvSpPr>
          <p:cNvPr id="293891" name="Rectangle 3"/>
          <p:cNvSpPr>
            <a:spLocks noGrp="1" noChangeArrowheads="1"/>
          </p:cNvSpPr>
          <p:nvPr>
            <p:ph idx="1"/>
          </p:nvPr>
        </p:nvSpPr>
        <p:spPr>
          <a:xfrm>
            <a:off x="381000" y="1295400"/>
            <a:ext cx="8489950" cy="4852988"/>
          </a:xfrm>
          <a:ln/>
        </p:spPr>
        <p:txBody>
          <a:bodyPr lIns="0" tIns="20802" rIns="0" bIns="0"/>
          <a:lstStyle/>
          <a:p>
            <a:pPr marL="863600" lvl="1" indent="-287338" defTabSz="449263">
              <a:buClr>
                <a:srgbClr val="808000"/>
              </a:buClr>
              <a:buSzPct val="45000"/>
              <a:buFont typeface="Wingdings" charset="2"/>
              <a:buChar char="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</a:tabLst>
            </a:pPr>
            <a:r>
              <a:rPr lang="en-US" dirty="0"/>
              <a:t>Unrealistic deadlines, e.g., imposed by someone external to the technical staff</a:t>
            </a:r>
          </a:p>
          <a:p>
            <a:pPr marL="863600" lvl="1" indent="-287338" defTabSz="449263">
              <a:buClr>
                <a:srgbClr val="808000"/>
              </a:buClr>
              <a:buSzPct val="45000"/>
              <a:buFont typeface="Wingdings" charset="2"/>
              <a:buChar char="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</a:tabLst>
            </a:pPr>
            <a:r>
              <a:rPr lang="en-US" dirty="0"/>
              <a:t>Requirements &amp; people change (too) often</a:t>
            </a:r>
          </a:p>
          <a:p>
            <a:pPr marL="863600" lvl="1" indent="-287338" defTabSz="449263">
              <a:buClr>
                <a:srgbClr val="808000"/>
              </a:buClr>
              <a:buSzPct val="45000"/>
              <a:buFont typeface="Wingdings" charset="2"/>
              <a:buChar char="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</a:tabLst>
            </a:pPr>
            <a:r>
              <a:rPr lang="en-US" dirty="0">
                <a:solidFill>
                  <a:schemeClr val="tx1"/>
                </a:solidFill>
              </a:rPr>
              <a:t>Effort and resources have been estimated in an overly optimistic way, </a:t>
            </a:r>
          </a:p>
          <a:p>
            <a:pPr marL="863600" lvl="1" indent="-287338" defTabSz="449263">
              <a:buClr>
                <a:srgbClr val="808000"/>
              </a:buClr>
              <a:buSzPct val="45000"/>
              <a:buFont typeface="Wingdings" charset="2"/>
              <a:buChar char="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</a:tabLst>
            </a:pPr>
            <a:r>
              <a:rPr lang="en-US" dirty="0">
                <a:solidFill>
                  <a:schemeClr val="tx1"/>
                </a:solidFill>
              </a:rPr>
              <a:t>Risks have not been taken into account from the start of the project. </a:t>
            </a:r>
          </a:p>
          <a:p>
            <a:pPr marL="1263650" lvl="2" indent="-287338" defTabSz="449263">
              <a:buClr>
                <a:srgbClr val="808000"/>
              </a:buClr>
              <a:buSzPct val="45000"/>
              <a:buFont typeface="Wingdings" charset="2"/>
              <a:buChar char="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</a:tabLst>
            </a:pPr>
            <a:r>
              <a:rPr lang="en-US" dirty="0">
                <a:solidFill>
                  <a:schemeClr val="tx1"/>
                </a:solidFill>
              </a:rPr>
              <a:t>Risks can be technical or human difficulties</a:t>
            </a:r>
          </a:p>
          <a:p>
            <a:pPr marL="863600" lvl="1" indent="-287338" defTabSz="449263">
              <a:buClr>
                <a:srgbClr val="808000"/>
              </a:buClr>
              <a:buSzPct val="45000"/>
              <a:buFont typeface="Wingdings" charset="2"/>
              <a:buChar char="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</a:tabLst>
            </a:pPr>
            <a:r>
              <a:rPr lang="en-US" dirty="0">
                <a:solidFill>
                  <a:srgbClr val="000000"/>
                </a:solidFill>
              </a:rPr>
              <a:t>Communication problems among staff members</a:t>
            </a:r>
          </a:p>
          <a:p>
            <a:pPr marL="863600" lvl="1" indent="-287338" defTabSz="449263">
              <a:buClr>
                <a:srgbClr val="808000"/>
              </a:buClr>
              <a:buSzPct val="45000"/>
              <a:buFont typeface="Wingdings" charset="2"/>
              <a:buChar char="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</a:tabLst>
            </a:pPr>
            <a:r>
              <a:rPr lang="en-US" dirty="0">
                <a:solidFill>
                  <a:srgbClr val="000000"/>
                </a:solidFill>
              </a:rPr>
              <a:t>Difficulty by the management to recognize recurrent delays and take immediate action</a:t>
            </a:r>
          </a:p>
          <a:p>
            <a:pPr marL="863600" lvl="1" indent="-287338" defTabSz="449263">
              <a:buClr>
                <a:srgbClr val="808000"/>
              </a:buClr>
              <a:buSzPct val="45000"/>
              <a:buFont typeface="Wingdings" charset="2"/>
              <a:buChar char="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</a:tabLst>
            </a:pPr>
            <a:r>
              <a:rPr lang="en-US" dirty="0">
                <a:solidFill>
                  <a:schemeClr val="tx1"/>
                </a:solidFill>
              </a:rPr>
              <a:t>Subversive stakeholders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- </a:t>
            </a:r>
            <a:fld id="{CCF66C97-A563-4596-A04B-3863ACE8ED67}" type="slidenum">
              <a:rPr lang="en-US" smtClean="0"/>
              <a:pPr>
                <a:defRPr/>
              </a:pPr>
              <a:t>4</a:t>
            </a:fld>
            <a:r>
              <a:rPr lang="it-IT"/>
              <a:t> -</a:t>
            </a:r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35496" y="6474822"/>
            <a:ext cx="34034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*Gartner Report 2022 + Our Own SLR</a:t>
            </a:r>
          </a:p>
        </p:txBody>
      </p:sp>
    </p:spTree>
    <p:extLst>
      <p:ext uri="{BB962C8B-B14F-4D97-AF65-F5344CB8AC3E}">
        <p14:creationId xmlns:p14="http://schemas.microsoft.com/office/powerpoint/2010/main" val="1135616213"/>
      </p:ext>
    </p:extLst>
  </p:cSld>
  <p:clrMapOvr>
    <a:masterClrMapping/>
  </p:clrMapOvr>
  <p:transition spd="med" advTm="364"/>
  <p:timing>
    <p:tnLst>
      <p:par>
        <p:cTn id="1" dur="indefinite" restart="never" nodeType="tmRoot">
          <p:childTnLst>
            <p:seq concurrent="1" nextAc="seek">
              <p:cTn id="2" dur="0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-1" y="1"/>
            <a:ext cx="8870951" cy="1170856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Top failure causes so far* </a:t>
            </a:r>
            <a:r>
              <a:rPr lang="en-US" b="1" dirty="0">
                <a:solidFill>
                  <a:srgbClr val="FF0000"/>
                </a:solidFill>
              </a:rPr>
              <a:t>An Example?</a:t>
            </a:r>
            <a:br>
              <a:rPr lang="en-US" b="1" dirty="0"/>
            </a:br>
            <a:endParaRPr lang="en-US" dirty="0"/>
          </a:p>
        </p:txBody>
      </p:sp>
      <p:sp>
        <p:nvSpPr>
          <p:cNvPr id="293891" name="Rectangle 3"/>
          <p:cNvSpPr>
            <a:spLocks noGrp="1" noChangeArrowheads="1"/>
          </p:cNvSpPr>
          <p:nvPr>
            <p:ph idx="1"/>
          </p:nvPr>
        </p:nvSpPr>
        <p:spPr>
          <a:xfrm>
            <a:off x="381000" y="1295400"/>
            <a:ext cx="8489950" cy="4852988"/>
          </a:xfrm>
          <a:ln/>
        </p:spPr>
        <p:txBody>
          <a:bodyPr lIns="0" tIns="20802" rIns="0" bIns="0"/>
          <a:lstStyle/>
          <a:p>
            <a:pPr marL="863600" lvl="1" indent="-287338" defTabSz="449263">
              <a:buClr>
                <a:srgbClr val="808000"/>
              </a:buClr>
              <a:buSzPct val="45000"/>
              <a:buFont typeface="Wingdings" charset="2"/>
              <a:buChar char="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</a:tabLst>
            </a:pPr>
            <a:r>
              <a:rPr lang="en-US" b="1" dirty="0"/>
              <a:t>Unrealistic deadlines, e.g., imposed by someone external to the technical staff</a:t>
            </a:r>
          </a:p>
          <a:p>
            <a:pPr marL="863600" lvl="1" indent="-287338" defTabSz="449263">
              <a:buClr>
                <a:srgbClr val="808000"/>
              </a:buClr>
              <a:buSzPct val="45000"/>
              <a:buFont typeface="Wingdings" charset="2"/>
              <a:buChar char="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</a:tabLst>
            </a:pPr>
            <a:r>
              <a:rPr lang="en-US" b="1" dirty="0"/>
              <a:t>Requirements &amp; people change (too) often</a:t>
            </a:r>
          </a:p>
          <a:p>
            <a:pPr marL="863600" lvl="1" indent="-287338" defTabSz="449263">
              <a:buClr>
                <a:srgbClr val="808000"/>
              </a:buClr>
              <a:buSzPct val="45000"/>
              <a:buFont typeface="Wingdings" charset="2"/>
              <a:buChar char="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</a:tabLst>
            </a:pPr>
            <a:r>
              <a:rPr lang="en-US" dirty="0">
                <a:solidFill>
                  <a:srgbClr val="606060"/>
                </a:solidFill>
              </a:rPr>
              <a:t>Effort and resources have been estimated in an overly optimistic way, </a:t>
            </a:r>
          </a:p>
          <a:p>
            <a:pPr marL="863600" lvl="1" indent="-287338" defTabSz="449263">
              <a:buClr>
                <a:srgbClr val="808000"/>
              </a:buClr>
              <a:buSzPct val="45000"/>
              <a:buFont typeface="Wingdings" charset="2"/>
              <a:buChar char="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</a:tabLst>
            </a:pPr>
            <a:r>
              <a:rPr lang="en-US" dirty="0">
                <a:solidFill>
                  <a:srgbClr val="606060"/>
                </a:solidFill>
              </a:rPr>
              <a:t>Risks have not been taken into account from the start of the project. </a:t>
            </a:r>
          </a:p>
          <a:p>
            <a:pPr marL="1263650" lvl="2" indent="-287338" defTabSz="449263">
              <a:buClr>
                <a:srgbClr val="808000"/>
              </a:buClr>
              <a:buSzPct val="45000"/>
              <a:buFont typeface="Wingdings" charset="2"/>
              <a:buChar char="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</a:tabLst>
            </a:pPr>
            <a:r>
              <a:rPr lang="en-US" dirty="0">
                <a:solidFill>
                  <a:srgbClr val="606060"/>
                </a:solidFill>
              </a:rPr>
              <a:t>Risks can be technical or human difficulties</a:t>
            </a:r>
          </a:p>
          <a:p>
            <a:pPr marL="863600" lvl="1" indent="-287338" defTabSz="449263">
              <a:buClr>
                <a:srgbClr val="808000"/>
              </a:buClr>
              <a:buSzPct val="45000"/>
              <a:buFont typeface="Wingdings" charset="2"/>
              <a:buChar char="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</a:tabLst>
            </a:pPr>
            <a:r>
              <a:rPr lang="en-US" b="1" dirty="0">
                <a:solidFill>
                  <a:srgbClr val="000000"/>
                </a:solidFill>
              </a:rPr>
              <a:t>Communication problems among staff members</a:t>
            </a:r>
          </a:p>
          <a:p>
            <a:pPr marL="863600" lvl="1" indent="-287338" defTabSz="449263">
              <a:buClr>
                <a:srgbClr val="808000"/>
              </a:buClr>
              <a:buSzPct val="45000"/>
              <a:buFont typeface="Wingdings" charset="2"/>
              <a:buChar char="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</a:tabLst>
            </a:pPr>
            <a:r>
              <a:rPr lang="en-US" dirty="0">
                <a:solidFill>
                  <a:schemeClr val="bg2">
                    <a:lumMod val="75000"/>
                  </a:schemeClr>
                </a:solidFill>
              </a:rPr>
              <a:t>Difficulty by the management to recognize recurrent delays and take immediate action</a:t>
            </a:r>
          </a:p>
          <a:p>
            <a:pPr marL="863600" lvl="1" indent="-287338" defTabSz="449263">
              <a:buClr>
                <a:srgbClr val="808000"/>
              </a:buClr>
              <a:buSzPct val="45000"/>
              <a:buFont typeface="Wingdings" charset="2"/>
              <a:buChar char="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</a:tabLst>
            </a:pPr>
            <a:r>
              <a:rPr lang="en-US" b="1" dirty="0">
                <a:solidFill>
                  <a:schemeClr val="tx1"/>
                </a:solidFill>
              </a:rPr>
              <a:t>Subversive stakeholders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- </a:t>
            </a:r>
            <a:fld id="{CCF66C97-A563-4596-A04B-3863ACE8ED67}" type="slidenum">
              <a:rPr lang="en-US" smtClean="0"/>
              <a:pPr>
                <a:defRPr/>
              </a:pPr>
              <a:t>5</a:t>
            </a:fld>
            <a:r>
              <a:rPr lang="it-IT"/>
              <a:t> -</a:t>
            </a:r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35496" y="6474822"/>
            <a:ext cx="214644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*Gartner Report 2012</a:t>
            </a:r>
          </a:p>
        </p:txBody>
      </p:sp>
    </p:spTree>
    <p:extLst>
      <p:ext uri="{BB962C8B-B14F-4D97-AF65-F5344CB8AC3E}">
        <p14:creationId xmlns:p14="http://schemas.microsoft.com/office/powerpoint/2010/main" val="1354738494"/>
      </p:ext>
    </p:extLst>
  </p:cSld>
  <p:clrMapOvr>
    <a:masterClrMapping/>
  </p:clrMapOvr>
  <p:transition spd="med" advTm="364"/>
  <p:timing>
    <p:tnLst>
      <p:par>
        <p:cTn id="1" dur="indefinite" restart="never" nodeType="tmRoot">
          <p:childTnLst>
            <p:seq concurrent="1" nextAc="seek">
              <p:cTn id="2" dur="0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0" y="332656"/>
            <a:ext cx="8870950" cy="838200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Top failure causes so far* </a:t>
            </a:r>
            <a:r>
              <a:rPr lang="en-US" b="1" dirty="0">
                <a:solidFill>
                  <a:srgbClr val="FF0000"/>
                </a:solidFill>
              </a:rPr>
              <a:t>An Example!</a:t>
            </a:r>
            <a:br>
              <a:rPr lang="en-US" b="1" dirty="0"/>
            </a:br>
            <a:endParaRPr lang="en-US" dirty="0"/>
          </a:p>
        </p:txBody>
      </p:sp>
      <p:sp>
        <p:nvSpPr>
          <p:cNvPr id="293891" name="Rectangle 3"/>
          <p:cNvSpPr>
            <a:spLocks noGrp="1" noChangeArrowheads="1"/>
          </p:cNvSpPr>
          <p:nvPr>
            <p:ph idx="1"/>
          </p:nvPr>
        </p:nvSpPr>
        <p:spPr>
          <a:xfrm>
            <a:off x="381000" y="1295400"/>
            <a:ext cx="8489950" cy="4852988"/>
          </a:xfrm>
          <a:ln/>
        </p:spPr>
        <p:txBody>
          <a:bodyPr lIns="0" tIns="20802" rIns="0" bIns="0"/>
          <a:lstStyle/>
          <a:p>
            <a:pPr marL="176212" indent="0" defTabSz="449263">
              <a:buClr>
                <a:srgbClr val="808000"/>
              </a:buClr>
              <a:buSzPct val="45000"/>
              <a:buNone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</a:tabLst>
            </a:pPr>
            <a:r>
              <a:rPr lang="nl-NL" sz="2000" b="1" dirty="0"/>
              <a:t>(UNFORESEEN) OVERHEAD COST: 174,000,000 $ (</a:t>
            </a:r>
            <a:r>
              <a:rPr lang="nl-NL" sz="2000" b="1" dirty="0" err="1"/>
              <a:t>give</a:t>
            </a:r>
            <a:r>
              <a:rPr lang="nl-NL" sz="2000" b="1" dirty="0"/>
              <a:t> or take)*</a:t>
            </a:r>
          </a:p>
          <a:p>
            <a:pPr marL="176212" indent="0" defTabSz="449263">
              <a:buClr>
                <a:srgbClr val="808000"/>
              </a:buClr>
              <a:buSzPct val="45000"/>
              <a:buNone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</a:tabLst>
            </a:pPr>
            <a:endParaRPr lang="nl-NL" sz="2000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- </a:t>
            </a:r>
            <a:fld id="{CCF66C97-A563-4596-A04B-3863ACE8ED67}" type="slidenum">
              <a:rPr lang="en-US" smtClean="0"/>
              <a:pPr>
                <a:defRPr/>
              </a:pPr>
              <a:t>6</a:t>
            </a:fld>
            <a:r>
              <a:rPr lang="it-IT"/>
              <a:t> -</a:t>
            </a:r>
            <a:endParaRPr lang="en-US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8947" y="2073273"/>
            <a:ext cx="7139468" cy="3989703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457890"/>
            <a:ext cx="4315254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6212" indent="0" defTabSz="449263">
              <a:buClr>
                <a:srgbClr val="808000"/>
              </a:buClr>
              <a:buSzPct val="45000"/>
              <a:buNone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</a:tabLst>
            </a:pPr>
            <a:r>
              <a:rPr lang="en-US" sz="1000" b="1" dirty="0"/>
              <a:t>*http://</a:t>
            </a:r>
            <a:r>
              <a:rPr lang="en-US" sz="1000" b="1" dirty="0" err="1"/>
              <a:t>www.cio.com</a:t>
            </a:r>
            <a:r>
              <a:rPr lang="en-US" sz="1000" b="1" dirty="0"/>
              <a:t>/article/2380827/developer/6-software-development-lessons-from-healthcare-gov-s-failed-launch.html</a:t>
            </a:r>
          </a:p>
        </p:txBody>
      </p:sp>
    </p:spTree>
    <p:extLst>
      <p:ext uri="{BB962C8B-B14F-4D97-AF65-F5344CB8AC3E}">
        <p14:creationId xmlns:p14="http://schemas.microsoft.com/office/powerpoint/2010/main" val="1598673773"/>
      </p:ext>
    </p:extLst>
  </p:cSld>
  <p:clrMapOvr>
    <a:masterClrMapping/>
  </p:clrMapOvr>
  <p:transition spd="med" advTm="400"/>
  <p:timing>
    <p:tnLst>
      <p:par>
        <p:cTn id="1" dur="indefinite" restart="never" nodeType="tmRoot">
          <p:childTnLst>
            <p:seq concurrent="1" nextAc="seek">
              <p:cTn id="2" dur="0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2"/>
          <p:cNvSpPr txBox="1">
            <a:spLocks/>
          </p:cNvSpPr>
          <p:nvPr/>
        </p:nvSpPr>
        <p:spPr bwMode="auto">
          <a:xfrm>
            <a:off x="-36512" y="1268760"/>
            <a:ext cx="4896544" cy="302433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SzPct val="60000"/>
              <a:buFont typeface="Wingdings" charset="2"/>
              <a:buBlip>
                <a:blip r:embed="rId3"/>
              </a:buBlip>
              <a:defRPr sz="24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SzPct val="75000"/>
              <a:buBlip>
                <a:blip r:embed="rId4"/>
              </a:buBlip>
              <a:defRPr sz="2200">
                <a:solidFill>
                  <a:schemeClr val="tx2"/>
                </a:solidFill>
                <a:latin typeface="+mn-lt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sz="2000">
                <a:solidFill>
                  <a:schemeClr val="tx2"/>
                </a:solidFill>
                <a:latin typeface="+mn-lt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>
                <a:solidFill>
                  <a:schemeClr val="tx2"/>
                </a:solidFill>
                <a:latin typeface="+mn-lt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2"/>
                </a:solidFill>
                <a:latin typeface="+mn-lt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2"/>
                </a:solidFill>
                <a:latin typeface="+mn-lt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2"/>
                </a:solidFill>
                <a:latin typeface="+mn-lt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2"/>
                </a:solidFill>
                <a:latin typeface="+mn-lt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2"/>
                </a:solidFill>
                <a:latin typeface="+mn-lt"/>
              </a:defRPr>
            </a:lvl9pPr>
          </a:lstStyle>
          <a:p>
            <a:pPr marL="457200" lvl="1" indent="0">
              <a:buNone/>
            </a:pPr>
            <a:r>
              <a:rPr lang="en-US" sz="2000" i="1" dirty="0"/>
              <a:t>“DevOps is a set of practices intended to reduce the time between committing a change to a system and the change being placed into normal production, while ensuring high quality.”</a:t>
            </a:r>
          </a:p>
          <a:p>
            <a:pPr marL="457200" lvl="1" indent="0">
              <a:buNone/>
            </a:pPr>
            <a:endParaRPr lang="en-US" sz="2000" i="1" dirty="0"/>
          </a:p>
          <a:p>
            <a:pPr marL="457200" lvl="1" indent="0">
              <a:buNone/>
            </a:pPr>
            <a:r>
              <a:rPr lang="en-US" sz="2000" i="1" dirty="0"/>
              <a:t>L. Bass et Al. [1]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What is DevOps?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- </a:t>
            </a:r>
            <a:fld id="{CCF66C97-A563-4596-A04B-3863ACE8ED67}" type="slidenum">
              <a:rPr lang="en-US" smtClean="0"/>
              <a:pPr>
                <a:defRPr/>
              </a:pPr>
              <a:t>7</a:t>
            </a:fld>
            <a:r>
              <a:rPr lang="it-IT"/>
              <a:t> -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85810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03"/>
    </mc:Choice>
    <mc:Fallback xmlns="">
      <p:transition xmlns:p14="http://schemas.microsoft.com/office/powerpoint/2010/main" spd="slow" advTm="103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B886026-BC46-40CF-ACF8-38590E50712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14960" y="845662"/>
            <a:ext cx="8402273" cy="369332"/>
          </a:xfrm>
        </p:spPr>
        <p:txBody>
          <a:bodyPr/>
          <a:lstStyle/>
          <a:p>
            <a:r>
              <a:rPr lang="en-US" sz="2400" b="1" u="sng" dirty="0">
                <a:solidFill>
                  <a:srgbClr val="505050"/>
                </a:solidFill>
              </a:rPr>
              <a:t>People. Process. Products.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28D9A12-71BC-4CBB-A872-E706804636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1971" y="133986"/>
            <a:ext cx="8502029" cy="554507"/>
          </a:xfrm>
        </p:spPr>
        <p:txBody>
          <a:bodyPr/>
          <a:lstStyle/>
          <a:p>
            <a:r>
              <a:rPr lang="en-US" b="1" dirty="0">
                <a:solidFill>
                  <a:schemeClr val="tx1"/>
                </a:solidFill>
              </a:rPr>
              <a:t>What is DevOps?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EC9AE04-AF68-4BE2-A10B-4484F4319989}"/>
              </a:ext>
            </a:extLst>
          </p:cNvPr>
          <p:cNvGrpSpPr/>
          <p:nvPr/>
        </p:nvGrpSpPr>
        <p:grpSpPr>
          <a:xfrm>
            <a:off x="319819" y="2275317"/>
            <a:ext cx="3979905" cy="2914505"/>
            <a:chOff x="366076" y="1432242"/>
            <a:chExt cx="4716106" cy="3964491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DD5BFA80-E8ED-4D15-9EC6-1C69B990053C}"/>
                </a:ext>
              </a:extLst>
            </p:cNvPr>
            <p:cNvSpPr/>
            <p:nvPr/>
          </p:nvSpPr>
          <p:spPr bwMode="auto">
            <a:xfrm>
              <a:off x="366076" y="1432242"/>
              <a:ext cx="4716106" cy="3964491"/>
            </a:xfrm>
            <a:prstGeom prst="rect">
              <a:avLst/>
            </a:prstGeom>
            <a:noFill/>
            <a:ln w="9525" cap="flat" cmpd="sng" algn="ctr">
              <a:noFill/>
              <a:prstDash val="solid"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100834" tIns="571390" rIns="134444" bIns="107555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sz="2059" dirty="0"/>
                <a:t>DevOps is the union of </a:t>
              </a:r>
              <a:r>
                <a:rPr lang="en-US" sz="2059" b="1" dirty="0">
                  <a:solidFill>
                    <a:srgbClr val="0078D7"/>
                  </a:solidFill>
                </a:rPr>
                <a:t>people</a:t>
              </a:r>
              <a:r>
                <a:rPr lang="en-US" sz="2059" dirty="0"/>
                <a:t>, </a:t>
              </a:r>
              <a:r>
                <a:rPr lang="en-US" sz="2059" b="1" dirty="0">
                  <a:solidFill>
                    <a:srgbClr val="0078D7"/>
                  </a:solidFill>
                </a:rPr>
                <a:t>process</a:t>
              </a:r>
              <a:r>
                <a:rPr lang="en-US" sz="2059" dirty="0"/>
                <a:t>, and </a:t>
              </a:r>
              <a:r>
                <a:rPr lang="en-US" sz="2059" b="1" dirty="0">
                  <a:solidFill>
                    <a:srgbClr val="0078D7"/>
                  </a:solidFill>
                </a:rPr>
                <a:t>products</a:t>
              </a:r>
              <a:r>
                <a:rPr lang="en-US" sz="2059" dirty="0"/>
                <a:t> to enable continuous delivery of value to your end users.</a:t>
              </a:r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2F8088B3-00CA-4565-A4F2-49A69D180C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66077" y="1432242"/>
              <a:ext cx="732381" cy="111048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>
                <a:defRPr/>
              </a:pPr>
              <a:r>
                <a:rPr lang="en-US" sz="4705" kern="0" spc="-8" dirty="0">
                  <a:ln w="3175">
                    <a:noFill/>
                  </a:ln>
                  <a:solidFill>
                    <a:srgbClr val="0078D7"/>
                  </a:solidFill>
                  <a:latin typeface="Rockwell Extra Bold" panose="02060903040505020403" pitchFamily="18" charset="0"/>
                  <a:cs typeface="Segoe UI" pitchFamily="34" charset="0"/>
                </a:rPr>
                <a:t>“</a:t>
              </a:r>
              <a:endParaRPr lang="en-US" sz="4705" kern="0" dirty="0">
                <a:solidFill>
                  <a:srgbClr val="0078D7"/>
                </a:solidFill>
              </a:endParaRPr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90933A4D-4859-4CF1-9E2F-B6522C3D95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728098" y="3396602"/>
              <a:ext cx="732381" cy="111048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>
                <a:defRPr/>
              </a:pPr>
              <a:r>
                <a:rPr lang="en-US" sz="4705" kern="0" spc="-8" dirty="0">
                  <a:ln w="3175">
                    <a:noFill/>
                  </a:ln>
                  <a:solidFill>
                    <a:srgbClr val="0078D7"/>
                  </a:solidFill>
                  <a:latin typeface="Rockwell Extra Bold" panose="02060903040505020403" pitchFamily="18" charset="0"/>
                  <a:cs typeface="Segoe UI" pitchFamily="34" charset="0"/>
                </a:rPr>
                <a:t>”</a:t>
              </a:r>
              <a:endParaRPr lang="en-US" sz="4705" kern="0" dirty="0">
                <a:solidFill>
                  <a:srgbClr val="0078D7"/>
                </a:solidFill>
              </a:endParaRPr>
            </a:p>
          </p:txBody>
        </p:sp>
      </p:grpSp>
      <p:sp>
        <p:nvSpPr>
          <p:cNvPr id="51" name="Oval 50">
            <a:extLst>
              <a:ext uri="{FF2B5EF4-FFF2-40B4-BE49-F238E27FC236}">
                <a16:creationId xmlns:a16="http://schemas.microsoft.com/office/drawing/2014/main" id="{3C946028-2F07-4CC9-B487-50F1C28596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5072785" y="1894402"/>
            <a:ext cx="3321398" cy="3333758"/>
          </a:xfrm>
          <a:prstGeom prst="ellipse">
            <a:avLst/>
          </a:prstGeom>
          <a:noFill/>
          <a:ln>
            <a:solidFill>
              <a:schemeClr val="tx1">
                <a:lumMod val="50000"/>
                <a:lumOff val="50000"/>
              </a:schemeClr>
            </a:solidFill>
            <a:prstDash val="dash"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34464" tIns="107571" rIns="134464" bIns="107571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685577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176" dirty="0">
              <a:solidFill>
                <a:schemeClr val="tx2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DB8E49D4-4CAC-45F7-863B-618A6CA499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5369024" y="1708628"/>
            <a:ext cx="952044" cy="955587"/>
          </a:xfrm>
          <a:prstGeom prst="ellipse">
            <a:avLst/>
          </a:prstGeom>
          <a:solidFill>
            <a:schemeClr val="bg2">
              <a:lumMod val="95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34464" tIns="107571" rIns="134464" bIns="107571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685577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176" dirty="0">
                <a:solidFill>
                  <a:schemeClr val="tx2"/>
                </a:solidFill>
                <a:ea typeface="Segoe UI" pitchFamily="34" charset="0"/>
                <a:cs typeface="Segoe UI" pitchFamily="34" charset="0"/>
              </a:rPr>
              <a:t>Build&amp; Test</a:t>
            </a:r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29929064-DF06-4EF7-9BA7-BC3483725B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6073795" y="2927690"/>
            <a:ext cx="1243707" cy="1362885"/>
            <a:chOff x="5375754" y="2898175"/>
            <a:chExt cx="1568588" cy="1718897"/>
          </a:xfrm>
        </p:grpSpPr>
        <p:sp>
          <p:nvSpPr>
            <p:cNvPr id="54" name="Business Trans large">
              <a:extLst>
                <a:ext uri="{FF2B5EF4-FFF2-40B4-BE49-F238E27FC236}">
                  <a16:creationId xmlns:a16="http://schemas.microsoft.com/office/drawing/2014/main" id="{8D16BFF0-BA65-412B-94C9-D67AA44A0D80}"/>
                </a:ext>
              </a:extLst>
            </p:cNvPr>
            <p:cNvSpPr txBox="1"/>
            <p:nvPr/>
          </p:nvSpPr>
          <p:spPr>
            <a:xfrm>
              <a:off x="5375754" y="3228293"/>
              <a:ext cx="1568588" cy="1058660"/>
            </a:xfrm>
            <a:prstGeom prst="rect">
              <a:avLst/>
            </a:prstGeom>
            <a:noFill/>
            <a:ln w="25400">
              <a:noFill/>
              <a:miter lim="800000"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 defTabSz="672008">
                <a:lnSpc>
                  <a:spcPct val="90000"/>
                </a:lnSpc>
                <a:spcBef>
                  <a:spcPts val="577"/>
                </a:spcBef>
                <a:defRPr/>
              </a:pPr>
              <a:r>
                <a:rPr lang="en-US" sz="1324" spc="8" dirty="0">
                  <a:ln w="3175">
                    <a:noFill/>
                  </a:ln>
                  <a:solidFill>
                    <a:schemeClr val="tx2"/>
                  </a:solidFill>
                  <a:cs typeface="Segoe UI Semilight" panose="020B0402040204020203" pitchFamily="34" charset="0"/>
                </a:rPr>
                <a:t>Continuous</a:t>
              </a:r>
              <a:br>
                <a:rPr lang="en-US" sz="1324" spc="8" dirty="0">
                  <a:ln w="3175">
                    <a:noFill/>
                  </a:ln>
                  <a:solidFill>
                    <a:schemeClr val="tx2"/>
                  </a:solidFill>
                  <a:cs typeface="Segoe UI Semilight" panose="020B0402040204020203" pitchFamily="34" charset="0"/>
                </a:rPr>
              </a:br>
              <a:r>
                <a:rPr lang="en-US" sz="1324" spc="8" dirty="0">
                  <a:ln w="3175">
                    <a:noFill/>
                  </a:ln>
                  <a:solidFill>
                    <a:schemeClr val="tx2"/>
                  </a:solidFill>
                  <a:cs typeface="Segoe UI Semilight" panose="020B0402040204020203" pitchFamily="34" charset="0"/>
                </a:rPr>
                <a:t>Delivery</a:t>
              </a:r>
            </a:p>
          </p:txBody>
        </p:sp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2D227A8E-BD89-428C-9CD4-5D72D5B56E2A}"/>
                </a:ext>
              </a:extLst>
            </p:cNvPr>
            <p:cNvGrpSpPr/>
            <p:nvPr/>
          </p:nvGrpSpPr>
          <p:grpSpPr>
            <a:xfrm>
              <a:off x="5404710" y="2898175"/>
              <a:ext cx="1513009" cy="1718897"/>
              <a:chOff x="13906501" y="3922655"/>
              <a:chExt cx="619125" cy="703377"/>
            </a:xfrm>
          </p:grpSpPr>
          <p:sp>
            <p:nvSpPr>
              <p:cNvPr id="56" name="Freeform 17">
                <a:extLst>
                  <a:ext uri="{FF2B5EF4-FFF2-40B4-BE49-F238E27FC236}">
                    <a16:creationId xmlns:a16="http://schemas.microsoft.com/office/drawing/2014/main" id="{C0BB35B1-36DA-41B6-82C0-B7307F0022F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216063" y="3986213"/>
                <a:ext cx="309563" cy="595312"/>
              </a:xfrm>
              <a:custGeom>
                <a:avLst/>
                <a:gdLst>
                  <a:gd name="T0" fmla="*/ 29 w 81"/>
                  <a:gd name="T1" fmla="*/ 0 h 157"/>
                  <a:gd name="T2" fmla="*/ 81 w 81"/>
                  <a:gd name="T3" fmla="*/ 76 h 157"/>
                  <a:gd name="T4" fmla="*/ 0 w 81"/>
                  <a:gd name="T5" fmla="*/ 157 h 1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81" h="157">
                    <a:moveTo>
                      <a:pt x="29" y="0"/>
                    </a:moveTo>
                    <a:cubicBezTo>
                      <a:pt x="59" y="12"/>
                      <a:pt x="81" y="41"/>
                      <a:pt x="81" y="76"/>
                    </a:cubicBezTo>
                    <a:cubicBezTo>
                      <a:pt x="81" y="121"/>
                      <a:pt x="45" y="157"/>
                      <a:pt x="0" y="157"/>
                    </a:cubicBezTo>
                  </a:path>
                </a:pathLst>
              </a:custGeom>
              <a:noFill/>
              <a:ln w="15875" cap="flat">
                <a:solidFill>
                  <a:srgbClr val="0078D7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65901" tIns="32950" rIns="65901" bIns="32950" numCol="1" anchor="t" anchorCtr="0" compatLnSpc="1">
                <a:prstTxWarp prst="textNoShape">
                  <a:avLst/>
                </a:prstTxWarp>
              </a:bodyPr>
              <a:lstStyle/>
              <a:p>
                <a:pPr defTabSz="671503"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US" sz="1324" kern="0">
                  <a:solidFill>
                    <a:schemeClr val="tx1">
                      <a:lumMod val="50000"/>
                      <a:lumOff val="50000"/>
                    </a:schemeClr>
                  </a:solidFill>
                  <a:ea typeface="MS PGothic" panose="020B0600070205080204" pitchFamily="34" charset="-128"/>
                </a:endParaRPr>
              </a:p>
            </p:txBody>
          </p:sp>
          <p:sp>
            <p:nvSpPr>
              <p:cNvPr id="57" name="Freeform 18">
                <a:extLst>
                  <a:ext uri="{FF2B5EF4-FFF2-40B4-BE49-F238E27FC236}">
                    <a16:creationId xmlns:a16="http://schemas.microsoft.com/office/drawing/2014/main" id="{AE5E9BEA-A2DD-4578-90C1-902E9A1DFB1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906501" y="3967163"/>
                <a:ext cx="309563" cy="596900"/>
              </a:xfrm>
              <a:custGeom>
                <a:avLst/>
                <a:gdLst>
                  <a:gd name="T0" fmla="*/ 52 w 81"/>
                  <a:gd name="T1" fmla="*/ 157 h 157"/>
                  <a:gd name="T2" fmla="*/ 0 w 81"/>
                  <a:gd name="T3" fmla="*/ 81 h 157"/>
                  <a:gd name="T4" fmla="*/ 81 w 81"/>
                  <a:gd name="T5" fmla="*/ 0 h 1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81" h="157">
                    <a:moveTo>
                      <a:pt x="52" y="157"/>
                    </a:moveTo>
                    <a:cubicBezTo>
                      <a:pt x="21" y="145"/>
                      <a:pt x="0" y="116"/>
                      <a:pt x="0" y="81"/>
                    </a:cubicBezTo>
                    <a:cubicBezTo>
                      <a:pt x="0" y="36"/>
                      <a:pt x="36" y="0"/>
                      <a:pt x="81" y="0"/>
                    </a:cubicBezTo>
                  </a:path>
                </a:pathLst>
              </a:custGeom>
              <a:noFill/>
              <a:ln w="15875" cap="flat">
                <a:solidFill>
                  <a:srgbClr val="0078D7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65901" tIns="32950" rIns="65901" bIns="32950" numCol="1" anchor="t" anchorCtr="0" compatLnSpc="1">
                <a:prstTxWarp prst="textNoShape">
                  <a:avLst/>
                </a:prstTxWarp>
              </a:bodyPr>
              <a:lstStyle/>
              <a:p>
                <a:pPr defTabSz="671503"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US" sz="1324" kern="0">
                  <a:solidFill>
                    <a:schemeClr val="tx1">
                      <a:lumMod val="50000"/>
                      <a:lumOff val="50000"/>
                    </a:schemeClr>
                  </a:solidFill>
                  <a:ea typeface="MS PGothic" panose="020B0600070205080204" pitchFamily="34" charset="-128"/>
                </a:endParaRPr>
              </a:p>
            </p:txBody>
          </p:sp>
          <p:sp>
            <p:nvSpPr>
              <p:cNvPr id="58" name="Line 19">
                <a:extLst>
                  <a:ext uri="{FF2B5EF4-FFF2-40B4-BE49-F238E27FC236}">
                    <a16:creationId xmlns:a16="http://schemas.microsoft.com/office/drawing/2014/main" id="{E096815D-3301-4085-B4B8-DEFFC64F4A9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4216063" y="4221163"/>
                <a:ext cx="0" cy="0"/>
              </a:xfrm>
              <a:prstGeom prst="line">
                <a:avLst/>
              </a:prstGeom>
              <a:noFill/>
              <a:ln w="12700" cap="flat">
                <a:solidFill>
                  <a:srgbClr val="0078D7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65901" tIns="32950" rIns="65901" bIns="32950" numCol="1" anchor="t" anchorCtr="0" compatLnSpc="1">
                <a:prstTxWarp prst="textNoShape">
                  <a:avLst/>
                </a:prstTxWarp>
              </a:bodyPr>
              <a:lstStyle/>
              <a:p>
                <a:pPr defTabSz="671503"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US" sz="1324" kern="0">
                  <a:solidFill>
                    <a:srgbClr val="FFFFFF"/>
                  </a:solidFill>
                  <a:ea typeface="MS PGothic" panose="020B0600070205080204" pitchFamily="34" charset="-128"/>
                </a:endParaRPr>
              </a:p>
            </p:txBody>
          </p:sp>
          <p:sp>
            <p:nvSpPr>
              <p:cNvPr id="59" name="Freeform 20">
                <a:extLst>
                  <a:ext uri="{FF2B5EF4-FFF2-40B4-BE49-F238E27FC236}">
                    <a16:creationId xmlns:a16="http://schemas.microsoft.com/office/drawing/2014/main" id="{30B333D4-859E-4FAE-8847-3FAF1DBB426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214339" y="3922655"/>
                <a:ext cx="41550" cy="87427"/>
              </a:xfrm>
              <a:custGeom>
                <a:avLst/>
                <a:gdLst>
                  <a:gd name="T0" fmla="*/ 0 w 48"/>
                  <a:gd name="T1" fmla="*/ 101 h 101"/>
                  <a:gd name="T2" fmla="*/ 48 w 48"/>
                  <a:gd name="T3" fmla="*/ 51 h 101"/>
                  <a:gd name="T4" fmla="*/ 0 w 48"/>
                  <a:gd name="T5" fmla="*/ 0 h 10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8" h="101">
                    <a:moveTo>
                      <a:pt x="0" y="101"/>
                    </a:moveTo>
                    <a:lnTo>
                      <a:pt x="48" y="51"/>
                    </a:lnTo>
                    <a:lnTo>
                      <a:pt x="0" y="0"/>
                    </a:lnTo>
                  </a:path>
                </a:pathLst>
              </a:custGeom>
              <a:noFill/>
              <a:ln w="12700" cap="flat">
                <a:solidFill>
                  <a:srgbClr val="0078D7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65901" tIns="32950" rIns="65901" bIns="32950" numCol="1" anchor="t" anchorCtr="0" compatLnSpc="1">
                <a:prstTxWarp prst="textNoShape">
                  <a:avLst/>
                </a:prstTxWarp>
              </a:bodyPr>
              <a:lstStyle/>
              <a:p>
                <a:pPr defTabSz="671503"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US" sz="1324" kern="0">
                  <a:solidFill>
                    <a:schemeClr val="tx1">
                      <a:lumMod val="50000"/>
                      <a:lumOff val="50000"/>
                    </a:schemeClr>
                  </a:solidFill>
                  <a:ea typeface="MS PGothic" panose="020B0600070205080204" pitchFamily="34" charset="-128"/>
                </a:endParaRPr>
              </a:p>
            </p:txBody>
          </p:sp>
          <p:sp>
            <p:nvSpPr>
              <p:cNvPr id="60" name="Line 21">
                <a:extLst>
                  <a:ext uri="{FF2B5EF4-FFF2-40B4-BE49-F238E27FC236}">
                    <a16:creationId xmlns:a16="http://schemas.microsoft.com/office/drawing/2014/main" id="{071F32D5-B94C-4FC7-A6F7-B8678D73806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4216063" y="3967163"/>
                <a:ext cx="38100" cy="0"/>
              </a:xfrm>
              <a:prstGeom prst="line">
                <a:avLst/>
              </a:prstGeom>
              <a:noFill/>
              <a:ln w="12700" cap="flat">
                <a:solidFill>
                  <a:srgbClr val="0078D7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65901" tIns="32950" rIns="65901" bIns="32950" numCol="1" anchor="t" anchorCtr="0" compatLnSpc="1">
                <a:prstTxWarp prst="textNoShape">
                  <a:avLst/>
                </a:prstTxWarp>
              </a:bodyPr>
              <a:lstStyle/>
              <a:p>
                <a:pPr defTabSz="671503"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US" sz="1324" kern="0">
                  <a:solidFill>
                    <a:srgbClr val="FFFFFF"/>
                  </a:solidFill>
                  <a:ea typeface="MS PGothic" panose="020B0600070205080204" pitchFamily="34" charset="-128"/>
                </a:endParaRPr>
              </a:p>
            </p:txBody>
          </p:sp>
          <p:sp>
            <p:nvSpPr>
              <p:cNvPr id="80" name="Freeform 22">
                <a:extLst>
                  <a:ext uri="{FF2B5EF4-FFF2-40B4-BE49-F238E27FC236}">
                    <a16:creationId xmlns:a16="http://schemas.microsoft.com/office/drawing/2014/main" id="{8D5762D9-5E19-4339-8209-6ECA4835A06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177963" y="4538605"/>
                <a:ext cx="41550" cy="87427"/>
              </a:xfrm>
              <a:custGeom>
                <a:avLst/>
                <a:gdLst>
                  <a:gd name="T0" fmla="*/ 48 w 48"/>
                  <a:gd name="T1" fmla="*/ 0 h 101"/>
                  <a:gd name="T2" fmla="*/ 0 w 48"/>
                  <a:gd name="T3" fmla="*/ 50 h 101"/>
                  <a:gd name="T4" fmla="*/ 48 w 48"/>
                  <a:gd name="T5" fmla="*/ 101 h 10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8" h="101">
                    <a:moveTo>
                      <a:pt x="48" y="0"/>
                    </a:moveTo>
                    <a:lnTo>
                      <a:pt x="0" y="50"/>
                    </a:lnTo>
                    <a:lnTo>
                      <a:pt x="48" y="101"/>
                    </a:lnTo>
                  </a:path>
                </a:pathLst>
              </a:custGeom>
              <a:noFill/>
              <a:ln w="12700" cap="flat">
                <a:solidFill>
                  <a:srgbClr val="0078D7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65901" tIns="32950" rIns="65901" bIns="32950" numCol="1" anchor="t" anchorCtr="0" compatLnSpc="1">
                <a:prstTxWarp prst="textNoShape">
                  <a:avLst/>
                </a:prstTxWarp>
              </a:bodyPr>
              <a:lstStyle/>
              <a:p>
                <a:pPr defTabSz="671503"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US" sz="1324" kern="0">
                  <a:solidFill>
                    <a:schemeClr val="tx1">
                      <a:lumMod val="50000"/>
                      <a:lumOff val="50000"/>
                    </a:schemeClr>
                  </a:solidFill>
                  <a:ea typeface="MS PGothic" panose="020B0600070205080204" pitchFamily="34" charset="-128"/>
                </a:endParaRPr>
              </a:p>
            </p:txBody>
          </p:sp>
          <p:sp>
            <p:nvSpPr>
              <p:cNvPr id="81" name="Line 23">
                <a:extLst>
                  <a:ext uri="{FF2B5EF4-FFF2-40B4-BE49-F238E27FC236}">
                    <a16:creationId xmlns:a16="http://schemas.microsoft.com/office/drawing/2014/main" id="{1D952B3C-B0C6-4D71-BB9F-3E44301B46E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4177963" y="4581525"/>
                <a:ext cx="38100" cy="0"/>
              </a:xfrm>
              <a:prstGeom prst="line">
                <a:avLst/>
              </a:prstGeom>
              <a:noFill/>
              <a:ln w="12700" cap="flat">
                <a:solidFill>
                  <a:srgbClr val="0078D7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65901" tIns="32950" rIns="65901" bIns="32950" numCol="1" anchor="t" anchorCtr="0" compatLnSpc="1">
                <a:prstTxWarp prst="textNoShape">
                  <a:avLst/>
                </a:prstTxWarp>
              </a:bodyPr>
              <a:lstStyle/>
              <a:p>
                <a:pPr defTabSz="671503"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US" sz="1324" kern="0">
                  <a:solidFill>
                    <a:srgbClr val="FFFFFF"/>
                  </a:solidFill>
                  <a:ea typeface="MS PGothic" panose="020B0600070205080204" pitchFamily="34" charset="-128"/>
                </a:endParaRPr>
              </a:p>
            </p:txBody>
          </p:sp>
        </p:grpSp>
      </p:grpSp>
      <p:sp>
        <p:nvSpPr>
          <p:cNvPr id="82" name="Oval 81">
            <a:extLst>
              <a:ext uri="{FF2B5EF4-FFF2-40B4-BE49-F238E27FC236}">
                <a16:creationId xmlns:a16="http://schemas.microsoft.com/office/drawing/2014/main" id="{72C08E3E-4120-43D7-9BCB-F6A7E0731B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6999860" y="1605181"/>
            <a:ext cx="952044" cy="955587"/>
          </a:xfrm>
          <a:prstGeom prst="ellipse">
            <a:avLst/>
          </a:prstGeom>
          <a:solidFill>
            <a:schemeClr val="bg2">
              <a:lumMod val="95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34464" tIns="107571" rIns="134464" bIns="107571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685577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176" dirty="0">
              <a:solidFill>
                <a:schemeClr val="tx2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D3AAAA1C-BB9D-4A08-8F4F-3BC791EC80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7122239" y="1885320"/>
            <a:ext cx="702763" cy="380108"/>
          </a:xfrm>
          <a:prstGeom prst="rect">
            <a:avLst/>
          </a:prstGeom>
          <a:noFill/>
        </p:spPr>
        <p:txBody>
          <a:bodyPr wrap="none" lIns="134464" tIns="107571" rIns="134464" bIns="107571" rtlCol="0">
            <a:spAutoFit/>
          </a:bodyPr>
          <a:lstStyle/>
          <a:p>
            <a:pPr>
              <a:lnSpc>
                <a:spcPct val="90000"/>
              </a:lnSpc>
              <a:spcAft>
                <a:spcPts val="441"/>
              </a:spcAft>
            </a:pPr>
            <a:r>
              <a:rPr lang="en-US" sz="1176" dirty="0">
                <a:solidFill>
                  <a:schemeClr val="tx2"/>
                </a:solidFill>
                <a:ea typeface="Segoe UI" pitchFamily="34" charset="0"/>
                <a:cs typeface="Segoe UI" pitchFamily="34" charset="0"/>
              </a:rPr>
              <a:t>Deploy</a:t>
            </a:r>
          </a:p>
        </p:txBody>
      </p:sp>
      <p:sp>
        <p:nvSpPr>
          <p:cNvPr id="84" name="Oval 83">
            <a:extLst>
              <a:ext uri="{FF2B5EF4-FFF2-40B4-BE49-F238E27FC236}">
                <a16:creationId xmlns:a16="http://schemas.microsoft.com/office/drawing/2014/main" id="{8B9E1685-271B-4D81-AA70-C9553CEA60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7939778" y="3098266"/>
            <a:ext cx="952044" cy="955587"/>
          </a:xfrm>
          <a:prstGeom prst="ellipse">
            <a:avLst/>
          </a:prstGeom>
          <a:solidFill>
            <a:schemeClr val="bg2">
              <a:lumMod val="95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34464" tIns="107571" rIns="134464" bIns="107571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685577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176" dirty="0">
              <a:solidFill>
                <a:schemeClr val="tx2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8683DB6F-EB64-4DE8-8FFA-557E3D0CD8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8021803" y="3385971"/>
            <a:ext cx="776501" cy="380108"/>
          </a:xfrm>
          <a:prstGeom prst="rect">
            <a:avLst/>
          </a:prstGeom>
          <a:noFill/>
        </p:spPr>
        <p:txBody>
          <a:bodyPr wrap="none" lIns="134464" tIns="107571" rIns="134464" bIns="107571" rtlCol="0">
            <a:spAutoFit/>
          </a:bodyPr>
          <a:lstStyle/>
          <a:p>
            <a:pPr>
              <a:lnSpc>
                <a:spcPct val="90000"/>
              </a:lnSpc>
              <a:spcAft>
                <a:spcPts val="441"/>
              </a:spcAft>
            </a:pPr>
            <a:r>
              <a:rPr lang="en-US" sz="1176" dirty="0">
                <a:solidFill>
                  <a:schemeClr val="tx2"/>
                </a:solidFill>
                <a:ea typeface="Segoe UI" pitchFamily="34" charset="0"/>
                <a:cs typeface="Segoe UI" pitchFamily="34" charset="0"/>
              </a:rPr>
              <a:t>Operate</a:t>
            </a:r>
          </a:p>
        </p:txBody>
      </p:sp>
      <p:sp>
        <p:nvSpPr>
          <p:cNvPr id="86" name="Oval 85">
            <a:extLst>
              <a:ext uri="{FF2B5EF4-FFF2-40B4-BE49-F238E27FC236}">
                <a16:creationId xmlns:a16="http://schemas.microsoft.com/office/drawing/2014/main" id="{FA0DCE45-C3CE-4CCE-BC15-174B844F74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7074416" y="4476186"/>
            <a:ext cx="952044" cy="955587"/>
          </a:xfrm>
          <a:prstGeom prst="ellipse">
            <a:avLst/>
          </a:prstGeom>
          <a:solidFill>
            <a:schemeClr val="bg2">
              <a:lumMod val="95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34464" tIns="107571" rIns="134464" bIns="107571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685577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176" dirty="0">
              <a:solidFill>
                <a:schemeClr val="tx2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5FB68E7A-14DD-4325-BD98-2F250A9D97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7122240" y="4618800"/>
            <a:ext cx="872018" cy="705838"/>
          </a:xfrm>
          <a:prstGeom prst="rect">
            <a:avLst/>
          </a:prstGeom>
          <a:noFill/>
        </p:spPr>
        <p:txBody>
          <a:bodyPr wrap="square" lIns="134464" tIns="107571" rIns="134464" bIns="107571" rtlCol="0">
            <a:spAutoFit/>
          </a:bodyPr>
          <a:lstStyle/>
          <a:p>
            <a:pPr algn="ctr">
              <a:lnSpc>
                <a:spcPct val="90000"/>
              </a:lnSpc>
              <a:spcAft>
                <a:spcPts val="441"/>
              </a:spcAft>
            </a:pPr>
            <a:r>
              <a:rPr lang="en-US" sz="1176" dirty="0">
                <a:solidFill>
                  <a:schemeClr val="tx2"/>
                </a:solidFill>
                <a:ea typeface="Segoe UI" pitchFamily="34" charset="0"/>
                <a:cs typeface="Segoe UI" pitchFamily="34" charset="0"/>
              </a:rPr>
              <a:t>Monitor </a:t>
            </a:r>
            <a:br>
              <a:rPr lang="en-US" sz="1176" dirty="0">
                <a:solidFill>
                  <a:schemeClr val="tx2"/>
                </a:solidFill>
                <a:ea typeface="Segoe UI" pitchFamily="34" charset="0"/>
                <a:cs typeface="Segoe UI" pitchFamily="34" charset="0"/>
              </a:rPr>
            </a:br>
            <a:r>
              <a:rPr lang="en-US" sz="1176" dirty="0">
                <a:solidFill>
                  <a:schemeClr val="tx2"/>
                </a:solidFill>
                <a:ea typeface="Segoe UI" pitchFamily="34" charset="0"/>
                <a:cs typeface="Segoe UI" pitchFamily="34" charset="0"/>
              </a:rPr>
              <a:t>&amp; </a:t>
            </a:r>
            <a:br>
              <a:rPr lang="en-US" sz="1176" dirty="0">
                <a:solidFill>
                  <a:schemeClr val="tx2"/>
                </a:solidFill>
                <a:ea typeface="Segoe UI" pitchFamily="34" charset="0"/>
                <a:cs typeface="Segoe UI" pitchFamily="34" charset="0"/>
              </a:rPr>
            </a:br>
            <a:r>
              <a:rPr lang="en-US" sz="1176" dirty="0">
                <a:solidFill>
                  <a:schemeClr val="tx2"/>
                </a:solidFill>
                <a:ea typeface="Segoe UI" pitchFamily="34" charset="0"/>
                <a:cs typeface="Segoe UI" pitchFamily="34" charset="0"/>
              </a:rPr>
              <a:t>Learn</a:t>
            </a:r>
          </a:p>
        </p:txBody>
      </p:sp>
      <p:sp>
        <p:nvSpPr>
          <p:cNvPr id="88" name="Oval 87">
            <a:extLst>
              <a:ext uri="{FF2B5EF4-FFF2-40B4-BE49-F238E27FC236}">
                <a16:creationId xmlns:a16="http://schemas.microsoft.com/office/drawing/2014/main" id="{DB79AF50-31B2-4B86-A38F-DC27728A51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5370321" y="4494026"/>
            <a:ext cx="952044" cy="955587"/>
          </a:xfrm>
          <a:prstGeom prst="ellipse">
            <a:avLst/>
          </a:prstGeom>
          <a:solidFill>
            <a:schemeClr val="bg2">
              <a:lumMod val="95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34464" tIns="107571" rIns="134464" bIns="107571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685577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176" dirty="0">
              <a:solidFill>
                <a:schemeClr val="tx2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7A2EFAB0-306F-4782-B61D-081FA72E24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5409038" y="4618799"/>
            <a:ext cx="872018" cy="705838"/>
          </a:xfrm>
          <a:prstGeom prst="rect">
            <a:avLst/>
          </a:prstGeom>
          <a:noFill/>
        </p:spPr>
        <p:txBody>
          <a:bodyPr wrap="square" lIns="134464" tIns="107571" rIns="134464" bIns="107571" rtlCol="0">
            <a:spAutoFit/>
          </a:bodyPr>
          <a:lstStyle/>
          <a:p>
            <a:pPr algn="ctr">
              <a:lnSpc>
                <a:spcPct val="90000"/>
              </a:lnSpc>
              <a:spcAft>
                <a:spcPts val="441"/>
              </a:spcAft>
            </a:pPr>
            <a:r>
              <a:rPr lang="en-US" sz="1176" dirty="0">
                <a:solidFill>
                  <a:schemeClr val="tx2"/>
                </a:solidFill>
                <a:ea typeface="Segoe UI" pitchFamily="34" charset="0"/>
                <a:cs typeface="Segoe UI" pitchFamily="34" charset="0"/>
              </a:rPr>
              <a:t>Plan </a:t>
            </a:r>
            <a:br>
              <a:rPr lang="en-US" sz="1176" dirty="0">
                <a:solidFill>
                  <a:schemeClr val="tx2"/>
                </a:solidFill>
                <a:ea typeface="Segoe UI" pitchFamily="34" charset="0"/>
                <a:cs typeface="Segoe UI" pitchFamily="34" charset="0"/>
              </a:rPr>
            </a:br>
            <a:r>
              <a:rPr lang="en-US" sz="1176" dirty="0">
                <a:solidFill>
                  <a:schemeClr val="tx2"/>
                </a:solidFill>
                <a:ea typeface="Segoe UI" pitchFamily="34" charset="0"/>
                <a:cs typeface="Segoe UI" pitchFamily="34" charset="0"/>
              </a:rPr>
              <a:t>&amp; </a:t>
            </a:r>
            <a:br>
              <a:rPr lang="en-US" sz="1176" dirty="0">
                <a:solidFill>
                  <a:schemeClr val="tx2"/>
                </a:solidFill>
                <a:ea typeface="Segoe UI" pitchFamily="34" charset="0"/>
                <a:cs typeface="Segoe UI" pitchFamily="34" charset="0"/>
              </a:rPr>
            </a:br>
            <a:r>
              <a:rPr lang="en-US" sz="1176" dirty="0">
                <a:solidFill>
                  <a:schemeClr val="tx2"/>
                </a:solidFill>
                <a:ea typeface="Segoe UI" pitchFamily="34" charset="0"/>
                <a:cs typeface="Segoe UI" pitchFamily="34" charset="0"/>
              </a:rPr>
              <a:t>Track</a:t>
            </a:r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140729EF-31D9-4DE9-9ACB-E76997DB7F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4504961" y="3118235"/>
            <a:ext cx="952044" cy="955587"/>
          </a:xfrm>
          <a:prstGeom prst="ellipse">
            <a:avLst/>
          </a:prstGeom>
          <a:solidFill>
            <a:schemeClr val="bg2">
              <a:lumMod val="95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34464" tIns="107571" rIns="134464" bIns="107571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685577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176" dirty="0">
              <a:solidFill>
                <a:schemeClr val="tx2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12C0A6E8-B5E2-42BA-91CA-85A9A18928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4551736" y="3405671"/>
            <a:ext cx="872018" cy="380108"/>
          </a:xfrm>
          <a:prstGeom prst="rect">
            <a:avLst/>
          </a:prstGeom>
          <a:noFill/>
        </p:spPr>
        <p:txBody>
          <a:bodyPr wrap="square" lIns="134464" tIns="107571" rIns="134464" bIns="107571" rtlCol="0">
            <a:spAutoFit/>
          </a:bodyPr>
          <a:lstStyle/>
          <a:p>
            <a:pPr algn="ctr">
              <a:lnSpc>
                <a:spcPct val="90000"/>
              </a:lnSpc>
              <a:spcAft>
                <a:spcPts val="441"/>
              </a:spcAft>
            </a:pPr>
            <a:r>
              <a:rPr lang="en-US" sz="1176" dirty="0">
                <a:solidFill>
                  <a:schemeClr val="tx2"/>
                </a:solidFill>
                <a:ea typeface="Segoe UI" pitchFamily="34" charset="0"/>
                <a:cs typeface="Segoe UI" pitchFamily="34" charset="0"/>
              </a:rPr>
              <a:t>Develop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F41AE5F-EEBD-49A2-B3BE-01A4B542465C}"/>
              </a:ext>
            </a:extLst>
          </p:cNvPr>
          <p:cNvSpPr txBox="1"/>
          <p:nvPr/>
        </p:nvSpPr>
        <p:spPr>
          <a:xfrm>
            <a:off x="319818" y="4998700"/>
            <a:ext cx="3643093" cy="7155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350" b="1" dirty="0"/>
              <a:t>Donovan Brown</a:t>
            </a:r>
            <a:r>
              <a:rPr lang="en-GB" sz="1350" dirty="0"/>
              <a:t> </a:t>
            </a:r>
          </a:p>
          <a:p>
            <a:r>
              <a:rPr lang="en-GB" sz="1350" dirty="0"/>
              <a:t>Senior </a:t>
            </a:r>
            <a:r>
              <a:rPr lang="en-GB" sz="1350" b="1" dirty="0"/>
              <a:t>DevOps</a:t>
            </a:r>
            <a:r>
              <a:rPr lang="en-GB" sz="1350" dirty="0"/>
              <a:t> Program Manager on Microsoft's US Developer Division team</a:t>
            </a:r>
          </a:p>
        </p:txBody>
      </p:sp>
    </p:spTree>
    <p:extLst>
      <p:ext uri="{BB962C8B-B14F-4D97-AF65-F5344CB8AC3E}">
        <p14:creationId xmlns:p14="http://schemas.microsoft.com/office/powerpoint/2010/main" val="27725648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2"/>
          <p:cNvSpPr txBox="1">
            <a:spLocks/>
          </p:cNvSpPr>
          <p:nvPr/>
        </p:nvSpPr>
        <p:spPr bwMode="auto">
          <a:xfrm>
            <a:off x="-36512" y="1268760"/>
            <a:ext cx="4896544" cy="302433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SzPct val="60000"/>
              <a:buFont typeface="Wingdings" charset="2"/>
              <a:buBlip>
                <a:blip r:embed="rId3"/>
              </a:buBlip>
              <a:defRPr sz="24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SzPct val="75000"/>
              <a:buBlip>
                <a:blip r:embed="rId4"/>
              </a:buBlip>
              <a:defRPr sz="2200">
                <a:solidFill>
                  <a:schemeClr val="tx2"/>
                </a:solidFill>
                <a:latin typeface="+mn-lt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sz="2000">
                <a:solidFill>
                  <a:schemeClr val="tx2"/>
                </a:solidFill>
                <a:latin typeface="+mn-lt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>
                <a:solidFill>
                  <a:schemeClr val="tx2"/>
                </a:solidFill>
                <a:latin typeface="+mn-lt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2"/>
                </a:solidFill>
                <a:latin typeface="+mn-lt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2"/>
                </a:solidFill>
                <a:latin typeface="+mn-lt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2"/>
                </a:solidFill>
                <a:latin typeface="+mn-lt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2"/>
                </a:solidFill>
                <a:latin typeface="+mn-lt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2"/>
                </a:solidFill>
                <a:latin typeface="+mn-lt"/>
              </a:defRPr>
            </a:lvl9pPr>
          </a:lstStyle>
          <a:p>
            <a:pPr marL="457200" lvl="1" indent="0">
              <a:buNone/>
            </a:pPr>
            <a:r>
              <a:rPr lang="en-US" sz="2000" i="1" dirty="0"/>
              <a:t>“DevOps is a set of </a:t>
            </a:r>
            <a:r>
              <a:rPr lang="en-US" sz="2000" b="1" i="1" dirty="0"/>
              <a:t>practices</a:t>
            </a:r>
            <a:r>
              <a:rPr lang="en-US" sz="2000" i="1" dirty="0"/>
              <a:t> intended to reduce the time between committing a change to a system and the change being placed into normal production, while ensuring high quality.”</a:t>
            </a:r>
          </a:p>
          <a:p>
            <a:pPr marL="457200" lvl="1" indent="0">
              <a:buNone/>
            </a:pPr>
            <a:endParaRPr lang="en-US" sz="2000" i="1" dirty="0"/>
          </a:p>
          <a:p>
            <a:pPr marL="457200" lvl="1" indent="0">
              <a:buNone/>
            </a:pPr>
            <a:r>
              <a:rPr lang="en-US" sz="2000" i="1" dirty="0"/>
              <a:t>L. Bass et Al. [1]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What is DevOps?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- </a:t>
            </a:r>
            <a:fld id="{CCF66C97-A563-4596-A04B-3863ACE8ED67}" type="slidenum">
              <a:rPr lang="en-US" smtClean="0"/>
              <a:pPr>
                <a:defRPr/>
              </a:pPr>
              <a:t>9</a:t>
            </a:fld>
            <a:r>
              <a:rPr lang="it-IT"/>
              <a:t> -</a:t>
            </a:r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2565828" y="4781487"/>
            <a:ext cx="287843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b="1" i="1" dirty="0"/>
              <a:t>DevOps Practices</a:t>
            </a:r>
          </a:p>
        </p:txBody>
      </p:sp>
      <p:sp>
        <p:nvSpPr>
          <p:cNvPr id="5" name="Left Brace 4"/>
          <p:cNvSpPr/>
          <p:nvPr/>
        </p:nvSpPr>
        <p:spPr bwMode="auto">
          <a:xfrm>
            <a:off x="5481539" y="4068799"/>
            <a:ext cx="660895" cy="1814115"/>
          </a:xfrm>
          <a:prstGeom prst="leftBrace">
            <a:avLst/>
          </a:prstGeom>
          <a:solidFill>
            <a:schemeClr val="accent1"/>
          </a:solidFill>
          <a:ln w="76200" cap="flat" cmpd="sng" algn="ctr">
            <a:solidFill>
              <a:schemeClr val="tx1"/>
            </a:solidFill>
            <a:prstDash val="solid"/>
            <a:round/>
            <a:headEnd type="triangle" w="med" len="med"/>
            <a:tailEnd type="triangle" w="med" len="med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CA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charset="0"/>
              <a:ea typeface="ＭＳ Ｐゴシック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349774" y="3705976"/>
            <a:ext cx="19545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i="1" dirty="0"/>
              <a:t>Acceleration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10898" y="4664866"/>
            <a:ext cx="26158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i="1" dirty="0"/>
              <a:t>Waste-Reduction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49774" y="5533049"/>
            <a:ext cx="203971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i="1" dirty="0"/>
              <a:t>Omniscience</a:t>
            </a:r>
          </a:p>
        </p:txBody>
      </p:sp>
    </p:spTree>
    <p:extLst>
      <p:ext uri="{BB962C8B-B14F-4D97-AF65-F5344CB8AC3E}">
        <p14:creationId xmlns:p14="http://schemas.microsoft.com/office/powerpoint/2010/main" val="42533156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03"/>
    </mc:Choice>
    <mc:Fallback xmlns="">
      <p:transition xmlns:p14="http://schemas.microsoft.com/office/powerpoint/2010/main" spd="slow" advTm="103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9358" y="115888"/>
            <a:ext cx="6547755" cy="838200"/>
          </a:xfrm>
        </p:spPr>
        <p:txBody>
          <a:bodyPr>
            <a:normAutofit fontScale="90000"/>
          </a:bodyPr>
          <a:lstStyle/>
          <a:p>
            <a:r>
              <a:rPr lang="en-CA" dirty="0"/>
              <a:t>DevOps Practices: Let’s take a look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4679" y="1243964"/>
            <a:ext cx="8186067" cy="4931331"/>
          </a:xfrm>
        </p:spPr>
        <p:txBody>
          <a:bodyPr/>
          <a:lstStyle/>
          <a:p>
            <a:r>
              <a:rPr lang="en-CA" sz="1800" b="1" dirty="0"/>
              <a:t>Acceleration Tactics</a:t>
            </a:r>
          </a:p>
          <a:p>
            <a:pPr lvl="1"/>
            <a:r>
              <a:rPr lang="en-CA" sz="1800" dirty="0"/>
              <a:t>Use Faster Organization: Merge </a:t>
            </a:r>
            <a:r>
              <a:rPr lang="en-CA" sz="1800" dirty="0" err="1"/>
              <a:t>Dev+Ops</a:t>
            </a:r>
            <a:r>
              <a:rPr lang="en-CA" sz="1800" dirty="0"/>
              <a:t> Teams</a:t>
            </a:r>
            <a:r>
              <a:rPr lang="mr-IN" sz="1800" dirty="0"/>
              <a:t>…</a:t>
            </a:r>
            <a:endParaRPr lang="en-CA" sz="1800" dirty="0"/>
          </a:p>
          <a:p>
            <a:pPr lvl="1"/>
            <a:r>
              <a:rPr lang="en-CA" sz="1800" dirty="0"/>
              <a:t>Infrastructure-as-Code</a:t>
            </a:r>
          </a:p>
          <a:p>
            <a:pPr lvl="1"/>
            <a:r>
              <a:rPr lang="en-CA" sz="1800" dirty="0"/>
              <a:t>Use Continuous Integration</a:t>
            </a:r>
          </a:p>
          <a:p>
            <a:pPr lvl="1"/>
            <a:r>
              <a:rPr lang="en-CA" sz="1800" dirty="0"/>
              <a:t>Use Continuous Deployment</a:t>
            </a:r>
          </a:p>
          <a:p>
            <a:pPr lvl="1"/>
            <a:r>
              <a:rPr lang="en-CA" sz="1800" dirty="0"/>
              <a:t>Use Continuous Testing</a:t>
            </a:r>
          </a:p>
          <a:p>
            <a:pPr lvl="1"/>
            <a:r>
              <a:rPr lang="en-CA" sz="1800" dirty="0"/>
              <a:t>Use Continuous Architecting</a:t>
            </a:r>
          </a:p>
          <a:p>
            <a:pPr lvl="1"/>
            <a:r>
              <a:rPr lang="mr-IN" sz="1800" dirty="0"/>
              <a:t>…</a:t>
            </a:r>
            <a:endParaRPr lang="en-CA" sz="1800" dirty="0"/>
          </a:p>
          <a:p>
            <a:pPr marL="457200" lvl="1" indent="0">
              <a:buNone/>
            </a:pPr>
            <a:endParaRPr lang="en-CA" sz="1800" dirty="0"/>
          </a:p>
          <a:p>
            <a:r>
              <a:rPr lang="en-CA" sz="1800" b="1" dirty="0"/>
              <a:t>Waste Reduction Tactics</a:t>
            </a:r>
          </a:p>
          <a:p>
            <a:pPr lvl="1"/>
            <a:r>
              <a:rPr lang="en-CA" sz="1800" dirty="0"/>
              <a:t>Canary Testing</a:t>
            </a:r>
          </a:p>
          <a:p>
            <a:pPr lvl="1"/>
            <a:r>
              <a:rPr lang="en-CA" sz="1800" dirty="0"/>
              <a:t>A/B Testing</a:t>
            </a:r>
          </a:p>
          <a:p>
            <a:pPr lvl="1"/>
            <a:r>
              <a:rPr lang="en-CA" sz="1800" dirty="0"/>
              <a:t>Reduce Documentation</a:t>
            </a:r>
          </a:p>
          <a:p>
            <a:pPr lvl="1"/>
            <a:r>
              <a:rPr lang="en-CA" sz="1800" dirty="0"/>
              <a:t>Minimalistic Architecting </a:t>
            </a:r>
            <a:r>
              <a:rPr lang="en-CA" sz="1800" dirty="0">
                <a:sym typeface="Wingdings"/>
              </a:rPr>
              <a:t> Microservices</a:t>
            </a:r>
          </a:p>
          <a:p>
            <a:pPr lvl="1"/>
            <a:r>
              <a:rPr lang="mr-IN" sz="1800" dirty="0">
                <a:sym typeface="Wingdings"/>
              </a:rPr>
              <a:t>…</a:t>
            </a:r>
            <a:endParaRPr lang="en-CA" sz="1800" dirty="0">
              <a:sym typeface="Wingdings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it-IT" altLang="en-US"/>
              <a:t>Design and software architecture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1B1625E7-A0C6-CE42-A3E8-6094708A5C26}" type="slidenum">
              <a:rPr lang="it-IT" altLang="en-US" smtClean="0"/>
              <a:pPr>
                <a:defRPr/>
              </a:pPr>
              <a:t>10</a:t>
            </a:fld>
            <a:endParaRPr lang="it-IT" altLang="en-US"/>
          </a:p>
        </p:txBody>
      </p:sp>
    </p:spTree>
    <p:extLst>
      <p:ext uri="{BB962C8B-B14F-4D97-AF65-F5344CB8AC3E}">
        <p14:creationId xmlns:p14="http://schemas.microsoft.com/office/powerpoint/2010/main" val="10526907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9358" y="115888"/>
            <a:ext cx="6547755" cy="838200"/>
          </a:xfrm>
        </p:spPr>
        <p:txBody>
          <a:bodyPr>
            <a:normAutofit fontScale="90000"/>
          </a:bodyPr>
          <a:lstStyle/>
          <a:p>
            <a:r>
              <a:rPr lang="en-CA" dirty="0"/>
              <a:t>DevOps Practices: Let’s take a look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59" y="1238250"/>
            <a:ext cx="7978727" cy="4781550"/>
          </a:xfrm>
        </p:spPr>
        <p:txBody>
          <a:bodyPr/>
          <a:lstStyle/>
          <a:p>
            <a:pPr marL="457200" lvl="1" indent="0">
              <a:buNone/>
            </a:pPr>
            <a:endParaRPr lang="en-CA" sz="1800" dirty="0">
              <a:sym typeface="Wingdings"/>
            </a:endParaRPr>
          </a:p>
          <a:p>
            <a:r>
              <a:rPr lang="en-CA" sz="1800" b="1" dirty="0">
                <a:sym typeface="Wingdings"/>
              </a:rPr>
              <a:t>Omniscience Tactics</a:t>
            </a:r>
          </a:p>
          <a:p>
            <a:pPr lvl="1"/>
            <a:r>
              <a:rPr lang="en-CA" sz="1800" dirty="0">
                <a:sym typeface="Wingdings"/>
              </a:rPr>
              <a:t>Monitor Everything</a:t>
            </a:r>
          </a:p>
          <a:p>
            <a:pPr lvl="1"/>
            <a:r>
              <a:rPr lang="en-CA" sz="1800" dirty="0">
                <a:sym typeface="Wingdings"/>
              </a:rPr>
              <a:t>Monitoring-as-a-service</a:t>
            </a:r>
          </a:p>
          <a:p>
            <a:pPr lvl="1"/>
            <a:r>
              <a:rPr lang="en-CA" sz="1800" dirty="0">
                <a:sym typeface="Wingdings"/>
              </a:rPr>
              <a:t>On-The-Fly Risk Engineering</a:t>
            </a:r>
          </a:p>
          <a:p>
            <a:r>
              <a:rPr lang="en-CA" sz="2000" dirty="0">
                <a:sym typeface="Wingdings"/>
              </a:rPr>
              <a:t>...</a:t>
            </a:r>
          </a:p>
          <a:p>
            <a:pPr marL="0" indent="0">
              <a:buNone/>
            </a:pPr>
            <a:endParaRPr lang="en-CA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it-IT" altLang="en-US"/>
              <a:t>Design and software architecture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1B1625E7-A0C6-CE42-A3E8-6094708A5C26}" type="slidenum">
              <a:rPr lang="it-IT" altLang="en-US" smtClean="0"/>
              <a:pPr>
                <a:defRPr/>
              </a:pPr>
              <a:t>11</a:t>
            </a:fld>
            <a:endParaRPr lang="it-IT" altLang="en-US"/>
          </a:p>
        </p:txBody>
      </p:sp>
    </p:spTree>
    <p:extLst>
      <p:ext uri="{BB962C8B-B14F-4D97-AF65-F5344CB8AC3E}">
        <p14:creationId xmlns:p14="http://schemas.microsoft.com/office/powerpoint/2010/main" val="29377111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13310" y="1654701"/>
            <a:ext cx="5856684" cy="4062507"/>
          </a:xfrm>
        </p:spPr>
        <p:txBody>
          <a:bodyPr/>
          <a:lstStyle/>
          <a:p>
            <a:pPr marL="0" indent="0">
              <a:buNone/>
            </a:pPr>
            <a:r>
              <a:rPr lang="en-US" sz="2400" b="1" u="sng" dirty="0" err="1"/>
              <a:t>Dev</a:t>
            </a:r>
            <a:r>
              <a:rPr lang="en-US" sz="2400" b="1" u="sng" dirty="0"/>
              <a:t> focuses on</a:t>
            </a:r>
          </a:p>
          <a:p>
            <a:pPr lvl="1"/>
            <a:r>
              <a:rPr lang="en-US" sz="2400" dirty="0"/>
              <a:t>Developing features</a:t>
            </a:r>
          </a:p>
          <a:p>
            <a:pPr lvl="1"/>
            <a:r>
              <a:rPr lang="en-US" sz="2400" dirty="0"/>
              <a:t>Changing requirements</a:t>
            </a:r>
          </a:p>
          <a:p>
            <a:pPr lvl="1"/>
            <a:r>
              <a:rPr lang="en-US" sz="2400" dirty="0"/>
              <a:t>Releasing products</a:t>
            </a:r>
          </a:p>
          <a:p>
            <a:pPr marL="0" indent="0">
              <a:buNone/>
            </a:pPr>
            <a:r>
              <a:rPr lang="en-US" sz="2400" b="1" u="sng" dirty="0"/>
              <a:t>Ops focuses on</a:t>
            </a:r>
          </a:p>
          <a:p>
            <a:pPr lvl="1"/>
            <a:r>
              <a:rPr lang="en-US" sz="2400" dirty="0"/>
              <a:t>Offering services</a:t>
            </a:r>
          </a:p>
          <a:p>
            <a:pPr lvl="1"/>
            <a:r>
              <a:rPr lang="en-US" sz="2400" dirty="0"/>
              <a:t>Providing guarantees and stability</a:t>
            </a:r>
          </a:p>
          <a:p>
            <a:pPr lvl="1"/>
            <a:endParaRPr lang="en-US" sz="2400" dirty="0"/>
          </a:p>
        </p:txBody>
      </p:sp>
      <p:sp>
        <p:nvSpPr>
          <p:cNvPr id="6" name="Title 1"/>
          <p:cNvSpPr txBox="1">
            <a:spLocks/>
          </p:cNvSpPr>
          <p:nvPr/>
        </p:nvSpPr>
        <p:spPr bwMode="auto">
          <a:xfrm>
            <a:off x="251520" y="188640"/>
            <a:ext cx="7235969" cy="5661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71426" tIns="36505" rIns="71426" bIns="36505" numCol="1" anchor="t" anchorCtr="0" compatLnSpc="1">
            <a:prstTxWarp prst="textNoShape">
              <a:avLst/>
            </a:prstTxWarp>
            <a:spAutoFit/>
          </a:bodyPr>
          <a:lstStyle>
            <a:lvl1pPr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2pPr>
            <a:lvl3pPr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3pPr>
            <a:lvl4pPr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4pPr>
            <a:lvl5pPr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5pPr>
            <a:lvl6pPr marL="457200"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6pPr>
            <a:lvl7pPr marL="914400"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7pPr>
            <a:lvl8pPr marL="1371600"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8pPr>
            <a:lvl9pPr marL="1828800"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9pPr>
          </a:lstStyle>
          <a:p>
            <a:pPr algn="just">
              <a:buClr>
                <a:srgbClr val="000000"/>
              </a:buClr>
            </a:pPr>
            <a:r>
              <a:rPr lang="en-US" sz="3200" dirty="0"/>
              <a:t>Dev &amp; Ops: the classical roles</a:t>
            </a:r>
            <a:endParaRPr lang="it-IT" sz="3200" kern="0" dirty="0">
              <a:solidFill>
                <a:srgbClr val="000000"/>
              </a:solidFill>
              <a:ea typeface="宋体" pitchFamily="2" charset="-122"/>
            </a:endParaRP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267EC32D-6E10-350D-DC86-603910EEAC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Sw. Evolution</a:t>
            </a:r>
          </a:p>
        </p:txBody>
      </p:sp>
    </p:spTree>
    <p:extLst>
      <p:ext uri="{BB962C8B-B14F-4D97-AF65-F5344CB8AC3E}">
        <p14:creationId xmlns:p14="http://schemas.microsoft.com/office/powerpoint/2010/main" val="28907524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 txBox="1">
            <a:spLocks/>
          </p:cNvSpPr>
          <p:nvPr/>
        </p:nvSpPr>
        <p:spPr bwMode="auto">
          <a:xfrm>
            <a:off x="251520" y="188640"/>
            <a:ext cx="7235969" cy="5661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71426" tIns="36505" rIns="71426" bIns="36505" numCol="1" anchor="t" anchorCtr="0" compatLnSpc="1">
            <a:prstTxWarp prst="textNoShape">
              <a:avLst/>
            </a:prstTxWarp>
            <a:spAutoFit/>
          </a:bodyPr>
          <a:lstStyle>
            <a:lvl1pPr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2pPr>
            <a:lvl3pPr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3pPr>
            <a:lvl4pPr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4pPr>
            <a:lvl5pPr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5pPr>
            <a:lvl6pPr marL="457200"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6pPr>
            <a:lvl7pPr marL="914400"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7pPr>
            <a:lvl8pPr marL="1371600"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8pPr>
            <a:lvl9pPr marL="1828800"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9pPr>
          </a:lstStyle>
          <a:p>
            <a:pPr algn="just">
              <a:buClr>
                <a:srgbClr val="000000"/>
              </a:buClr>
            </a:pPr>
            <a:r>
              <a:rPr lang="en-US" sz="3200" dirty="0"/>
              <a:t>Dev- vs. -Ops</a:t>
            </a:r>
            <a:endParaRPr lang="it-IT" sz="3200" kern="0" dirty="0">
              <a:solidFill>
                <a:srgbClr val="000000"/>
              </a:solidFill>
              <a:ea typeface="宋体" pitchFamily="2" charset="-122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1560" y="1798640"/>
            <a:ext cx="8280920" cy="4136373"/>
          </a:xfrm>
        </p:spPr>
        <p:txBody>
          <a:bodyPr/>
          <a:lstStyle/>
          <a:p>
            <a:pPr marL="0" indent="0">
              <a:buNone/>
            </a:pPr>
            <a:r>
              <a:rPr lang="en-US" sz="2400" dirty="0"/>
              <a:t>“The system works correctly in the development machine but it does not on the operation machine”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“10 days after successful deployment of last release, the system is overloaded”</a:t>
            </a:r>
          </a:p>
          <a:p>
            <a:pPr marL="355600" indent="-355600"/>
            <a:endParaRPr lang="en-US" sz="2400" dirty="0"/>
          </a:p>
          <a:p>
            <a:pPr marL="0" indent="0" algn="ctr">
              <a:buSzPct val="100000"/>
              <a:buNone/>
            </a:pPr>
            <a:r>
              <a:rPr lang="en-US" sz="2400" dirty="0"/>
              <a:t>Who is guilty? </a:t>
            </a:r>
            <a:r>
              <a:rPr lang="en-US" sz="2400" b="1" i="1" dirty="0"/>
              <a:t>Dev</a:t>
            </a:r>
            <a:r>
              <a:rPr lang="mr-IN" sz="2400" b="1" i="1" dirty="0"/>
              <a:t>–</a:t>
            </a:r>
            <a:r>
              <a:rPr lang="en-US" sz="2400" dirty="0"/>
              <a:t> team, or </a:t>
            </a:r>
            <a:r>
              <a:rPr lang="mr-IN" sz="2400" b="1" i="1" dirty="0"/>
              <a:t>–</a:t>
            </a:r>
            <a:r>
              <a:rPr lang="en-US" sz="2400" b="1" i="1" dirty="0"/>
              <a:t>Ops</a:t>
            </a:r>
            <a:r>
              <a:rPr lang="en-US" sz="2400" dirty="0"/>
              <a:t> team?</a:t>
            </a:r>
          </a:p>
          <a:p>
            <a:endParaRPr lang="en-US" sz="2400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66EF7BA-7D42-13E9-D8FA-29B4FAA847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Sw. Evolution</a:t>
            </a:r>
          </a:p>
        </p:txBody>
      </p:sp>
    </p:spTree>
    <p:extLst>
      <p:ext uri="{BB962C8B-B14F-4D97-AF65-F5344CB8AC3E}">
        <p14:creationId xmlns:p14="http://schemas.microsoft.com/office/powerpoint/2010/main" val="41592128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9515" y="2196588"/>
            <a:ext cx="3494413" cy="1304829"/>
          </a:xfrm>
        </p:spPr>
        <p:txBody>
          <a:bodyPr>
            <a:no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Dev works to apply releases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Dev does not pay attention to </a:t>
            </a:r>
            <a:r>
              <a:rPr lang="en-US" sz="2000" dirty="0" err="1"/>
              <a:t>QoS</a:t>
            </a:r>
            <a:r>
              <a:rPr lang="en-US" sz="2000" dirty="0"/>
              <a:t> guarantees</a:t>
            </a:r>
          </a:p>
        </p:txBody>
      </p:sp>
      <p:sp>
        <p:nvSpPr>
          <p:cNvPr id="9" name="Title 1"/>
          <p:cNvSpPr txBox="1">
            <a:spLocks/>
          </p:cNvSpPr>
          <p:nvPr/>
        </p:nvSpPr>
        <p:spPr bwMode="auto">
          <a:xfrm>
            <a:off x="179512" y="188640"/>
            <a:ext cx="7235969" cy="5661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71426" tIns="36505" rIns="71426" bIns="36505" numCol="1" anchor="t" anchorCtr="0" compatLnSpc="1">
            <a:prstTxWarp prst="textNoShape">
              <a:avLst/>
            </a:prstTxWarp>
            <a:spAutoFit/>
          </a:bodyPr>
          <a:lstStyle>
            <a:lvl1pPr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2pPr>
            <a:lvl3pPr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3pPr>
            <a:lvl4pPr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4pPr>
            <a:lvl5pPr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5pPr>
            <a:lvl6pPr marL="457200"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6pPr>
            <a:lvl7pPr marL="914400"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7pPr>
            <a:lvl8pPr marL="1371600"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8pPr>
            <a:lvl9pPr marL="1828800"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9pPr>
          </a:lstStyle>
          <a:p>
            <a:r>
              <a:rPr lang="en-US" sz="3200" dirty="0"/>
              <a:t>The problem: two disconnected groups</a:t>
            </a:r>
            <a:endParaRPr lang="en-US" sz="3200" kern="0" dirty="0"/>
          </a:p>
        </p:txBody>
      </p:sp>
      <p:sp>
        <p:nvSpPr>
          <p:cNvPr id="8" name="Content Placeholder 2"/>
          <p:cNvSpPr txBox="1">
            <a:spLocks/>
          </p:cNvSpPr>
          <p:nvPr/>
        </p:nvSpPr>
        <p:spPr>
          <a:xfrm>
            <a:off x="4355976" y="2196587"/>
            <a:ext cx="3600400" cy="130482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3200" kern="1200">
                <a:solidFill>
                  <a:srgbClr val="002060"/>
                </a:solidFill>
                <a:latin typeface="+mn-lt"/>
                <a:ea typeface="+mn-ea"/>
                <a:cs typeface="Times New Roman" pitchFamily="18" charset="0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2800" kern="1200">
                <a:solidFill>
                  <a:srgbClr val="002060"/>
                </a:solidFill>
                <a:latin typeface="+mn-lt"/>
                <a:ea typeface="+mn-ea"/>
                <a:cs typeface="Times New Roman" pitchFamily="18" charset="0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2400" kern="1200">
                <a:solidFill>
                  <a:srgbClr val="002060"/>
                </a:solidFill>
                <a:latin typeface="+mn-lt"/>
                <a:ea typeface="+mn-ea"/>
                <a:cs typeface="Times New Roman" pitchFamily="18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2000" kern="1200">
                <a:solidFill>
                  <a:srgbClr val="002060"/>
                </a:solidFill>
                <a:latin typeface="+mn-lt"/>
                <a:ea typeface="+mn-ea"/>
                <a:cs typeface="Times New Roman" pitchFamily="18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2000" kern="1200">
                <a:solidFill>
                  <a:srgbClr val="002060"/>
                </a:solidFill>
                <a:latin typeface="+mn-lt"/>
                <a:ea typeface="+mn-ea"/>
                <a:cs typeface="Times New Roman" pitchFamily="18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Ops resists to releases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Ops is aiming at </a:t>
            </a:r>
            <a:r>
              <a:rPr lang="en-US" sz="2000" dirty="0" err="1"/>
              <a:t>guaranteering</a:t>
            </a:r>
            <a:r>
              <a:rPr lang="en-US" sz="2000" dirty="0"/>
              <a:t> </a:t>
            </a:r>
            <a:r>
              <a:rPr lang="en-US" sz="2000" dirty="0" err="1"/>
              <a:t>QoS</a:t>
            </a:r>
            <a:endParaRPr lang="en-US" sz="2000" dirty="0"/>
          </a:p>
        </p:txBody>
      </p:sp>
      <p:sp>
        <p:nvSpPr>
          <p:cNvPr id="10" name="Content Placeholder 2"/>
          <p:cNvSpPr txBox="1">
            <a:spLocks/>
          </p:cNvSpPr>
          <p:nvPr/>
        </p:nvSpPr>
        <p:spPr>
          <a:xfrm>
            <a:off x="1717879" y="3809593"/>
            <a:ext cx="5276193" cy="130482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3200" kern="1200">
                <a:solidFill>
                  <a:srgbClr val="002060"/>
                </a:solidFill>
                <a:latin typeface="+mn-lt"/>
                <a:ea typeface="+mn-ea"/>
                <a:cs typeface="Times New Roman" pitchFamily="18" charset="0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2800" kern="1200">
                <a:solidFill>
                  <a:srgbClr val="002060"/>
                </a:solidFill>
                <a:latin typeface="+mn-lt"/>
                <a:ea typeface="+mn-ea"/>
                <a:cs typeface="Times New Roman" pitchFamily="18" charset="0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2400" kern="1200">
                <a:solidFill>
                  <a:srgbClr val="002060"/>
                </a:solidFill>
                <a:latin typeface="+mn-lt"/>
                <a:ea typeface="+mn-ea"/>
                <a:cs typeface="Times New Roman" pitchFamily="18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2000" kern="1200">
                <a:solidFill>
                  <a:srgbClr val="002060"/>
                </a:solidFill>
                <a:latin typeface="+mn-lt"/>
                <a:ea typeface="+mn-ea"/>
                <a:cs typeface="Times New Roman" pitchFamily="18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2000" kern="1200">
                <a:solidFill>
                  <a:srgbClr val="002060"/>
                </a:solidFill>
                <a:latin typeface="+mn-lt"/>
                <a:ea typeface="+mn-ea"/>
                <a:cs typeface="Times New Roman" pitchFamily="18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Changes are fundamental for the business!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 err="1"/>
              <a:t>QoS</a:t>
            </a:r>
            <a:r>
              <a:rPr lang="en-US" sz="2000" dirty="0"/>
              <a:t> guarantees are needed too!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344E6C60-D6C6-532E-B7AC-3348034A22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Sw. Evolution</a:t>
            </a:r>
          </a:p>
        </p:txBody>
      </p:sp>
    </p:spTree>
    <p:extLst>
      <p:ext uri="{BB962C8B-B14F-4D97-AF65-F5344CB8AC3E}">
        <p14:creationId xmlns:p14="http://schemas.microsoft.com/office/powerpoint/2010/main" val="375661059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7544" y="1502307"/>
            <a:ext cx="8208912" cy="4782704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sz="2400" b="1" dirty="0"/>
              <a:t>What is it: </a:t>
            </a:r>
            <a:r>
              <a:rPr lang="en-US" sz="2400" dirty="0"/>
              <a:t>“Practices or tools that bridge the gap between development and operations”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24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2400" b="1" dirty="0"/>
              <a:t>Goal:</a:t>
            </a:r>
            <a:r>
              <a:rPr lang="en-US" sz="2400" dirty="0"/>
              <a:t> Creates a collaborative mindset where a single team performs Dev and Ops</a:t>
            </a:r>
          </a:p>
          <a:p>
            <a:pPr marL="346075" lvl="1" indent="0">
              <a:buNone/>
            </a:pPr>
            <a:r>
              <a:rPr lang="en-US" sz="2000" dirty="0">
                <a:sym typeface="Wingdings"/>
              </a:rPr>
              <a:t></a:t>
            </a:r>
            <a:r>
              <a:rPr lang="en-US" sz="2000" dirty="0"/>
              <a:t>the team </a:t>
            </a:r>
            <a:r>
              <a:rPr lang="en-US" sz="2000" b="1" dirty="0"/>
              <a:t>must </a:t>
            </a:r>
            <a:r>
              <a:rPr lang="en-US" sz="2000" dirty="0"/>
              <a:t>contain differentiated competences, background, etc.</a:t>
            </a:r>
          </a:p>
          <a:p>
            <a:pPr marL="346075" lvl="1" indent="0">
              <a:buNone/>
            </a:pPr>
            <a:endParaRPr lang="en-US" sz="20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2400" b="1" dirty="0"/>
              <a:t>Requires: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2000" dirty="0"/>
              <a:t>Culture management;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2000" dirty="0"/>
              <a:t>Automation tools;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2000" dirty="0"/>
              <a:t>Organisational as much as technical metrics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2000" dirty="0"/>
              <a:t>Continuous sharing artifacts, procedures, languages, approaches</a:t>
            </a:r>
            <a:r>
              <a:rPr lang="mr-IN" sz="2000" dirty="0"/>
              <a:t>…</a:t>
            </a:r>
            <a:endParaRPr lang="en-US" sz="2000" dirty="0"/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7" name="Title 1"/>
          <p:cNvSpPr txBox="1">
            <a:spLocks/>
          </p:cNvSpPr>
          <p:nvPr/>
        </p:nvSpPr>
        <p:spPr bwMode="auto">
          <a:xfrm>
            <a:off x="179512" y="260648"/>
            <a:ext cx="7235969" cy="5661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71426" tIns="36505" rIns="71426" bIns="36505" numCol="1" anchor="t" anchorCtr="0" compatLnSpc="1">
            <a:prstTxWarp prst="textNoShape">
              <a:avLst/>
            </a:prstTxWarp>
            <a:spAutoFit/>
          </a:bodyPr>
          <a:lstStyle>
            <a:lvl1pPr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2pPr>
            <a:lvl3pPr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3pPr>
            <a:lvl4pPr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4pPr>
            <a:lvl5pPr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5pPr>
            <a:lvl6pPr marL="457200"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6pPr>
            <a:lvl7pPr marL="914400"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7pPr>
            <a:lvl8pPr marL="1371600"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8pPr>
            <a:lvl9pPr marL="1828800"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9pPr>
          </a:lstStyle>
          <a:p>
            <a:r>
              <a:rPr lang="en-US" sz="3200" dirty="0"/>
              <a:t>DevOps</a:t>
            </a:r>
            <a:endParaRPr lang="en-US" sz="3200" kern="0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CA33122D-DED3-B21E-C9AB-CA4E0E595C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Sw. Evolution</a:t>
            </a:r>
          </a:p>
        </p:txBody>
      </p:sp>
    </p:spTree>
    <p:extLst>
      <p:ext uri="{BB962C8B-B14F-4D97-AF65-F5344CB8AC3E}">
        <p14:creationId xmlns:p14="http://schemas.microsoft.com/office/powerpoint/2010/main" val="323944187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7" name="AutoShape 2"/>
          <p:cNvSpPr>
            <a:spLocks noChangeAspect="1" noChangeArrowheads="1"/>
          </p:cNvSpPr>
          <p:nvPr/>
        </p:nvSpPr>
        <p:spPr bwMode="auto">
          <a:xfrm>
            <a:off x="857251" y="1590"/>
            <a:ext cx="3572" cy="3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100000"/>
              </a:spcBef>
              <a:buClr>
                <a:schemeClr val="tx1"/>
              </a:buClr>
              <a:buFont typeface="Wingdings" panose="05000000000000000000" pitchFamily="2" charset="2"/>
              <a:buChar char="n"/>
              <a:defRPr sz="1600">
                <a:solidFill>
                  <a:schemeClr val="tx1"/>
                </a:solidFill>
                <a:latin typeface="Book Antiqua" panose="02040602050305030304" pitchFamily="18" charset="0"/>
                <a:ea typeface="MS PGothic" panose="020B0600070205080204" pitchFamily="34" charset="-128"/>
              </a:defRPr>
            </a:lvl1pPr>
            <a:lvl2pPr marL="742950" indent="-285750" eaLnBrk="0" hangingPunct="0">
              <a:spcBef>
                <a:spcPct val="30000"/>
              </a:spcBef>
              <a:buFont typeface="Book Antiqua" panose="02040602050305030304" pitchFamily="18" charset="0"/>
              <a:buChar char="•"/>
              <a:defRPr sz="1600">
                <a:solidFill>
                  <a:schemeClr val="tx1"/>
                </a:solidFill>
                <a:latin typeface="Book Antiqua" panose="02040602050305030304" pitchFamily="18" charset="0"/>
                <a:ea typeface="MS PGothic" panose="020B0600070205080204" pitchFamily="34" charset="-128"/>
              </a:defRPr>
            </a:lvl2pPr>
            <a:lvl3pPr marL="1143000" indent="-228600" eaLnBrk="0" hangingPunct="0">
              <a:spcBef>
                <a:spcPct val="30000"/>
              </a:spcBef>
              <a:buFont typeface="Book Antiqua" panose="02040602050305030304" pitchFamily="18" charset="0"/>
              <a:buChar char="–"/>
              <a:defRPr sz="1600">
                <a:solidFill>
                  <a:schemeClr val="tx1"/>
                </a:solidFill>
                <a:latin typeface="Book Antiqua" panose="02040602050305030304" pitchFamily="18" charset="0"/>
                <a:ea typeface="MS PGothic" panose="020B0600070205080204" pitchFamily="34" charset="-128"/>
              </a:defRPr>
            </a:lvl3pPr>
            <a:lvl4pPr marL="1600200" indent="-228600" eaLnBrk="0" hangingPunct="0">
              <a:spcBef>
                <a:spcPct val="30000"/>
              </a:spcBef>
              <a:buFont typeface="Book Antiqua" panose="02040602050305030304" pitchFamily="18" charset="0"/>
              <a:buChar char="–"/>
              <a:defRPr sz="1600">
                <a:solidFill>
                  <a:schemeClr val="tx1"/>
                </a:solidFill>
                <a:latin typeface="Book Antiqua" panose="02040602050305030304" pitchFamily="18" charset="0"/>
                <a:ea typeface="MS PGothic" panose="020B0600070205080204" pitchFamily="34" charset="-128"/>
              </a:defRPr>
            </a:lvl4pPr>
            <a:lvl5pPr marL="2057400" indent="-228600" eaLnBrk="0" hangingPunct="0">
              <a:spcBef>
                <a:spcPct val="30000"/>
              </a:spcBef>
              <a:buFont typeface="Book Antiqua" panose="02040602050305030304" pitchFamily="18" charset="0"/>
              <a:buChar char="–"/>
              <a:defRPr sz="1600">
                <a:solidFill>
                  <a:schemeClr val="tx1"/>
                </a:solidFill>
                <a:latin typeface="Book Antiqua" panose="02040602050305030304" pitchFamily="18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buFont typeface="Book Antiqua" panose="02040602050305030304" pitchFamily="18" charset="0"/>
              <a:buChar char="–"/>
              <a:defRPr sz="1600">
                <a:solidFill>
                  <a:schemeClr val="tx1"/>
                </a:solidFill>
                <a:latin typeface="Book Antiqua" panose="02040602050305030304" pitchFamily="18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buFont typeface="Book Antiqua" panose="02040602050305030304" pitchFamily="18" charset="0"/>
              <a:buChar char="–"/>
              <a:defRPr sz="1600">
                <a:solidFill>
                  <a:schemeClr val="tx1"/>
                </a:solidFill>
                <a:latin typeface="Book Antiqua" panose="02040602050305030304" pitchFamily="18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buFont typeface="Book Antiqua" panose="02040602050305030304" pitchFamily="18" charset="0"/>
              <a:buChar char="–"/>
              <a:defRPr sz="1600">
                <a:solidFill>
                  <a:schemeClr val="tx1"/>
                </a:solidFill>
                <a:latin typeface="Book Antiqua" panose="02040602050305030304" pitchFamily="18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buFont typeface="Book Antiqua" panose="02040602050305030304" pitchFamily="18" charset="0"/>
              <a:buChar char="–"/>
              <a:defRPr sz="1600">
                <a:solidFill>
                  <a:schemeClr val="tx1"/>
                </a:solidFill>
                <a:latin typeface="Book Antiqua" panose="02040602050305030304" pitchFamily="18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endParaRPr lang="en-US" altLang="it-IT" sz="2000">
              <a:solidFill>
                <a:srgbClr val="000000"/>
              </a:solidFill>
            </a:endParaRPr>
          </a:p>
        </p:txBody>
      </p:sp>
      <p:sp>
        <p:nvSpPr>
          <p:cNvPr id="15" name="CasellaDiTesto 14"/>
          <p:cNvSpPr txBox="1"/>
          <p:nvPr/>
        </p:nvSpPr>
        <p:spPr>
          <a:xfrm>
            <a:off x="-36512" y="980728"/>
            <a:ext cx="2376264" cy="9002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en-US" sz="1800" b="1" i="1" u="sng" dirty="0">
                <a:solidFill>
                  <a:srgbClr val="000000"/>
                </a:solidFill>
              </a:rPr>
              <a:t>Unified Processes</a:t>
            </a:r>
            <a:endParaRPr lang="en-US" sz="1800" i="1" dirty="0">
              <a:solidFill>
                <a:srgbClr val="000000"/>
              </a:solidFill>
            </a:endParaRPr>
          </a:p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en-US" sz="1800" b="1" i="1" u="sng" dirty="0">
                <a:solidFill>
                  <a:srgbClr val="000000"/>
                </a:solidFill>
              </a:rPr>
              <a:t>Unified tooling</a:t>
            </a:r>
          </a:p>
        </p:txBody>
      </p:sp>
      <p:sp>
        <p:nvSpPr>
          <p:cNvPr id="42" name="Title 1"/>
          <p:cNvSpPr txBox="1">
            <a:spLocks/>
          </p:cNvSpPr>
          <p:nvPr/>
        </p:nvSpPr>
        <p:spPr bwMode="auto">
          <a:xfrm>
            <a:off x="120453" y="179601"/>
            <a:ext cx="7235969" cy="5661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71426" tIns="36505" rIns="71426" bIns="36505" numCol="1" anchor="t" anchorCtr="0" compatLnSpc="1">
            <a:prstTxWarp prst="textNoShape">
              <a:avLst/>
            </a:prstTxWarp>
            <a:spAutoFit/>
          </a:bodyPr>
          <a:lstStyle>
            <a:lvl1pPr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2pPr>
            <a:lvl3pPr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3pPr>
            <a:lvl4pPr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4pPr>
            <a:lvl5pPr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5pPr>
            <a:lvl6pPr marL="457200"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6pPr>
            <a:lvl7pPr marL="914400"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7pPr>
            <a:lvl8pPr marL="1371600"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8pPr>
            <a:lvl9pPr marL="1828800"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9pPr>
          </a:lstStyle>
          <a:p>
            <a:r>
              <a:rPr lang="en-US" sz="3200" dirty="0"/>
              <a:t>DevOps Need 1: Process Alignment!</a:t>
            </a:r>
            <a:endParaRPr lang="en-US" sz="3200" kern="0" dirty="0"/>
          </a:p>
        </p:txBody>
      </p:sp>
      <p:grpSp>
        <p:nvGrpSpPr>
          <p:cNvPr id="54" name="Group 53"/>
          <p:cNvGrpSpPr/>
          <p:nvPr/>
        </p:nvGrpSpPr>
        <p:grpSpPr>
          <a:xfrm>
            <a:off x="1331640" y="1916832"/>
            <a:ext cx="7752864" cy="4464496"/>
            <a:chOff x="2381054" y="1427017"/>
            <a:chExt cx="6888768" cy="3899856"/>
          </a:xfrm>
        </p:grpSpPr>
        <p:sp>
          <p:nvSpPr>
            <p:cNvPr id="56" name="Freccia a destra 4"/>
            <p:cNvSpPr/>
            <p:nvPr/>
          </p:nvSpPr>
          <p:spPr bwMode="auto">
            <a:xfrm>
              <a:off x="5719196" y="1948310"/>
              <a:ext cx="623136" cy="757862"/>
            </a:xfrm>
            <a:prstGeom prst="rightArrow">
              <a:avLst/>
            </a:prstGeom>
            <a:solidFill>
              <a:schemeClr val="accent1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1438" tIns="36512" rIns="71438" bIns="36512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eaLnBrk="0" hangingPunct="0">
                <a:buClr>
                  <a:srgbClr val="000000"/>
                </a:buClr>
                <a:buFont typeface="Wingdings" pitchFamily="2" charset="2"/>
                <a:buChar char="n"/>
              </a:pPr>
              <a:endParaRPr lang="it-IT">
                <a:solidFill>
                  <a:srgbClr val="000000"/>
                </a:solidFill>
              </a:endParaRPr>
            </a:p>
          </p:txBody>
        </p:sp>
        <p:sp>
          <p:nvSpPr>
            <p:cNvPr id="57" name="Rettangolo 6"/>
            <p:cNvSpPr>
              <a:spLocks noChangeAspect="1"/>
            </p:cNvSpPr>
            <p:nvPr/>
          </p:nvSpPr>
          <p:spPr bwMode="auto">
            <a:xfrm>
              <a:off x="2778347" y="1773331"/>
              <a:ext cx="2055263" cy="952972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solidFill>
                <a:srgbClr val="1D6064"/>
              </a:solidFill>
              <a:prstDash val="sysDash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1438" tIns="36512" rIns="71438" bIns="36512" numCol="1" rtlCol="0" anchor="t" anchorCtr="0" compatLnSpc="1">
              <a:prstTxWarp prst="textNoShape">
                <a:avLst/>
              </a:prstTxWarp>
              <a:noAutofit/>
            </a:bodyPr>
            <a:lstStyle/>
            <a:p>
              <a:pPr eaLnBrk="0" hangingPunct="0">
                <a:buClr>
                  <a:srgbClr val="000000"/>
                </a:buClr>
                <a:buFont typeface="Wingdings" pitchFamily="2" charset="2"/>
                <a:buChar char="n"/>
              </a:pPr>
              <a:endParaRPr lang="it-IT">
                <a:solidFill>
                  <a:srgbClr val="000000"/>
                </a:solidFill>
              </a:endParaRPr>
            </a:p>
          </p:txBody>
        </p:sp>
        <p:sp>
          <p:nvSpPr>
            <p:cNvPr id="58" name="Rettangolo 32"/>
            <p:cNvSpPr>
              <a:spLocks noChangeAspect="1"/>
            </p:cNvSpPr>
            <p:nvPr/>
          </p:nvSpPr>
          <p:spPr bwMode="auto">
            <a:xfrm>
              <a:off x="4833610" y="1773330"/>
              <a:ext cx="2380199" cy="952972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solidFill>
                <a:srgbClr val="1D6064"/>
              </a:solidFill>
              <a:prstDash val="sysDash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1438" tIns="36512" rIns="71438" bIns="36512" numCol="1" rtlCol="0" anchor="t" anchorCtr="0" compatLnSpc="1">
              <a:prstTxWarp prst="textNoShape">
                <a:avLst/>
              </a:prstTxWarp>
              <a:noAutofit/>
            </a:bodyPr>
            <a:lstStyle/>
            <a:p>
              <a:pPr eaLnBrk="0" hangingPunct="0">
                <a:buClr>
                  <a:srgbClr val="000000"/>
                </a:buClr>
                <a:buFont typeface="Wingdings" pitchFamily="2" charset="2"/>
                <a:buChar char="n"/>
              </a:pPr>
              <a:endParaRPr lang="it-IT">
                <a:solidFill>
                  <a:srgbClr val="000000"/>
                </a:solidFill>
              </a:endParaRPr>
            </a:p>
          </p:txBody>
        </p:sp>
        <p:sp>
          <p:nvSpPr>
            <p:cNvPr id="59" name="Rettangolo 43"/>
            <p:cNvSpPr>
              <a:spLocks noChangeAspect="1"/>
            </p:cNvSpPr>
            <p:nvPr/>
          </p:nvSpPr>
          <p:spPr bwMode="auto">
            <a:xfrm>
              <a:off x="7213808" y="1773330"/>
              <a:ext cx="2056014" cy="952972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solidFill>
                <a:srgbClr val="1D6064"/>
              </a:solidFill>
              <a:prstDash val="sysDash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1438" tIns="36512" rIns="71438" bIns="36512" numCol="1" rtlCol="0" anchor="t" anchorCtr="0" compatLnSpc="1">
              <a:prstTxWarp prst="textNoShape">
                <a:avLst/>
              </a:prstTxWarp>
              <a:noAutofit/>
            </a:bodyPr>
            <a:lstStyle/>
            <a:p>
              <a:pPr eaLnBrk="0" hangingPunct="0">
                <a:buClr>
                  <a:srgbClr val="000000"/>
                </a:buClr>
                <a:buFont typeface="Wingdings" pitchFamily="2" charset="2"/>
                <a:buChar char="n"/>
              </a:pPr>
              <a:endParaRPr lang="it-IT">
                <a:solidFill>
                  <a:srgbClr val="000000"/>
                </a:solidFill>
              </a:endParaRPr>
            </a:p>
          </p:txBody>
        </p:sp>
        <p:sp>
          <p:nvSpPr>
            <p:cNvPr id="60" name="CasellaDiTesto 21"/>
            <p:cNvSpPr txBox="1"/>
            <p:nvPr/>
          </p:nvSpPr>
          <p:spPr>
            <a:xfrm>
              <a:off x="3271321" y="2458911"/>
              <a:ext cx="1069315" cy="268851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1400" i="1" dirty="0">
                  <a:solidFill>
                    <a:srgbClr val="000000"/>
                  </a:solidFill>
                </a:rPr>
                <a:t>Development</a:t>
              </a:r>
            </a:p>
          </p:txBody>
        </p:sp>
        <p:sp>
          <p:nvSpPr>
            <p:cNvPr id="61" name="CasellaDiTesto 50"/>
            <p:cNvSpPr txBox="1"/>
            <p:nvPr/>
          </p:nvSpPr>
          <p:spPr>
            <a:xfrm>
              <a:off x="7707157" y="2442440"/>
              <a:ext cx="1234008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it-IT" sz="1400" i="1" dirty="0">
                  <a:solidFill>
                    <a:srgbClr val="000000"/>
                  </a:solidFill>
                </a:rPr>
                <a:t>Production</a:t>
              </a:r>
            </a:p>
          </p:txBody>
        </p:sp>
        <p:grpSp>
          <p:nvGrpSpPr>
            <p:cNvPr id="62" name="Gruppo 9"/>
            <p:cNvGrpSpPr>
              <a:grpSpLocks noChangeAspect="1"/>
            </p:cNvGrpSpPr>
            <p:nvPr/>
          </p:nvGrpSpPr>
          <p:grpSpPr>
            <a:xfrm>
              <a:off x="4117665" y="1901047"/>
              <a:ext cx="1520703" cy="550669"/>
              <a:chOff x="2123101" y="2904312"/>
              <a:chExt cx="1807780" cy="626183"/>
            </a:xfrm>
          </p:grpSpPr>
          <p:sp>
            <p:nvSpPr>
              <p:cNvPr id="91" name="Rettangolo 2"/>
              <p:cNvSpPr/>
              <p:nvPr/>
            </p:nvSpPr>
            <p:spPr bwMode="auto">
              <a:xfrm>
                <a:off x="2123101" y="3271655"/>
                <a:ext cx="1791141" cy="258840"/>
              </a:xfrm>
              <a:prstGeom prst="rect">
                <a:avLst/>
              </a:prstGeom>
              <a:solidFill>
                <a:schemeClr val="bg1"/>
              </a:solidFill>
              <a:ln w="9525" cap="flat" cmpd="sng" algn="ctr">
                <a:solidFill>
                  <a:srgbClr val="1D606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1438" tIns="36512" rIns="71438" bIns="36512" numCol="1" rtlCol="0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algn="ctr" eaLnBrk="0" hangingPunct="0">
                  <a:buClr>
                    <a:srgbClr val="000000"/>
                  </a:buClr>
                </a:pPr>
                <a:r>
                  <a:rPr lang="it-IT" sz="1000" b="1" dirty="0">
                    <a:solidFill>
                      <a:srgbClr val="000000"/>
                    </a:solidFill>
                  </a:rPr>
                  <a:t>Tools</a:t>
                </a:r>
                <a:endParaRPr lang="it-IT" sz="1000" dirty="0">
                  <a:solidFill>
                    <a:srgbClr val="000000"/>
                  </a:solidFill>
                </a:endParaRPr>
              </a:p>
            </p:txBody>
          </p:sp>
          <p:sp>
            <p:nvSpPr>
              <p:cNvPr id="92" name="Rettangolo 1"/>
              <p:cNvSpPr/>
              <p:nvPr/>
            </p:nvSpPr>
            <p:spPr bwMode="auto">
              <a:xfrm>
                <a:off x="2123101" y="2904312"/>
                <a:ext cx="1807780" cy="293838"/>
              </a:xfrm>
              <a:prstGeom prst="rect">
                <a:avLst/>
              </a:prstGeom>
              <a:solidFill>
                <a:schemeClr val="accent1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1438" tIns="36512" rIns="71438" bIns="36512" numCol="1" rtlCol="0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algn="ctr" eaLnBrk="0" hangingPunct="0">
                  <a:buClr>
                    <a:srgbClr val="000000"/>
                  </a:buClr>
                </a:pPr>
                <a:r>
                  <a:rPr lang="it-IT" sz="1200" b="1" dirty="0">
                    <a:solidFill>
                      <a:srgbClr val="FFFFFF"/>
                    </a:solidFill>
                  </a:rPr>
                  <a:t>Development</a:t>
                </a:r>
              </a:p>
            </p:txBody>
          </p:sp>
        </p:grpSp>
        <p:grpSp>
          <p:nvGrpSpPr>
            <p:cNvPr id="63" name="Gruppo 10"/>
            <p:cNvGrpSpPr/>
            <p:nvPr/>
          </p:nvGrpSpPr>
          <p:grpSpPr>
            <a:xfrm>
              <a:off x="6410445" y="1895028"/>
              <a:ext cx="1606726" cy="538105"/>
              <a:chOff x="6073771" y="2785864"/>
              <a:chExt cx="1814212" cy="658224"/>
            </a:xfrm>
          </p:grpSpPr>
          <p:sp>
            <p:nvSpPr>
              <p:cNvPr id="89" name="Rettangolo 25"/>
              <p:cNvSpPr/>
              <p:nvPr/>
            </p:nvSpPr>
            <p:spPr bwMode="auto">
              <a:xfrm>
                <a:off x="6073771" y="3165651"/>
                <a:ext cx="1807780" cy="278437"/>
              </a:xfrm>
              <a:prstGeom prst="rect">
                <a:avLst/>
              </a:prstGeom>
              <a:solidFill>
                <a:schemeClr val="bg1"/>
              </a:solidFill>
              <a:ln w="9525" cap="flat" cmpd="sng" algn="ctr">
                <a:solidFill>
                  <a:srgbClr val="1D606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1438" tIns="36512" rIns="71438" bIns="36512" numCol="1" rtlCol="0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algn="ctr" eaLnBrk="0" hangingPunct="0">
                  <a:buClr>
                    <a:srgbClr val="000000"/>
                  </a:buClr>
                </a:pPr>
                <a:r>
                  <a:rPr lang="it-IT" sz="1000" b="1" dirty="0">
                    <a:solidFill>
                      <a:srgbClr val="000000"/>
                    </a:solidFill>
                  </a:rPr>
                  <a:t>Tools</a:t>
                </a:r>
              </a:p>
            </p:txBody>
          </p:sp>
          <p:sp>
            <p:nvSpPr>
              <p:cNvPr id="90" name="Rettangolo 23"/>
              <p:cNvSpPr/>
              <p:nvPr/>
            </p:nvSpPr>
            <p:spPr bwMode="auto">
              <a:xfrm>
                <a:off x="6080203" y="2785864"/>
                <a:ext cx="1807780" cy="316085"/>
              </a:xfrm>
              <a:prstGeom prst="rect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1438" tIns="36512" rIns="71438" bIns="36512" numCol="1" rtlCol="0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algn="ctr" eaLnBrk="0" hangingPunct="0">
                  <a:buClr>
                    <a:srgbClr val="000000"/>
                  </a:buClr>
                </a:pPr>
                <a:r>
                  <a:rPr lang="it-IT" sz="1200" b="1" dirty="0">
                    <a:solidFill>
                      <a:srgbClr val="FFFFFF"/>
                    </a:solidFill>
                  </a:rPr>
                  <a:t>IT Operations</a:t>
                </a:r>
              </a:p>
            </p:txBody>
          </p:sp>
        </p:grpSp>
        <p:sp>
          <p:nvSpPr>
            <p:cNvPr id="64" name="CasellaDiTesto 49"/>
            <p:cNvSpPr txBox="1"/>
            <p:nvPr/>
          </p:nvSpPr>
          <p:spPr>
            <a:xfrm>
              <a:off x="5496107" y="2436076"/>
              <a:ext cx="1069315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it-IT" sz="1400" i="1" dirty="0">
                  <a:solidFill>
                    <a:srgbClr val="000000"/>
                  </a:solidFill>
                </a:rPr>
                <a:t>Test</a:t>
              </a:r>
            </a:p>
          </p:txBody>
        </p:sp>
        <p:grpSp>
          <p:nvGrpSpPr>
            <p:cNvPr id="65" name="Gruppo 15"/>
            <p:cNvGrpSpPr/>
            <p:nvPr/>
          </p:nvGrpSpPr>
          <p:grpSpPr>
            <a:xfrm>
              <a:off x="2381054" y="1427017"/>
              <a:ext cx="726278" cy="576000"/>
              <a:chOff x="511776" y="1984197"/>
              <a:chExt cx="726278" cy="576000"/>
            </a:xfrm>
          </p:grpSpPr>
          <p:sp>
            <p:nvSpPr>
              <p:cNvPr id="87" name="Ovale 24"/>
              <p:cNvSpPr/>
              <p:nvPr/>
            </p:nvSpPr>
            <p:spPr>
              <a:xfrm>
                <a:off x="586034" y="1984197"/>
                <a:ext cx="576000" cy="576000"/>
              </a:xfrm>
              <a:prstGeom prst="ellipse">
                <a:avLst/>
              </a:prstGeom>
              <a:solidFill>
                <a:srgbClr val="1D6064"/>
              </a:solidFill>
              <a:ln>
                <a:solidFill>
                  <a:srgbClr val="1D6064"/>
                </a:solidFill>
              </a:ln>
            </p:spPr>
            <p:style>
              <a:lnRef idx="1">
                <a:schemeClr val="accen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l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l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dk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/>
              <a:lstStyle/>
              <a:p>
                <a:pPr algn="ctr"/>
                <a:endParaRPr lang="it-IT" sz="700" b="1" dirty="0">
                  <a:solidFill>
                    <a:srgbClr val="FFFFFF"/>
                  </a:solidFill>
                </a:endParaRPr>
              </a:p>
            </p:txBody>
          </p:sp>
          <p:sp>
            <p:nvSpPr>
              <p:cNvPr id="88" name="CasellaDiTesto 54"/>
              <p:cNvSpPr txBox="1"/>
              <p:nvPr/>
            </p:nvSpPr>
            <p:spPr>
              <a:xfrm>
                <a:off x="511776" y="2078888"/>
                <a:ext cx="726278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000" b="1" dirty="0">
                    <a:solidFill>
                      <a:srgbClr val="FFFFFF"/>
                    </a:solidFill>
                  </a:rPr>
                  <a:t>Before</a:t>
                </a:r>
              </a:p>
              <a:p>
                <a:pPr algn="ctr"/>
                <a:r>
                  <a:rPr lang="en-US" sz="1000" b="1" dirty="0" err="1">
                    <a:solidFill>
                      <a:srgbClr val="FFFFFF"/>
                    </a:solidFill>
                  </a:rPr>
                  <a:t>DevOps</a:t>
                </a:r>
                <a:endParaRPr lang="en-US" sz="1000" b="1" dirty="0">
                  <a:solidFill>
                    <a:srgbClr val="FFFFFF"/>
                  </a:solidFill>
                </a:endParaRPr>
              </a:p>
            </p:txBody>
          </p:sp>
        </p:grpSp>
        <p:sp>
          <p:nvSpPr>
            <p:cNvPr id="66" name="Freccia a destra 26"/>
            <p:cNvSpPr/>
            <p:nvPr/>
          </p:nvSpPr>
          <p:spPr bwMode="auto">
            <a:xfrm>
              <a:off x="5719195" y="1901297"/>
              <a:ext cx="623136" cy="272218"/>
            </a:xfrm>
            <a:prstGeom prst="rightArrow">
              <a:avLst/>
            </a:prstGeom>
            <a:solidFill>
              <a:schemeClr val="accent1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1438" tIns="36512" rIns="71438" bIns="36512" numCol="1" rtlCol="0" anchor="t" anchorCtr="0" compatLnSpc="1">
              <a:prstTxWarp prst="textNoShape">
                <a:avLst/>
              </a:prstTxWarp>
              <a:noAutofit/>
            </a:bodyPr>
            <a:lstStyle/>
            <a:p>
              <a:pPr eaLnBrk="0" hangingPunct="0">
                <a:buClr>
                  <a:srgbClr val="000000"/>
                </a:buClr>
                <a:buFont typeface="Wingdings" pitchFamily="2" charset="2"/>
                <a:buChar char="n"/>
              </a:pPr>
              <a:endParaRPr lang="it-IT">
                <a:solidFill>
                  <a:srgbClr val="000000"/>
                </a:solidFill>
              </a:endParaRPr>
            </a:p>
          </p:txBody>
        </p:sp>
        <p:sp>
          <p:nvSpPr>
            <p:cNvPr id="67" name="Freccia in giù 5"/>
            <p:cNvSpPr/>
            <p:nvPr/>
          </p:nvSpPr>
          <p:spPr bwMode="auto">
            <a:xfrm>
              <a:off x="5004236" y="2967062"/>
              <a:ext cx="2016000" cy="484825"/>
            </a:xfrm>
            <a:prstGeom prst="downArrow">
              <a:avLst>
                <a:gd name="adj1" fmla="val 50000"/>
                <a:gd name="adj2" fmla="val 43750"/>
              </a:avLst>
            </a:prstGeom>
            <a:solidFill>
              <a:schemeClr val="accent1"/>
            </a:solidFill>
            <a:ln w="9525" cap="flat" cmpd="sng" algn="ctr">
              <a:solidFill>
                <a:srgbClr val="1D606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1438" tIns="36512" rIns="71438" bIns="36512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eaLnBrk="0" hangingPunct="0">
                <a:buClr>
                  <a:srgbClr val="000000"/>
                </a:buClr>
                <a:buFont typeface="Wingdings" pitchFamily="2" charset="2"/>
                <a:buChar char="n"/>
              </a:pPr>
              <a:endParaRPr lang="it-IT">
                <a:solidFill>
                  <a:srgbClr val="000000"/>
                </a:solidFill>
              </a:endParaRPr>
            </a:p>
          </p:txBody>
        </p:sp>
        <p:sp>
          <p:nvSpPr>
            <p:cNvPr id="68" name="CasellaDiTesto 13"/>
            <p:cNvSpPr txBox="1"/>
            <p:nvPr/>
          </p:nvSpPr>
          <p:spPr>
            <a:xfrm>
              <a:off x="4236542" y="3455051"/>
              <a:ext cx="3427916" cy="26885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i="1" dirty="0">
                  <a:solidFill>
                    <a:srgbClr val="000000"/>
                  </a:solidFill>
                </a:rPr>
                <a:t>«</a:t>
              </a:r>
              <a:r>
                <a:rPr lang="en-US" sz="1400" i="1" dirty="0" err="1">
                  <a:solidFill>
                    <a:srgbClr val="000000"/>
                  </a:solidFill>
                </a:rPr>
                <a:t>Devs</a:t>
              </a:r>
              <a:r>
                <a:rPr lang="en-US" sz="1400" dirty="0">
                  <a:solidFill>
                    <a:srgbClr val="000000"/>
                  </a:solidFill>
                </a:rPr>
                <a:t> have to walk in </a:t>
              </a:r>
              <a:r>
                <a:rPr lang="en-US" sz="1400" i="1" dirty="0">
                  <a:solidFill>
                    <a:srgbClr val="000000"/>
                  </a:solidFill>
                </a:rPr>
                <a:t>Ops</a:t>
              </a:r>
              <a:r>
                <a:rPr lang="en-US" sz="1400" dirty="0">
                  <a:solidFill>
                    <a:srgbClr val="000000"/>
                  </a:solidFill>
                </a:rPr>
                <a:t> shoes and </a:t>
              </a:r>
              <a:r>
                <a:rPr lang="en-US" sz="1400" dirty="0" err="1">
                  <a:solidFill>
                    <a:srgbClr val="000000"/>
                  </a:solidFill>
                </a:rPr>
                <a:t>viceversa</a:t>
              </a:r>
              <a:r>
                <a:rPr lang="en-US" sz="1400" dirty="0">
                  <a:solidFill>
                    <a:srgbClr val="000000"/>
                  </a:solidFill>
                </a:rPr>
                <a:t>»</a:t>
              </a:r>
            </a:p>
          </p:txBody>
        </p:sp>
        <p:sp>
          <p:nvSpPr>
            <p:cNvPr id="70" name="Freccia a destra 30"/>
            <p:cNvSpPr/>
            <p:nvPr/>
          </p:nvSpPr>
          <p:spPr bwMode="auto">
            <a:xfrm>
              <a:off x="5719411" y="4268728"/>
              <a:ext cx="623098" cy="757862"/>
            </a:xfrm>
            <a:prstGeom prst="rightArrow">
              <a:avLst/>
            </a:prstGeom>
            <a:solidFill>
              <a:schemeClr val="accent1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1438" tIns="36512" rIns="71438" bIns="36512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eaLnBrk="0" hangingPunct="0">
                <a:buClr>
                  <a:srgbClr val="000000"/>
                </a:buClr>
                <a:buFont typeface="Wingdings" pitchFamily="2" charset="2"/>
                <a:buChar char="n"/>
              </a:pPr>
              <a:endParaRPr lang="it-IT">
                <a:solidFill>
                  <a:srgbClr val="000000"/>
                </a:solidFill>
              </a:endParaRPr>
            </a:p>
          </p:txBody>
        </p:sp>
        <p:sp>
          <p:nvSpPr>
            <p:cNvPr id="71" name="Rettangolo 31"/>
            <p:cNvSpPr>
              <a:spLocks noChangeAspect="1"/>
            </p:cNvSpPr>
            <p:nvPr/>
          </p:nvSpPr>
          <p:spPr bwMode="auto">
            <a:xfrm>
              <a:off x="2778739" y="3793470"/>
              <a:ext cx="2055139" cy="1268639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solidFill>
                <a:srgbClr val="1D6064"/>
              </a:solidFill>
              <a:prstDash val="sysDash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1438" tIns="36512" rIns="71438" bIns="36512" numCol="1" rtlCol="0" anchor="t" anchorCtr="0" compatLnSpc="1">
              <a:prstTxWarp prst="textNoShape">
                <a:avLst/>
              </a:prstTxWarp>
              <a:noAutofit/>
            </a:bodyPr>
            <a:lstStyle/>
            <a:p>
              <a:pPr eaLnBrk="0" hangingPunct="0">
                <a:buClr>
                  <a:srgbClr val="000000"/>
                </a:buClr>
                <a:buFont typeface="Wingdings" pitchFamily="2" charset="2"/>
                <a:buChar char="n"/>
              </a:pPr>
              <a:endParaRPr lang="it-IT">
                <a:solidFill>
                  <a:srgbClr val="000000"/>
                </a:solidFill>
              </a:endParaRPr>
            </a:p>
          </p:txBody>
        </p:sp>
        <p:sp>
          <p:nvSpPr>
            <p:cNvPr id="72" name="Rettangolo 33"/>
            <p:cNvSpPr>
              <a:spLocks noChangeAspect="1"/>
            </p:cNvSpPr>
            <p:nvPr/>
          </p:nvSpPr>
          <p:spPr bwMode="auto">
            <a:xfrm>
              <a:off x="4833878" y="3793468"/>
              <a:ext cx="2380055" cy="1268640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solidFill>
                <a:srgbClr val="1D6064"/>
              </a:solidFill>
              <a:prstDash val="sysDash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1438" tIns="36512" rIns="71438" bIns="36512" numCol="1" rtlCol="0" anchor="t" anchorCtr="0" compatLnSpc="1">
              <a:prstTxWarp prst="textNoShape">
                <a:avLst/>
              </a:prstTxWarp>
              <a:noAutofit/>
            </a:bodyPr>
            <a:lstStyle/>
            <a:p>
              <a:pPr eaLnBrk="0" hangingPunct="0">
                <a:buClr>
                  <a:srgbClr val="000000"/>
                </a:buClr>
                <a:buFont typeface="Wingdings" pitchFamily="2" charset="2"/>
                <a:buChar char="n"/>
              </a:pPr>
              <a:endParaRPr lang="it-IT">
                <a:solidFill>
                  <a:srgbClr val="000000"/>
                </a:solidFill>
              </a:endParaRPr>
            </a:p>
          </p:txBody>
        </p:sp>
        <p:sp>
          <p:nvSpPr>
            <p:cNvPr id="73" name="Rettangolo 34"/>
            <p:cNvSpPr>
              <a:spLocks noChangeAspect="1"/>
            </p:cNvSpPr>
            <p:nvPr/>
          </p:nvSpPr>
          <p:spPr bwMode="auto">
            <a:xfrm>
              <a:off x="7213934" y="3793470"/>
              <a:ext cx="2037445" cy="1268639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solidFill>
                <a:srgbClr val="1D6064"/>
              </a:solidFill>
              <a:prstDash val="sysDash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1438" tIns="36512" rIns="71438" bIns="36512" numCol="1" rtlCol="0" anchor="t" anchorCtr="0" compatLnSpc="1">
              <a:prstTxWarp prst="textNoShape">
                <a:avLst/>
              </a:prstTxWarp>
              <a:noAutofit/>
            </a:bodyPr>
            <a:lstStyle/>
            <a:p>
              <a:pPr eaLnBrk="0" hangingPunct="0">
                <a:buClr>
                  <a:srgbClr val="000000"/>
                </a:buClr>
                <a:buFont typeface="Wingdings" pitchFamily="2" charset="2"/>
                <a:buChar char="n"/>
              </a:pPr>
              <a:endParaRPr lang="it-IT">
                <a:solidFill>
                  <a:srgbClr val="000000"/>
                </a:solidFill>
              </a:endParaRPr>
            </a:p>
          </p:txBody>
        </p:sp>
        <p:sp>
          <p:nvSpPr>
            <p:cNvPr id="74" name="CasellaDiTesto 35"/>
            <p:cNvSpPr txBox="1"/>
            <p:nvPr/>
          </p:nvSpPr>
          <p:spPr>
            <a:xfrm>
              <a:off x="3271682" y="4779446"/>
              <a:ext cx="1069250" cy="268851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1400" i="1" dirty="0">
                  <a:solidFill>
                    <a:srgbClr val="000000"/>
                  </a:solidFill>
                </a:rPr>
                <a:t>Development</a:t>
              </a:r>
            </a:p>
          </p:txBody>
        </p:sp>
        <p:sp>
          <p:nvSpPr>
            <p:cNvPr id="75" name="CasellaDiTesto 36"/>
            <p:cNvSpPr txBox="1"/>
            <p:nvPr/>
          </p:nvSpPr>
          <p:spPr>
            <a:xfrm>
              <a:off x="7707251" y="4751155"/>
              <a:ext cx="1069250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it-IT" sz="1400" i="1" dirty="0">
                  <a:solidFill>
                    <a:srgbClr val="000000"/>
                  </a:solidFill>
                </a:rPr>
                <a:t>Production</a:t>
              </a:r>
            </a:p>
          </p:txBody>
        </p:sp>
        <p:grpSp>
          <p:nvGrpSpPr>
            <p:cNvPr id="76" name="Gruppo 37"/>
            <p:cNvGrpSpPr>
              <a:grpSpLocks noChangeAspect="1"/>
            </p:cNvGrpSpPr>
            <p:nvPr/>
          </p:nvGrpSpPr>
          <p:grpSpPr>
            <a:xfrm>
              <a:off x="4117972" y="4236274"/>
              <a:ext cx="3894921" cy="505217"/>
              <a:chOff x="2123097" y="2921161"/>
              <a:chExt cx="4630480" cy="574394"/>
            </a:xfrm>
          </p:grpSpPr>
          <p:sp>
            <p:nvSpPr>
              <p:cNvPr id="85" name="Rettangolo 47"/>
              <p:cNvSpPr/>
              <p:nvPr/>
            </p:nvSpPr>
            <p:spPr bwMode="auto">
              <a:xfrm>
                <a:off x="2123101" y="3236763"/>
                <a:ext cx="4628879" cy="258792"/>
              </a:xfrm>
              <a:prstGeom prst="rect">
                <a:avLst/>
              </a:prstGeom>
              <a:solidFill>
                <a:schemeClr val="bg1"/>
              </a:solidFill>
              <a:ln w="9525" cap="flat" cmpd="sng" algn="ctr">
                <a:solidFill>
                  <a:srgbClr val="1D606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1438" tIns="36512" rIns="71438" bIns="36512" numCol="1" rtlCol="0" anchor="b" anchorCtr="0" compatLnSpc="1">
                <a:prstTxWarp prst="textNoShape">
                  <a:avLst/>
                </a:prstTxWarp>
                <a:spAutoFit/>
              </a:bodyPr>
              <a:lstStyle/>
              <a:p>
                <a:pPr algn="ctr" eaLnBrk="0" hangingPunct="0">
                  <a:buClr>
                    <a:srgbClr val="000000"/>
                  </a:buClr>
                </a:pPr>
                <a:r>
                  <a:rPr lang="it-IT" sz="1000" b="1" dirty="0">
                    <a:solidFill>
                      <a:srgbClr val="000000"/>
                    </a:solidFill>
                  </a:rPr>
                  <a:t>Tools</a:t>
                </a:r>
                <a:endParaRPr lang="it-IT" sz="1000" dirty="0">
                  <a:solidFill>
                    <a:srgbClr val="000000"/>
                  </a:solidFill>
                </a:endParaRPr>
              </a:p>
            </p:txBody>
          </p:sp>
          <p:sp>
            <p:nvSpPr>
              <p:cNvPr id="86" name="Rettangolo 48"/>
              <p:cNvSpPr/>
              <p:nvPr/>
            </p:nvSpPr>
            <p:spPr bwMode="auto">
              <a:xfrm>
                <a:off x="2123097" y="2921161"/>
                <a:ext cx="4630480" cy="293785"/>
              </a:xfrm>
              <a:prstGeom prst="rect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1438" tIns="36512" rIns="71438" bIns="36512" numCol="1" rtlCol="0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algn="ctr" eaLnBrk="0" hangingPunct="0">
                  <a:buClr>
                    <a:srgbClr val="000000"/>
                  </a:buClr>
                </a:pPr>
                <a:r>
                  <a:rPr lang="it-IT" sz="1200" b="1" dirty="0">
                    <a:solidFill>
                      <a:srgbClr val="FFFFFF"/>
                    </a:solidFill>
                  </a:rPr>
                  <a:t>Development &amp; IT Operations</a:t>
                </a:r>
              </a:p>
            </p:txBody>
          </p:sp>
        </p:grpSp>
        <p:sp>
          <p:nvSpPr>
            <p:cNvPr id="77" name="CasellaDiTesto 39"/>
            <p:cNvSpPr txBox="1"/>
            <p:nvPr/>
          </p:nvSpPr>
          <p:spPr>
            <a:xfrm>
              <a:off x="5496334" y="4756612"/>
              <a:ext cx="1069250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it-IT" sz="1400" i="1" dirty="0">
                  <a:solidFill>
                    <a:srgbClr val="000000"/>
                  </a:solidFill>
                </a:rPr>
                <a:t>Test</a:t>
              </a:r>
            </a:p>
          </p:txBody>
        </p:sp>
        <p:grpSp>
          <p:nvGrpSpPr>
            <p:cNvPr id="78" name="Gruppo 11"/>
            <p:cNvGrpSpPr/>
            <p:nvPr/>
          </p:nvGrpSpPr>
          <p:grpSpPr>
            <a:xfrm>
              <a:off x="2381054" y="3436712"/>
              <a:ext cx="726234" cy="576000"/>
              <a:chOff x="511776" y="3993892"/>
              <a:chExt cx="726234" cy="576000"/>
            </a:xfrm>
          </p:grpSpPr>
          <p:sp>
            <p:nvSpPr>
              <p:cNvPr id="83" name="Ovale 42"/>
              <p:cNvSpPr/>
              <p:nvPr/>
            </p:nvSpPr>
            <p:spPr>
              <a:xfrm>
                <a:off x="586444" y="3993892"/>
                <a:ext cx="576000" cy="576000"/>
              </a:xfrm>
              <a:prstGeom prst="ellipse">
                <a:avLst/>
              </a:prstGeom>
              <a:solidFill>
                <a:srgbClr val="1D6064"/>
              </a:solidFill>
              <a:ln>
                <a:solidFill>
                  <a:srgbClr val="1D6064"/>
                </a:solidFill>
              </a:ln>
            </p:spPr>
            <p:style>
              <a:lnRef idx="1">
                <a:schemeClr val="accen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l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l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dk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/>
              <a:lstStyle/>
              <a:p>
                <a:pPr algn="ctr"/>
                <a:endParaRPr lang="it-IT" sz="700" b="1" dirty="0">
                  <a:solidFill>
                    <a:srgbClr val="FFFFFF"/>
                  </a:solidFill>
                </a:endParaRPr>
              </a:p>
            </p:txBody>
          </p:sp>
          <p:sp>
            <p:nvSpPr>
              <p:cNvPr id="84" name="CasellaDiTesto 44"/>
              <p:cNvSpPr txBox="1"/>
              <p:nvPr/>
            </p:nvSpPr>
            <p:spPr>
              <a:xfrm>
                <a:off x="511776" y="4157191"/>
                <a:ext cx="726234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it-IT" sz="1000" b="1" dirty="0" err="1">
                    <a:solidFill>
                      <a:srgbClr val="FFFFFF"/>
                    </a:solidFill>
                  </a:rPr>
                  <a:t>DevOps</a:t>
                </a:r>
                <a:endParaRPr lang="it-IT" sz="1000" b="1" dirty="0">
                  <a:solidFill>
                    <a:srgbClr val="FFFFFF"/>
                  </a:solidFill>
                </a:endParaRPr>
              </a:p>
            </p:txBody>
          </p:sp>
        </p:grpSp>
        <p:sp>
          <p:nvSpPr>
            <p:cNvPr id="79" name="Rettangolo 7"/>
            <p:cNvSpPr/>
            <p:nvPr/>
          </p:nvSpPr>
          <p:spPr bwMode="auto">
            <a:xfrm>
              <a:off x="2778739" y="5065097"/>
              <a:ext cx="2055139" cy="258403"/>
            </a:xfrm>
            <a:prstGeom prst="rect">
              <a:avLst/>
            </a:prstGeom>
            <a:solidFill>
              <a:schemeClr val="accent1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1438" tIns="36512" rIns="71438" bIns="36512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eaLnBrk="0" hangingPunct="0">
                <a:buClr>
                  <a:srgbClr val="000000"/>
                </a:buClr>
              </a:pPr>
              <a:r>
                <a:rPr lang="en-US" sz="1200" b="1" i="1" dirty="0">
                  <a:solidFill>
                    <a:srgbClr val="FFFFFF"/>
                  </a:solidFill>
                </a:rPr>
                <a:t>Collaborative Development</a:t>
              </a:r>
            </a:p>
          </p:txBody>
        </p:sp>
        <p:sp>
          <p:nvSpPr>
            <p:cNvPr id="80" name="Rettangolo 51"/>
            <p:cNvSpPr/>
            <p:nvPr/>
          </p:nvSpPr>
          <p:spPr bwMode="auto">
            <a:xfrm>
              <a:off x="4850050" y="5068470"/>
              <a:ext cx="2363883" cy="258403"/>
            </a:xfrm>
            <a:prstGeom prst="rect">
              <a:avLst/>
            </a:prstGeom>
            <a:solidFill>
              <a:schemeClr val="accent1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1438" tIns="36512" rIns="71438" bIns="36512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eaLnBrk="0" hangingPunct="0">
                <a:buClr>
                  <a:srgbClr val="000000"/>
                </a:buClr>
              </a:pPr>
              <a:r>
                <a:rPr lang="en-US" sz="1200" b="1" i="1" dirty="0">
                  <a:solidFill>
                    <a:srgbClr val="FFFFFF"/>
                  </a:solidFill>
                </a:rPr>
                <a:t>Continuous Testing</a:t>
              </a:r>
            </a:p>
          </p:txBody>
        </p:sp>
        <p:sp>
          <p:nvSpPr>
            <p:cNvPr id="81" name="Rettangolo 52"/>
            <p:cNvSpPr/>
            <p:nvPr/>
          </p:nvSpPr>
          <p:spPr bwMode="auto">
            <a:xfrm>
              <a:off x="7238728" y="5081630"/>
              <a:ext cx="2016000" cy="225722"/>
            </a:xfrm>
            <a:prstGeom prst="rect">
              <a:avLst/>
            </a:prstGeom>
            <a:solidFill>
              <a:schemeClr val="accent1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1438" tIns="36512" rIns="71438" bIns="36512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eaLnBrk="0" hangingPunct="0">
                <a:buClr>
                  <a:srgbClr val="000000"/>
                </a:buClr>
              </a:pPr>
              <a:r>
                <a:rPr lang="en-US" sz="1200" b="1" i="1" dirty="0">
                  <a:solidFill>
                    <a:srgbClr val="FFFFFF"/>
                  </a:solidFill>
                </a:rPr>
                <a:t>Continuous Monitoring</a:t>
              </a:r>
            </a:p>
          </p:txBody>
        </p:sp>
        <p:sp>
          <p:nvSpPr>
            <p:cNvPr id="82" name="Rettangolo 8"/>
            <p:cNvSpPr/>
            <p:nvPr/>
          </p:nvSpPr>
          <p:spPr bwMode="auto">
            <a:xfrm>
              <a:off x="4117976" y="3970218"/>
              <a:ext cx="3893575" cy="258403"/>
            </a:xfrm>
            <a:prstGeom prst="rect">
              <a:avLst/>
            </a:prstGeom>
            <a:solidFill>
              <a:srgbClr val="00B050"/>
            </a:solidFill>
            <a:ln w="9525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1438" tIns="36512" rIns="71438" bIns="36512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algn="ctr" eaLnBrk="0" hangingPunct="0">
                <a:buClr>
                  <a:srgbClr val="000000"/>
                </a:buClr>
              </a:pPr>
              <a:r>
                <a:rPr lang="it-IT" sz="1200" dirty="0">
                  <a:solidFill>
                    <a:srgbClr val="000000"/>
                  </a:solidFill>
                </a:rPr>
                <a:t>QA – </a:t>
              </a:r>
              <a:r>
                <a:rPr lang="it-IT" sz="1200" dirty="0" err="1">
                  <a:solidFill>
                    <a:srgbClr val="000000"/>
                  </a:solidFill>
                </a:rPr>
                <a:t>Quality</a:t>
              </a:r>
              <a:r>
                <a:rPr lang="it-IT" sz="1200" dirty="0">
                  <a:solidFill>
                    <a:srgbClr val="000000"/>
                  </a:solidFill>
                </a:rPr>
                <a:t> Assurance</a:t>
              </a:r>
            </a:p>
          </p:txBody>
        </p:sp>
      </p:grp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B988909B-BE8C-C4D4-B95E-97E6F8B7B1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Sw. Evolution</a:t>
            </a:r>
          </a:p>
        </p:txBody>
      </p:sp>
    </p:spTree>
    <p:extLst>
      <p:ext uri="{BB962C8B-B14F-4D97-AF65-F5344CB8AC3E}">
        <p14:creationId xmlns:p14="http://schemas.microsoft.com/office/powerpoint/2010/main" val="3174170514"/>
      </p:ext>
    </p:extLst>
  </p:cSld>
  <p:clrMapOvr>
    <a:masterClrMapping/>
  </p:clrMapOvr>
  <p:transition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uppo 1"/>
          <p:cNvGrpSpPr/>
          <p:nvPr/>
        </p:nvGrpSpPr>
        <p:grpSpPr>
          <a:xfrm>
            <a:off x="1784311" y="1963112"/>
            <a:ext cx="5337668" cy="3514849"/>
            <a:chOff x="2996662" y="2004876"/>
            <a:chExt cx="5881728" cy="2904834"/>
          </a:xfrm>
        </p:grpSpPr>
        <p:sp>
          <p:nvSpPr>
            <p:cNvPr id="4" name="Rettangolo 1"/>
            <p:cNvSpPr>
              <a:spLocks noChangeAspect="1"/>
            </p:cNvSpPr>
            <p:nvPr/>
          </p:nvSpPr>
          <p:spPr bwMode="auto">
            <a:xfrm>
              <a:off x="2996663" y="2004876"/>
              <a:ext cx="2938941" cy="1452417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1438" tIns="36512" rIns="71438" bIns="36512" numCol="1" rtlCol="0" anchor="t" anchorCtr="0" compatLnSpc="1">
              <a:prstTxWarp prst="textNoShape">
                <a:avLst/>
              </a:prstTxWarp>
              <a:noAutofit/>
            </a:bodyPr>
            <a:lstStyle/>
            <a:p>
              <a:pPr eaLnBrk="0" hangingPunct="0">
                <a:buClr>
                  <a:srgbClr val="000000"/>
                </a:buClr>
                <a:buFont typeface="Wingdings" pitchFamily="2" charset="2"/>
                <a:buChar char="n"/>
              </a:pPr>
              <a:endParaRPr lang="it-IT" sz="3200"/>
            </a:p>
          </p:txBody>
        </p:sp>
        <p:sp>
          <p:nvSpPr>
            <p:cNvPr id="5" name="Rettangolo 29"/>
            <p:cNvSpPr>
              <a:spLocks noChangeAspect="1"/>
            </p:cNvSpPr>
            <p:nvPr/>
          </p:nvSpPr>
          <p:spPr bwMode="auto">
            <a:xfrm>
              <a:off x="5939449" y="2004876"/>
              <a:ext cx="2938941" cy="1452417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1438" tIns="36512" rIns="71438" bIns="36512" numCol="1" rtlCol="0" anchor="t" anchorCtr="0" compatLnSpc="1">
              <a:prstTxWarp prst="textNoShape">
                <a:avLst/>
              </a:prstTxWarp>
              <a:noAutofit/>
            </a:bodyPr>
            <a:lstStyle/>
            <a:p>
              <a:pPr eaLnBrk="0" hangingPunct="0">
                <a:buClr>
                  <a:srgbClr val="000000"/>
                </a:buClr>
                <a:buFont typeface="Wingdings" pitchFamily="2" charset="2"/>
                <a:buChar char="n"/>
              </a:pPr>
              <a:endParaRPr lang="it-IT" sz="3200">
                <a:solidFill>
                  <a:srgbClr val="000000"/>
                </a:solidFill>
              </a:endParaRPr>
            </a:p>
          </p:txBody>
        </p:sp>
        <p:sp>
          <p:nvSpPr>
            <p:cNvPr id="6" name="Rettangolo 30"/>
            <p:cNvSpPr>
              <a:spLocks noChangeAspect="1"/>
            </p:cNvSpPr>
            <p:nvPr/>
          </p:nvSpPr>
          <p:spPr bwMode="auto">
            <a:xfrm>
              <a:off x="2996662" y="3457292"/>
              <a:ext cx="2938944" cy="145241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1438" tIns="36512" rIns="71438" bIns="36512" numCol="1" rtlCol="0" anchor="t" anchorCtr="0" compatLnSpc="1">
              <a:prstTxWarp prst="textNoShape">
                <a:avLst/>
              </a:prstTxWarp>
              <a:noAutofit/>
            </a:bodyPr>
            <a:lstStyle/>
            <a:p>
              <a:pPr eaLnBrk="0" hangingPunct="0">
                <a:buClr>
                  <a:srgbClr val="000000"/>
                </a:buClr>
                <a:buFont typeface="Wingdings" pitchFamily="2" charset="2"/>
                <a:buChar char="n"/>
              </a:pPr>
              <a:endParaRPr lang="it-IT" sz="3200">
                <a:solidFill>
                  <a:srgbClr val="000000"/>
                </a:solidFill>
              </a:endParaRPr>
            </a:p>
          </p:txBody>
        </p:sp>
        <p:sp>
          <p:nvSpPr>
            <p:cNvPr id="7" name="Rettangolo 31"/>
            <p:cNvSpPr>
              <a:spLocks noChangeAspect="1"/>
            </p:cNvSpPr>
            <p:nvPr/>
          </p:nvSpPr>
          <p:spPr bwMode="auto">
            <a:xfrm>
              <a:off x="5939456" y="3457298"/>
              <a:ext cx="2938916" cy="1452412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1438" tIns="36512" rIns="71438" bIns="36512" numCol="1" rtlCol="0" anchor="t" anchorCtr="0" compatLnSpc="1">
              <a:prstTxWarp prst="textNoShape">
                <a:avLst/>
              </a:prstTxWarp>
              <a:noAutofit/>
            </a:bodyPr>
            <a:lstStyle/>
            <a:p>
              <a:pPr eaLnBrk="0" hangingPunct="0">
                <a:buClr>
                  <a:srgbClr val="000000"/>
                </a:buClr>
                <a:buFont typeface="Wingdings" pitchFamily="2" charset="2"/>
                <a:buChar char="n"/>
              </a:pPr>
              <a:endParaRPr lang="it-IT" sz="3200">
                <a:solidFill>
                  <a:srgbClr val="000000"/>
                </a:solidFill>
              </a:endParaRPr>
            </a:p>
          </p:txBody>
        </p:sp>
        <p:sp>
          <p:nvSpPr>
            <p:cNvPr id="8" name="Ovale 2"/>
            <p:cNvSpPr>
              <a:spLocks noChangeAspect="1"/>
            </p:cNvSpPr>
            <p:nvPr/>
          </p:nvSpPr>
          <p:spPr bwMode="auto">
            <a:xfrm>
              <a:off x="5546714" y="3794241"/>
              <a:ext cx="485315" cy="523903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1438" tIns="36512" rIns="71438" bIns="36512" numCol="1" rtlCol="0" anchor="t" anchorCtr="0" compatLnSpc="1">
              <a:prstTxWarp prst="textNoShape">
                <a:avLst/>
              </a:prstTxWarp>
              <a:noAutofit/>
            </a:bodyPr>
            <a:lstStyle/>
            <a:p>
              <a:pPr eaLnBrk="0" hangingPunct="0">
                <a:buClr>
                  <a:srgbClr val="000000"/>
                </a:buClr>
                <a:buFont typeface="Wingdings" pitchFamily="2" charset="2"/>
                <a:buChar char="n"/>
              </a:pPr>
              <a:endParaRPr lang="it-IT" sz="3200">
                <a:solidFill>
                  <a:srgbClr val="000000"/>
                </a:solidFill>
              </a:endParaRPr>
            </a:p>
          </p:txBody>
        </p:sp>
        <p:sp>
          <p:nvSpPr>
            <p:cNvPr id="9" name="Ovale 33"/>
            <p:cNvSpPr>
              <a:spLocks noChangeAspect="1"/>
            </p:cNvSpPr>
            <p:nvPr/>
          </p:nvSpPr>
          <p:spPr bwMode="auto">
            <a:xfrm>
              <a:off x="6884799" y="3295316"/>
              <a:ext cx="485315" cy="523903"/>
            </a:xfrm>
            <a:prstGeom prst="ellipse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1438" tIns="36512" rIns="71438" bIns="36512" numCol="1" rtlCol="0" anchor="t" anchorCtr="0" compatLnSpc="1">
              <a:prstTxWarp prst="textNoShape">
                <a:avLst/>
              </a:prstTxWarp>
              <a:noAutofit/>
            </a:bodyPr>
            <a:lstStyle/>
            <a:p>
              <a:pPr eaLnBrk="0" hangingPunct="0">
                <a:buClr>
                  <a:srgbClr val="000000"/>
                </a:buClr>
                <a:buFont typeface="Wingdings" pitchFamily="2" charset="2"/>
                <a:buChar char="n"/>
              </a:pPr>
              <a:endParaRPr lang="it-IT" sz="3200">
                <a:solidFill>
                  <a:srgbClr val="000000"/>
                </a:solidFill>
              </a:endParaRPr>
            </a:p>
          </p:txBody>
        </p:sp>
        <p:sp>
          <p:nvSpPr>
            <p:cNvPr id="10" name="Ovale 34"/>
            <p:cNvSpPr>
              <a:spLocks noChangeAspect="1"/>
            </p:cNvSpPr>
            <p:nvPr/>
          </p:nvSpPr>
          <p:spPr bwMode="auto">
            <a:xfrm>
              <a:off x="5801246" y="2620955"/>
              <a:ext cx="485315" cy="523903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1438" tIns="36512" rIns="71438" bIns="36512" numCol="1" rtlCol="0" anchor="t" anchorCtr="0" compatLnSpc="1">
              <a:prstTxWarp prst="textNoShape">
                <a:avLst/>
              </a:prstTxWarp>
              <a:noAutofit/>
            </a:bodyPr>
            <a:lstStyle/>
            <a:p>
              <a:pPr eaLnBrk="0" hangingPunct="0">
                <a:buClr>
                  <a:srgbClr val="000000"/>
                </a:buClr>
                <a:buFont typeface="Wingdings" pitchFamily="2" charset="2"/>
                <a:buChar char="n"/>
              </a:pPr>
              <a:endParaRPr lang="it-IT" sz="3200">
                <a:solidFill>
                  <a:srgbClr val="000000"/>
                </a:solidFill>
              </a:endParaRPr>
            </a:p>
          </p:txBody>
        </p:sp>
        <p:sp>
          <p:nvSpPr>
            <p:cNvPr id="11" name="Ovale 36"/>
            <p:cNvSpPr>
              <a:spLocks noChangeAspect="1"/>
            </p:cNvSpPr>
            <p:nvPr/>
          </p:nvSpPr>
          <p:spPr bwMode="auto">
            <a:xfrm>
              <a:off x="4536562" y="3041595"/>
              <a:ext cx="485315" cy="523903"/>
            </a:xfrm>
            <a:prstGeom prst="ellipse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1438" tIns="36512" rIns="71438" bIns="36512" numCol="1" rtlCol="0" anchor="t" anchorCtr="0" compatLnSpc="1">
              <a:prstTxWarp prst="textNoShape">
                <a:avLst/>
              </a:prstTxWarp>
              <a:noAutofit/>
            </a:bodyPr>
            <a:lstStyle/>
            <a:p>
              <a:pPr eaLnBrk="0" hangingPunct="0">
                <a:buClr>
                  <a:srgbClr val="000000"/>
                </a:buClr>
                <a:buFont typeface="Wingdings" pitchFamily="2" charset="2"/>
                <a:buChar char="n"/>
              </a:pPr>
              <a:endParaRPr lang="it-IT" sz="3200">
                <a:solidFill>
                  <a:srgbClr val="000000"/>
                </a:solidFill>
              </a:endParaRPr>
            </a:p>
          </p:txBody>
        </p:sp>
        <p:sp>
          <p:nvSpPr>
            <p:cNvPr id="12" name="CasellaDiTesto 6"/>
            <p:cNvSpPr txBox="1"/>
            <p:nvPr/>
          </p:nvSpPr>
          <p:spPr>
            <a:xfrm>
              <a:off x="3107268" y="2193190"/>
              <a:ext cx="2619219" cy="763083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it-IT" dirty="0"/>
                <a:t>Development and test  on production-like environment</a:t>
              </a:r>
            </a:p>
          </p:txBody>
        </p:sp>
        <p:sp>
          <p:nvSpPr>
            <p:cNvPr id="13" name="CasellaDiTesto 39"/>
            <p:cNvSpPr txBox="1"/>
            <p:nvPr/>
          </p:nvSpPr>
          <p:spPr>
            <a:xfrm>
              <a:off x="6199685" y="2264291"/>
              <a:ext cx="2417524" cy="763083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dirty="0">
                  <a:solidFill>
                    <a:srgbClr val="000000"/>
                  </a:solidFill>
                </a:rPr>
                <a:t>Accelerated deploy  using proper processes and tools</a:t>
              </a:r>
            </a:p>
          </p:txBody>
        </p:sp>
        <p:sp>
          <p:nvSpPr>
            <p:cNvPr id="14" name="CasellaDiTesto 40"/>
            <p:cNvSpPr txBox="1"/>
            <p:nvPr/>
          </p:nvSpPr>
          <p:spPr>
            <a:xfrm>
              <a:off x="6137595" y="3963512"/>
              <a:ext cx="2538894" cy="53415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dirty="0"/>
                <a:t>Continuous validation of operation quality</a:t>
              </a:r>
            </a:p>
          </p:txBody>
        </p:sp>
        <p:sp>
          <p:nvSpPr>
            <p:cNvPr id="15" name="CasellaDiTesto 41"/>
            <p:cNvSpPr txBox="1"/>
            <p:nvPr/>
          </p:nvSpPr>
          <p:spPr>
            <a:xfrm>
              <a:off x="3287894" y="3857517"/>
              <a:ext cx="2123348" cy="763083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dirty="0">
                  <a:solidFill>
                    <a:srgbClr val="000000"/>
                  </a:solidFill>
                </a:rPr>
                <a:t>Continuous collaboration and feedback</a:t>
              </a:r>
            </a:p>
          </p:txBody>
        </p:sp>
      </p:grpSp>
      <p:sp>
        <p:nvSpPr>
          <p:cNvPr id="3" name="Ovale 2"/>
          <p:cNvSpPr/>
          <p:nvPr/>
        </p:nvSpPr>
        <p:spPr bwMode="auto">
          <a:xfrm>
            <a:off x="1646725" y="1745045"/>
            <a:ext cx="291646" cy="363364"/>
          </a:xfrm>
          <a:prstGeom prst="ellipse">
            <a:avLst/>
          </a:prstGeom>
          <a:solidFill>
            <a:schemeClr val="bg1"/>
          </a:solidFill>
          <a:ln w="28575" cap="flat" cmpd="sng" algn="ctr">
            <a:solidFill>
              <a:schemeClr val="accent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1438" tIns="36512" rIns="71438" bIns="36512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Tx/>
              <a:tabLst/>
            </a:pPr>
            <a:r>
              <a:rPr kumimoji="0" lang="it-IT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Book Antiqua" pitchFamily="18" charset="0"/>
              </a:rPr>
              <a:t>1</a:t>
            </a:r>
          </a:p>
        </p:txBody>
      </p:sp>
      <p:sp>
        <p:nvSpPr>
          <p:cNvPr id="18" name="Ovale 17"/>
          <p:cNvSpPr/>
          <p:nvPr/>
        </p:nvSpPr>
        <p:spPr bwMode="auto">
          <a:xfrm>
            <a:off x="1647799" y="3524544"/>
            <a:ext cx="291646" cy="363364"/>
          </a:xfrm>
          <a:prstGeom prst="ellipse">
            <a:avLst/>
          </a:prstGeom>
          <a:solidFill>
            <a:schemeClr val="bg1"/>
          </a:solidFill>
          <a:ln w="28575" cap="flat" cmpd="sng" algn="ctr">
            <a:solidFill>
              <a:schemeClr val="accent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1438" tIns="36512" rIns="71438" bIns="36512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Tx/>
              <a:tabLst/>
            </a:pPr>
            <a:r>
              <a:rPr kumimoji="0" lang="it-IT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Book Antiqua" pitchFamily="18" charset="0"/>
              </a:rPr>
              <a:t>4</a:t>
            </a:r>
          </a:p>
        </p:txBody>
      </p:sp>
      <p:sp>
        <p:nvSpPr>
          <p:cNvPr id="19" name="Ovale 18"/>
          <p:cNvSpPr/>
          <p:nvPr/>
        </p:nvSpPr>
        <p:spPr bwMode="auto">
          <a:xfrm>
            <a:off x="4369136" y="1745045"/>
            <a:ext cx="291646" cy="363364"/>
          </a:xfrm>
          <a:prstGeom prst="ellipse">
            <a:avLst/>
          </a:prstGeom>
          <a:solidFill>
            <a:schemeClr val="bg1"/>
          </a:solidFill>
          <a:ln w="28575" cap="flat" cmpd="sng" algn="ctr">
            <a:solidFill>
              <a:schemeClr val="accent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1438" tIns="36512" rIns="71438" bIns="36512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Tx/>
              <a:tabLst/>
            </a:pPr>
            <a:r>
              <a:rPr kumimoji="0" lang="it-IT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Book Antiqua" pitchFamily="18" charset="0"/>
              </a:rPr>
              <a:t>2</a:t>
            </a:r>
          </a:p>
        </p:txBody>
      </p:sp>
      <p:sp>
        <p:nvSpPr>
          <p:cNvPr id="20" name="Ovale 19"/>
          <p:cNvSpPr/>
          <p:nvPr/>
        </p:nvSpPr>
        <p:spPr bwMode="auto">
          <a:xfrm>
            <a:off x="4315245" y="3525720"/>
            <a:ext cx="291646" cy="363364"/>
          </a:xfrm>
          <a:prstGeom prst="ellipse">
            <a:avLst/>
          </a:prstGeom>
          <a:solidFill>
            <a:schemeClr val="bg1"/>
          </a:solidFill>
          <a:ln w="28575" cap="flat" cmpd="sng" algn="ctr">
            <a:solidFill>
              <a:schemeClr val="accent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1438" tIns="36512" rIns="71438" bIns="36512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Tx/>
              <a:tabLst/>
            </a:pPr>
            <a:r>
              <a:rPr lang="it-IT" sz="1200" dirty="0"/>
              <a:t>3</a:t>
            </a:r>
            <a:endParaRPr kumimoji="0" lang="it-IT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22" name="Title 1"/>
          <p:cNvSpPr txBox="1">
            <a:spLocks/>
          </p:cNvSpPr>
          <p:nvPr/>
        </p:nvSpPr>
        <p:spPr bwMode="auto">
          <a:xfrm>
            <a:off x="107504" y="235153"/>
            <a:ext cx="7235969" cy="5661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71426" tIns="36505" rIns="71426" bIns="36505" numCol="1" anchor="t" anchorCtr="0" compatLnSpc="1">
            <a:prstTxWarp prst="textNoShape">
              <a:avLst/>
            </a:prstTxWarp>
            <a:spAutoFit/>
          </a:bodyPr>
          <a:lstStyle>
            <a:lvl1pPr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2pPr>
            <a:lvl3pPr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3pPr>
            <a:lvl4pPr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4pPr>
            <a:lvl5pPr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5pPr>
            <a:lvl6pPr marL="457200"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6pPr>
            <a:lvl7pPr marL="914400"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7pPr>
            <a:lvl8pPr marL="1371600"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8pPr>
            <a:lvl9pPr marL="1828800"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9pPr>
          </a:lstStyle>
          <a:p>
            <a:r>
              <a:rPr lang="en-US" sz="3200" dirty="0"/>
              <a:t>The four DevOps values</a:t>
            </a:r>
            <a:endParaRPr lang="en-US" sz="3200" kern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1CBF562D-0DAF-8812-8818-B2340BEC5E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Sw. Evolution</a:t>
            </a:r>
          </a:p>
        </p:txBody>
      </p:sp>
    </p:spTree>
    <p:extLst>
      <p:ext uri="{BB962C8B-B14F-4D97-AF65-F5344CB8AC3E}">
        <p14:creationId xmlns:p14="http://schemas.microsoft.com/office/powerpoint/2010/main" val="15580692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7" name="AutoShape 2"/>
          <p:cNvSpPr>
            <a:spLocks noChangeAspect="1" noChangeArrowheads="1"/>
          </p:cNvSpPr>
          <p:nvPr/>
        </p:nvSpPr>
        <p:spPr bwMode="auto">
          <a:xfrm>
            <a:off x="857251" y="858442"/>
            <a:ext cx="3572" cy="238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100000"/>
              </a:spcBef>
              <a:buClr>
                <a:schemeClr val="tx1"/>
              </a:buClr>
              <a:buFont typeface="Wingdings" panose="05000000000000000000" pitchFamily="2" charset="2"/>
              <a:buChar char="n"/>
              <a:defRPr sz="1600">
                <a:solidFill>
                  <a:schemeClr val="tx1"/>
                </a:solidFill>
                <a:latin typeface="Book Antiqua" panose="02040602050305030304" pitchFamily="18" charset="0"/>
                <a:ea typeface="MS PGothic" panose="020B0600070205080204" pitchFamily="34" charset="-128"/>
              </a:defRPr>
            </a:lvl1pPr>
            <a:lvl2pPr marL="742950" indent="-285750" eaLnBrk="0" hangingPunct="0">
              <a:spcBef>
                <a:spcPct val="30000"/>
              </a:spcBef>
              <a:buFont typeface="Book Antiqua" panose="02040602050305030304" pitchFamily="18" charset="0"/>
              <a:buChar char="•"/>
              <a:defRPr sz="1600">
                <a:solidFill>
                  <a:schemeClr val="tx1"/>
                </a:solidFill>
                <a:latin typeface="Book Antiqua" panose="02040602050305030304" pitchFamily="18" charset="0"/>
                <a:ea typeface="MS PGothic" panose="020B0600070205080204" pitchFamily="34" charset="-128"/>
              </a:defRPr>
            </a:lvl2pPr>
            <a:lvl3pPr marL="1143000" indent="-228600" eaLnBrk="0" hangingPunct="0">
              <a:spcBef>
                <a:spcPct val="30000"/>
              </a:spcBef>
              <a:buFont typeface="Book Antiqua" panose="02040602050305030304" pitchFamily="18" charset="0"/>
              <a:buChar char="–"/>
              <a:defRPr sz="1600">
                <a:solidFill>
                  <a:schemeClr val="tx1"/>
                </a:solidFill>
                <a:latin typeface="Book Antiqua" panose="02040602050305030304" pitchFamily="18" charset="0"/>
                <a:ea typeface="MS PGothic" panose="020B0600070205080204" pitchFamily="34" charset="-128"/>
              </a:defRPr>
            </a:lvl3pPr>
            <a:lvl4pPr marL="1600200" indent="-228600" eaLnBrk="0" hangingPunct="0">
              <a:spcBef>
                <a:spcPct val="30000"/>
              </a:spcBef>
              <a:buFont typeface="Book Antiqua" panose="02040602050305030304" pitchFamily="18" charset="0"/>
              <a:buChar char="–"/>
              <a:defRPr sz="1600">
                <a:solidFill>
                  <a:schemeClr val="tx1"/>
                </a:solidFill>
                <a:latin typeface="Book Antiqua" panose="02040602050305030304" pitchFamily="18" charset="0"/>
                <a:ea typeface="MS PGothic" panose="020B0600070205080204" pitchFamily="34" charset="-128"/>
              </a:defRPr>
            </a:lvl4pPr>
            <a:lvl5pPr marL="2057400" indent="-228600" eaLnBrk="0" hangingPunct="0">
              <a:spcBef>
                <a:spcPct val="30000"/>
              </a:spcBef>
              <a:buFont typeface="Book Antiqua" panose="02040602050305030304" pitchFamily="18" charset="0"/>
              <a:buChar char="–"/>
              <a:defRPr sz="1600">
                <a:solidFill>
                  <a:schemeClr val="tx1"/>
                </a:solidFill>
                <a:latin typeface="Book Antiqua" panose="02040602050305030304" pitchFamily="18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buFont typeface="Book Antiqua" panose="02040602050305030304" pitchFamily="18" charset="0"/>
              <a:buChar char="–"/>
              <a:defRPr sz="1600">
                <a:solidFill>
                  <a:schemeClr val="tx1"/>
                </a:solidFill>
                <a:latin typeface="Book Antiqua" panose="02040602050305030304" pitchFamily="18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buFont typeface="Book Antiqua" panose="02040602050305030304" pitchFamily="18" charset="0"/>
              <a:buChar char="–"/>
              <a:defRPr sz="1600">
                <a:solidFill>
                  <a:schemeClr val="tx1"/>
                </a:solidFill>
                <a:latin typeface="Book Antiqua" panose="02040602050305030304" pitchFamily="18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buFont typeface="Book Antiqua" panose="02040602050305030304" pitchFamily="18" charset="0"/>
              <a:buChar char="–"/>
              <a:defRPr sz="1600">
                <a:solidFill>
                  <a:schemeClr val="tx1"/>
                </a:solidFill>
                <a:latin typeface="Book Antiqua" panose="02040602050305030304" pitchFamily="18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buFont typeface="Book Antiqua" panose="02040602050305030304" pitchFamily="18" charset="0"/>
              <a:buChar char="–"/>
              <a:defRPr sz="1600">
                <a:solidFill>
                  <a:schemeClr val="tx1"/>
                </a:solidFill>
                <a:latin typeface="Book Antiqua" panose="02040602050305030304" pitchFamily="18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endParaRPr lang="en-US" altLang="it-IT" sz="1500">
              <a:solidFill>
                <a:srgbClr val="000000"/>
              </a:solidFill>
            </a:endParaRPr>
          </a:p>
        </p:txBody>
      </p:sp>
      <p:sp>
        <p:nvSpPr>
          <p:cNvPr id="42" name="Rettangolo 41"/>
          <p:cNvSpPr>
            <a:spLocks noChangeAspect="1"/>
          </p:cNvSpPr>
          <p:nvPr/>
        </p:nvSpPr>
        <p:spPr bwMode="auto">
          <a:xfrm>
            <a:off x="1249387" y="3936663"/>
            <a:ext cx="7062466" cy="1613526"/>
          </a:xfrm>
          <a:prstGeom prst="rect">
            <a:avLst/>
          </a:prstGeom>
          <a:solidFill>
            <a:schemeClr val="accent5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53579" tIns="27384" rIns="53579" bIns="27384" numCol="1" rtlCol="0" anchor="t" anchorCtr="0" compatLnSpc="1">
            <a:prstTxWarp prst="textNoShape">
              <a:avLst/>
            </a:prstTxWarp>
            <a:noAutofit/>
          </a:bodyPr>
          <a:lstStyle/>
          <a:p>
            <a:pPr eaLnBrk="0" hangingPunct="0">
              <a:buClr>
                <a:srgbClr val="000000"/>
              </a:buClr>
              <a:buFont typeface="Wingdings" pitchFamily="2" charset="2"/>
              <a:buChar char="n"/>
            </a:pPr>
            <a:endParaRPr lang="it-IT" sz="1350">
              <a:solidFill>
                <a:srgbClr val="000000"/>
              </a:solidFill>
            </a:endParaRPr>
          </a:p>
        </p:txBody>
      </p:sp>
      <p:graphicFrame>
        <p:nvGraphicFramePr>
          <p:cNvPr id="65" name="Tabella 64"/>
          <p:cNvGraphicFramePr>
            <a:graphicFrameLocks noGrp="1"/>
          </p:cNvGraphicFramePr>
          <p:nvPr/>
        </p:nvGraphicFramePr>
        <p:xfrm>
          <a:off x="1354503" y="4295494"/>
          <a:ext cx="6858363" cy="119392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895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61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400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624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9023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561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84482">
                <a:tc>
                  <a:txBody>
                    <a:bodyPr/>
                    <a:lstStyle/>
                    <a:p>
                      <a:pPr algn="ctr"/>
                      <a:r>
                        <a:rPr lang="en-US" sz="1400" noProof="0" dirty="0">
                          <a:solidFill>
                            <a:schemeClr val="bg1"/>
                          </a:solidFill>
                        </a:rPr>
                        <a:t>Continuous Integration</a:t>
                      </a:r>
                    </a:p>
                  </a:txBody>
                  <a:tcPr marL="68580" marR="68580" marT="34290" marB="3429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008E8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noProof="0" dirty="0">
                          <a:solidFill>
                            <a:schemeClr val="bg1"/>
                          </a:solidFill>
                        </a:rPr>
                        <a:t>Continuous Deployment</a:t>
                      </a:r>
                    </a:p>
                  </a:txBody>
                  <a:tcPr marL="68580" marR="68580" marT="34290" marB="3429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008E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noProof="0" dirty="0">
                          <a:solidFill>
                            <a:schemeClr val="bg1"/>
                          </a:solidFill>
                        </a:rPr>
                        <a:t>Application </a:t>
                      </a:r>
                    </a:p>
                    <a:p>
                      <a:pPr algn="ctr"/>
                      <a:r>
                        <a:rPr lang="en-US" sz="1400" noProof="0" dirty="0">
                          <a:solidFill>
                            <a:schemeClr val="bg1"/>
                          </a:solidFill>
                        </a:rPr>
                        <a:t>Management</a:t>
                      </a:r>
                    </a:p>
                  </a:txBody>
                  <a:tcPr marL="68580" marR="68580" marT="34290" marB="3429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008E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noProof="0" dirty="0">
                          <a:solidFill>
                            <a:schemeClr val="bg1"/>
                          </a:solidFill>
                        </a:rPr>
                        <a:t>Monitoring</a:t>
                      </a:r>
                    </a:p>
                  </a:txBody>
                  <a:tcPr marL="68580" marR="68580" marT="34290" marB="3429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008E8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noProof="0" dirty="0">
                          <a:solidFill>
                            <a:schemeClr val="bg1"/>
                          </a:solidFill>
                        </a:rPr>
                        <a:t>Infrastructure</a:t>
                      </a:r>
                      <a:r>
                        <a:rPr lang="en-US" sz="1400" baseline="0" noProof="0" dirty="0">
                          <a:solidFill>
                            <a:schemeClr val="bg1"/>
                          </a:solidFill>
                        </a:rPr>
                        <a:t> Automation</a:t>
                      </a:r>
                      <a:endParaRPr lang="en-US" sz="1400" noProof="0" dirty="0">
                        <a:solidFill>
                          <a:schemeClr val="bg1"/>
                        </a:solidFill>
                      </a:endParaRPr>
                    </a:p>
                  </a:txBody>
                  <a:tcPr marL="68580" marR="68580" marT="34290" marB="3429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008E8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noProof="0" dirty="0" err="1">
                          <a:solidFill>
                            <a:schemeClr val="bg1"/>
                          </a:solidFill>
                        </a:rPr>
                        <a:t>DevOps</a:t>
                      </a:r>
                      <a:r>
                        <a:rPr lang="en-US" sz="1400" baseline="0" noProof="0" dirty="0">
                          <a:solidFill>
                            <a:schemeClr val="bg1"/>
                          </a:solidFill>
                        </a:rPr>
                        <a:t> Enablers</a:t>
                      </a:r>
                      <a:endParaRPr lang="en-US" sz="1400" noProof="0" dirty="0">
                        <a:solidFill>
                          <a:schemeClr val="bg1"/>
                        </a:solidFill>
                      </a:endParaRPr>
                    </a:p>
                  </a:txBody>
                  <a:tcPr marL="68580" marR="68580" marT="34290" marB="3429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008E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9443">
                <a:tc>
                  <a:txBody>
                    <a:bodyPr/>
                    <a:lstStyle/>
                    <a:p>
                      <a:pPr marL="228600" indent="-228600">
                        <a:buAutoNum type="arabicPeriod"/>
                      </a:pPr>
                      <a:r>
                        <a:rPr lang="en-US" sz="1100" noProof="0" dirty="0"/>
                        <a:t>Jenkins</a:t>
                      </a:r>
                    </a:p>
                    <a:p>
                      <a:pPr marL="228600" indent="-228600">
                        <a:buAutoNum type="arabicPeriod"/>
                      </a:pPr>
                      <a:r>
                        <a:rPr lang="en-US" sz="1100" noProof="0" dirty="0" err="1"/>
                        <a:t>Git</a:t>
                      </a:r>
                      <a:r>
                        <a:rPr lang="en-US" sz="1100" noProof="0" dirty="0"/>
                        <a:t>,</a:t>
                      </a:r>
                      <a:r>
                        <a:rPr lang="en-US" sz="1100" baseline="0" noProof="0" dirty="0"/>
                        <a:t> Perforce</a:t>
                      </a:r>
                    </a:p>
                    <a:p>
                      <a:pPr marL="228600" indent="-228600">
                        <a:buAutoNum type="arabicPeriod"/>
                      </a:pPr>
                      <a:r>
                        <a:rPr lang="en-US" sz="1100" baseline="0" noProof="0" dirty="0"/>
                        <a:t>Ant, Maven</a:t>
                      </a:r>
                      <a:endParaRPr lang="en-US" sz="1100" noProof="0" dirty="0"/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>
                        <a:buAutoNum type="arabicPeriod"/>
                      </a:pPr>
                      <a:r>
                        <a:rPr lang="en-US" sz="1100" noProof="0" dirty="0"/>
                        <a:t>Capistrano</a:t>
                      </a:r>
                    </a:p>
                    <a:p>
                      <a:pPr marL="228600" indent="-228600">
                        <a:buAutoNum type="arabicPeriod"/>
                      </a:pPr>
                      <a:r>
                        <a:rPr lang="en-US" sz="1100" noProof="0" dirty="0"/>
                        <a:t>Yum</a:t>
                      </a:r>
                    </a:p>
                  </a:txBody>
                  <a:tcPr marL="68580" marR="68580" marT="34290" marB="3429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>
                        <a:buAutoNum type="arabicPeriod"/>
                      </a:pPr>
                      <a:r>
                        <a:rPr lang="en-US" sz="1100" noProof="0" dirty="0"/>
                        <a:t>Puppet</a:t>
                      </a:r>
                    </a:p>
                    <a:p>
                      <a:pPr marL="228600" indent="-228600">
                        <a:buAutoNum type="arabicPeriod"/>
                      </a:pPr>
                      <a:r>
                        <a:rPr lang="en-US" sz="1100" noProof="0" dirty="0" err="1"/>
                        <a:t>SaltStack</a:t>
                      </a:r>
                      <a:endParaRPr lang="en-US" sz="1100" noProof="0" dirty="0"/>
                    </a:p>
                    <a:p>
                      <a:pPr marL="228600" indent="-228600">
                        <a:buAutoNum type="arabicPeriod"/>
                      </a:pPr>
                      <a:r>
                        <a:rPr lang="en-US" sz="1100" noProof="0" dirty="0"/>
                        <a:t>Chef</a:t>
                      </a:r>
                    </a:p>
                  </a:txBody>
                  <a:tcPr marL="68580" marR="68580" marT="34290" marB="3429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>
                        <a:buAutoNum type="arabicPeriod"/>
                      </a:pPr>
                      <a:r>
                        <a:rPr lang="en-US" sz="1100" baseline="0" noProof="0" dirty="0" err="1"/>
                        <a:t>Zabbix</a:t>
                      </a:r>
                      <a:endParaRPr lang="en-US" sz="1100" baseline="0" noProof="0" dirty="0"/>
                    </a:p>
                    <a:p>
                      <a:pPr marL="228600" indent="-228600">
                        <a:buAutoNum type="arabicPeriod"/>
                      </a:pPr>
                      <a:r>
                        <a:rPr lang="en-US" sz="1100" baseline="0" noProof="0" dirty="0" err="1"/>
                        <a:t>Nagios</a:t>
                      </a:r>
                      <a:endParaRPr lang="en-US" sz="1100" baseline="0" noProof="0" dirty="0"/>
                    </a:p>
                    <a:p>
                      <a:pPr marL="228600" indent="-228600">
                        <a:buAutoNum type="arabicPeriod"/>
                      </a:pPr>
                      <a:r>
                        <a:rPr lang="en-US" sz="1100" baseline="0" noProof="0" dirty="0" err="1"/>
                        <a:t>Sensu</a:t>
                      </a:r>
                      <a:r>
                        <a:rPr lang="en-US" sz="1100" baseline="0" noProof="0" dirty="0"/>
                        <a:t> </a:t>
                      </a:r>
                      <a:endParaRPr lang="en-US" sz="1100" noProof="0" dirty="0"/>
                    </a:p>
                  </a:txBody>
                  <a:tcPr marL="68580" marR="68580" marT="34290" marB="3429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>
                        <a:buAutoNum type="arabicPeriod"/>
                      </a:pPr>
                      <a:r>
                        <a:rPr lang="en-US" sz="1100" noProof="0" dirty="0"/>
                        <a:t>Cobbler</a:t>
                      </a:r>
                    </a:p>
                    <a:p>
                      <a:pPr marL="228600" indent="-228600">
                        <a:buAutoNum type="arabicPeriod"/>
                      </a:pPr>
                      <a:r>
                        <a:rPr lang="en-US" sz="1100" noProof="0" dirty="0"/>
                        <a:t>Foreman</a:t>
                      </a:r>
                    </a:p>
                    <a:p>
                      <a:pPr marL="228600" indent="-228600">
                        <a:buAutoNum type="arabicPeriod"/>
                      </a:pPr>
                      <a:r>
                        <a:rPr lang="en-US" sz="1100" noProof="0" dirty="0"/>
                        <a:t>Crowbar</a:t>
                      </a:r>
                    </a:p>
                  </a:txBody>
                  <a:tcPr marL="68580" marR="68580" marT="34290" marB="3429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>
                        <a:buAutoNum type="arabicPeriod"/>
                      </a:pPr>
                      <a:r>
                        <a:rPr lang="en-US" sz="1100" noProof="0" dirty="0"/>
                        <a:t>Vagrant</a:t>
                      </a:r>
                    </a:p>
                    <a:p>
                      <a:pPr marL="228600" indent="-228600">
                        <a:buAutoNum type="arabicPeriod"/>
                      </a:pPr>
                      <a:r>
                        <a:rPr lang="en-US" sz="1100" noProof="0" dirty="0" err="1"/>
                        <a:t>Docker</a:t>
                      </a:r>
                      <a:endParaRPr lang="en-US" sz="1100" noProof="0" dirty="0"/>
                    </a:p>
                    <a:p>
                      <a:pPr marL="228600" indent="-228600">
                        <a:buAutoNum type="arabicPeriod"/>
                      </a:pPr>
                      <a:r>
                        <a:rPr lang="en-US" sz="1100" noProof="0" dirty="0" err="1"/>
                        <a:t>Kubernetes</a:t>
                      </a:r>
                      <a:endParaRPr lang="en-US" sz="1100" noProof="0" dirty="0"/>
                    </a:p>
                  </a:txBody>
                  <a:tcPr marL="68580" marR="68580" marT="34290" marB="34290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2" name="CasellaDiTesto 11"/>
          <p:cNvSpPr txBox="1"/>
          <p:nvPr/>
        </p:nvSpPr>
        <p:spPr>
          <a:xfrm>
            <a:off x="6794001" y="961160"/>
            <a:ext cx="190539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050" i="1" dirty="0" err="1"/>
              <a:t>Introduction</a:t>
            </a:r>
            <a:r>
              <a:rPr lang="it-IT" sz="1050" i="1" dirty="0"/>
              <a:t> - </a:t>
            </a:r>
            <a:r>
              <a:rPr lang="it-IT" sz="1050" i="1" dirty="0" err="1"/>
              <a:t>what</a:t>
            </a:r>
            <a:r>
              <a:rPr lang="it-IT" sz="1050" i="1" dirty="0"/>
              <a:t> </a:t>
            </a:r>
            <a:r>
              <a:rPr lang="it-IT" sz="1050" i="1" dirty="0" err="1"/>
              <a:t>is</a:t>
            </a:r>
            <a:r>
              <a:rPr lang="it-IT" sz="1050" i="1" dirty="0"/>
              <a:t> </a:t>
            </a:r>
            <a:r>
              <a:rPr lang="it-IT" sz="1050" i="1" dirty="0" err="1"/>
              <a:t>DevOps</a:t>
            </a:r>
            <a:r>
              <a:rPr lang="it-IT" sz="1050" i="1" dirty="0"/>
              <a:t>?</a:t>
            </a:r>
          </a:p>
        </p:txBody>
      </p:sp>
      <p:sp>
        <p:nvSpPr>
          <p:cNvPr id="13" name="Title 1"/>
          <p:cNvSpPr txBox="1">
            <a:spLocks/>
          </p:cNvSpPr>
          <p:nvPr/>
        </p:nvSpPr>
        <p:spPr bwMode="auto">
          <a:xfrm>
            <a:off x="867393" y="204105"/>
            <a:ext cx="7235969" cy="4861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53570" tIns="27379" rIns="53570" bIns="27379" numCol="1" anchor="t" anchorCtr="0" compatLnSpc="1">
            <a:prstTxWarp prst="textNoShape">
              <a:avLst/>
            </a:prstTxWarp>
            <a:spAutoFit/>
          </a:bodyPr>
          <a:lstStyle>
            <a:lvl1pPr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2pPr>
            <a:lvl3pPr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3pPr>
            <a:lvl4pPr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4pPr>
            <a:lvl5pPr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5pPr>
            <a:lvl6pPr marL="457200"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6pPr>
            <a:lvl7pPr marL="914400"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7pPr>
            <a:lvl8pPr marL="1371600"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8pPr>
            <a:lvl9pPr marL="1828800"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9pPr>
          </a:lstStyle>
          <a:p>
            <a:r>
              <a:rPr lang="it-IT" sz="2800" dirty="0" err="1">
                <a:solidFill>
                  <a:srgbClr val="000000"/>
                </a:solidFill>
              </a:rPr>
              <a:t>DevOps</a:t>
            </a:r>
            <a:r>
              <a:rPr lang="it-IT" sz="2800" dirty="0">
                <a:solidFill>
                  <a:srgbClr val="000000"/>
                </a:solidFill>
              </a:rPr>
              <a:t> </a:t>
            </a:r>
            <a:r>
              <a:rPr lang="it-IT" sz="2800" dirty="0" err="1">
                <a:solidFill>
                  <a:srgbClr val="000000"/>
                </a:solidFill>
              </a:rPr>
              <a:t>towards</a:t>
            </a:r>
            <a:r>
              <a:rPr lang="it-IT" sz="2800" dirty="0">
                <a:solidFill>
                  <a:srgbClr val="000000"/>
                </a:solidFill>
              </a:rPr>
              <a:t> </a:t>
            </a:r>
            <a:r>
              <a:rPr lang="it-IT" sz="2800" dirty="0" err="1">
                <a:solidFill>
                  <a:srgbClr val="000000"/>
                </a:solidFill>
              </a:rPr>
              <a:t>industrialization</a:t>
            </a:r>
            <a:endParaRPr lang="en-US" sz="2800" kern="0" dirty="0"/>
          </a:p>
        </p:txBody>
      </p:sp>
      <p:sp>
        <p:nvSpPr>
          <p:cNvPr id="15" name="Freccia a destra 30"/>
          <p:cNvSpPr/>
          <p:nvPr/>
        </p:nvSpPr>
        <p:spPr bwMode="auto">
          <a:xfrm>
            <a:off x="4456371" y="2700352"/>
            <a:ext cx="679527" cy="843520"/>
          </a:xfrm>
          <a:prstGeom prst="rightArrow">
            <a:avLst/>
          </a:prstGeom>
          <a:solidFill>
            <a:schemeClr val="accent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53579" tIns="27384" rIns="53579" bIns="27384" numCol="1" rtlCol="0" anchor="t" anchorCtr="0" compatLnSpc="1">
            <a:prstTxWarp prst="textNoShape">
              <a:avLst/>
            </a:prstTxWarp>
            <a:spAutoFit/>
          </a:bodyPr>
          <a:lstStyle/>
          <a:p>
            <a:pPr eaLnBrk="0" hangingPunct="0">
              <a:buClr>
                <a:srgbClr val="000000"/>
              </a:buClr>
              <a:buFont typeface="Wingdings" pitchFamily="2" charset="2"/>
              <a:buChar char="n"/>
            </a:pPr>
            <a:endParaRPr lang="it-IT" sz="2400">
              <a:solidFill>
                <a:srgbClr val="000000"/>
              </a:solidFill>
            </a:endParaRPr>
          </a:p>
        </p:txBody>
      </p:sp>
      <p:sp>
        <p:nvSpPr>
          <p:cNvPr id="16" name="Rettangolo 31"/>
          <p:cNvSpPr>
            <a:spLocks noChangeAspect="1"/>
          </p:cNvSpPr>
          <p:nvPr/>
        </p:nvSpPr>
        <p:spPr bwMode="auto">
          <a:xfrm>
            <a:off x="1249387" y="2269813"/>
            <a:ext cx="2241256" cy="1149269"/>
          </a:xfrm>
          <a:prstGeom prst="rect">
            <a:avLst/>
          </a:prstGeom>
          <a:solidFill>
            <a:schemeClr val="accent5"/>
          </a:solidFill>
          <a:ln w="9525" cap="flat" cmpd="sng" algn="ctr">
            <a:solidFill>
              <a:srgbClr val="1D6064"/>
            </a:solidFill>
            <a:prstDash val="sysDash"/>
            <a:round/>
            <a:headEnd type="none" w="med" len="med"/>
            <a:tailEnd type="none" w="med" len="med"/>
          </a:ln>
          <a:effectLst/>
        </p:spPr>
        <p:txBody>
          <a:bodyPr vert="horz" wrap="square" lIns="53579" tIns="27384" rIns="53579" bIns="27384" numCol="1" rtlCol="0" anchor="t" anchorCtr="0" compatLnSpc="1">
            <a:prstTxWarp prst="textNoShape">
              <a:avLst/>
            </a:prstTxWarp>
            <a:noAutofit/>
          </a:bodyPr>
          <a:lstStyle/>
          <a:p>
            <a:pPr eaLnBrk="0" hangingPunct="0">
              <a:buClr>
                <a:srgbClr val="000000"/>
              </a:buClr>
              <a:buFont typeface="Wingdings" pitchFamily="2" charset="2"/>
              <a:buChar char="n"/>
            </a:pPr>
            <a:endParaRPr lang="it-IT" sz="2400">
              <a:solidFill>
                <a:srgbClr val="000000"/>
              </a:solidFill>
            </a:endParaRPr>
          </a:p>
        </p:txBody>
      </p:sp>
      <p:sp>
        <p:nvSpPr>
          <p:cNvPr id="17" name="Rettangolo 33"/>
          <p:cNvSpPr>
            <a:spLocks noChangeAspect="1"/>
          </p:cNvSpPr>
          <p:nvPr/>
        </p:nvSpPr>
        <p:spPr bwMode="auto">
          <a:xfrm>
            <a:off x="3490643" y="2269811"/>
            <a:ext cx="2595597" cy="1149270"/>
          </a:xfrm>
          <a:prstGeom prst="rect">
            <a:avLst/>
          </a:prstGeom>
          <a:solidFill>
            <a:schemeClr val="accent5"/>
          </a:solidFill>
          <a:ln w="9525" cap="flat" cmpd="sng" algn="ctr">
            <a:solidFill>
              <a:srgbClr val="1D6064"/>
            </a:solidFill>
            <a:prstDash val="sysDash"/>
            <a:round/>
            <a:headEnd type="none" w="med" len="med"/>
            <a:tailEnd type="none" w="med" len="med"/>
          </a:ln>
          <a:effectLst/>
        </p:spPr>
        <p:txBody>
          <a:bodyPr vert="horz" wrap="square" lIns="53579" tIns="27384" rIns="53579" bIns="27384" numCol="1" rtlCol="0" anchor="t" anchorCtr="0" compatLnSpc="1">
            <a:prstTxWarp prst="textNoShape">
              <a:avLst/>
            </a:prstTxWarp>
            <a:noAutofit/>
          </a:bodyPr>
          <a:lstStyle/>
          <a:p>
            <a:pPr eaLnBrk="0" hangingPunct="0">
              <a:buClr>
                <a:srgbClr val="000000"/>
              </a:buClr>
              <a:buFont typeface="Wingdings" pitchFamily="2" charset="2"/>
              <a:buChar char="n"/>
            </a:pPr>
            <a:endParaRPr lang="it-IT" sz="2400">
              <a:solidFill>
                <a:srgbClr val="000000"/>
              </a:solidFill>
            </a:endParaRPr>
          </a:p>
        </p:txBody>
      </p:sp>
      <p:sp>
        <p:nvSpPr>
          <p:cNvPr id="18" name="Rettangolo 34"/>
          <p:cNvSpPr>
            <a:spLocks noChangeAspect="1"/>
          </p:cNvSpPr>
          <p:nvPr/>
        </p:nvSpPr>
        <p:spPr bwMode="auto">
          <a:xfrm>
            <a:off x="6086241" y="2269813"/>
            <a:ext cx="2221960" cy="1149269"/>
          </a:xfrm>
          <a:prstGeom prst="rect">
            <a:avLst/>
          </a:prstGeom>
          <a:solidFill>
            <a:schemeClr val="accent5"/>
          </a:solidFill>
          <a:ln w="9525" cap="flat" cmpd="sng" algn="ctr">
            <a:solidFill>
              <a:srgbClr val="1D6064"/>
            </a:solidFill>
            <a:prstDash val="sysDash"/>
            <a:round/>
            <a:headEnd type="none" w="med" len="med"/>
            <a:tailEnd type="none" w="med" len="med"/>
          </a:ln>
          <a:effectLst/>
        </p:spPr>
        <p:txBody>
          <a:bodyPr vert="horz" wrap="square" lIns="53579" tIns="27384" rIns="53579" bIns="27384" numCol="1" rtlCol="0" anchor="t" anchorCtr="0" compatLnSpc="1">
            <a:prstTxWarp prst="textNoShape">
              <a:avLst/>
            </a:prstTxWarp>
            <a:noAutofit/>
          </a:bodyPr>
          <a:lstStyle/>
          <a:p>
            <a:pPr eaLnBrk="0" hangingPunct="0">
              <a:buClr>
                <a:srgbClr val="000000"/>
              </a:buClr>
              <a:buFont typeface="Wingdings" pitchFamily="2" charset="2"/>
              <a:buChar char="n"/>
            </a:pPr>
            <a:endParaRPr lang="it-IT" sz="2400">
              <a:solidFill>
                <a:srgbClr val="000000"/>
              </a:solidFill>
            </a:endParaRPr>
          </a:p>
        </p:txBody>
      </p:sp>
      <p:sp>
        <p:nvSpPr>
          <p:cNvPr id="19" name="CasellaDiTesto 35"/>
          <p:cNvSpPr txBox="1"/>
          <p:nvPr/>
        </p:nvSpPr>
        <p:spPr>
          <a:xfrm>
            <a:off x="1786578" y="3134753"/>
            <a:ext cx="1166084" cy="30008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1350" i="1" dirty="0">
                <a:solidFill>
                  <a:srgbClr val="000000"/>
                </a:solidFill>
              </a:rPr>
              <a:t>Developer</a:t>
            </a:r>
          </a:p>
        </p:txBody>
      </p:sp>
      <p:sp>
        <p:nvSpPr>
          <p:cNvPr id="20" name="CasellaDiTesto 36"/>
          <p:cNvSpPr txBox="1"/>
          <p:nvPr/>
        </p:nvSpPr>
        <p:spPr>
          <a:xfrm>
            <a:off x="6803809" y="3126754"/>
            <a:ext cx="1166084" cy="30008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it-IT" sz="1350" i="1" dirty="0">
                <a:solidFill>
                  <a:srgbClr val="000000"/>
                </a:solidFill>
              </a:rPr>
              <a:t>Production</a:t>
            </a:r>
          </a:p>
        </p:txBody>
      </p:sp>
      <p:grpSp>
        <p:nvGrpSpPr>
          <p:cNvPr id="22" name="Gruppo 37"/>
          <p:cNvGrpSpPr>
            <a:grpSpLocks noChangeAspect="1"/>
          </p:cNvGrpSpPr>
          <p:nvPr/>
        </p:nvGrpSpPr>
        <p:grpSpPr>
          <a:xfrm>
            <a:off x="2709904" y="2611641"/>
            <a:ext cx="4238999" cy="506962"/>
            <a:chOff x="2123097" y="2846714"/>
            <a:chExt cx="4621048" cy="636240"/>
          </a:xfrm>
        </p:grpSpPr>
        <p:sp>
          <p:nvSpPr>
            <p:cNvPr id="24" name="Rettangolo 47"/>
            <p:cNvSpPr/>
            <p:nvPr/>
          </p:nvSpPr>
          <p:spPr bwMode="auto">
            <a:xfrm>
              <a:off x="2123097" y="3181792"/>
              <a:ext cx="4621048" cy="301162"/>
            </a:xfrm>
            <a:prstGeom prst="rect">
              <a:avLst/>
            </a:prstGeom>
            <a:solidFill>
              <a:schemeClr val="bg1"/>
            </a:solidFill>
            <a:ln w="317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53579" tIns="27384" rIns="53579" bIns="27384" numCol="1" rtlCol="0" anchor="b" anchorCtr="0" compatLnSpc="1">
              <a:prstTxWarp prst="textNoShape">
                <a:avLst/>
              </a:prstTxWarp>
              <a:spAutoFit/>
            </a:bodyPr>
            <a:lstStyle/>
            <a:p>
              <a:pPr algn="ctr" eaLnBrk="0" hangingPunct="0">
                <a:buClr>
                  <a:srgbClr val="000000"/>
                </a:buClr>
              </a:pPr>
              <a:r>
                <a:rPr lang="it-IT" sz="1200" b="1" dirty="0">
                  <a:solidFill>
                    <a:srgbClr val="000000"/>
                  </a:solidFill>
                </a:rPr>
                <a:t>Tools</a:t>
              </a:r>
              <a:endParaRPr lang="it-IT" sz="1200" dirty="0">
                <a:solidFill>
                  <a:srgbClr val="000000"/>
                </a:solidFill>
              </a:endParaRPr>
            </a:p>
          </p:txBody>
        </p:sp>
        <p:sp>
          <p:nvSpPr>
            <p:cNvPr id="25" name="Rettangolo 48"/>
            <p:cNvSpPr/>
            <p:nvPr/>
          </p:nvSpPr>
          <p:spPr bwMode="auto">
            <a:xfrm>
              <a:off x="2123097" y="2846714"/>
              <a:ext cx="4621048" cy="330132"/>
            </a:xfrm>
            <a:prstGeom prst="rect">
              <a:avLst/>
            </a:prstGeom>
            <a:solidFill>
              <a:srgbClr val="C00000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53579" tIns="27384" rIns="53579" bIns="27384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eaLnBrk="0" hangingPunct="0">
                <a:buClr>
                  <a:srgbClr val="000000"/>
                </a:buClr>
              </a:pPr>
              <a:r>
                <a:rPr lang="it-IT" sz="1350" b="1" dirty="0">
                  <a:solidFill>
                    <a:srgbClr val="FFFFFF"/>
                  </a:solidFill>
                </a:rPr>
                <a:t>Development &amp; IT Operations</a:t>
              </a:r>
            </a:p>
          </p:txBody>
        </p:sp>
      </p:grpSp>
      <p:sp>
        <p:nvSpPr>
          <p:cNvPr id="26" name="CasellaDiTesto 39"/>
          <p:cNvSpPr txBox="1"/>
          <p:nvPr/>
        </p:nvSpPr>
        <p:spPr>
          <a:xfrm>
            <a:off x="4212968" y="3131698"/>
            <a:ext cx="1166084" cy="30008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it-IT" sz="1350" i="1" dirty="0">
                <a:solidFill>
                  <a:srgbClr val="000000"/>
                </a:solidFill>
              </a:rPr>
              <a:t>Test</a:t>
            </a:r>
          </a:p>
        </p:txBody>
      </p:sp>
      <p:grpSp>
        <p:nvGrpSpPr>
          <p:cNvPr id="27" name="Gruppo 11"/>
          <p:cNvGrpSpPr/>
          <p:nvPr/>
        </p:nvGrpSpPr>
        <p:grpSpPr>
          <a:xfrm>
            <a:off x="815687" y="1946623"/>
            <a:ext cx="792003" cy="521803"/>
            <a:chOff x="511776" y="3993892"/>
            <a:chExt cx="726234" cy="576000"/>
          </a:xfrm>
        </p:grpSpPr>
        <p:sp>
          <p:nvSpPr>
            <p:cNvPr id="29" name="Ovale 42"/>
            <p:cNvSpPr/>
            <p:nvPr/>
          </p:nvSpPr>
          <p:spPr>
            <a:xfrm>
              <a:off x="586444" y="3993892"/>
              <a:ext cx="576000" cy="576000"/>
            </a:xfrm>
            <a:prstGeom prst="ellipse">
              <a:avLst/>
            </a:prstGeom>
            <a:solidFill>
              <a:srgbClr val="1D6064"/>
            </a:solidFill>
            <a:ln>
              <a:solidFill>
                <a:srgbClr val="1D6064"/>
              </a:solidFill>
            </a:ln>
          </p:spPr>
          <p:style>
            <a:lnRef idx="1">
              <a:schemeClr val="accent1"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pPr algn="ctr"/>
              <a:endParaRPr lang="it-IT" sz="750" b="1" dirty="0">
                <a:solidFill>
                  <a:srgbClr val="FFFFFF"/>
                </a:solidFill>
              </a:endParaRPr>
            </a:p>
          </p:txBody>
        </p:sp>
        <p:sp>
          <p:nvSpPr>
            <p:cNvPr id="30" name="CasellaDiTesto 44"/>
            <p:cNvSpPr txBox="1"/>
            <p:nvPr/>
          </p:nvSpPr>
          <p:spPr>
            <a:xfrm>
              <a:off x="511776" y="4157191"/>
              <a:ext cx="726234" cy="2548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900" b="1" dirty="0" err="1">
                  <a:solidFill>
                    <a:srgbClr val="FFFFFF"/>
                  </a:solidFill>
                </a:rPr>
                <a:t>DevOps</a:t>
              </a:r>
              <a:endParaRPr lang="it-IT" sz="900" b="1" dirty="0">
                <a:solidFill>
                  <a:srgbClr val="FFFFFF"/>
                </a:solidFill>
              </a:endParaRPr>
            </a:p>
          </p:txBody>
        </p:sp>
      </p:grpSp>
      <p:sp>
        <p:nvSpPr>
          <p:cNvPr id="31" name="Rettangolo 7"/>
          <p:cNvSpPr/>
          <p:nvPr/>
        </p:nvSpPr>
        <p:spPr bwMode="auto">
          <a:xfrm>
            <a:off x="1249387" y="3414874"/>
            <a:ext cx="2241256" cy="263052"/>
          </a:xfrm>
          <a:prstGeom prst="rect">
            <a:avLst/>
          </a:prstGeom>
          <a:solidFill>
            <a:schemeClr val="accent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53579" tIns="27384" rIns="53579" bIns="27384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eaLnBrk="0" hangingPunct="0">
              <a:buClr>
                <a:srgbClr val="000000"/>
              </a:buClr>
            </a:pPr>
            <a:r>
              <a:rPr lang="en-US" sz="1350" b="1" i="1" dirty="0">
                <a:solidFill>
                  <a:srgbClr val="FFFFFF"/>
                </a:solidFill>
              </a:rPr>
              <a:t>Continuous Integration</a:t>
            </a:r>
          </a:p>
        </p:txBody>
      </p:sp>
      <p:sp>
        <p:nvSpPr>
          <p:cNvPr id="32" name="Rettangolo 51"/>
          <p:cNvSpPr/>
          <p:nvPr/>
        </p:nvSpPr>
        <p:spPr bwMode="auto">
          <a:xfrm>
            <a:off x="3490351" y="3414874"/>
            <a:ext cx="2595890" cy="263052"/>
          </a:xfrm>
          <a:prstGeom prst="rect">
            <a:avLst/>
          </a:prstGeom>
          <a:solidFill>
            <a:schemeClr val="accent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53579" tIns="27384" rIns="53579" bIns="27384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eaLnBrk="0" hangingPunct="0">
              <a:buClr>
                <a:srgbClr val="000000"/>
              </a:buClr>
            </a:pPr>
            <a:r>
              <a:rPr lang="en-US" sz="1350" b="1" i="1" dirty="0">
                <a:solidFill>
                  <a:srgbClr val="FFFFFF"/>
                </a:solidFill>
              </a:rPr>
              <a:t>Continuous Testing</a:t>
            </a:r>
          </a:p>
        </p:txBody>
      </p:sp>
      <p:sp>
        <p:nvSpPr>
          <p:cNvPr id="33" name="Rettangolo 52"/>
          <p:cNvSpPr/>
          <p:nvPr/>
        </p:nvSpPr>
        <p:spPr bwMode="auto">
          <a:xfrm>
            <a:off x="6083988" y="3414874"/>
            <a:ext cx="2227865" cy="263052"/>
          </a:xfrm>
          <a:prstGeom prst="rect">
            <a:avLst/>
          </a:prstGeom>
          <a:solidFill>
            <a:schemeClr val="accent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53579" tIns="27384" rIns="53579" bIns="27384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eaLnBrk="0" hangingPunct="0">
              <a:buClr>
                <a:srgbClr val="000000"/>
              </a:buClr>
            </a:pPr>
            <a:r>
              <a:rPr lang="en-US" sz="1350" b="1" i="1" dirty="0">
                <a:solidFill>
                  <a:srgbClr val="FFFFFF"/>
                </a:solidFill>
              </a:rPr>
              <a:t>Continuous Monitoring</a:t>
            </a:r>
          </a:p>
        </p:txBody>
      </p:sp>
      <p:sp>
        <p:nvSpPr>
          <p:cNvPr id="34" name="Rettangolo 8"/>
          <p:cNvSpPr/>
          <p:nvPr/>
        </p:nvSpPr>
        <p:spPr bwMode="auto">
          <a:xfrm>
            <a:off x="2709903" y="2353916"/>
            <a:ext cx="4239001" cy="263052"/>
          </a:xfrm>
          <a:prstGeom prst="rect">
            <a:avLst/>
          </a:prstGeom>
          <a:solidFill>
            <a:schemeClr val="accent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53579" tIns="27384" rIns="53579" bIns="27384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eaLnBrk="0" hangingPunct="0">
              <a:buClr>
                <a:srgbClr val="000000"/>
              </a:buClr>
            </a:pPr>
            <a:r>
              <a:rPr lang="it-IT" sz="1350" b="1" dirty="0" err="1">
                <a:solidFill>
                  <a:srgbClr val="FFFFFF"/>
                </a:solidFill>
              </a:rPr>
              <a:t>QoS</a:t>
            </a:r>
            <a:r>
              <a:rPr lang="it-IT" sz="1350" b="1" dirty="0">
                <a:solidFill>
                  <a:srgbClr val="FFFFFF"/>
                </a:solidFill>
              </a:rPr>
              <a:t> – </a:t>
            </a:r>
            <a:r>
              <a:rPr lang="it-IT" sz="1350" b="1" dirty="0" err="1">
                <a:solidFill>
                  <a:srgbClr val="FFFFFF"/>
                </a:solidFill>
              </a:rPr>
              <a:t>Quality</a:t>
            </a:r>
            <a:r>
              <a:rPr lang="it-IT" sz="1350" b="1" dirty="0">
                <a:solidFill>
                  <a:srgbClr val="FFFFFF"/>
                </a:solidFill>
              </a:rPr>
              <a:t> Assurance Service</a:t>
            </a:r>
          </a:p>
        </p:txBody>
      </p:sp>
      <p:sp>
        <p:nvSpPr>
          <p:cNvPr id="35" name="Rettangolo 47"/>
          <p:cNvSpPr/>
          <p:nvPr/>
        </p:nvSpPr>
        <p:spPr bwMode="auto">
          <a:xfrm>
            <a:off x="2709905" y="4003089"/>
            <a:ext cx="4238999" cy="239969"/>
          </a:xfrm>
          <a:prstGeom prst="rect">
            <a:avLst/>
          </a:prstGeom>
          <a:solidFill>
            <a:schemeClr val="bg1"/>
          </a:solidFill>
          <a:ln w="317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53579" tIns="27384" rIns="53579" bIns="27384" numCol="1" rtlCol="0" anchor="b" anchorCtr="0" compatLnSpc="1">
            <a:prstTxWarp prst="textNoShape">
              <a:avLst/>
            </a:prstTxWarp>
            <a:spAutoFit/>
          </a:bodyPr>
          <a:lstStyle/>
          <a:p>
            <a:pPr algn="ctr" eaLnBrk="0" hangingPunct="0">
              <a:buClr>
                <a:srgbClr val="000000"/>
              </a:buClr>
            </a:pPr>
            <a:r>
              <a:rPr lang="it-IT" sz="1200" b="1" dirty="0">
                <a:solidFill>
                  <a:srgbClr val="000000"/>
                </a:solidFill>
              </a:rPr>
              <a:t>Tools</a:t>
            </a:r>
            <a:endParaRPr lang="it-IT" sz="1200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65170121"/>
      </p:ext>
    </p:extLst>
  </p:cSld>
  <p:clrMapOvr>
    <a:masterClrMapping/>
  </p:clrMapOvr>
  <p:transition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uppo 3"/>
          <p:cNvGrpSpPr/>
          <p:nvPr/>
        </p:nvGrpSpPr>
        <p:grpSpPr>
          <a:xfrm>
            <a:off x="1709491" y="2049042"/>
            <a:ext cx="5955413" cy="2225117"/>
            <a:chOff x="2279321" y="2085249"/>
            <a:chExt cx="7633361" cy="2497230"/>
          </a:xfrm>
        </p:grpSpPr>
        <p:sp>
          <p:nvSpPr>
            <p:cNvPr id="7" name="Rettangolo 6"/>
            <p:cNvSpPr/>
            <p:nvPr/>
          </p:nvSpPr>
          <p:spPr bwMode="auto">
            <a:xfrm>
              <a:off x="2295241" y="4231743"/>
              <a:ext cx="7617441" cy="350736"/>
            </a:xfrm>
            <a:prstGeom prst="rect">
              <a:avLst/>
            </a:prstGeom>
            <a:solidFill>
              <a:srgbClr val="C00000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53579" tIns="27384" rIns="53579" bIns="27384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eaLnBrk="0" hangingPunct="0">
                <a:buClr>
                  <a:schemeClr val="tx1"/>
                </a:buClr>
                <a:buFont typeface="Wingdings" pitchFamily="2" charset="2"/>
                <a:buChar char="n"/>
              </a:pPr>
              <a:endParaRPr lang="it-IT" sz="1350"/>
            </a:p>
          </p:txBody>
        </p:sp>
        <p:sp>
          <p:nvSpPr>
            <p:cNvPr id="6" name="Rettangolo 5"/>
            <p:cNvSpPr/>
            <p:nvPr/>
          </p:nvSpPr>
          <p:spPr bwMode="auto">
            <a:xfrm>
              <a:off x="2295241" y="2811517"/>
              <a:ext cx="7617441" cy="350736"/>
            </a:xfrm>
            <a:prstGeom prst="rect">
              <a:avLst/>
            </a:prstGeom>
            <a:solidFill>
              <a:schemeClr val="accent5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53579" tIns="27384" rIns="53579" bIns="27384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eaLnBrk="0" hangingPunct="0">
                <a:buClr>
                  <a:schemeClr val="tx1"/>
                </a:buClr>
                <a:buFont typeface="Wingdings" pitchFamily="2" charset="2"/>
                <a:buChar char="n"/>
              </a:pPr>
              <a:endParaRPr lang="it-IT" sz="1350"/>
            </a:p>
          </p:txBody>
        </p:sp>
        <p:sp>
          <p:nvSpPr>
            <p:cNvPr id="5" name="Rettangolo 4"/>
            <p:cNvSpPr/>
            <p:nvPr/>
          </p:nvSpPr>
          <p:spPr bwMode="auto">
            <a:xfrm>
              <a:off x="2279321" y="2085249"/>
              <a:ext cx="7617441" cy="350736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53579" tIns="27384" rIns="53579" bIns="27384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eaLnBrk="0" hangingPunct="0">
                <a:buClr>
                  <a:schemeClr val="tx1"/>
                </a:buClr>
                <a:buFont typeface="Wingdings" pitchFamily="2" charset="2"/>
                <a:buChar char="n"/>
              </a:pPr>
              <a:endParaRPr lang="it-IT" sz="1350"/>
            </a:p>
          </p:txBody>
        </p:sp>
      </p:grp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08220" y="2720483"/>
            <a:ext cx="5856684" cy="2225117"/>
          </a:xfrm>
        </p:spPr>
        <p:txBody>
          <a:bodyPr/>
          <a:lstStyle/>
          <a:p>
            <a:pPr lvl="1"/>
            <a:r>
              <a:rPr lang="en-US" sz="1800" b="1" dirty="0"/>
              <a:t>Throughput</a:t>
            </a:r>
          </a:p>
          <a:p>
            <a:pPr lvl="2"/>
            <a:r>
              <a:rPr lang="en-US" sz="1800" dirty="0"/>
              <a:t>Deployment frequency </a:t>
            </a:r>
          </a:p>
          <a:p>
            <a:pPr lvl="2"/>
            <a:r>
              <a:rPr lang="en-US" sz="1800" dirty="0"/>
              <a:t>Lead time for release</a:t>
            </a:r>
          </a:p>
          <a:p>
            <a:pPr lvl="1"/>
            <a:r>
              <a:rPr lang="en-US" sz="1800" b="1" dirty="0">
                <a:solidFill>
                  <a:schemeClr val="bg1"/>
                </a:solidFill>
              </a:rPr>
              <a:t>Stability &amp; Quality</a:t>
            </a:r>
          </a:p>
          <a:p>
            <a:pPr lvl="2"/>
            <a:r>
              <a:rPr lang="en-US" sz="1800" dirty="0"/>
              <a:t>Mean time to recover from failure</a:t>
            </a:r>
          </a:p>
        </p:txBody>
      </p:sp>
      <p:sp>
        <p:nvSpPr>
          <p:cNvPr id="11" name="Title 1"/>
          <p:cNvSpPr txBox="1">
            <a:spLocks/>
          </p:cNvSpPr>
          <p:nvPr/>
        </p:nvSpPr>
        <p:spPr bwMode="auto">
          <a:xfrm>
            <a:off x="510727" y="201923"/>
            <a:ext cx="7235969" cy="424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53570" tIns="27379" rIns="53570" bIns="27379" numCol="1" anchor="t" anchorCtr="0" compatLnSpc="1">
            <a:prstTxWarp prst="textNoShape">
              <a:avLst/>
            </a:prstTxWarp>
            <a:spAutoFit/>
          </a:bodyPr>
          <a:lstStyle>
            <a:lvl1pPr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2pPr>
            <a:lvl3pPr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3pPr>
            <a:lvl4pPr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4pPr>
            <a:lvl5pPr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5pPr>
            <a:lvl6pPr marL="457200"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6pPr>
            <a:lvl7pPr marL="914400"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7pPr>
            <a:lvl8pPr marL="1371600"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8pPr>
            <a:lvl9pPr marL="1828800"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9pPr>
          </a:lstStyle>
          <a:p>
            <a:r>
              <a:rPr lang="en-US" sz="2400" dirty="0"/>
              <a:t>Need 2: IT performance and DevOps (0)</a:t>
            </a:r>
            <a:endParaRPr lang="en-US" sz="2400" kern="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71ED64B-7C96-E802-1A06-2B1ECD0CEA14}"/>
              </a:ext>
            </a:extLst>
          </p:cNvPr>
          <p:cNvSpPr txBox="1"/>
          <p:nvPr/>
        </p:nvSpPr>
        <p:spPr>
          <a:xfrm>
            <a:off x="1956390" y="2020635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</a:rPr>
              <a:t>IT performance metrics</a:t>
            </a:r>
          </a:p>
        </p:txBody>
      </p:sp>
    </p:spTree>
    <p:extLst>
      <p:ext uri="{BB962C8B-B14F-4D97-AF65-F5344CB8AC3E}">
        <p14:creationId xmlns:p14="http://schemas.microsoft.com/office/powerpoint/2010/main" val="198466878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5536" y="1268760"/>
            <a:ext cx="5856684" cy="28437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u="sng" dirty="0">
                <a:solidFill>
                  <a:schemeClr val="tx1"/>
                </a:solidFill>
              </a:rPr>
              <a:t>Main IT performance metrics</a:t>
            </a:r>
          </a:p>
          <a:p>
            <a:pPr lvl="1"/>
            <a:endParaRPr lang="en-US" sz="2000" dirty="0"/>
          </a:p>
          <a:p>
            <a:pPr lvl="1"/>
            <a:r>
              <a:rPr lang="en-US" sz="2000" dirty="0"/>
              <a:t>Throughput</a:t>
            </a:r>
          </a:p>
          <a:p>
            <a:pPr lvl="2"/>
            <a:r>
              <a:rPr lang="en-US" sz="2000" dirty="0"/>
              <a:t>Deployment frequency </a:t>
            </a:r>
          </a:p>
          <a:p>
            <a:pPr lvl="2"/>
            <a:r>
              <a:rPr lang="en-US" sz="2000" dirty="0"/>
              <a:t>Lead time for release</a:t>
            </a:r>
          </a:p>
          <a:p>
            <a:pPr marL="914400" lvl="2" indent="0">
              <a:buNone/>
            </a:pPr>
            <a:endParaRPr lang="en-US" sz="2000" dirty="0"/>
          </a:p>
          <a:p>
            <a:pPr lvl="1"/>
            <a:r>
              <a:rPr lang="en-US" sz="2000" dirty="0"/>
              <a:t>Stability &amp; Quality</a:t>
            </a:r>
          </a:p>
          <a:p>
            <a:pPr lvl="2"/>
            <a:r>
              <a:rPr lang="en-US" sz="2000" dirty="0"/>
              <a:t>Mean time to recover from failure</a:t>
            </a:r>
          </a:p>
        </p:txBody>
      </p:sp>
      <p:sp>
        <p:nvSpPr>
          <p:cNvPr id="11" name="Title 1"/>
          <p:cNvSpPr txBox="1">
            <a:spLocks/>
          </p:cNvSpPr>
          <p:nvPr/>
        </p:nvSpPr>
        <p:spPr bwMode="auto">
          <a:xfrm>
            <a:off x="179512" y="188640"/>
            <a:ext cx="7235969" cy="5661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71426" tIns="36505" rIns="71426" bIns="36505" numCol="1" anchor="t" anchorCtr="0" compatLnSpc="1">
            <a:prstTxWarp prst="textNoShape">
              <a:avLst/>
            </a:prstTxWarp>
            <a:spAutoFit/>
          </a:bodyPr>
          <a:lstStyle>
            <a:lvl1pPr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2pPr>
            <a:lvl3pPr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3pPr>
            <a:lvl4pPr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4pPr>
            <a:lvl5pPr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5pPr>
            <a:lvl6pPr marL="457200"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6pPr>
            <a:lvl7pPr marL="914400"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7pPr>
            <a:lvl8pPr marL="1371600"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8pPr>
            <a:lvl9pPr marL="1828800"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9pPr>
          </a:lstStyle>
          <a:p>
            <a:r>
              <a:rPr lang="en-US" sz="3200" dirty="0"/>
              <a:t>Need 2: IT performance and DevOps (1)</a:t>
            </a:r>
            <a:endParaRPr lang="en-US" sz="3200" kern="0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9276157C-8230-4A75-D19C-5B7564B44B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Sw. Evolution</a:t>
            </a:r>
          </a:p>
        </p:txBody>
      </p:sp>
    </p:spTree>
    <p:extLst>
      <p:ext uri="{BB962C8B-B14F-4D97-AF65-F5344CB8AC3E}">
        <p14:creationId xmlns:p14="http://schemas.microsoft.com/office/powerpoint/2010/main" val="404177673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23528" y="1704978"/>
            <a:ext cx="7848872" cy="44305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400" b="1"/>
              <a:t>Examples of DevOps </a:t>
            </a:r>
            <a:r>
              <a:rPr lang="en-US" sz="2400" b="1" dirty="0"/>
              <a:t>practices</a:t>
            </a:r>
            <a:r>
              <a:rPr lang="en-US" sz="2400" dirty="0"/>
              <a:t> that improve IT performance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71597" y="2348880"/>
          <a:ext cx="6840762" cy="3415640"/>
        </p:xfrm>
        <a:graphic>
          <a:graphicData uri="http://schemas.openxmlformats.org/drawingml/2006/table">
            <a:tbl>
              <a:tblPr firstRow="1" bandRow="1">
                <a:tableStyleId>{1E171933-4619-4E11-9A3F-F7608DF75F80}</a:tableStyleId>
              </a:tblPr>
              <a:tblGrid>
                <a:gridCol w="34203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2038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6468">
                <a:tc>
                  <a:txBody>
                    <a:bodyPr/>
                    <a:lstStyle/>
                    <a:p>
                      <a:r>
                        <a:rPr lang="en-US" sz="2000" dirty="0"/>
                        <a:t>Throughput</a:t>
                      </a:r>
                    </a:p>
                  </a:txBody>
                  <a:tcPr marL="68580" marR="685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Stability &amp; Quality</a:t>
                      </a:r>
                    </a:p>
                  </a:txBody>
                  <a:tcPr marL="68580" marR="68580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43732">
                <a:tc>
                  <a:txBody>
                    <a:bodyPr/>
                    <a:lstStyle/>
                    <a:p>
                      <a:r>
                        <a:rPr lang="en-US" sz="2000" dirty="0"/>
                        <a:t>Deployment frequency</a:t>
                      </a:r>
                    </a:p>
                    <a:p>
                      <a:pPr marL="342900" indent="-342900">
                        <a:buFont typeface="Arial"/>
                        <a:buChar char="•"/>
                      </a:pPr>
                      <a:r>
                        <a:rPr lang="en-US" sz="2000" dirty="0"/>
                        <a:t>Continuous</a:t>
                      </a:r>
                      <a:r>
                        <a:rPr lang="en-US" sz="2000" baseline="0" dirty="0"/>
                        <a:t> delivery</a:t>
                      </a:r>
                    </a:p>
                    <a:p>
                      <a:pPr marL="342900" indent="-342900">
                        <a:buFont typeface="Arial"/>
                        <a:buChar char="•"/>
                      </a:pPr>
                      <a:r>
                        <a:rPr lang="en-US" sz="2000" baseline="0" dirty="0"/>
                        <a:t>Version control</a:t>
                      </a:r>
                      <a:endParaRPr lang="en-US" sz="2000" dirty="0"/>
                    </a:p>
                  </a:txBody>
                  <a:tcPr marL="68580" marR="685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Mean time to recover</a:t>
                      </a:r>
                    </a:p>
                    <a:p>
                      <a:pPr marL="342900" indent="-342900">
                        <a:buFont typeface="Arial"/>
                        <a:buChar char="•"/>
                      </a:pPr>
                      <a:r>
                        <a:rPr lang="en-US" sz="2000" dirty="0"/>
                        <a:t>Version control</a:t>
                      </a:r>
                    </a:p>
                    <a:p>
                      <a:pPr marL="342900" indent="-342900">
                        <a:buFont typeface="Arial"/>
                        <a:buChar char="•"/>
                      </a:pPr>
                      <a:r>
                        <a:rPr lang="en-US" sz="2000" dirty="0"/>
                        <a:t>Monitoring system</a:t>
                      </a:r>
                      <a:r>
                        <a:rPr lang="en-US" sz="2000" baseline="0" dirty="0"/>
                        <a:t> and application health</a:t>
                      </a:r>
                      <a:endParaRPr lang="en-US" sz="2000" dirty="0"/>
                    </a:p>
                  </a:txBody>
                  <a:tcPr marL="68580" marR="68580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58728">
                <a:tc>
                  <a:txBody>
                    <a:bodyPr/>
                    <a:lstStyle/>
                    <a:p>
                      <a:r>
                        <a:rPr lang="en-US" sz="2000" dirty="0"/>
                        <a:t>Lead time for release</a:t>
                      </a:r>
                    </a:p>
                    <a:p>
                      <a:pPr marL="342900" indent="-342900">
                        <a:buFont typeface="Arial"/>
                        <a:buChar char="•"/>
                      </a:pPr>
                      <a:r>
                        <a:rPr lang="en-US" sz="2000" dirty="0"/>
                        <a:t>Version</a:t>
                      </a:r>
                      <a:r>
                        <a:rPr lang="en-US" sz="2000" baseline="0" dirty="0"/>
                        <a:t> control</a:t>
                      </a:r>
                    </a:p>
                    <a:p>
                      <a:pPr marL="342900" indent="-342900">
                        <a:buFont typeface="Arial"/>
                        <a:buChar char="•"/>
                      </a:pPr>
                      <a:r>
                        <a:rPr lang="en-US" sz="2000" baseline="0" dirty="0"/>
                        <a:t>Continuous architecting</a:t>
                      </a:r>
                    </a:p>
                    <a:p>
                      <a:pPr marL="342900" marR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/>
                        <a:buChar char="•"/>
                        <a:tabLst/>
                        <a:defRPr/>
                      </a:pPr>
                      <a:r>
                        <a:rPr lang="en-US" sz="2000" baseline="0" dirty="0"/>
                        <a:t>Continuous integration </a:t>
                      </a:r>
                    </a:p>
                    <a:p>
                      <a:pPr marL="342900" marR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/>
                        <a:buChar char="•"/>
                        <a:tabLst/>
                        <a:defRPr/>
                      </a:pPr>
                      <a:r>
                        <a:rPr lang="en-US" sz="2000" baseline="0" dirty="0"/>
                        <a:t>Continuous testing</a:t>
                      </a:r>
                    </a:p>
                  </a:txBody>
                  <a:tcPr marL="68580" marR="685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 marL="68580" marR="68580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3" name="Title 1"/>
          <p:cNvSpPr txBox="1">
            <a:spLocks/>
          </p:cNvSpPr>
          <p:nvPr/>
        </p:nvSpPr>
        <p:spPr bwMode="auto">
          <a:xfrm>
            <a:off x="179512" y="188640"/>
            <a:ext cx="7235969" cy="5661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71426" tIns="36505" rIns="71426" bIns="36505" numCol="1" anchor="t" anchorCtr="0" compatLnSpc="1">
            <a:prstTxWarp prst="textNoShape">
              <a:avLst/>
            </a:prstTxWarp>
            <a:spAutoFit/>
          </a:bodyPr>
          <a:lstStyle>
            <a:lvl1pPr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2pPr>
            <a:lvl3pPr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3pPr>
            <a:lvl4pPr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4pPr>
            <a:lvl5pPr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5pPr>
            <a:lvl6pPr marL="457200"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6pPr>
            <a:lvl7pPr marL="914400"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7pPr>
            <a:lvl8pPr marL="1371600"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8pPr>
            <a:lvl9pPr marL="1828800"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9pPr>
          </a:lstStyle>
          <a:p>
            <a:r>
              <a:rPr lang="en-US" sz="3200" dirty="0"/>
              <a:t>Need 2: IT performance and DevOps (2)</a:t>
            </a:r>
            <a:endParaRPr lang="en-US" sz="3200" kern="0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B48ADE97-BA03-39EE-A64E-06F5050BCF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Sw. Evolution</a:t>
            </a:r>
          </a:p>
        </p:txBody>
      </p:sp>
    </p:spTree>
    <p:extLst>
      <p:ext uri="{BB962C8B-B14F-4D97-AF65-F5344CB8AC3E}">
        <p14:creationId xmlns:p14="http://schemas.microsoft.com/office/powerpoint/2010/main" val="258158579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47" name="WordArt 17"/>
          <p:cNvSpPr>
            <a:spLocks noChangeArrowheads="1" noChangeShapeType="1" noTextEdit="1"/>
          </p:cNvSpPr>
          <p:nvPr/>
        </p:nvSpPr>
        <p:spPr bwMode="auto">
          <a:xfrm>
            <a:off x="6100509" y="2528700"/>
            <a:ext cx="1470422" cy="658091"/>
          </a:xfrm>
          <a:prstGeom prst="rect">
            <a:avLst/>
          </a:prstGeom>
        </p:spPr>
        <p:txBody>
          <a:bodyPr wrap="none" fromWordArt="1">
            <a:prstTxWarp prst="textSlantUp">
              <a:avLst>
                <a:gd name="adj" fmla="val 55556"/>
              </a:avLst>
            </a:prstTxWarp>
          </a:bodyPr>
          <a:lstStyle/>
          <a:p>
            <a:pPr algn="ctr"/>
            <a:r>
              <a:rPr lang="en-US" sz="1350" kern="10" dirty="0">
                <a:ln w="9525">
                  <a:solidFill>
                    <a:srgbClr val="C00000"/>
                  </a:solidFill>
                  <a:round/>
                  <a:headEnd/>
                  <a:tailEnd/>
                </a:ln>
                <a:solidFill>
                  <a:srgbClr val="C00000"/>
                </a:solidFill>
                <a:latin typeface="Arial Black"/>
                <a:ea typeface="Arial Black"/>
                <a:cs typeface="Arial Black"/>
              </a:rPr>
              <a:t>high phases</a:t>
            </a:r>
          </a:p>
        </p:txBody>
      </p:sp>
      <p:sp>
        <p:nvSpPr>
          <p:cNvPr id="69648" name="WordArt 18"/>
          <p:cNvSpPr>
            <a:spLocks noChangeArrowheads="1" noChangeShapeType="1" noTextEdit="1"/>
          </p:cNvSpPr>
          <p:nvPr/>
        </p:nvSpPr>
        <p:spPr bwMode="auto">
          <a:xfrm>
            <a:off x="2534503" y="4433284"/>
            <a:ext cx="1470422" cy="658091"/>
          </a:xfrm>
          <a:prstGeom prst="rect">
            <a:avLst/>
          </a:prstGeom>
        </p:spPr>
        <p:txBody>
          <a:bodyPr wrap="none" fromWordArt="1">
            <a:prstTxWarp prst="textSlantUp">
              <a:avLst>
                <a:gd name="adj" fmla="val 55556"/>
              </a:avLst>
            </a:prstTxWarp>
          </a:bodyPr>
          <a:lstStyle/>
          <a:p>
            <a:pPr algn="ctr"/>
            <a:r>
              <a:rPr lang="en-US" sz="1350" kern="10" dirty="0">
                <a:ln w="9525">
                  <a:solidFill>
                    <a:srgbClr val="C00000"/>
                  </a:solidFill>
                  <a:round/>
                  <a:headEnd/>
                  <a:tailEnd/>
                </a:ln>
                <a:solidFill>
                  <a:srgbClr val="C00000"/>
                </a:solidFill>
                <a:latin typeface="Arial Black"/>
                <a:ea typeface="Arial Black"/>
                <a:cs typeface="Arial Black"/>
              </a:rPr>
              <a:t>low phases</a:t>
            </a:r>
          </a:p>
        </p:txBody>
      </p:sp>
      <p:grpSp>
        <p:nvGrpSpPr>
          <p:cNvPr id="2" name="Gruppo 1"/>
          <p:cNvGrpSpPr/>
          <p:nvPr/>
        </p:nvGrpSpPr>
        <p:grpSpPr>
          <a:xfrm>
            <a:off x="2119746" y="2208068"/>
            <a:ext cx="5437273" cy="3460239"/>
            <a:chOff x="215536" y="1078467"/>
            <a:chExt cx="8450192" cy="5327116"/>
          </a:xfrm>
        </p:grpSpPr>
        <p:sp>
          <p:nvSpPr>
            <p:cNvPr id="69636" name="Text Box 4"/>
            <p:cNvSpPr txBox="1">
              <a:spLocks noChangeArrowheads="1"/>
            </p:cNvSpPr>
            <p:nvPr/>
          </p:nvSpPr>
          <p:spPr bwMode="auto">
            <a:xfrm>
              <a:off x="215536" y="1078467"/>
              <a:ext cx="2036360" cy="46198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9pPr>
            </a:lstStyle>
            <a:p>
              <a:r>
                <a:rPr lang="en-US" sz="1350" dirty="0">
                  <a:latin typeface="+mn-lt"/>
                </a:rPr>
                <a:t>Feasibility study</a:t>
              </a:r>
            </a:p>
          </p:txBody>
        </p:sp>
        <p:sp>
          <p:nvSpPr>
            <p:cNvPr id="69637" name="Text Box 5"/>
            <p:cNvSpPr txBox="1">
              <a:spLocks noChangeArrowheads="1"/>
            </p:cNvSpPr>
            <p:nvPr/>
          </p:nvSpPr>
          <p:spPr bwMode="auto">
            <a:xfrm>
              <a:off x="1485900" y="1905001"/>
              <a:ext cx="2916971" cy="78181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9pPr>
            </a:lstStyle>
            <a:p>
              <a:r>
                <a:rPr lang="en-US" sz="1350">
                  <a:latin typeface="+mn-lt"/>
                </a:rPr>
                <a:t>Requirements analysis&amp;</a:t>
              </a:r>
            </a:p>
            <a:p>
              <a:r>
                <a:rPr lang="en-US" sz="1350">
                  <a:latin typeface="+mn-lt"/>
                </a:rPr>
                <a:t>specification</a:t>
              </a:r>
            </a:p>
          </p:txBody>
        </p:sp>
        <p:sp>
          <p:nvSpPr>
            <p:cNvPr id="69638" name="Text Box 6"/>
            <p:cNvSpPr txBox="1">
              <a:spLocks noChangeArrowheads="1"/>
            </p:cNvSpPr>
            <p:nvPr/>
          </p:nvSpPr>
          <p:spPr bwMode="auto">
            <a:xfrm>
              <a:off x="2889250" y="2971799"/>
              <a:ext cx="1021917" cy="46198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9pPr>
            </a:lstStyle>
            <a:p>
              <a:r>
                <a:rPr lang="en-US" sz="1350">
                  <a:latin typeface="+mn-lt"/>
                </a:rPr>
                <a:t>Design</a:t>
              </a:r>
            </a:p>
          </p:txBody>
        </p:sp>
        <p:sp>
          <p:nvSpPr>
            <p:cNvPr id="69639" name="Text Box 7"/>
            <p:cNvSpPr txBox="1">
              <a:spLocks noChangeArrowheads="1"/>
            </p:cNvSpPr>
            <p:nvPr/>
          </p:nvSpPr>
          <p:spPr bwMode="auto">
            <a:xfrm>
              <a:off x="3549649" y="3657601"/>
              <a:ext cx="2169494" cy="46198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9pPr>
            </a:lstStyle>
            <a:p>
              <a:r>
                <a:rPr lang="en-US" sz="1350" dirty="0" err="1">
                  <a:latin typeface="+mn-lt"/>
                </a:rPr>
                <a:t>Coding&amp;Unit</a:t>
              </a:r>
              <a:r>
                <a:rPr lang="en-US" sz="1350" dirty="0">
                  <a:latin typeface="+mn-lt"/>
                </a:rPr>
                <a:t> test</a:t>
              </a:r>
            </a:p>
          </p:txBody>
        </p:sp>
        <p:sp>
          <p:nvSpPr>
            <p:cNvPr id="69640" name="Text Box 8"/>
            <p:cNvSpPr txBox="1">
              <a:spLocks noChangeArrowheads="1"/>
            </p:cNvSpPr>
            <p:nvPr/>
          </p:nvSpPr>
          <p:spPr bwMode="auto">
            <a:xfrm>
              <a:off x="4705351" y="4419599"/>
              <a:ext cx="2929229" cy="46198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9pPr>
            </a:lstStyle>
            <a:p>
              <a:r>
                <a:rPr lang="en-US" sz="1350" dirty="0" err="1">
                  <a:latin typeface="+mn-lt"/>
                </a:rPr>
                <a:t>Integration&amp;System</a:t>
              </a:r>
              <a:r>
                <a:rPr lang="en-US" sz="1350" dirty="0">
                  <a:latin typeface="+mn-lt"/>
                </a:rPr>
                <a:t> test</a:t>
              </a:r>
            </a:p>
          </p:txBody>
        </p:sp>
        <p:sp>
          <p:nvSpPr>
            <p:cNvPr id="69641" name="Text Box 9"/>
            <p:cNvSpPr txBox="1">
              <a:spLocks noChangeArrowheads="1"/>
            </p:cNvSpPr>
            <p:nvPr/>
          </p:nvSpPr>
          <p:spPr bwMode="auto">
            <a:xfrm>
              <a:off x="6026150" y="5181599"/>
              <a:ext cx="1630782" cy="46198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9pPr>
            </a:lstStyle>
            <a:p>
              <a:r>
                <a:rPr lang="en-US" sz="1350">
                  <a:latin typeface="+mn-lt"/>
                </a:rPr>
                <a:t>Deployment</a:t>
              </a:r>
            </a:p>
          </p:txBody>
        </p:sp>
        <p:sp>
          <p:nvSpPr>
            <p:cNvPr id="69642" name="Freeform 11"/>
            <p:cNvSpPr>
              <a:spLocks/>
            </p:cNvSpPr>
            <p:nvPr/>
          </p:nvSpPr>
          <p:spPr bwMode="auto">
            <a:xfrm>
              <a:off x="1762773" y="1558938"/>
              <a:ext cx="660400" cy="457200"/>
            </a:xfrm>
            <a:custGeom>
              <a:avLst/>
              <a:gdLst>
                <a:gd name="T0" fmla="*/ 0 w 384"/>
                <a:gd name="T1" fmla="*/ 0 h 288"/>
                <a:gd name="T2" fmla="*/ 2147483647 w 384"/>
                <a:gd name="T3" fmla="*/ 2147483647 h 288"/>
                <a:gd name="T4" fmla="*/ 2147483647 w 384"/>
                <a:gd name="T5" fmla="*/ 2147483647 h 288"/>
                <a:gd name="T6" fmla="*/ 0 60000 65536"/>
                <a:gd name="T7" fmla="*/ 0 60000 65536"/>
                <a:gd name="T8" fmla="*/ 0 60000 65536"/>
                <a:gd name="T9" fmla="*/ 0 w 384"/>
                <a:gd name="T10" fmla="*/ 0 h 288"/>
                <a:gd name="T11" fmla="*/ 384 w 384"/>
                <a:gd name="T12" fmla="*/ 288 h 288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384" h="288">
                  <a:moveTo>
                    <a:pt x="0" y="0"/>
                  </a:moveTo>
                  <a:cubicBezTo>
                    <a:pt x="112" y="0"/>
                    <a:pt x="224" y="0"/>
                    <a:pt x="288" y="48"/>
                  </a:cubicBezTo>
                  <a:cubicBezTo>
                    <a:pt x="352" y="96"/>
                    <a:pt x="368" y="192"/>
                    <a:pt x="384" y="288"/>
                  </a:cubicBez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 type="arrow" w="med" len="med"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US" sz="1200"/>
            </a:p>
          </p:txBody>
        </p:sp>
        <p:sp>
          <p:nvSpPr>
            <p:cNvPr id="69643" name="Freeform 12"/>
            <p:cNvSpPr>
              <a:spLocks/>
            </p:cNvSpPr>
            <p:nvPr/>
          </p:nvSpPr>
          <p:spPr bwMode="auto">
            <a:xfrm>
              <a:off x="2991211" y="2647590"/>
              <a:ext cx="660400" cy="457200"/>
            </a:xfrm>
            <a:custGeom>
              <a:avLst/>
              <a:gdLst>
                <a:gd name="T0" fmla="*/ 0 w 384"/>
                <a:gd name="T1" fmla="*/ 0 h 288"/>
                <a:gd name="T2" fmla="*/ 2147483647 w 384"/>
                <a:gd name="T3" fmla="*/ 2147483647 h 288"/>
                <a:gd name="T4" fmla="*/ 2147483647 w 384"/>
                <a:gd name="T5" fmla="*/ 2147483647 h 288"/>
                <a:gd name="T6" fmla="*/ 0 60000 65536"/>
                <a:gd name="T7" fmla="*/ 0 60000 65536"/>
                <a:gd name="T8" fmla="*/ 0 60000 65536"/>
                <a:gd name="T9" fmla="*/ 0 w 384"/>
                <a:gd name="T10" fmla="*/ 0 h 288"/>
                <a:gd name="T11" fmla="*/ 384 w 384"/>
                <a:gd name="T12" fmla="*/ 288 h 288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384" h="288">
                  <a:moveTo>
                    <a:pt x="0" y="0"/>
                  </a:moveTo>
                  <a:cubicBezTo>
                    <a:pt x="112" y="0"/>
                    <a:pt x="224" y="0"/>
                    <a:pt x="288" y="48"/>
                  </a:cubicBezTo>
                  <a:cubicBezTo>
                    <a:pt x="352" y="96"/>
                    <a:pt x="368" y="192"/>
                    <a:pt x="384" y="288"/>
                  </a:cubicBez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 type="arrow" w="med" len="med"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US" sz="1200"/>
            </a:p>
          </p:txBody>
        </p:sp>
        <p:sp>
          <p:nvSpPr>
            <p:cNvPr id="69644" name="Freeform 13"/>
            <p:cNvSpPr>
              <a:spLocks/>
            </p:cNvSpPr>
            <p:nvPr/>
          </p:nvSpPr>
          <p:spPr bwMode="auto">
            <a:xfrm>
              <a:off x="4787900" y="4038600"/>
              <a:ext cx="660400" cy="457200"/>
            </a:xfrm>
            <a:custGeom>
              <a:avLst/>
              <a:gdLst>
                <a:gd name="T0" fmla="*/ 0 w 384"/>
                <a:gd name="T1" fmla="*/ 0 h 288"/>
                <a:gd name="T2" fmla="*/ 2147483647 w 384"/>
                <a:gd name="T3" fmla="*/ 2147483647 h 288"/>
                <a:gd name="T4" fmla="*/ 2147483647 w 384"/>
                <a:gd name="T5" fmla="*/ 2147483647 h 288"/>
                <a:gd name="T6" fmla="*/ 0 60000 65536"/>
                <a:gd name="T7" fmla="*/ 0 60000 65536"/>
                <a:gd name="T8" fmla="*/ 0 60000 65536"/>
                <a:gd name="T9" fmla="*/ 0 w 384"/>
                <a:gd name="T10" fmla="*/ 0 h 288"/>
                <a:gd name="T11" fmla="*/ 384 w 384"/>
                <a:gd name="T12" fmla="*/ 288 h 288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384" h="288">
                  <a:moveTo>
                    <a:pt x="0" y="0"/>
                  </a:moveTo>
                  <a:cubicBezTo>
                    <a:pt x="112" y="0"/>
                    <a:pt x="224" y="0"/>
                    <a:pt x="288" y="48"/>
                  </a:cubicBezTo>
                  <a:cubicBezTo>
                    <a:pt x="352" y="96"/>
                    <a:pt x="368" y="192"/>
                    <a:pt x="384" y="288"/>
                  </a:cubicBez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 type="arrow" w="med" len="med"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US" sz="1200"/>
            </a:p>
          </p:txBody>
        </p:sp>
        <p:sp>
          <p:nvSpPr>
            <p:cNvPr id="69645" name="Freeform 14"/>
            <p:cNvSpPr>
              <a:spLocks/>
            </p:cNvSpPr>
            <p:nvPr/>
          </p:nvSpPr>
          <p:spPr bwMode="auto">
            <a:xfrm>
              <a:off x="6045561" y="4820011"/>
              <a:ext cx="660400" cy="457200"/>
            </a:xfrm>
            <a:custGeom>
              <a:avLst/>
              <a:gdLst>
                <a:gd name="T0" fmla="*/ 0 w 384"/>
                <a:gd name="T1" fmla="*/ 0 h 288"/>
                <a:gd name="T2" fmla="*/ 2147483647 w 384"/>
                <a:gd name="T3" fmla="*/ 2147483647 h 288"/>
                <a:gd name="T4" fmla="*/ 2147483647 w 384"/>
                <a:gd name="T5" fmla="*/ 2147483647 h 288"/>
                <a:gd name="T6" fmla="*/ 0 60000 65536"/>
                <a:gd name="T7" fmla="*/ 0 60000 65536"/>
                <a:gd name="T8" fmla="*/ 0 60000 65536"/>
                <a:gd name="T9" fmla="*/ 0 w 384"/>
                <a:gd name="T10" fmla="*/ 0 h 288"/>
                <a:gd name="T11" fmla="*/ 384 w 384"/>
                <a:gd name="T12" fmla="*/ 288 h 288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384" h="288">
                  <a:moveTo>
                    <a:pt x="0" y="0"/>
                  </a:moveTo>
                  <a:cubicBezTo>
                    <a:pt x="112" y="0"/>
                    <a:pt x="224" y="0"/>
                    <a:pt x="288" y="48"/>
                  </a:cubicBezTo>
                  <a:cubicBezTo>
                    <a:pt x="352" y="96"/>
                    <a:pt x="368" y="192"/>
                    <a:pt x="384" y="288"/>
                  </a:cubicBez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 type="arrow" w="med" len="med"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US" sz="1200"/>
            </a:p>
          </p:txBody>
        </p:sp>
        <p:sp>
          <p:nvSpPr>
            <p:cNvPr id="69646" name="Freeform 15"/>
            <p:cNvSpPr>
              <a:spLocks/>
            </p:cNvSpPr>
            <p:nvPr/>
          </p:nvSpPr>
          <p:spPr bwMode="auto">
            <a:xfrm>
              <a:off x="3942989" y="3275156"/>
              <a:ext cx="660400" cy="457200"/>
            </a:xfrm>
            <a:custGeom>
              <a:avLst/>
              <a:gdLst>
                <a:gd name="T0" fmla="*/ 0 w 384"/>
                <a:gd name="T1" fmla="*/ 0 h 288"/>
                <a:gd name="T2" fmla="*/ 2147483647 w 384"/>
                <a:gd name="T3" fmla="*/ 2147483647 h 288"/>
                <a:gd name="T4" fmla="*/ 2147483647 w 384"/>
                <a:gd name="T5" fmla="*/ 2147483647 h 288"/>
                <a:gd name="T6" fmla="*/ 0 60000 65536"/>
                <a:gd name="T7" fmla="*/ 0 60000 65536"/>
                <a:gd name="T8" fmla="*/ 0 60000 65536"/>
                <a:gd name="T9" fmla="*/ 0 w 384"/>
                <a:gd name="T10" fmla="*/ 0 h 288"/>
                <a:gd name="T11" fmla="*/ 384 w 384"/>
                <a:gd name="T12" fmla="*/ 288 h 288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384" h="288">
                  <a:moveTo>
                    <a:pt x="0" y="0"/>
                  </a:moveTo>
                  <a:cubicBezTo>
                    <a:pt x="112" y="0"/>
                    <a:pt x="224" y="0"/>
                    <a:pt x="288" y="48"/>
                  </a:cubicBezTo>
                  <a:cubicBezTo>
                    <a:pt x="352" y="96"/>
                    <a:pt x="368" y="192"/>
                    <a:pt x="384" y="288"/>
                  </a:cubicBez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 type="arrow" w="med" len="med"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US" sz="1200"/>
            </a:p>
          </p:txBody>
        </p:sp>
        <p:sp>
          <p:nvSpPr>
            <p:cNvPr id="69649" name="Text Box 19"/>
            <p:cNvSpPr txBox="1">
              <a:spLocks noChangeArrowheads="1"/>
            </p:cNvSpPr>
            <p:nvPr/>
          </p:nvSpPr>
          <p:spPr bwMode="auto">
            <a:xfrm>
              <a:off x="6934200" y="5943600"/>
              <a:ext cx="1731528" cy="46198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9pPr>
            </a:lstStyle>
            <a:p>
              <a:r>
                <a:rPr lang="en-US" sz="1350" dirty="0">
                  <a:latin typeface="+mn-lt"/>
                </a:rPr>
                <a:t>Maintenance</a:t>
              </a:r>
            </a:p>
          </p:txBody>
        </p:sp>
        <p:sp>
          <p:nvSpPr>
            <p:cNvPr id="69650" name="Freeform 20"/>
            <p:cNvSpPr>
              <a:spLocks/>
            </p:cNvSpPr>
            <p:nvPr/>
          </p:nvSpPr>
          <p:spPr bwMode="auto">
            <a:xfrm>
              <a:off x="6953611" y="5582011"/>
              <a:ext cx="660400" cy="457200"/>
            </a:xfrm>
            <a:custGeom>
              <a:avLst/>
              <a:gdLst>
                <a:gd name="T0" fmla="*/ 0 w 384"/>
                <a:gd name="T1" fmla="*/ 0 h 288"/>
                <a:gd name="T2" fmla="*/ 2147483647 w 384"/>
                <a:gd name="T3" fmla="*/ 2147483647 h 288"/>
                <a:gd name="T4" fmla="*/ 2147483647 w 384"/>
                <a:gd name="T5" fmla="*/ 2147483647 h 288"/>
                <a:gd name="T6" fmla="*/ 0 60000 65536"/>
                <a:gd name="T7" fmla="*/ 0 60000 65536"/>
                <a:gd name="T8" fmla="*/ 0 60000 65536"/>
                <a:gd name="T9" fmla="*/ 0 w 384"/>
                <a:gd name="T10" fmla="*/ 0 h 288"/>
                <a:gd name="T11" fmla="*/ 384 w 384"/>
                <a:gd name="T12" fmla="*/ 288 h 288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384" h="288">
                  <a:moveTo>
                    <a:pt x="0" y="0"/>
                  </a:moveTo>
                  <a:cubicBezTo>
                    <a:pt x="112" y="0"/>
                    <a:pt x="224" y="0"/>
                    <a:pt x="288" y="48"/>
                  </a:cubicBezTo>
                  <a:cubicBezTo>
                    <a:pt x="352" y="96"/>
                    <a:pt x="368" y="192"/>
                    <a:pt x="384" y="288"/>
                  </a:cubicBez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 type="arrow" w="med" len="med"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US" sz="1200"/>
            </a:p>
          </p:txBody>
        </p:sp>
      </p:grpSp>
      <p:pic>
        <p:nvPicPr>
          <p:cNvPr id="20" name="Picture 10"/>
          <p:cNvPicPr>
            <a:picLocks noChangeAspect="1" noChangeArrowheads="1"/>
          </p:cNvPicPr>
          <p:nvPr/>
        </p:nvPicPr>
        <p:blipFill>
          <a:blip r:embed="rId3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prstClr val="black"/>
              <a:schemeClr val="accent1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813" y="2760037"/>
            <a:ext cx="1957612" cy="1953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Rectangle 12"/>
          <p:cNvSpPr>
            <a:spLocks noChangeArrowheads="1"/>
          </p:cNvSpPr>
          <p:nvPr/>
        </p:nvSpPr>
        <p:spPr bwMode="auto">
          <a:xfrm>
            <a:off x="595276" y="5092488"/>
            <a:ext cx="139583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>
            <a:prstShdw prst="shdw17" dist="17961" dir="2700000">
              <a:schemeClr val="accent1">
                <a:gamma/>
                <a:shade val="60000"/>
                <a:invGamma/>
              </a:schemeClr>
            </a:prstShdw>
          </a:effectLst>
        </p:spPr>
        <p:txBody>
          <a:bodyPr wrap="none">
            <a:spAutoFit/>
          </a:bodyPr>
          <a:lstStyle/>
          <a:p>
            <a:pPr>
              <a:defRPr/>
            </a:pPr>
            <a:r>
              <a:rPr lang="en-GB" sz="1200" b="1" dirty="0">
                <a:ea typeface="ＭＳ Ｐゴシック"/>
              </a:rPr>
              <a:t>“Waterfall” Model</a:t>
            </a:r>
            <a:r>
              <a:rPr lang="en-GB" sz="1200" dirty="0">
                <a:ea typeface="ＭＳ Ｐゴシック"/>
              </a:rPr>
              <a:t> </a:t>
            </a:r>
          </a:p>
        </p:txBody>
      </p:sp>
      <p:sp>
        <p:nvSpPr>
          <p:cNvPr id="25" name="Title 1"/>
          <p:cNvSpPr txBox="1">
            <a:spLocks/>
          </p:cNvSpPr>
          <p:nvPr/>
        </p:nvSpPr>
        <p:spPr bwMode="auto">
          <a:xfrm>
            <a:off x="659554" y="265844"/>
            <a:ext cx="8142174" cy="424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53570" tIns="27379" rIns="53570" bIns="27379" numCol="1" anchor="t" anchorCtr="0" compatLnSpc="1">
            <a:prstTxWarp prst="textNoShape">
              <a:avLst/>
            </a:prstTxWarp>
            <a:spAutoFit/>
          </a:bodyPr>
          <a:lstStyle>
            <a:lvl1pPr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2pPr>
            <a:lvl3pPr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3pPr>
            <a:lvl4pPr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4pPr>
            <a:lvl5pPr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5pPr>
            <a:lvl6pPr marL="457200"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6pPr>
            <a:lvl7pPr marL="914400"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7pPr>
            <a:lvl8pPr marL="1371600"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8pPr>
            <a:lvl9pPr marL="1828800"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9pPr>
          </a:lstStyle>
          <a:p>
            <a:pPr algn="just"/>
            <a:r>
              <a:rPr lang="en-US" sz="2400" dirty="0">
                <a:latin typeface="Arial" charset="0"/>
              </a:rPr>
              <a:t>Need 3: Lifecycle Alignment</a:t>
            </a:r>
            <a:endParaRPr lang="en-US" sz="2400" dirty="0">
              <a:solidFill>
                <a:srgbClr val="000000"/>
              </a:solidFill>
            </a:endParaRPr>
          </a:p>
        </p:txBody>
      </p:sp>
      <p:pic>
        <p:nvPicPr>
          <p:cNvPr id="2050" name="Picture 2" descr="http://www.adocnazionale.it/wp-content/uploads/2013/03/Unicredit_Logo1.png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0452" y="5418294"/>
            <a:ext cx="779903" cy="171947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5F6552C-C374-C68B-2208-E787EE5310D3}"/>
              </a:ext>
            </a:extLst>
          </p:cNvPr>
          <p:cNvSpPr txBox="1"/>
          <p:nvPr/>
        </p:nvSpPr>
        <p:spPr>
          <a:xfrm>
            <a:off x="651161" y="1069357"/>
            <a:ext cx="4572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latin typeface="Arial" charset="0"/>
              </a:rPr>
              <a:t>What about other life-cycles? A waterfall organization</a:t>
            </a:r>
            <a:endParaRPr lang="en-IT" dirty="0"/>
          </a:p>
        </p:txBody>
      </p:sp>
    </p:spTree>
    <p:extLst>
      <p:ext uri="{BB962C8B-B14F-4D97-AF65-F5344CB8AC3E}">
        <p14:creationId xmlns:p14="http://schemas.microsoft.com/office/powerpoint/2010/main" val="42436135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asellaDiTesto 9"/>
          <p:cNvSpPr txBox="1"/>
          <p:nvPr/>
        </p:nvSpPr>
        <p:spPr>
          <a:xfrm>
            <a:off x="5295781" y="961160"/>
            <a:ext cx="3382823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050" i="1" dirty="0" err="1"/>
              <a:t>What</a:t>
            </a:r>
            <a:r>
              <a:rPr lang="it-IT" sz="1050" i="1" dirty="0"/>
              <a:t> </a:t>
            </a:r>
            <a:r>
              <a:rPr lang="it-IT" sz="1050" i="1" dirty="0" err="1"/>
              <a:t>is</a:t>
            </a:r>
            <a:r>
              <a:rPr lang="it-IT" sz="1050" i="1" dirty="0"/>
              <a:t> the </a:t>
            </a:r>
            <a:r>
              <a:rPr lang="it-IT" sz="1050" i="1" dirty="0" err="1"/>
              <a:t>difference</a:t>
            </a:r>
            <a:r>
              <a:rPr lang="it-IT" sz="1050" i="1" dirty="0"/>
              <a:t> </a:t>
            </a:r>
            <a:r>
              <a:rPr lang="it-IT" sz="1050" i="1" dirty="0" err="1"/>
              <a:t>between</a:t>
            </a:r>
            <a:r>
              <a:rPr lang="it-IT" sz="1050" i="1" dirty="0"/>
              <a:t> </a:t>
            </a:r>
            <a:r>
              <a:rPr lang="it-IT" sz="1050" i="1" dirty="0" err="1"/>
              <a:t>Waterfall</a:t>
            </a:r>
            <a:r>
              <a:rPr lang="it-IT" sz="1050" i="1" dirty="0"/>
              <a:t>, Agile and </a:t>
            </a:r>
            <a:r>
              <a:rPr lang="it-IT" sz="1050" i="1" dirty="0" err="1"/>
              <a:t>DevOps</a:t>
            </a:r>
            <a:r>
              <a:rPr lang="it-IT" sz="1050" i="1" dirty="0"/>
              <a:t> </a:t>
            </a:r>
          </a:p>
        </p:txBody>
      </p:sp>
      <p:sp>
        <p:nvSpPr>
          <p:cNvPr id="11" name="Title 1"/>
          <p:cNvSpPr txBox="1">
            <a:spLocks/>
          </p:cNvSpPr>
          <p:nvPr/>
        </p:nvSpPr>
        <p:spPr bwMode="auto">
          <a:xfrm>
            <a:off x="536430" y="1436447"/>
            <a:ext cx="8142174" cy="424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53570" tIns="27379" rIns="53570" bIns="27379" numCol="1" anchor="t" anchorCtr="0" compatLnSpc="1">
            <a:prstTxWarp prst="textNoShape">
              <a:avLst/>
            </a:prstTxWarp>
            <a:spAutoFit/>
          </a:bodyPr>
          <a:lstStyle>
            <a:lvl1pPr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2pPr>
            <a:lvl3pPr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3pPr>
            <a:lvl4pPr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4pPr>
            <a:lvl5pPr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5pPr>
            <a:lvl6pPr marL="457200"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6pPr>
            <a:lvl7pPr marL="914400"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7pPr>
            <a:lvl8pPr marL="1371600"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8pPr>
            <a:lvl9pPr marL="1828800"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9pPr>
          </a:lstStyle>
          <a:p>
            <a:pPr algn="just"/>
            <a:r>
              <a:rPr lang="en-US" sz="2400" dirty="0">
                <a:latin typeface="Arial" charset="0"/>
              </a:rPr>
              <a:t>What about other life-cycles? </a:t>
            </a:r>
            <a:r>
              <a:rPr lang="en-US" sz="2400" dirty="0"/>
              <a:t>Agile development</a:t>
            </a:r>
            <a:endParaRPr lang="en-US" sz="2400" dirty="0">
              <a:solidFill>
                <a:srgbClr val="000000"/>
              </a:solidFill>
            </a:endParaRPr>
          </a:p>
        </p:txBody>
      </p:sp>
      <p:grpSp>
        <p:nvGrpSpPr>
          <p:cNvPr id="8" name="Gruppo 7"/>
          <p:cNvGrpSpPr/>
          <p:nvPr/>
        </p:nvGrpSpPr>
        <p:grpSpPr>
          <a:xfrm>
            <a:off x="1237212" y="2507107"/>
            <a:ext cx="6115633" cy="2411271"/>
            <a:chOff x="914133" y="2352622"/>
            <a:chExt cx="8437361" cy="4271892"/>
          </a:xfrm>
        </p:grpSpPr>
        <p:pic>
          <p:nvPicPr>
            <p:cNvPr id="12" name="Picture 7" descr="C:\Users\br41599\Desktop\pardon-application-backlog2.jpg"/>
            <p:cNvPicPr>
              <a:picLocks noChangeAspect="1" noChangeArrowheads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63158"/>
            <a:stretch/>
          </p:blipFill>
          <p:spPr bwMode="auto">
            <a:xfrm>
              <a:off x="3746013" y="5471012"/>
              <a:ext cx="2052000" cy="744699"/>
            </a:xfrm>
            <a:prstGeom prst="rect">
              <a:avLst/>
            </a:prstGeom>
            <a:noFill/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7" descr="C:\Users\br41599\Desktop\pardon-application-backlog2.jpg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4133" y="3934771"/>
              <a:ext cx="2052000" cy="2405901"/>
            </a:xfrm>
            <a:prstGeom prst="rect">
              <a:avLst/>
            </a:prstGeom>
            <a:noFill/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2" descr="C:\Users\br41599\Desktop\Scatolone-600.jpg"/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727443" y="5112346"/>
              <a:ext cx="1512168" cy="1512168"/>
            </a:xfrm>
            <a:prstGeom prst="rect">
              <a:avLst/>
            </a:prstGeom>
            <a:noFill/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Freccia ad arco 14"/>
            <p:cNvSpPr/>
            <p:nvPr/>
          </p:nvSpPr>
          <p:spPr>
            <a:xfrm rot="5726349">
              <a:off x="5302290" y="2668266"/>
              <a:ext cx="1613951" cy="2044978"/>
            </a:xfrm>
            <a:prstGeom prst="circularArrow">
              <a:avLst>
                <a:gd name="adj1" fmla="val 8268"/>
                <a:gd name="adj2" fmla="val 1052655"/>
                <a:gd name="adj3" fmla="val 13048092"/>
                <a:gd name="adj4" fmla="val 20120387"/>
                <a:gd name="adj5" fmla="val 17588"/>
              </a:avLst>
            </a:prstGeom>
            <a:solidFill>
              <a:srgbClr val="E2001A"/>
            </a:solidFill>
          </p:spPr>
          <p:style>
            <a:ln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>
              <a:defPPr>
                <a:defRPr lang="de-DE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5478" indent="1588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2537" indent="1588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69602" indent="1588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6667" indent="1588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5316" algn="l" defTabSz="914124" rtl="0" eaLnBrk="1" latinLnBrk="0" hangingPunct="1">
                <a:defRPr sz="20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2375" algn="l" defTabSz="914124" rtl="0" eaLnBrk="1" latinLnBrk="0" hangingPunct="1">
                <a:defRPr sz="20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199440" algn="l" defTabSz="914124" rtl="0" eaLnBrk="1" latinLnBrk="0" hangingPunct="1">
                <a:defRPr sz="20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6504" algn="l" defTabSz="914124" rtl="0" eaLnBrk="1" latinLnBrk="0" hangingPunct="1">
                <a:defRPr sz="20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1500"/>
            </a:p>
          </p:txBody>
        </p:sp>
        <p:sp>
          <p:nvSpPr>
            <p:cNvPr id="16" name="Freccia a destra 15"/>
            <p:cNvSpPr/>
            <p:nvPr/>
          </p:nvSpPr>
          <p:spPr bwMode="auto">
            <a:xfrm>
              <a:off x="2856949" y="5556046"/>
              <a:ext cx="958688" cy="680114"/>
            </a:xfrm>
            <a:prstGeom prst="rightArrow">
              <a:avLst/>
            </a:prstGeom>
            <a:solidFill>
              <a:srgbClr val="FF0000"/>
            </a:solidFill>
            <a:ln w="9525" cap="flat" cmpd="sng" algn="ctr">
              <a:solidFill>
                <a:srgbClr val="FFFF99"/>
              </a:solidFill>
              <a:prstDash val="solid"/>
              <a:round/>
              <a:headEnd type="none" w="med" len="med"/>
              <a:tailEnd type="none" w="med" len="med"/>
            </a:ln>
            <a:effectLst/>
            <a:scene3d>
              <a:camera prst="perspectiveRelaxed"/>
              <a:lightRig rig="threePt" dir="t"/>
            </a:scene3d>
          </p:spPr>
          <p:txBody>
            <a:bodyPr vert="horz" wrap="square" lIns="68580" tIns="34290" rIns="68580" bIns="34290" numCol="1" rtlCol="0" anchor="t" anchorCtr="0" compatLnSpc="1">
              <a:prstTxWarp prst="textNoShape">
                <a:avLst/>
              </a:prstTxWarp>
            </a:bodyPr>
            <a:lstStyle>
              <a:defPPr>
                <a:defRPr lang="de-DE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chemeClr val="tx1"/>
                  </a:solidFill>
                  <a:latin typeface="Arial" charset="0"/>
                  <a:ea typeface="+mn-ea"/>
                  <a:cs typeface="Arial" charset="0"/>
                </a:defRPr>
              </a:lvl1pPr>
              <a:lvl2pPr marL="455478" indent="1588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chemeClr val="tx1"/>
                  </a:solidFill>
                  <a:latin typeface="Arial" charset="0"/>
                  <a:ea typeface="+mn-ea"/>
                  <a:cs typeface="Arial" charset="0"/>
                </a:defRPr>
              </a:lvl2pPr>
              <a:lvl3pPr marL="912537" indent="1588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chemeClr val="tx1"/>
                  </a:solidFill>
                  <a:latin typeface="Arial" charset="0"/>
                  <a:ea typeface="+mn-ea"/>
                  <a:cs typeface="Arial" charset="0"/>
                </a:defRPr>
              </a:lvl3pPr>
              <a:lvl4pPr marL="1369602" indent="1588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chemeClr val="tx1"/>
                  </a:solidFill>
                  <a:latin typeface="Arial" charset="0"/>
                  <a:ea typeface="+mn-ea"/>
                  <a:cs typeface="Arial" charset="0"/>
                </a:defRPr>
              </a:lvl4pPr>
              <a:lvl5pPr marL="1826667" indent="1588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chemeClr val="tx1"/>
                  </a:solidFill>
                  <a:latin typeface="Arial" charset="0"/>
                  <a:ea typeface="+mn-ea"/>
                  <a:cs typeface="Arial" charset="0"/>
                </a:defRPr>
              </a:lvl5pPr>
              <a:lvl6pPr marL="2285316" algn="l" defTabSz="914124" rtl="0" eaLnBrk="1" latinLnBrk="0" hangingPunct="1">
                <a:defRPr sz="2000" kern="1200">
                  <a:solidFill>
                    <a:schemeClr val="tx1"/>
                  </a:solidFill>
                  <a:latin typeface="Arial" charset="0"/>
                  <a:ea typeface="+mn-ea"/>
                  <a:cs typeface="Arial" charset="0"/>
                </a:defRPr>
              </a:lvl6pPr>
              <a:lvl7pPr marL="2742375" algn="l" defTabSz="914124" rtl="0" eaLnBrk="1" latinLnBrk="0" hangingPunct="1">
                <a:defRPr sz="2000" kern="1200">
                  <a:solidFill>
                    <a:schemeClr val="tx1"/>
                  </a:solidFill>
                  <a:latin typeface="Arial" charset="0"/>
                  <a:ea typeface="+mn-ea"/>
                  <a:cs typeface="Arial" charset="0"/>
                </a:defRPr>
              </a:lvl7pPr>
              <a:lvl8pPr marL="3199440" algn="l" defTabSz="914124" rtl="0" eaLnBrk="1" latinLnBrk="0" hangingPunct="1">
                <a:defRPr sz="2000" kern="1200">
                  <a:solidFill>
                    <a:schemeClr val="tx1"/>
                  </a:solidFill>
                  <a:latin typeface="Arial" charset="0"/>
                  <a:ea typeface="+mn-ea"/>
                  <a:cs typeface="Arial" charset="0"/>
                </a:defRPr>
              </a:lvl8pPr>
              <a:lvl9pPr marL="3656504" algn="l" defTabSz="914124" rtl="0" eaLnBrk="1" latinLnBrk="0" hangingPunct="1">
                <a:defRPr sz="2000" kern="1200">
                  <a:solidFill>
                    <a:schemeClr val="tx1"/>
                  </a:solidFill>
                  <a:latin typeface="Arial" charset="0"/>
                  <a:ea typeface="+mn-ea"/>
                  <a:cs typeface="Arial" charset="0"/>
                </a:defRPr>
              </a:lvl9pPr>
            </a:lstStyle>
            <a:p>
              <a:pPr defTabSz="685800" eaLnBrk="0" hangingPunct="0"/>
              <a:endParaRPr lang="en-US" sz="900">
                <a:solidFill>
                  <a:srgbClr val="E2001A"/>
                </a:solidFill>
                <a:ea typeface="ＭＳ Ｐゴシック" pitchFamily="34" charset="-128"/>
              </a:endParaRPr>
            </a:p>
          </p:txBody>
        </p:sp>
        <p:sp>
          <p:nvSpPr>
            <p:cNvPr id="17" name="CasellaDiTesto 23"/>
            <p:cNvSpPr txBox="1"/>
            <p:nvPr/>
          </p:nvSpPr>
          <p:spPr>
            <a:xfrm>
              <a:off x="5716564" y="3534660"/>
              <a:ext cx="1511184" cy="4089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de-DE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chemeClr val="tx1"/>
                  </a:solidFill>
                  <a:latin typeface="Arial" charset="0"/>
                  <a:ea typeface="+mn-ea"/>
                  <a:cs typeface="Arial" charset="0"/>
                </a:defRPr>
              </a:lvl1pPr>
              <a:lvl2pPr marL="455478" indent="1588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chemeClr val="tx1"/>
                  </a:solidFill>
                  <a:latin typeface="Arial" charset="0"/>
                  <a:ea typeface="+mn-ea"/>
                  <a:cs typeface="Arial" charset="0"/>
                </a:defRPr>
              </a:lvl2pPr>
              <a:lvl3pPr marL="912537" indent="1588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chemeClr val="tx1"/>
                  </a:solidFill>
                  <a:latin typeface="Arial" charset="0"/>
                  <a:ea typeface="+mn-ea"/>
                  <a:cs typeface="Arial" charset="0"/>
                </a:defRPr>
              </a:lvl3pPr>
              <a:lvl4pPr marL="1369602" indent="1588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chemeClr val="tx1"/>
                  </a:solidFill>
                  <a:latin typeface="Arial" charset="0"/>
                  <a:ea typeface="+mn-ea"/>
                  <a:cs typeface="Arial" charset="0"/>
                </a:defRPr>
              </a:lvl4pPr>
              <a:lvl5pPr marL="1826667" indent="1588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chemeClr val="tx1"/>
                  </a:solidFill>
                  <a:latin typeface="Arial" charset="0"/>
                  <a:ea typeface="+mn-ea"/>
                  <a:cs typeface="Arial" charset="0"/>
                </a:defRPr>
              </a:lvl5pPr>
              <a:lvl6pPr marL="2285316" algn="l" defTabSz="914124" rtl="0" eaLnBrk="1" latinLnBrk="0" hangingPunct="1">
                <a:defRPr sz="2000" kern="1200">
                  <a:solidFill>
                    <a:schemeClr val="tx1"/>
                  </a:solidFill>
                  <a:latin typeface="Arial" charset="0"/>
                  <a:ea typeface="+mn-ea"/>
                  <a:cs typeface="Arial" charset="0"/>
                </a:defRPr>
              </a:lvl6pPr>
              <a:lvl7pPr marL="2742375" algn="l" defTabSz="914124" rtl="0" eaLnBrk="1" latinLnBrk="0" hangingPunct="1">
                <a:defRPr sz="2000" kern="1200">
                  <a:solidFill>
                    <a:schemeClr val="tx1"/>
                  </a:solidFill>
                  <a:latin typeface="Arial" charset="0"/>
                  <a:ea typeface="+mn-ea"/>
                  <a:cs typeface="Arial" charset="0"/>
                </a:defRPr>
              </a:lvl7pPr>
              <a:lvl8pPr marL="3199440" algn="l" defTabSz="914124" rtl="0" eaLnBrk="1" latinLnBrk="0" hangingPunct="1">
                <a:defRPr sz="2000" kern="1200">
                  <a:solidFill>
                    <a:schemeClr val="tx1"/>
                  </a:solidFill>
                  <a:latin typeface="Arial" charset="0"/>
                  <a:ea typeface="+mn-ea"/>
                  <a:cs typeface="Arial" charset="0"/>
                </a:defRPr>
              </a:lvl8pPr>
              <a:lvl9pPr marL="3656504" algn="l" defTabSz="914124" rtl="0" eaLnBrk="1" latinLnBrk="0" hangingPunct="1">
                <a:defRPr sz="2000" kern="1200">
                  <a:solidFill>
                    <a:schemeClr val="tx1"/>
                  </a:solidFill>
                  <a:latin typeface="Arial" charset="0"/>
                  <a:ea typeface="+mn-ea"/>
                  <a:cs typeface="Arial" charset="0"/>
                </a:defRPr>
              </a:lvl9pPr>
            </a:lstStyle>
            <a:p>
              <a:r>
                <a:rPr lang="en-US" sz="900" dirty="0"/>
                <a:t>24 Hours</a:t>
              </a:r>
            </a:p>
          </p:txBody>
        </p:sp>
        <p:sp>
          <p:nvSpPr>
            <p:cNvPr id="18" name="CasellaDiTesto 24"/>
            <p:cNvSpPr txBox="1"/>
            <p:nvPr/>
          </p:nvSpPr>
          <p:spPr>
            <a:xfrm>
              <a:off x="5515377" y="4994932"/>
              <a:ext cx="1511184" cy="4089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de-DE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chemeClr val="tx1"/>
                  </a:solidFill>
                  <a:latin typeface="Arial" charset="0"/>
                  <a:ea typeface="+mn-ea"/>
                  <a:cs typeface="Arial" charset="0"/>
                </a:defRPr>
              </a:lvl1pPr>
              <a:lvl2pPr marL="455478" indent="1588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chemeClr val="tx1"/>
                  </a:solidFill>
                  <a:latin typeface="Arial" charset="0"/>
                  <a:ea typeface="+mn-ea"/>
                  <a:cs typeface="Arial" charset="0"/>
                </a:defRPr>
              </a:lvl2pPr>
              <a:lvl3pPr marL="912537" indent="1588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chemeClr val="tx1"/>
                  </a:solidFill>
                  <a:latin typeface="Arial" charset="0"/>
                  <a:ea typeface="+mn-ea"/>
                  <a:cs typeface="Arial" charset="0"/>
                </a:defRPr>
              </a:lvl3pPr>
              <a:lvl4pPr marL="1369602" indent="1588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chemeClr val="tx1"/>
                  </a:solidFill>
                  <a:latin typeface="Arial" charset="0"/>
                  <a:ea typeface="+mn-ea"/>
                  <a:cs typeface="Arial" charset="0"/>
                </a:defRPr>
              </a:lvl4pPr>
              <a:lvl5pPr marL="1826667" indent="1588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chemeClr val="tx1"/>
                  </a:solidFill>
                  <a:latin typeface="Arial" charset="0"/>
                  <a:ea typeface="+mn-ea"/>
                  <a:cs typeface="Arial" charset="0"/>
                </a:defRPr>
              </a:lvl5pPr>
              <a:lvl6pPr marL="2285316" algn="l" defTabSz="914124" rtl="0" eaLnBrk="1" latinLnBrk="0" hangingPunct="1">
                <a:defRPr sz="2000" kern="1200">
                  <a:solidFill>
                    <a:schemeClr val="tx1"/>
                  </a:solidFill>
                  <a:latin typeface="Arial" charset="0"/>
                  <a:ea typeface="+mn-ea"/>
                  <a:cs typeface="Arial" charset="0"/>
                </a:defRPr>
              </a:lvl6pPr>
              <a:lvl7pPr marL="2742375" algn="l" defTabSz="914124" rtl="0" eaLnBrk="1" latinLnBrk="0" hangingPunct="1">
                <a:defRPr sz="2000" kern="1200">
                  <a:solidFill>
                    <a:schemeClr val="tx1"/>
                  </a:solidFill>
                  <a:latin typeface="Arial" charset="0"/>
                  <a:ea typeface="+mn-ea"/>
                  <a:cs typeface="Arial" charset="0"/>
                </a:defRPr>
              </a:lvl7pPr>
              <a:lvl8pPr marL="3199440" algn="l" defTabSz="914124" rtl="0" eaLnBrk="1" latinLnBrk="0" hangingPunct="1">
                <a:defRPr sz="2000" kern="1200">
                  <a:solidFill>
                    <a:schemeClr val="tx1"/>
                  </a:solidFill>
                  <a:latin typeface="Arial" charset="0"/>
                  <a:ea typeface="+mn-ea"/>
                  <a:cs typeface="Arial" charset="0"/>
                </a:defRPr>
              </a:lvl8pPr>
              <a:lvl9pPr marL="3656504" algn="l" defTabSz="914124" rtl="0" eaLnBrk="1" latinLnBrk="0" hangingPunct="1">
                <a:defRPr sz="2000" kern="1200">
                  <a:solidFill>
                    <a:schemeClr val="tx1"/>
                  </a:solidFill>
                  <a:latin typeface="Arial" charset="0"/>
                  <a:ea typeface="+mn-ea"/>
                  <a:cs typeface="Arial" charset="0"/>
                </a:defRPr>
              </a:lvl9pPr>
            </a:lstStyle>
            <a:p>
              <a:r>
                <a:rPr lang="en-US" sz="900" dirty="0"/>
                <a:t>2-4 Weeks</a:t>
              </a:r>
            </a:p>
          </p:txBody>
        </p:sp>
        <p:sp>
          <p:nvSpPr>
            <p:cNvPr id="19" name="CasellaDiTesto 25"/>
            <p:cNvSpPr txBox="1"/>
            <p:nvPr/>
          </p:nvSpPr>
          <p:spPr>
            <a:xfrm>
              <a:off x="5099893" y="2352622"/>
              <a:ext cx="1633241" cy="6543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de-DE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chemeClr val="tx1"/>
                  </a:solidFill>
                  <a:latin typeface="Arial" charset="0"/>
                  <a:ea typeface="+mn-ea"/>
                  <a:cs typeface="Arial" charset="0"/>
                </a:defRPr>
              </a:lvl1pPr>
              <a:lvl2pPr marL="455478" indent="1588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chemeClr val="tx1"/>
                  </a:solidFill>
                  <a:latin typeface="Arial" charset="0"/>
                  <a:ea typeface="+mn-ea"/>
                  <a:cs typeface="Arial" charset="0"/>
                </a:defRPr>
              </a:lvl2pPr>
              <a:lvl3pPr marL="912537" indent="1588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chemeClr val="tx1"/>
                  </a:solidFill>
                  <a:latin typeface="Arial" charset="0"/>
                  <a:ea typeface="+mn-ea"/>
                  <a:cs typeface="Arial" charset="0"/>
                </a:defRPr>
              </a:lvl3pPr>
              <a:lvl4pPr marL="1369602" indent="1588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chemeClr val="tx1"/>
                  </a:solidFill>
                  <a:latin typeface="Arial" charset="0"/>
                  <a:ea typeface="+mn-ea"/>
                  <a:cs typeface="Arial" charset="0"/>
                </a:defRPr>
              </a:lvl4pPr>
              <a:lvl5pPr marL="1826667" indent="1588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chemeClr val="tx1"/>
                  </a:solidFill>
                  <a:latin typeface="Arial" charset="0"/>
                  <a:ea typeface="+mn-ea"/>
                  <a:cs typeface="Arial" charset="0"/>
                </a:defRPr>
              </a:lvl5pPr>
              <a:lvl6pPr marL="2285316" algn="l" defTabSz="914124" rtl="0" eaLnBrk="1" latinLnBrk="0" hangingPunct="1">
                <a:defRPr sz="2000" kern="1200">
                  <a:solidFill>
                    <a:schemeClr val="tx1"/>
                  </a:solidFill>
                  <a:latin typeface="Arial" charset="0"/>
                  <a:ea typeface="+mn-ea"/>
                  <a:cs typeface="Arial" charset="0"/>
                </a:defRPr>
              </a:lvl6pPr>
              <a:lvl7pPr marL="2742375" algn="l" defTabSz="914124" rtl="0" eaLnBrk="1" latinLnBrk="0" hangingPunct="1">
                <a:defRPr sz="2000" kern="1200">
                  <a:solidFill>
                    <a:schemeClr val="tx1"/>
                  </a:solidFill>
                  <a:latin typeface="Arial" charset="0"/>
                  <a:ea typeface="+mn-ea"/>
                  <a:cs typeface="Arial" charset="0"/>
                </a:defRPr>
              </a:lvl7pPr>
              <a:lvl8pPr marL="3199440" algn="l" defTabSz="914124" rtl="0" eaLnBrk="1" latinLnBrk="0" hangingPunct="1">
                <a:defRPr sz="2000" kern="1200">
                  <a:solidFill>
                    <a:schemeClr val="tx1"/>
                  </a:solidFill>
                  <a:latin typeface="Arial" charset="0"/>
                  <a:ea typeface="+mn-ea"/>
                  <a:cs typeface="Arial" charset="0"/>
                </a:defRPr>
              </a:lvl8pPr>
              <a:lvl9pPr marL="3656504" algn="l" defTabSz="914124" rtl="0" eaLnBrk="1" latinLnBrk="0" hangingPunct="1">
                <a:defRPr sz="2000" kern="1200">
                  <a:solidFill>
                    <a:schemeClr val="tx1"/>
                  </a:solidFill>
                  <a:latin typeface="Arial" charset="0"/>
                  <a:ea typeface="+mn-ea"/>
                  <a:cs typeface="Arial" charset="0"/>
                </a:defRPr>
              </a:lvl9pPr>
            </a:lstStyle>
            <a:p>
              <a:r>
                <a:rPr lang="en-US" sz="900" dirty="0"/>
                <a:t>Daily Scrum meeting</a:t>
              </a:r>
            </a:p>
          </p:txBody>
        </p:sp>
        <p:sp>
          <p:nvSpPr>
            <p:cNvPr id="20" name="CasellaDiTesto 26"/>
            <p:cNvSpPr txBox="1"/>
            <p:nvPr/>
          </p:nvSpPr>
          <p:spPr>
            <a:xfrm>
              <a:off x="1238756" y="3825919"/>
              <a:ext cx="1417215" cy="4089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de-DE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chemeClr val="tx1"/>
                  </a:solidFill>
                  <a:latin typeface="Arial" charset="0"/>
                  <a:ea typeface="+mn-ea"/>
                  <a:cs typeface="Arial" charset="0"/>
                </a:defRPr>
              </a:lvl1pPr>
              <a:lvl2pPr marL="455478" indent="1588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chemeClr val="tx1"/>
                  </a:solidFill>
                  <a:latin typeface="Arial" charset="0"/>
                  <a:ea typeface="+mn-ea"/>
                  <a:cs typeface="Arial" charset="0"/>
                </a:defRPr>
              </a:lvl2pPr>
              <a:lvl3pPr marL="912537" indent="1588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chemeClr val="tx1"/>
                  </a:solidFill>
                  <a:latin typeface="Arial" charset="0"/>
                  <a:ea typeface="+mn-ea"/>
                  <a:cs typeface="Arial" charset="0"/>
                </a:defRPr>
              </a:lvl3pPr>
              <a:lvl4pPr marL="1369602" indent="1588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chemeClr val="tx1"/>
                  </a:solidFill>
                  <a:latin typeface="Arial" charset="0"/>
                  <a:ea typeface="+mn-ea"/>
                  <a:cs typeface="Arial" charset="0"/>
                </a:defRPr>
              </a:lvl4pPr>
              <a:lvl5pPr marL="1826667" indent="1588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chemeClr val="tx1"/>
                  </a:solidFill>
                  <a:latin typeface="Arial" charset="0"/>
                  <a:ea typeface="+mn-ea"/>
                  <a:cs typeface="Arial" charset="0"/>
                </a:defRPr>
              </a:lvl5pPr>
              <a:lvl6pPr marL="2285316" algn="l" defTabSz="914124" rtl="0" eaLnBrk="1" latinLnBrk="0" hangingPunct="1">
                <a:defRPr sz="2000" kern="1200">
                  <a:solidFill>
                    <a:schemeClr val="tx1"/>
                  </a:solidFill>
                  <a:latin typeface="Arial" charset="0"/>
                  <a:ea typeface="+mn-ea"/>
                  <a:cs typeface="Arial" charset="0"/>
                </a:defRPr>
              </a:lvl6pPr>
              <a:lvl7pPr marL="2742375" algn="l" defTabSz="914124" rtl="0" eaLnBrk="1" latinLnBrk="0" hangingPunct="1">
                <a:defRPr sz="2000" kern="1200">
                  <a:solidFill>
                    <a:schemeClr val="tx1"/>
                  </a:solidFill>
                  <a:latin typeface="Arial" charset="0"/>
                  <a:ea typeface="+mn-ea"/>
                  <a:cs typeface="Arial" charset="0"/>
                </a:defRPr>
              </a:lvl7pPr>
              <a:lvl8pPr marL="3199440" algn="l" defTabSz="914124" rtl="0" eaLnBrk="1" latinLnBrk="0" hangingPunct="1">
                <a:defRPr sz="2000" kern="1200">
                  <a:solidFill>
                    <a:schemeClr val="tx1"/>
                  </a:solidFill>
                  <a:latin typeface="Arial" charset="0"/>
                  <a:ea typeface="+mn-ea"/>
                  <a:cs typeface="Arial" charset="0"/>
                </a:defRPr>
              </a:lvl8pPr>
              <a:lvl9pPr marL="3656504" algn="l" defTabSz="914124" rtl="0" eaLnBrk="1" latinLnBrk="0" hangingPunct="1">
                <a:defRPr sz="2000" kern="1200">
                  <a:solidFill>
                    <a:schemeClr val="tx1"/>
                  </a:solidFill>
                  <a:latin typeface="Arial" charset="0"/>
                  <a:ea typeface="+mn-ea"/>
                  <a:cs typeface="Arial" charset="0"/>
                </a:defRPr>
              </a:lvl9pPr>
            </a:lstStyle>
            <a:p>
              <a:r>
                <a:rPr lang="en-US" sz="900" dirty="0"/>
                <a:t>Product Backlog</a:t>
              </a:r>
            </a:p>
          </p:txBody>
        </p:sp>
        <p:sp>
          <p:nvSpPr>
            <p:cNvPr id="21" name="CasellaDiTesto 27"/>
            <p:cNvSpPr txBox="1"/>
            <p:nvPr/>
          </p:nvSpPr>
          <p:spPr>
            <a:xfrm>
              <a:off x="4307804" y="4895005"/>
              <a:ext cx="1417215" cy="6543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de-DE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chemeClr val="tx1"/>
                  </a:solidFill>
                  <a:latin typeface="Arial" charset="0"/>
                  <a:ea typeface="+mn-ea"/>
                  <a:cs typeface="Arial" charset="0"/>
                </a:defRPr>
              </a:lvl1pPr>
              <a:lvl2pPr marL="455478" indent="1588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chemeClr val="tx1"/>
                  </a:solidFill>
                  <a:latin typeface="Arial" charset="0"/>
                  <a:ea typeface="+mn-ea"/>
                  <a:cs typeface="Arial" charset="0"/>
                </a:defRPr>
              </a:lvl2pPr>
              <a:lvl3pPr marL="912537" indent="1588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chemeClr val="tx1"/>
                  </a:solidFill>
                  <a:latin typeface="Arial" charset="0"/>
                  <a:ea typeface="+mn-ea"/>
                  <a:cs typeface="Arial" charset="0"/>
                </a:defRPr>
              </a:lvl3pPr>
              <a:lvl4pPr marL="1369602" indent="1588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chemeClr val="tx1"/>
                  </a:solidFill>
                  <a:latin typeface="Arial" charset="0"/>
                  <a:ea typeface="+mn-ea"/>
                  <a:cs typeface="Arial" charset="0"/>
                </a:defRPr>
              </a:lvl4pPr>
              <a:lvl5pPr marL="1826667" indent="1588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chemeClr val="tx1"/>
                  </a:solidFill>
                  <a:latin typeface="Arial" charset="0"/>
                  <a:ea typeface="+mn-ea"/>
                  <a:cs typeface="Arial" charset="0"/>
                </a:defRPr>
              </a:lvl5pPr>
              <a:lvl6pPr marL="2285316" algn="l" defTabSz="914124" rtl="0" eaLnBrk="1" latinLnBrk="0" hangingPunct="1">
                <a:defRPr sz="2000" kern="1200">
                  <a:solidFill>
                    <a:schemeClr val="tx1"/>
                  </a:solidFill>
                  <a:latin typeface="Arial" charset="0"/>
                  <a:ea typeface="+mn-ea"/>
                  <a:cs typeface="Arial" charset="0"/>
                </a:defRPr>
              </a:lvl6pPr>
              <a:lvl7pPr marL="2742375" algn="l" defTabSz="914124" rtl="0" eaLnBrk="1" latinLnBrk="0" hangingPunct="1">
                <a:defRPr sz="2000" kern="1200">
                  <a:solidFill>
                    <a:schemeClr val="tx1"/>
                  </a:solidFill>
                  <a:latin typeface="Arial" charset="0"/>
                  <a:ea typeface="+mn-ea"/>
                  <a:cs typeface="Arial" charset="0"/>
                </a:defRPr>
              </a:lvl7pPr>
              <a:lvl8pPr marL="3199440" algn="l" defTabSz="914124" rtl="0" eaLnBrk="1" latinLnBrk="0" hangingPunct="1">
                <a:defRPr sz="2000" kern="1200">
                  <a:solidFill>
                    <a:schemeClr val="tx1"/>
                  </a:solidFill>
                  <a:latin typeface="Arial" charset="0"/>
                  <a:ea typeface="+mn-ea"/>
                  <a:cs typeface="Arial" charset="0"/>
                </a:defRPr>
              </a:lvl8pPr>
              <a:lvl9pPr marL="3656504" algn="l" defTabSz="914124" rtl="0" eaLnBrk="1" latinLnBrk="0" hangingPunct="1">
                <a:defRPr sz="2000" kern="1200">
                  <a:solidFill>
                    <a:schemeClr val="tx1"/>
                  </a:solidFill>
                  <a:latin typeface="Arial" charset="0"/>
                  <a:ea typeface="+mn-ea"/>
                  <a:cs typeface="Arial" charset="0"/>
                </a:defRPr>
              </a:lvl9pPr>
            </a:lstStyle>
            <a:p>
              <a:r>
                <a:rPr lang="en-US" sz="900" dirty="0"/>
                <a:t>Sprint</a:t>
              </a:r>
            </a:p>
            <a:p>
              <a:r>
                <a:rPr lang="en-US" sz="900" dirty="0"/>
                <a:t>Backlog</a:t>
              </a:r>
            </a:p>
          </p:txBody>
        </p:sp>
        <p:sp>
          <p:nvSpPr>
            <p:cNvPr id="22" name="CasellaDiTesto 28"/>
            <p:cNvSpPr txBox="1"/>
            <p:nvPr/>
          </p:nvSpPr>
          <p:spPr>
            <a:xfrm>
              <a:off x="7839326" y="3625512"/>
              <a:ext cx="1512168" cy="13904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de-DE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chemeClr val="tx1"/>
                  </a:solidFill>
                  <a:latin typeface="Arial" charset="0"/>
                  <a:ea typeface="+mn-ea"/>
                  <a:cs typeface="Arial" charset="0"/>
                </a:defRPr>
              </a:lvl1pPr>
              <a:lvl2pPr marL="455478" indent="1588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chemeClr val="tx1"/>
                  </a:solidFill>
                  <a:latin typeface="Arial" charset="0"/>
                  <a:ea typeface="+mn-ea"/>
                  <a:cs typeface="Arial" charset="0"/>
                </a:defRPr>
              </a:lvl2pPr>
              <a:lvl3pPr marL="912537" indent="1588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chemeClr val="tx1"/>
                  </a:solidFill>
                  <a:latin typeface="Arial" charset="0"/>
                  <a:ea typeface="+mn-ea"/>
                  <a:cs typeface="Arial" charset="0"/>
                </a:defRPr>
              </a:lvl3pPr>
              <a:lvl4pPr marL="1369602" indent="1588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chemeClr val="tx1"/>
                  </a:solidFill>
                  <a:latin typeface="Arial" charset="0"/>
                  <a:ea typeface="+mn-ea"/>
                  <a:cs typeface="Arial" charset="0"/>
                </a:defRPr>
              </a:lvl4pPr>
              <a:lvl5pPr marL="1826667" indent="1588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chemeClr val="tx1"/>
                  </a:solidFill>
                  <a:latin typeface="Arial" charset="0"/>
                  <a:ea typeface="+mn-ea"/>
                  <a:cs typeface="Arial" charset="0"/>
                </a:defRPr>
              </a:lvl5pPr>
              <a:lvl6pPr marL="2285316" algn="l" defTabSz="914124" rtl="0" eaLnBrk="1" latinLnBrk="0" hangingPunct="1">
                <a:defRPr sz="2000" kern="1200">
                  <a:solidFill>
                    <a:schemeClr val="tx1"/>
                  </a:solidFill>
                  <a:latin typeface="Arial" charset="0"/>
                  <a:ea typeface="+mn-ea"/>
                  <a:cs typeface="Arial" charset="0"/>
                </a:defRPr>
              </a:lvl6pPr>
              <a:lvl7pPr marL="2742375" algn="l" defTabSz="914124" rtl="0" eaLnBrk="1" latinLnBrk="0" hangingPunct="1">
                <a:defRPr sz="2000" kern="1200">
                  <a:solidFill>
                    <a:schemeClr val="tx1"/>
                  </a:solidFill>
                  <a:latin typeface="Arial" charset="0"/>
                  <a:ea typeface="+mn-ea"/>
                  <a:cs typeface="Arial" charset="0"/>
                </a:defRPr>
              </a:lvl7pPr>
              <a:lvl8pPr marL="3199440" algn="l" defTabSz="914124" rtl="0" eaLnBrk="1" latinLnBrk="0" hangingPunct="1">
                <a:defRPr sz="2000" kern="1200">
                  <a:solidFill>
                    <a:schemeClr val="tx1"/>
                  </a:solidFill>
                  <a:latin typeface="Arial" charset="0"/>
                  <a:ea typeface="+mn-ea"/>
                  <a:cs typeface="Arial" charset="0"/>
                </a:defRPr>
              </a:lvl8pPr>
              <a:lvl9pPr marL="3656504" algn="l" defTabSz="914124" rtl="0" eaLnBrk="1" latinLnBrk="0" hangingPunct="1">
                <a:defRPr sz="2000" kern="1200">
                  <a:solidFill>
                    <a:schemeClr val="tx1"/>
                  </a:solidFill>
                  <a:latin typeface="Arial" charset="0"/>
                  <a:ea typeface="+mn-ea"/>
                  <a:cs typeface="Arial" charset="0"/>
                </a:defRPr>
              </a:lvl9pPr>
            </a:lstStyle>
            <a:p>
              <a:r>
                <a:rPr lang="en-US" sz="900" dirty="0"/>
                <a:t>Working/Product </a:t>
              </a:r>
              <a:r>
                <a:rPr lang="en-US" sz="900" dirty="0" err="1"/>
                <a:t>Sofware</a:t>
              </a:r>
              <a:r>
                <a:rPr lang="en-US" sz="900" dirty="0"/>
                <a:t> potentially shippable product increment</a:t>
              </a:r>
            </a:p>
          </p:txBody>
        </p:sp>
        <p:sp>
          <p:nvSpPr>
            <p:cNvPr id="23" name="CasellaDiTesto 29"/>
            <p:cNvSpPr txBox="1"/>
            <p:nvPr/>
          </p:nvSpPr>
          <p:spPr>
            <a:xfrm>
              <a:off x="5798012" y="6056248"/>
              <a:ext cx="1943233" cy="4089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de-DE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chemeClr val="tx1"/>
                  </a:solidFill>
                  <a:latin typeface="Arial" charset="0"/>
                  <a:ea typeface="+mn-ea"/>
                  <a:cs typeface="Arial" charset="0"/>
                </a:defRPr>
              </a:lvl1pPr>
              <a:lvl2pPr marL="455478" indent="1588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chemeClr val="tx1"/>
                  </a:solidFill>
                  <a:latin typeface="Arial" charset="0"/>
                  <a:ea typeface="+mn-ea"/>
                  <a:cs typeface="Arial" charset="0"/>
                </a:defRPr>
              </a:lvl2pPr>
              <a:lvl3pPr marL="912537" indent="1588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chemeClr val="tx1"/>
                  </a:solidFill>
                  <a:latin typeface="Arial" charset="0"/>
                  <a:ea typeface="+mn-ea"/>
                  <a:cs typeface="Arial" charset="0"/>
                </a:defRPr>
              </a:lvl3pPr>
              <a:lvl4pPr marL="1369602" indent="1588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chemeClr val="tx1"/>
                  </a:solidFill>
                  <a:latin typeface="Arial" charset="0"/>
                  <a:ea typeface="+mn-ea"/>
                  <a:cs typeface="Arial" charset="0"/>
                </a:defRPr>
              </a:lvl4pPr>
              <a:lvl5pPr marL="1826667" indent="1588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chemeClr val="tx1"/>
                  </a:solidFill>
                  <a:latin typeface="Arial" charset="0"/>
                  <a:ea typeface="+mn-ea"/>
                  <a:cs typeface="Arial" charset="0"/>
                </a:defRPr>
              </a:lvl5pPr>
              <a:lvl6pPr marL="2285316" algn="l" defTabSz="914124" rtl="0" eaLnBrk="1" latinLnBrk="0" hangingPunct="1">
                <a:defRPr sz="2000" kern="1200">
                  <a:solidFill>
                    <a:schemeClr val="tx1"/>
                  </a:solidFill>
                  <a:latin typeface="Arial" charset="0"/>
                  <a:ea typeface="+mn-ea"/>
                  <a:cs typeface="Arial" charset="0"/>
                </a:defRPr>
              </a:lvl6pPr>
              <a:lvl7pPr marL="2742375" algn="l" defTabSz="914124" rtl="0" eaLnBrk="1" latinLnBrk="0" hangingPunct="1">
                <a:defRPr sz="2000" kern="1200">
                  <a:solidFill>
                    <a:schemeClr val="tx1"/>
                  </a:solidFill>
                  <a:latin typeface="Arial" charset="0"/>
                  <a:ea typeface="+mn-ea"/>
                  <a:cs typeface="Arial" charset="0"/>
                </a:defRPr>
              </a:lvl7pPr>
              <a:lvl8pPr marL="3199440" algn="l" defTabSz="914124" rtl="0" eaLnBrk="1" latinLnBrk="0" hangingPunct="1">
                <a:defRPr sz="2000" kern="1200">
                  <a:solidFill>
                    <a:schemeClr val="tx1"/>
                  </a:solidFill>
                  <a:latin typeface="Arial" charset="0"/>
                  <a:ea typeface="+mn-ea"/>
                  <a:cs typeface="Arial" charset="0"/>
                </a:defRPr>
              </a:lvl8pPr>
              <a:lvl9pPr marL="3656504" algn="l" defTabSz="914124" rtl="0" eaLnBrk="1" latinLnBrk="0" hangingPunct="1">
                <a:defRPr sz="2000" kern="1200">
                  <a:solidFill>
                    <a:schemeClr val="tx1"/>
                  </a:solidFill>
                  <a:latin typeface="Arial" charset="0"/>
                  <a:ea typeface="+mn-ea"/>
                  <a:cs typeface="Arial" charset="0"/>
                </a:defRPr>
              </a:lvl9pPr>
            </a:lstStyle>
            <a:p>
              <a:r>
                <a:rPr lang="en-US" sz="900" dirty="0"/>
                <a:t>Sprint planning meeting</a:t>
              </a:r>
            </a:p>
          </p:txBody>
        </p:sp>
        <p:sp>
          <p:nvSpPr>
            <p:cNvPr id="24" name="Freccia ad arco 23"/>
            <p:cNvSpPr/>
            <p:nvPr/>
          </p:nvSpPr>
          <p:spPr>
            <a:xfrm rot="3236231" flipV="1">
              <a:off x="5316017" y="3821382"/>
              <a:ext cx="2086477" cy="2396877"/>
            </a:xfrm>
            <a:prstGeom prst="circularArrow">
              <a:avLst>
                <a:gd name="adj1" fmla="val 8268"/>
                <a:gd name="adj2" fmla="val 1052655"/>
                <a:gd name="adj3" fmla="val 13048092"/>
                <a:gd name="adj4" fmla="val 17581804"/>
                <a:gd name="adj5" fmla="val 14086"/>
              </a:avLst>
            </a:prstGeom>
            <a:solidFill>
              <a:srgbClr val="E2001A"/>
            </a:solidFill>
          </p:spPr>
          <p:style>
            <a:ln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>
              <a:defPPr>
                <a:defRPr lang="de-DE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5478" indent="1588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2537" indent="1588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69602" indent="1588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6667" indent="1588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5316" algn="l" defTabSz="914124" rtl="0" eaLnBrk="1" latinLnBrk="0" hangingPunct="1">
                <a:defRPr sz="20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2375" algn="l" defTabSz="914124" rtl="0" eaLnBrk="1" latinLnBrk="0" hangingPunct="1">
                <a:defRPr sz="20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199440" algn="l" defTabSz="914124" rtl="0" eaLnBrk="1" latinLnBrk="0" hangingPunct="1">
                <a:defRPr sz="20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6504" algn="l" defTabSz="914124" rtl="0" eaLnBrk="1" latinLnBrk="0" hangingPunct="1">
                <a:defRPr sz="20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1500"/>
            </a:p>
          </p:txBody>
        </p:sp>
      </p:grpSp>
      <p:sp>
        <p:nvSpPr>
          <p:cNvPr id="25" name="Rectangle 13"/>
          <p:cNvSpPr>
            <a:spLocks noChangeArrowheads="1"/>
          </p:cNvSpPr>
          <p:nvPr/>
        </p:nvSpPr>
        <p:spPr bwMode="auto">
          <a:xfrm>
            <a:off x="6654717" y="2607540"/>
            <a:ext cx="1943100" cy="3000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>
            <a:prstShdw prst="shdw17" dist="17961" dir="2700000">
              <a:schemeClr val="accent1">
                <a:gamma/>
                <a:shade val="60000"/>
                <a:invGamma/>
              </a:schemeClr>
            </a:prstShdw>
          </a:effectLst>
        </p:spPr>
        <p:txBody>
          <a:bodyPr>
            <a:spAutoFit/>
          </a:bodyPr>
          <a:lstStyle/>
          <a:p>
            <a:pPr>
              <a:defRPr/>
            </a:pPr>
            <a:r>
              <a:rPr lang="en-GB" sz="1350" b="1" dirty="0">
                <a:ea typeface="ＭＳ Ｐゴシック"/>
              </a:rPr>
              <a:t>Agile Methods</a:t>
            </a:r>
            <a:endParaRPr lang="en-GB" sz="1350" dirty="0">
              <a:ea typeface="ＭＳ Ｐゴシック"/>
            </a:endParaRPr>
          </a:p>
        </p:txBody>
      </p:sp>
    </p:spTree>
    <p:extLst>
      <p:ext uri="{BB962C8B-B14F-4D97-AF65-F5344CB8AC3E}">
        <p14:creationId xmlns:p14="http://schemas.microsoft.com/office/powerpoint/2010/main" val="48833368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Waterfall vs. Agile vs. DevOps</a:t>
            </a:r>
            <a:endParaRPr lang="en-CA" dirty="0"/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304800" y="1396999"/>
          <a:ext cx="8596920" cy="4651716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1492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492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4923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4923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2314">
                <a:tc>
                  <a:txBody>
                    <a:bodyPr/>
                    <a:lstStyle/>
                    <a:p>
                      <a:r>
                        <a:rPr lang="en-US" sz="1700" dirty="0"/>
                        <a:t>Concerns</a:t>
                      </a:r>
                    </a:p>
                  </a:txBody>
                  <a:tcPr marL="84406" marR="84406" marT="42203" marB="42203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700" dirty="0"/>
                        <a:t>Waterfall</a:t>
                      </a:r>
                    </a:p>
                  </a:txBody>
                  <a:tcPr marL="84406" marR="84406" marT="42203" marB="42203"/>
                </a:tc>
                <a:tc>
                  <a:txBody>
                    <a:bodyPr/>
                    <a:lstStyle/>
                    <a:p>
                      <a:r>
                        <a:rPr lang="en-US" sz="1700" dirty="0"/>
                        <a:t>Agile</a:t>
                      </a:r>
                    </a:p>
                  </a:txBody>
                  <a:tcPr marL="84406" marR="84406" marT="42203" marB="42203"/>
                </a:tc>
                <a:tc>
                  <a:txBody>
                    <a:bodyPr/>
                    <a:lstStyle/>
                    <a:p>
                      <a:r>
                        <a:rPr lang="en-US" sz="1700" dirty="0" err="1"/>
                        <a:t>DevOps</a:t>
                      </a:r>
                      <a:endParaRPr lang="en-US" sz="1700" dirty="0"/>
                    </a:p>
                  </a:txBody>
                  <a:tcPr marL="84406" marR="84406" marT="42203" marB="42203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0843">
                <a:tc>
                  <a:txBody>
                    <a:bodyPr/>
                    <a:lstStyle/>
                    <a:p>
                      <a:r>
                        <a:rPr lang="en-US" sz="1700" b="1" dirty="0">
                          <a:solidFill>
                            <a:schemeClr val="bg1"/>
                          </a:solidFill>
                        </a:rPr>
                        <a:t>Main Focus</a:t>
                      </a:r>
                    </a:p>
                  </a:txBody>
                  <a:tcPr marL="84406" marR="84406" marT="42203" marB="42203">
                    <a:solidFill>
                      <a:srgbClr val="3185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700" dirty="0"/>
                        <a:t>Design and development</a:t>
                      </a:r>
                    </a:p>
                  </a:txBody>
                  <a:tcPr marL="84406" marR="84406" marT="42203" marB="42203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700" dirty="0"/>
                        <a:t>Design and development</a:t>
                      </a:r>
                    </a:p>
                  </a:txBody>
                  <a:tcPr marL="84406" marR="84406" marT="42203" marB="42203"/>
                </a:tc>
                <a:tc>
                  <a:txBody>
                    <a:bodyPr/>
                    <a:lstStyle/>
                    <a:p>
                      <a:r>
                        <a:rPr lang="en-US" sz="1700" b="1" kern="1200" dirty="0">
                          <a:effectLst/>
                        </a:rPr>
                        <a:t>Whole application life-cycle</a:t>
                      </a:r>
                      <a:r>
                        <a:rPr lang="en-US" sz="1700" b="1" dirty="0">
                          <a:effectLst/>
                        </a:rPr>
                        <a:t> </a:t>
                      </a:r>
                      <a:endParaRPr lang="en-US" sz="1700" b="1" dirty="0">
                        <a:solidFill>
                          <a:schemeClr val="accent4">
                            <a:lumMod val="75000"/>
                          </a:schemeClr>
                        </a:solidFill>
                      </a:endParaRPr>
                    </a:p>
                  </a:txBody>
                  <a:tcPr marL="84406" marR="84406" marT="42203" marB="42203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314">
                <a:tc>
                  <a:txBody>
                    <a:bodyPr/>
                    <a:lstStyle/>
                    <a:p>
                      <a:r>
                        <a:rPr lang="en-US" sz="1700" b="1" dirty="0">
                          <a:solidFill>
                            <a:schemeClr val="bg1"/>
                          </a:solidFill>
                        </a:rPr>
                        <a:t>Attention to Operation</a:t>
                      </a:r>
                    </a:p>
                  </a:txBody>
                  <a:tcPr marL="84406" marR="84406" marT="42203" marB="42203">
                    <a:solidFill>
                      <a:srgbClr val="3185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700" kern="1200" dirty="0">
                          <a:effectLst/>
                        </a:rPr>
                        <a:t>Minimal or none</a:t>
                      </a:r>
                      <a:endParaRPr lang="en-US" sz="1700" dirty="0"/>
                    </a:p>
                  </a:txBody>
                  <a:tcPr marL="84406" marR="84406" marT="42203" marB="42203"/>
                </a:tc>
                <a:tc>
                  <a:txBody>
                    <a:bodyPr/>
                    <a:lstStyle/>
                    <a:p>
                      <a:r>
                        <a:rPr lang="en-US" sz="1700" kern="1200" dirty="0">
                          <a:effectLst/>
                        </a:rPr>
                        <a:t>Minimal or none</a:t>
                      </a:r>
                      <a:endParaRPr lang="en-US" sz="1700" dirty="0"/>
                    </a:p>
                  </a:txBody>
                  <a:tcPr marL="84406" marR="84406" marT="42203" marB="42203"/>
                </a:tc>
                <a:tc>
                  <a:txBody>
                    <a:bodyPr/>
                    <a:lstStyle/>
                    <a:p>
                      <a:r>
                        <a:rPr lang="en-US" sz="1700" b="1" dirty="0"/>
                        <a:t>Main concern</a:t>
                      </a:r>
                      <a:endParaRPr lang="en-US" sz="1700" b="1" dirty="0">
                        <a:solidFill>
                          <a:schemeClr val="accent4">
                            <a:lumMod val="75000"/>
                          </a:schemeClr>
                        </a:solidFill>
                      </a:endParaRPr>
                    </a:p>
                  </a:txBody>
                  <a:tcPr marL="84406" marR="84406" marT="42203" marB="42203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44062">
                <a:tc>
                  <a:txBody>
                    <a:bodyPr/>
                    <a:lstStyle/>
                    <a:p>
                      <a:r>
                        <a:rPr lang="en-US" sz="1700" b="1" dirty="0">
                          <a:solidFill>
                            <a:schemeClr val="bg1"/>
                          </a:solidFill>
                        </a:rPr>
                        <a:t>Role of Maintenance</a:t>
                      </a:r>
                    </a:p>
                  </a:txBody>
                  <a:tcPr marL="84406" marR="84406" marT="42203" marB="42203">
                    <a:solidFill>
                      <a:srgbClr val="3185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700" kern="1200" dirty="0">
                          <a:effectLst/>
                        </a:rPr>
                        <a:t>Maintenance seen as a redevelopment phase</a:t>
                      </a:r>
                      <a:r>
                        <a:rPr lang="en-US" sz="1700" dirty="0">
                          <a:effectLst/>
                        </a:rPr>
                        <a:t> </a:t>
                      </a:r>
                      <a:endParaRPr lang="en-US" sz="1700" dirty="0"/>
                    </a:p>
                  </a:txBody>
                  <a:tcPr marL="84406" marR="84406" marT="42203" marB="42203"/>
                </a:tc>
                <a:tc>
                  <a:txBody>
                    <a:bodyPr/>
                    <a:lstStyle/>
                    <a:p>
                      <a:r>
                        <a:rPr lang="en-US" sz="1700" kern="1200" dirty="0">
                          <a:effectLst/>
                        </a:rPr>
                        <a:t>Maintenance seen as a redevelopment phase</a:t>
                      </a:r>
                      <a:r>
                        <a:rPr lang="en-US" sz="1700" dirty="0">
                          <a:effectLst/>
                        </a:rPr>
                        <a:t> </a:t>
                      </a:r>
                      <a:endParaRPr lang="en-US" sz="1700" dirty="0"/>
                    </a:p>
                  </a:txBody>
                  <a:tcPr marL="84406" marR="84406" marT="42203" marB="42203"/>
                </a:tc>
                <a:tc>
                  <a:txBody>
                    <a:bodyPr/>
                    <a:lstStyle/>
                    <a:p>
                      <a:r>
                        <a:rPr lang="en-US" sz="1700" b="1" dirty="0"/>
                        <a:t>Replaces a running system with a running system</a:t>
                      </a:r>
                      <a:endParaRPr lang="en-US" sz="1700" b="1" dirty="0">
                        <a:solidFill>
                          <a:schemeClr val="accent4">
                            <a:lumMod val="75000"/>
                          </a:schemeClr>
                        </a:solidFill>
                      </a:endParaRPr>
                    </a:p>
                  </a:txBody>
                  <a:tcPr marL="84406" marR="84406" marT="42203" marB="42203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44062">
                <a:tc>
                  <a:txBody>
                    <a:bodyPr/>
                    <a:lstStyle/>
                    <a:p>
                      <a:r>
                        <a:rPr lang="en-US" sz="1700" b="1" dirty="0">
                          <a:solidFill>
                            <a:schemeClr val="bg1"/>
                          </a:solidFill>
                        </a:rPr>
                        <a:t>Process</a:t>
                      </a:r>
                      <a:r>
                        <a:rPr lang="en-US" sz="1700" b="1" baseline="0" dirty="0">
                          <a:solidFill>
                            <a:schemeClr val="bg1"/>
                          </a:solidFill>
                        </a:rPr>
                        <a:t> Outcome</a:t>
                      </a:r>
                      <a:endParaRPr lang="en-US" sz="1700" b="1" dirty="0">
                        <a:solidFill>
                          <a:schemeClr val="bg1"/>
                        </a:solidFill>
                      </a:endParaRPr>
                    </a:p>
                  </a:txBody>
                  <a:tcPr marL="84406" marR="84406" marT="42203" marB="42203">
                    <a:solidFill>
                      <a:srgbClr val="3185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700" dirty="0"/>
                        <a:t>A packaged system ready to be</a:t>
                      </a:r>
                      <a:r>
                        <a:rPr lang="en-US" sz="1700" baseline="0" dirty="0"/>
                        <a:t> deployed</a:t>
                      </a:r>
                      <a:endParaRPr lang="en-US" sz="1700" dirty="0"/>
                    </a:p>
                  </a:txBody>
                  <a:tcPr marL="84406" marR="84406" marT="42203" marB="42203"/>
                </a:tc>
                <a:tc>
                  <a:txBody>
                    <a:bodyPr/>
                    <a:lstStyle/>
                    <a:p>
                      <a:r>
                        <a:rPr lang="en-US" sz="1700" b="0" i="1" kern="1200" dirty="0">
                          <a:effectLst/>
                        </a:rPr>
                        <a:t>Various intermediate demo versions of the system</a:t>
                      </a:r>
                      <a:r>
                        <a:rPr lang="en-US" sz="1700" b="0" i="1" dirty="0">
                          <a:effectLst/>
                        </a:rPr>
                        <a:t> </a:t>
                      </a:r>
                      <a:endParaRPr lang="en-US" sz="1700" b="0" i="1" dirty="0">
                        <a:solidFill>
                          <a:srgbClr val="C00000"/>
                        </a:solidFill>
                      </a:endParaRPr>
                    </a:p>
                  </a:txBody>
                  <a:tcPr marL="84406" marR="84406" marT="42203" marB="42203"/>
                </a:tc>
                <a:tc>
                  <a:txBody>
                    <a:bodyPr/>
                    <a:lstStyle/>
                    <a:p>
                      <a:r>
                        <a:rPr lang="en-US" sz="1700" b="1" kern="1200" dirty="0">
                          <a:effectLst/>
                        </a:rPr>
                        <a:t>A continuously updated running system</a:t>
                      </a:r>
                      <a:r>
                        <a:rPr lang="en-US" sz="1700" b="1" dirty="0">
                          <a:effectLst/>
                        </a:rPr>
                        <a:t> </a:t>
                      </a:r>
                      <a:endParaRPr lang="en-US" sz="1700" b="1" dirty="0">
                        <a:solidFill>
                          <a:srgbClr val="800000"/>
                        </a:solidFill>
                      </a:endParaRPr>
                    </a:p>
                  </a:txBody>
                  <a:tcPr marL="84406" marR="84406" marT="42203" marB="42203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50498">
                <a:tc>
                  <a:txBody>
                    <a:bodyPr/>
                    <a:lstStyle/>
                    <a:p>
                      <a:r>
                        <a:rPr lang="en-US" sz="1700" b="1" dirty="0">
                          <a:solidFill>
                            <a:schemeClr val="bg1"/>
                          </a:solidFill>
                        </a:rPr>
                        <a:t>Quality</a:t>
                      </a:r>
                      <a:r>
                        <a:rPr lang="en-US" sz="1700" b="1" baseline="0" dirty="0">
                          <a:solidFill>
                            <a:schemeClr val="bg1"/>
                          </a:solidFill>
                        </a:rPr>
                        <a:t> Assurance</a:t>
                      </a:r>
                      <a:endParaRPr lang="en-US" sz="1700" b="1" dirty="0">
                        <a:solidFill>
                          <a:schemeClr val="bg1"/>
                        </a:solidFill>
                      </a:endParaRPr>
                    </a:p>
                  </a:txBody>
                  <a:tcPr marL="84406" marR="84406" marT="42203" marB="42203">
                    <a:solidFill>
                      <a:srgbClr val="3185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700" dirty="0"/>
                        <a:t>Testing</a:t>
                      </a:r>
                      <a:r>
                        <a:rPr lang="en-US" sz="1700" baseline="0" dirty="0"/>
                        <a:t> typically performed toward the end of the process</a:t>
                      </a:r>
                      <a:endParaRPr lang="en-US" sz="1700" dirty="0"/>
                    </a:p>
                  </a:txBody>
                  <a:tcPr marL="84406" marR="84406" marT="42203" marB="42203"/>
                </a:tc>
                <a:tc>
                  <a:txBody>
                    <a:bodyPr/>
                    <a:lstStyle/>
                    <a:p>
                      <a:r>
                        <a:rPr lang="en-US" sz="1700" b="0" i="1" dirty="0"/>
                        <a:t>Test-driven development</a:t>
                      </a:r>
                      <a:endParaRPr lang="en-US" sz="1700" b="0" i="1" dirty="0">
                        <a:solidFill>
                          <a:srgbClr val="C00000"/>
                        </a:solidFill>
                      </a:endParaRPr>
                    </a:p>
                  </a:txBody>
                  <a:tcPr marL="84406" marR="84406" marT="42203" marB="42203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700" b="1" dirty="0"/>
                        <a:t>Test-driven development</a:t>
                      </a:r>
                      <a:r>
                        <a:rPr lang="en-US" sz="1700" b="1" baseline="0" dirty="0"/>
                        <a:t> and monitoring-driven operation with feedback to Dev</a:t>
                      </a:r>
                      <a:endParaRPr lang="en-US" sz="1700" b="1" dirty="0">
                        <a:solidFill>
                          <a:srgbClr val="800000"/>
                        </a:solidFill>
                      </a:endParaRPr>
                    </a:p>
                  </a:txBody>
                  <a:tcPr marL="84406" marR="84406" marT="42203" marB="42203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5A5EC6F-3DD3-318F-8D6F-EF94649424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Sw. Evolution</a:t>
            </a:r>
          </a:p>
        </p:txBody>
      </p:sp>
    </p:spTree>
    <p:extLst>
      <p:ext uri="{BB962C8B-B14F-4D97-AF65-F5344CB8AC3E}">
        <p14:creationId xmlns:p14="http://schemas.microsoft.com/office/powerpoint/2010/main" val="297111106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" name="Grafico 15"/>
          <p:cNvGraphicFramePr>
            <a:graphicFrameLocks/>
          </p:cNvGraphicFramePr>
          <p:nvPr/>
        </p:nvGraphicFramePr>
        <p:xfrm>
          <a:off x="5602460" y="3551864"/>
          <a:ext cx="3004104" cy="294954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Rettangolo 8"/>
          <p:cNvSpPr/>
          <p:nvPr/>
        </p:nvSpPr>
        <p:spPr>
          <a:xfrm>
            <a:off x="3203848" y="6299326"/>
            <a:ext cx="2742654" cy="586058"/>
          </a:xfrm>
          <a:prstGeom prst="rect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1100" dirty="0"/>
              <a:t>2014 State of DevOps Report, Puppet Labs (9200+ respondents)</a:t>
            </a:r>
            <a:endParaRPr lang="en-US" sz="1100" dirty="0">
              <a:solidFill>
                <a:srgbClr val="000000"/>
              </a:solidFill>
            </a:endParaRPr>
          </a:p>
        </p:txBody>
      </p:sp>
      <p:sp>
        <p:nvSpPr>
          <p:cNvPr id="12" name="Title 1"/>
          <p:cNvSpPr txBox="1">
            <a:spLocks/>
          </p:cNvSpPr>
          <p:nvPr/>
        </p:nvSpPr>
        <p:spPr bwMode="auto">
          <a:xfrm>
            <a:off x="899592" y="-42586"/>
            <a:ext cx="7924176" cy="5661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71426" tIns="36505" rIns="71426" bIns="36505" numCol="1" anchor="t" anchorCtr="0" compatLnSpc="1">
            <a:prstTxWarp prst="textNoShape">
              <a:avLst/>
            </a:prstTxWarp>
            <a:spAutoFit/>
          </a:bodyPr>
          <a:lstStyle>
            <a:lvl1pPr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2pPr>
            <a:lvl3pPr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3pPr>
            <a:lvl4pPr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4pPr>
            <a:lvl5pPr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5pPr>
            <a:lvl6pPr marL="457200"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6pPr>
            <a:lvl7pPr marL="914400"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7pPr>
            <a:lvl8pPr marL="1371600"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8pPr>
            <a:lvl9pPr marL="1828800"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9pPr>
          </a:lstStyle>
          <a:p>
            <a:r>
              <a:rPr lang="en-US" sz="3200" dirty="0"/>
              <a:t>Who focuses on DevOps (in some way)?</a:t>
            </a:r>
            <a:endParaRPr lang="en-US" sz="3200" kern="0" dirty="0"/>
          </a:p>
        </p:txBody>
      </p:sp>
      <p:graphicFrame>
        <p:nvGraphicFramePr>
          <p:cNvPr id="11" name="Grafico 10"/>
          <p:cNvGraphicFramePr>
            <a:graphicFrameLocks/>
          </p:cNvGraphicFramePr>
          <p:nvPr/>
        </p:nvGraphicFramePr>
        <p:xfrm>
          <a:off x="341091" y="1276260"/>
          <a:ext cx="2919430" cy="281827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3" name="Grafico 12"/>
          <p:cNvGraphicFramePr>
            <a:graphicFrameLocks/>
          </p:cNvGraphicFramePr>
          <p:nvPr/>
        </p:nvGraphicFramePr>
        <p:xfrm>
          <a:off x="3258058" y="764705"/>
          <a:ext cx="2394062" cy="33298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4" name="Grafico 13"/>
          <p:cNvGraphicFramePr>
            <a:graphicFrameLocks/>
          </p:cNvGraphicFramePr>
          <p:nvPr/>
        </p:nvGraphicFramePr>
        <p:xfrm>
          <a:off x="6129997" y="1208912"/>
          <a:ext cx="2906201" cy="274756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15" name="Grafico 14"/>
          <p:cNvGraphicFramePr>
            <a:graphicFrameLocks/>
          </p:cNvGraphicFramePr>
          <p:nvPr/>
        </p:nvGraphicFramePr>
        <p:xfrm>
          <a:off x="186227" y="3910468"/>
          <a:ext cx="3271557" cy="263117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cxnSp>
        <p:nvCxnSpPr>
          <p:cNvPr id="8" name="Connettore 1 7"/>
          <p:cNvCxnSpPr/>
          <p:nvPr/>
        </p:nvCxnSpPr>
        <p:spPr bwMode="auto">
          <a:xfrm>
            <a:off x="107504" y="4094539"/>
            <a:ext cx="9037478" cy="0"/>
          </a:xfrm>
          <a:prstGeom prst="line">
            <a:avLst/>
          </a:prstGeom>
          <a:noFill/>
          <a:ln w="38100" cap="flat" cmpd="sng" algn="ctr">
            <a:solidFill>
              <a:schemeClr val="bg2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E24A6C2B-FA71-BCA9-8660-3232638F4F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Sw. Evolution</a:t>
            </a:r>
          </a:p>
        </p:txBody>
      </p:sp>
    </p:spTree>
    <p:extLst>
      <p:ext uri="{BB962C8B-B14F-4D97-AF65-F5344CB8AC3E}">
        <p14:creationId xmlns:p14="http://schemas.microsoft.com/office/powerpoint/2010/main" val="320584213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520" y="116632"/>
            <a:ext cx="8712968" cy="792088"/>
          </a:xfrm>
        </p:spPr>
        <p:txBody>
          <a:bodyPr>
            <a:normAutofit fontScale="90000"/>
          </a:bodyPr>
          <a:lstStyle/>
          <a:p>
            <a:r>
              <a:rPr lang="en-US" sz="3600"/>
              <a:t>Puppet Labs </a:t>
            </a:r>
            <a:r>
              <a:rPr lang="en-US" sz="3600" dirty="0"/>
              <a:t>Findings and Survey recommendations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79512" y="2852936"/>
          <a:ext cx="8856984" cy="3931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89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554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425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08227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68580" marR="68580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Practitioners</a:t>
                      </a:r>
                    </a:p>
                  </a:txBody>
                  <a:tcPr marL="68580" marR="68580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Managers</a:t>
                      </a:r>
                    </a:p>
                  </a:txBody>
                  <a:tcPr marL="68580" marR="68580"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74351">
                <a:tc>
                  <a:txBody>
                    <a:bodyPr/>
                    <a:lstStyle/>
                    <a:p>
                      <a:r>
                        <a:rPr lang="en-US" sz="1600" b="1" dirty="0"/>
                        <a:t>Cross-functional collaboration</a:t>
                      </a:r>
                    </a:p>
                  </a:txBody>
                  <a:tcPr marL="68580" marR="68580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/>
                        <a:buChar char="•"/>
                      </a:pPr>
                      <a:r>
                        <a:rPr lang="en-US" sz="1600" dirty="0"/>
                        <a:t>Work with</a:t>
                      </a:r>
                      <a:r>
                        <a:rPr lang="en-US" sz="1600" baseline="0" dirty="0"/>
                        <a:t> other teams </a:t>
                      </a:r>
                    </a:p>
                    <a:p>
                      <a:pPr marL="285750" indent="-285750">
                        <a:buFont typeface="Arial"/>
                        <a:buChar char="•"/>
                      </a:pPr>
                      <a:r>
                        <a:rPr lang="en-US" sz="1600" baseline="0" dirty="0"/>
                        <a:t>Find ways to build empathy</a:t>
                      </a:r>
                    </a:p>
                    <a:p>
                      <a:pPr marL="285750" indent="-285750">
                        <a:buFont typeface="Arial"/>
                        <a:buChar char="•"/>
                      </a:pPr>
                      <a:r>
                        <a:rPr lang="en-US" sz="1600" dirty="0"/>
                        <a:t>Make invisible work visible</a:t>
                      </a:r>
                    </a:p>
                  </a:txBody>
                  <a:tcPr marL="68580" marR="68580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/>
                        <a:buChar char="•"/>
                      </a:pPr>
                      <a:r>
                        <a:rPr lang="en-US" sz="1600" dirty="0"/>
                        <a:t>Build trust </a:t>
                      </a:r>
                    </a:p>
                    <a:p>
                      <a:pPr marL="285750" indent="-285750">
                        <a:buFont typeface="Arial"/>
                        <a:buChar char="•"/>
                      </a:pPr>
                      <a:r>
                        <a:rPr lang="en-US" sz="1600" baseline="0" dirty="0"/>
                        <a:t>Encourage practitioners to move between departments</a:t>
                      </a:r>
                    </a:p>
                    <a:p>
                      <a:pPr marL="285750" indent="-285750">
                        <a:buFont typeface="Arial"/>
                        <a:buChar char="•"/>
                      </a:pPr>
                      <a:r>
                        <a:rPr lang="en-US" sz="1600" baseline="0" dirty="0"/>
                        <a:t>Facilitate collaboration</a:t>
                      </a:r>
                      <a:endParaRPr lang="en-US" sz="1600" dirty="0"/>
                    </a:p>
                  </a:txBody>
                  <a:tcPr marL="68580" marR="68580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2774">
                <a:tc>
                  <a:txBody>
                    <a:bodyPr/>
                    <a:lstStyle/>
                    <a:p>
                      <a:r>
                        <a:rPr lang="en-US" sz="1600" b="1" dirty="0"/>
                        <a:t>Climate of learning</a:t>
                      </a:r>
                    </a:p>
                  </a:txBody>
                  <a:tcPr marL="68580" marR="68580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/>
                        <a:buChar char="•"/>
                      </a:pPr>
                      <a:r>
                        <a:rPr lang="en-US" sz="1600" dirty="0"/>
                        <a:t>Learn by sharing</a:t>
                      </a:r>
                      <a:r>
                        <a:rPr lang="en-US" sz="1600" baseline="0" dirty="0"/>
                        <a:t> knowledge</a:t>
                      </a:r>
                    </a:p>
                    <a:p>
                      <a:pPr marL="285750" indent="-285750">
                        <a:buFont typeface="Arial"/>
                        <a:buChar char="•"/>
                      </a:pPr>
                      <a:r>
                        <a:rPr lang="en-US" sz="1600" baseline="0" dirty="0"/>
                        <a:t>Always bring back what you learned</a:t>
                      </a:r>
                    </a:p>
                    <a:p>
                      <a:pPr marL="285750" indent="-285750">
                        <a:buFont typeface="Arial"/>
                        <a:buChar char="•"/>
                      </a:pPr>
                      <a:r>
                        <a:rPr lang="en-US" sz="1600" baseline="0" dirty="0"/>
                        <a:t>Prepare for postmortems</a:t>
                      </a:r>
                      <a:endParaRPr lang="en-US" sz="1600" dirty="0"/>
                    </a:p>
                  </a:txBody>
                  <a:tcPr marL="68580" marR="68580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/>
                        <a:buChar char="•"/>
                      </a:pPr>
                      <a:r>
                        <a:rPr lang="en-US" sz="1600" dirty="0"/>
                        <a:t>Create and</a:t>
                      </a:r>
                      <a:r>
                        <a:rPr lang="en-US" sz="1600" baseline="0" dirty="0"/>
                        <a:t> acquire training budget</a:t>
                      </a:r>
                    </a:p>
                    <a:p>
                      <a:pPr marL="285750" indent="-285750">
                        <a:buFont typeface="Arial"/>
                        <a:buChar char="•"/>
                      </a:pPr>
                      <a:r>
                        <a:rPr lang="en-US" sz="1600" dirty="0"/>
                        <a:t>Create a climate of learning and sharing</a:t>
                      </a:r>
                    </a:p>
                    <a:p>
                      <a:pPr marL="285750" indent="-285750">
                        <a:buFont typeface="Arial"/>
                        <a:buChar char="•"/>
                      </a:pPr>
                      <a:r>
                        <a:rPr lang="en-US" sz="1600" dirty="0"/>
                        <a:t>Make it safe</a:t>
                      </a:r>
                      <a:r>
                        <a:rPr lang="en-US" sz="1600" baseline="0" dirty="0"/>
                        <a:t> to fail</a:t>
                      </a:r>
                      <a:endParaRPr lang="en-US" sz="1600" dirty="0"/>
                    </a:p>
                  </a:txBody>
                  <a:tcPr marL="68580" marR="68580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05928">
                <a:tc>
                  <a:txBody>
                    <a:bodyPr/>
                    <a:lstStyle/>
                    <a:p>
                      <a:r>
                        <a:rPr lang="en-US" sz="1600" b="1" dirty="0"/>
                        <a:t>Tools</a:t>
                      </a:r>
                    </a:p>
                  </a:txBody>
                  <a:tcPr marL="68580" marR="68580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/>
                        <a:buChar char="•"/>
                      </a:pPr>
                      <a:r>
                        <a:rPr lang="en-US" sz="1600" dirty="0"/>
                        <a:t>Automate the things that are painful</a:t>
                      </a:r>
                    </a:p>
                  </a:txBody>
                  <a:tcPr marL="68580" marR="68580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/>
                        <a:buChar char="•"/>
                      </a:pPr>
                      <a:r>
                        <a:rPr lang="en-US" sz="1600" dirty="0"/>
                        <a:t>Make</a:t>
                      </a:r>
                      <a:r>
                        <a:rPr lang="en-US" sz="1600" baseline="0" dirty="0"/>
                        <a:t> sure your team chooses the tools</a:t>
                      </a:r>
                    </a:p>
                    <a:p>
                      <a:pPr marL="285750" indent="-285750">
                        <a:buFont typeface="Arial"/>
                        <a:buChar char="•"/>
                      </a:pPr>
                      <a:r>
                        <a:rPr lang="en-US" sz="1600" dirty="0"/>
                        <a:t>Make monitoring</a:t>
                      </a:r>
                      <a:r>
                        <a:rPr lang="en-US" sz="1600" baseline="0" dirty="0"/>
                        <a:t> a priority</a:t>
                      </a:r>
                      <a:endParaRPr lang="en-US" sz="1600" dirty="0"/>
                    </a:p>
                  </a:txBody>
                  <a:tcPr marL="68580" marR="68580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Content Placeholder 6"/>
          <p:cNvSpPr>
            <a:spLocks noGrp="1"/>
          </p:cNvSpPr>
          <p:nvPr>
            <p:ph idx="1"/>
          </p:nvPr>
        </p:nvSpPr>
        <p:spPr>
          <a:xfrm>
            <a:off x="628650" y="1139825"/>
            <a:ext cx="7886700" cy="4351338"/>
          </a:xfrm>
        </p:spPr>
        <p:txBody>
          <a:bodyPr>
            <a:normAutofit/>
          </a:bodyPr>
          <a:lstStyle/>
          <a:p>
            <a:r>
              <a:rPr lang="en-US" sz="2800" dirty="0"/>
              <a:t>Clear correlation between high IT performance and strong business performance</a:t>
            </a:r>
          </a:p>
          <a:p>
            <a:r>
              <a:rPr lang="en-US" sz="2800" dirty="0"/>
              <a:t>Suggestions for improvement: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F2546-6905-DA3D-22BD-AFC84BB21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Sw. Evolution</a:t>
            </a:r>
          </a:p>
        </p:txBody>
      </p:sp>
    </p:spTree>
    <p:extLst>
      <p:ext uri="{BB962C8B-B14F-4D97-AF65-F5344CB8AC3E}">
        <p14:creationId xmlns:p14="http://schemas.microsoft.com/office/powerpoint/2010/main" val="24238749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2F66FF8-2A3A-491F-BA92-5FCD8A6452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5460" y="1180058"/>
            <a:ext cx="7886700" cy="707711"/>
          </a:xfrm>
        </p:spPr>
        <p:txBody>
          <a:bodyPr>
            <a:normAutofit/>
          </a:bodyPr>
          <a:lstStyle/>
          <a:p>
            <a:r>
              <a:rPr lang="en-US" sz="2700" dirty="0"/>
              <a:t>High Performance DevOps Companies Achieve…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7DC79322-E155-48F1-8E16-8D93E80D38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2982298" y="2001326"/>
            <a:ext cx="3322974" cy="3322974"/>
          </a:xfrm>
          <a:prstGeom prst="ellipse">
            <a:avLst/>
          </a:prstGeom>
          <a:noFill/>
          <a:ln w="15875">
            <a:solidFill>
              <a:srgbClr val="0078D7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31821" tIns="105457" rIns="131821" bIns="105457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672071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73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916FD833-5E5C-498C-8EED-F196F1D36E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3426830" y="3043321"/>
            <a:ext cx="2433911" cy="1238986"/>
            <a:chOff x="4472882" y="2898175"/>
            <a:chExt cx="3376665" cy="1718897"/>
          </a:xfrm>
        </p:grpSpPr>
        <p:sp>
          <p:nvSpPr>
            <p:cNvPr id="25" name="Business Trans large">
              <a:extLst>
                <a:ext uri="{FF2B5EF4-FFF2-40B4-BE49-F238E27FC236}">
                  <a16:creationId xmlns:a16="http://schemas.microsoft.com/office/drawing/2014/main" id="{2CD03AF8-A42D-4265-841D-677CF2D0243D}"/>
                </a:ext>
              </a:extLst>
            </p:cNvPr>
            <p:cNvSpPr txBox="1"/>
            <p:nvPr/>
          </p:nvSpPr>
          <p:spPr>
            <a:xfrm>
              <a:off x="4472882" y="3228293"/>
              <a:ext cx="3376665" cy="1058660"/>
            </a:xfrm>
            <a:prstGeom prst="rect">
              <a:avLst/>
            </a:prstGeom>
            <a:noFill/>
            <a:ln w="25400">
              <a:noFill/>
              <a:miter lim="800000"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 defTabSz="672008">
                <a:lnSpc>
                  <a:spcPct val="90000"/>
                </a:lnSpc>
                <a:spcBef>
                  <a:spcPts val="577"/>
                </a:spcBef>
                <a:defRPr/>
              </a:pPr>
              <a:r>
                <a:rPr lang="en-US" sz="1730" spc="8">
                  <a:ln w="3175">
                    <a:noFill/>
                  </a:ln>
                  <a:solidFill>
                    <a:srgbClr val="0078D7"/>
                  </a:solidFill>
                  <a:cs typeface="Segoe UI Semilight" panose="020B0402040204020203" pitchFamily="34" charset="0"/>
                </a:rPr>
                <a:t>DevOps</a:t>
              </a:r>
            </a:p>
          </p:txBody>
        </p: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FDCCC534-5302-4D6B-A124-2A0A1474A37E}"/>
                </a:ext>
              </a:extLst>
            </p:cNvPr>
            <p:cNvGrpSpPr/>
            <p:nvPr/>
          </p:nvGrpSpPr>
          <p:grpSpPr>
            <a:xfrm>
              <a:off x="5404710" y="2898175"/>
              <a:ext cx="1513009" cy="1718897"/>
              <a:chOff x="13906501" y="3922655"/>
              <a:chExt cx="619125" cy="703377"/>
            </a:xfrm>
          </p:grpSpPr>
          <p:sp>
            <p:nvSpPr>
              <p:cNvPr id="27" name="Freeform 17">
                <a:extLst>
                  <a:ext uri="{FF2B5EF4-FFF2-40B4-BE49-F238E27FC236}">
                    <a16:creationId xmlns:a16="http://schemas.microsoft.com/office/drawing/2014/main" id="{9CADBCEA-1921-4FAE-BFB1-9D24D4C4335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216063" y="3986213"/>
                <a:ext cx="309563" cy="595312"/>
              </a:xfrm>
              <a:custGeom>
                <a:avLst/>
                <a:gdLst>
                  <a:gd name="T0" fmla="*/ 29 w 81"/>
                  <a:gd name="T1" fmla="*/ 0 h 157"/>
                  <a:gd name="T2" fmla="*/ 81 w 81"/>
                  <a:gd name="T3" fmla="*/ 76 h 157"/>
                  <a:gd name="T4" fmla="*/ 0 w 81"/>
                  <a:gd name="T5" fmla="*/ 157 h 1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81" h="157">
                    <a:moveTo>
                      <a:pt x="29" y="0"/>
                    </a:moveTo>
                    <a:cubicBezTo>
                      <a:pt x="59" y="12"/>
                      <a:pt x="81" y="41"/>
                      <a:pt x="81" y="76"/>
                    </a:cubicBezTo>
                    <a:cubicBezTo>
                      <a:pt x="81" y="121"/>
                      <a:pt x="45" y="157"/>
                      <a:pt x="0" y="157"/>
                    </a:cubicBezTo>
                  </a:path>
                </a:pathLst>
              </a:custGeom>
              <a:noFill/>
              <a:ln w="12700" cap="flat">
                <a:solidFill>
                  <a:srgbClr val="0078D7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65901" tIns="32950" rIns="65901" bIns="32950" numCol="1" anchor="t" anchorCtr="0" compatLnSpc="1">
                <a:prstTxWarp prst="textNoShape">
                  <a:avLst/>
                </a:prstTxWarp>
              </a:bodyPr>
              <a:lstStyle/>
              <a:p>
                <a:pPr defTabSz="671503"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US" sz="1324" kern="0">
                  <a:solidFill>
                    <a:srgbClr val="FFFFFF"/>
                  </a:solidFill>
                  <a:ea typeface="MS PGothic" panose="020B0600070205080204" pitchFamily="34" charset="-128"/>
                </a:endParaRPr>
              </a:p>
            </p:txBody>
          </p:sp>
          <p:sp>
            <p:nvSpPr>
              <p:cNvPr id="28" name="Freeform 18">
                <a:extLst>
                  <a:ext uri="{FF2B5EF4-FFF2-40B4-BE49-F238E27FC236}">
                    <a16:creationId xmlns:a16="http://schemas.microsoft.com/office/drawing/2014/main" id="{274AEF39-62E1-4F35-AFD9-F77FCE551A6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906501" y="3967163"/>
                <a:ext cx="309563" cy="596900"/>
              </a:xfrm>
              <a:custGeom>
                <a:avLst/>
                <a:gdLst>
                  <a:gd name="T0" fmla="*/ 52 w 81"/>
                  <a:gd name="T1" fmla="*/ 157 h 157"/>
                  <a:gd name="T2" fmla="*/ 0 w 81"/>
                  <a:gd name="T3" fmla="*/ 81 h 157"/>
                  <a:gd name="T4" fmla="*/ 81 w 81"/>
                  <a:gd name="T5" fmla="*/ 0 h 1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81" h="157">
                    <a:moveTo>
                      <a:pt x="52" y="157"/>
                    </a:moveTo>
                    <a:cubicBezTo>
                      <a:pt x="21" y="145"/>
                      <a:pt x="0" y="116"/>
                      <a:pt x="0" y="81"/>
                    </a:cubicBezTo>
                    <a:cubicBezTo>
                      <a:pt x="0" y="36"/>
                      <a:pt x="36" y="0"/>
                      <a:pt x="81" y="0"/>
                    </a:cubicBezTo>
                  </a:path>
                </a:pathLst>
              </a:custGeom>
              <a:noFill/>
              <a:ln w="12700" cap="flat">
                <a:solidFill>
                  <a:srgbClr val="0078D7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65901" tIns="32950" rIns="65901" bIns="32950" numCol="1" anchor="t" anchorCtr="0" compatLnSpc="1">
                <a:prstTxWarp prst="textNoShape">
                  <a:avLst/>
                </a:prstTxWarp>
              </a:bodyPr>
              <a:lstStyle/>
              <a:p>
                <a:pPr defTabSz="671503"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US" sz="1324" kern="0">
                  <a:solidFill>
                    <a:srgbClr val="FFFFFF"/>
                  </a:solidFill>
                  <a:ea typeface="MS PGothic" panose="020B0600070205080204" pitchFamily="34" charset="-128"/>
                </a:endParaRPr>
              </a:p>
            </p:txBody>
          </p:sp>
          <p:sp>
            <p:nvSpPr>
              <p:cNvPr id="29" name="Line 19">
                <a:extLst>
                  <a:ext uri="{FF2B5EF4-FFF2-40B4-BE49-F238E27FC236}">
                    <a16:creationId xmlns:a16="http://schemas.microsoft.com/office/drawing/2014/main" id="{0EF69B14-10CF-4668-AE90-5214B8CC8BD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4216063" y="4221163"/>
                <a:ext cx="0" cy="0"/>
              </a:xfrm>
              <a:prstGeom prst="line">
                <a:avLst/>
              </a:prstGeom>
              <a:noFill/>
              <a:ln w="12700" cap="flat">
                <a:solidFill>
                  <a:srgbClr val="0078D7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65901" tIns="32950" rIns="65901" bIns="32950" numCol="1" anchor="t" anchorCtr="0" compatLnSpc="1">
                <a:prstTxWarp prst="textNoShape">
                  <a:avLst/>
                </a:prstTxWarp>
              </a:bodyPr>
              <a:lstStyle/>
              <a:p>
                <a:pPr defTabSz="671503"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US" sz="1324" kern="0">
                  <a:solidFill>
                    <a:srgbClr val="FFFFFF"/>
                  </a:solidFill>
                  <a:ea typeface="MS PGothic" panose="020B0600070205080204" pitchFamily="34" charset="-128"/>
                </a:endParaRPr>
              </a:p>
            </p:txBody>
          </p:sp>
          <p:sp>
            <p:nvSpPr>
              <p:cNvPr id="30" name="Freeform 20">
                <a:extLst>
                  <a:ext uri="{FF2B5EF4-FFF2-40B4-BE49-F238E27FC236}">
                    <a16:creationId xmlns:a16="http://schemas.microsoft.com/office/drawing/2014/main" id="{B85D31B1-D40E-4FD5-94EB-BBABFDE34D6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214339" y="3922655"/>
                <a:ext cx="41550" cy="87427"/>
              </a:xfrm>
              <a:custGeom>
                <a:avLst/>
                <a:gdLst>
                  <a:gd name="T0" fmla="*/ 0 w 48"/>
                  <a:gd name="T1" fmla="*/ 101 h 101"/>
                  <a:gd name="T2" fmla="*/ 48 w 48"/>
                  <a:gd name="T3" fmla="*/ 51 h 101"/>
                  <a:gd name="T4" fmla="*/ 0 w 48"/>
                  <a:gd name="T5" fmla="*/ 0 h 10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8" h="101">
                    <a:moveTo>
                      <a:pt x="0" y="101"/>
                    </a:moveTo>
                    <a:lnTo>
                      <a:pt x="48" y="51"/>
                    </a:lnTo>
                    <a:lnTo>
                      <a:pt x="0" y="0"/>
                    </a:lnTo>
                  </a:path>
                </a:pathLst>
              </a:custGeom>
              <a:noFill/>
              <a:ln w="12700" cap="flat">
                <a:solidFill>
                  <a:srgbClr val="0078D7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65901" tIns="32950" rIns="65901" bIns="32950" numCol="1" anchor="t" anchorCtr="0" compatLnSpc="1">
                <a:prstTxWarp prst="textNoShape">
                  <a:avLst/>
                </a:prstTxWarp>
              </a:bodyPr>
              <a:lstStyle/>
              <a:p>
                <a:pPr defTabSz="671503"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US" sz="1324" kern="0">
                  <a:solidFill>
                    <a:srgbClr val="FFFFFF"/>
                  </a:solidFill>
                  <a:ea typeface="MS PGothic" panose="020B0600070205080204" pitchFamily="34" charset="-128"/>
                </a:endParaRPr>
              </a:p>
            </p:txBody>
          </p:sp>
          <p:sp>
            <p:nvSpPr>
              <p:cNvPr id="31" name="Line 21">
                <a:extLst>
                  <a:ext uri="{FF2B5EF4-FFF2-40B4-BE49-F238E27FC236}">
                    <a16:creationId xmlns:a16="http://schemas.microsoft.com/office/drawing/2014/main" id="{84A2EDF3-D329-4480-86A4-6146F91A126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4216063" y="3967163"/>
                <a:ext cx="38100" cy="0"/>
              </a:xfrm>
              <a:prstGeom prst="line">
                <a:avLst/>
              </a:prstGeom>
              <a:noFill/>
              <a:ln w="12700" cap="flat">
                <a:solidFill>
                  <a:srgbClr val="0078D7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65901" tIns="32950" rIns="65901" bIns="32950" numCol="1" anchor="t" anchorCtr="0" compatLnSpc="1">
                <a:prstTxWarp prst="textNoShape">
                  <a:avLst/>
                </a:prstTxWarp>
              </a:bodyPr>
              <a:lstStyle/>
              <a:p>
                <a:pPr defTabSz="671503"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US" sz="1324" kern="0">
                  <a:solidFill>
                    <a:srgbClr val="FFFFFF"/>
                  </a:solidFill>
                  <a:ea typeface="MS PGothic" panose="020B0600070205080204" pitchFamily="34" charset="-128"/>
                </a:endParaRPr>
              </a:p>
            </p:txBody>
          </p:sp>
          <p:sp>
            <p:nvSpPr>
              <p:cNvPr id="32" name="Freeform 22">
                <a:extLst>
                  <a:ext uri="{FF2B5EF4-FFF2-40B4-BE49-F238E27FC236}">
                    <a16:creationId xmlns:a16="http://schemas.microsoft.com/office/drawing/2014/main" id="{21035745-1781-456E-99B9-4BA49DB1E1D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177963" y="4538605"/>
                <a:ext cx="41550" cy="87427"/>
              </a:xfrm>
              <a:custGeom>
                <a:avLst/>
                <a:gdLst>
                  <a:gd name="T0" fmla="*/ 48 w 48"/>
                  <a:gd name="T1" fmla="*/ 0 h 101"/>
                  <a:gd name="T2" fmla="*/ 0 w 48"/>
                  <a:gd name="T3" fmla="*/ 50 h 101"/>
                  <a:gd name="T4" fmla="*/ 48 w 48"/>
                  <a:gd name="T5" fmla="*/ 101 h 10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8" h="101">
                    <a:moveTo>
                      <a:pt x="48" y="0"/>
                    </a:moveTo>
                    <a:lnTo>
                      <a:pt x="0" y="50"/>
                    </a:lnTo>
                    <a:lnTo>
                      <a:pt x="48" y="101"/>
                    </a:lnTo>
                  </a:path>
                </a:pathLst>
              </a:custGeom>
              <a:noFill/>
              <a:ln w="12700" cap="flat">
                <a:solidFill>
                  <a:srgbClr val="0078D7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65901" tIns="32950" rIns="65901" bIns="32950" numCol="1" anchor="t" anchorCtr="0" compatLnSpc="1">
                <a:prstTxWarp prst="textNoShape">
                  <a:avLst/>
                </a:prstTxWarp>
              </a:bodyPr>
              <a:lstStyle/>
              <a:p>
                <a:pPr defTabSz="671503"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US" sz="1324" kern="0">
                  <a:solidFill>
                    <a:srgbClr val="FFFFFF"/>
                  </a:solidFill>
                  <a:ea typeface="MS PGothic" panose="020B0600070205080204" pitchFamily="34" charset="-128"/>
                </a:endParaRPr>
              </a:p>
            </p:txBody>
          </p:sp>
          <p:sp>
            <p:nvSpPr>
              <p:cNvPr id="33" name="Line 23">
                <a:extLst>
                  <a:ext uri="{FF2B5EF4-FFF2-40B4-BE49-F238E27FC236}">
                    <a16:creationId xmlns:a16="http://schemas.microsoft.com/office/drawing/2014/main" id="{A8D8F7A0-BF14-4E15-9F67-699A471099A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4177963" y="4581525"/>
                <a:ext cx="38100" cy="0"/>
              </a:xfrm>
              <a:prstGeom prst="line">
                <a:avLst/>
              </a:prstGeom>
              <a:noFill/>
              <a:ln w="12700" cap="flat">
                <a:solidFill>
                  <a:srgbClr val="0078D7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65901" tIns="32950" rIns="65901" bIns="32950" numCol="1" anchor="t" anchorCtr="0" compatLnSpc="1">
                <a:prstTxWarp prst="textNoShape">
                  <a:avLst/>
                </a:prstTxWarp>
              </a:bodyPr>
              <a:lstStyle/>
              <a:p>
                <a:pPr defTabSz="671503"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US" sz="1324" kern="0">
                  <a:solidFill>
                    <a:srgbClr val="FFFFFF"/>
                  </a:solidFill>
                  <a:ea typeface="MS PGothic" panose="020B0600070205080204" pitchFamily="34" charset="-128"/>
                </a:endParaRPr>
              </a:p>
            </p:txBody>
          </p:sp>
        </p:grpSp>
      </p:grpSp>
      <p:sp>
        <p:nvSpPr>
          <p:cNvPr id="38" name="Rectangle 37">
            <a:extLst>
              <a:ext uri="{FF2B5EF4-FFF2-40B4-BE49-F238E27FC236}">
                <a16:creationId xmlns:a16="http://schemas.microsoft.com/office/drawing/2014/main" id="{6061EA94-CADE-4612-9B54-C2FF3F35947F}"/>
              </a:ext>
            </a:extLst>
          </p:cNvPr>
          <p:cNvSpPr/>
          <p:nvPr/>
        </p:nvSpPr>
        <p:spPr>
          <a:xfrm>
            <a:off x="888749" y="3298050"/>
            <a:ext cx="1563570" cy="7017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 defTabSz="672008">
              <a:spcBef>
                <a:spcPts val="577"/>
              </a:spcBef>
              <a:defRPr/>
            </a:pPr>
            <a:r>
              <a:rPr lang="en-US" sz="1730" spc="8">
                <a:ln w="3175">
                  <a:noFill/>
                </a:ln>
                <a:latin typeface="+mj-lt"/>
                <a:cs typeface="Segoe UI Semilight" panose="020B0402040204020203" pitchFamily="34" charset="0"/>
              </a:rPr>
              <a:t>Faster</a:t>
            </a:r>
          </a:p>
          <a:p>
            <a:pPr algn="ctr" defTabSz="672008">
              <a:spcBef>
                <a:spcPts val="577"/>
              </a:spcBef>
              <a:defRPr/>
            </a:pPr>
            <a:r>
              <a:rPr lang="en-US" sz="1730" spc="8">
                <a:ln w="3175">
                  <a:noFill/>
                </a:ln>
                <a:latin typeface="+mj-lt"/>
                <a:cs typeface="Segoe UI Semilight" panose="020B0402040204020203" pitchFamily="34" charset="0"/>
              </a:rPr>
              <a:t>Time to Market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F6C09323-0A2E-4FBD-AC20-BB2EDC05B673}"/>
              </a:ext>
            </a:extLst>
          </p:cNvPr>
          <p:cNvSpPr/>
          <p:nvPr/>
        </p:nvSpPr>
        <p:spPr>
          <a:xfrm>
            <a:off x="6994102" y="3322101"/>
            <a:ext cx="1056251" cy="7017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 defTabSz="672008">
              <a:spcBef>
                <a:spcPts val="577"/>
              </a:spcBef>
              <a:defRPr/>
            </a:pPr>
            <a:r>
              <a:rPr lang="en-US" sz="1730" spc="8">
                <a:ln w="3175">
                  <a:noFill/>
                </a:ln>
                <a:latin typeface="+mj-lt"/>
                <a:cs typeface="Segoe UI Semilight" panose="020B0402040204020203" pitchFamily="34" charset="0"/>
              </a:rPr>
              <a:t>Increased</a:t>
            </a:r>
          </a:p>
          <a:p>
            <a:pPr algn="ctr" defTabSz="672008">
              <a:spcBef>
                <a:spcPts val="577"/>
              </a:spcBef>
              <a:defRPr/>
            </a:pPr>
            <a:r>
              <a:rPr lang="en-US" sz="1730" spc="8">
                <a:ln w="3175">
                  <a:noFill/>
                </a:ln>
                <a:latin typeface="+mj-lt"/>
                <a:cs typeface="Segoe UI Semilight" panose="020B0402040204020203" pitchFamily="34" charset="0"/>
              </a:rPr>
              <a:t>Revenue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1752A87-227E-4101-94BD-8D14C0077C37}"/>
              </a:ext>
            </a:extLst>
          </p:cNvPr>
          <p:cNvSpPr/>
          <p:nvPr/>
        </p:nvSpPr>
        <p:spPr>
          <a:xfrm>
            <a:off x="6435512" y="4686620"/>
            <a:ext cx="2022348" cy="7017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 defTabSz="672008">
              <a:spcBef>
                <a:spcPts val="577"/>
              </a:spcBef>
              <a:defRPr/>
            </a:pPr>
            <a:r>
              <a:rPr lang="en-US" sz="1730" spc="8">
                <a:ln w="3175">
                  <a:noFill/>
                </a:ln>
                <a:cs typeface="Segoe UI Semilight" panose="020B0402040204020203" pitchFamily="34" charset="0"/>
              </a:rPr>
              <a:t>2,604x Faster Mean </a:t>
            </a:r>
          </a:p>
          <a:p>
            <a:pPr algn="ctr" defTabSz="672008">
              <a:spcBef>
                <a:spcPts val="577"/>
              </a:spcBef>
              <a:defRPr/>
            </a:pPr>
            <a:r>
              <a:rPr lang="en-US" sz="1730" spc="8">
                <a:ln w="3175">
                  <a:noFill/>
                </a:ln>
                <a:cs typeface="Segoe UI Semilight" panose="020B0402040204020203" pitchFamily="34" charset="0"/>
              </a:rPr>
              <a:t>Time to Recover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A8A15C5-B7F1-4597-A5F5-7AC33920BA22}"/>
              </a:ext>
            </a:extLst>
          </p:cNvPr>
          <p:cNvSpPr/>
          <p:nvPr/>
        </p:nvSpPr>
        <p:spPr>
          <a:xfrm>
            <a:off x="6483602" y="2110292"/>
            <a:ext cx="1926169" cy="7017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 defTabSz="672008">
              <a:spcBef>
                <a:spcPts val="577"/>
              </a:spcBef>
              <a:defRPr/>
            </a:pPr>
            <a:r>
              <a:rPr lang="en-US" sz="1730" spc="8">
                <a:ln w="3175">
                  <a:noFill/>
                </a:ln>
                <a:cs typeface="Segoe UI Semilight" panose="020B0402040204020203" pitchFamily="34" charset="0"/>
              </a:rPr>
              <a:t>2,555x Faster Lead </a:t>
            </a:r>
          </a:p>
          <a:p>
            <a:pPr algn="ctr" defTabSz="672008">
              <a:spcBef>
                <a:spcPts val="577"/>
              </a:spcBef>
              <a:defRPr/>
            </a:pPr>
            <a:r>
              <a:rPr lang="en-US" sz="1730" spc="8">
                <a:ln w="3175">
                  <a:noFill/>
                </a:ln>
                <a:cs typeface="Segoe UI Semilight" panose="020B0402040204020203" pitchFamily="34" charset="0"/>
              </a:rPr>
              <a:t>Time For Changes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75832FC-01B9-47A2-8C16-68681F37ED84}"/>
              </a:ext>
            </a:extLst>
          </p:cNvPr>
          <p:cNvSpPr/>
          <p:nvPr/>
        </p:nvSpPr>
        <p:spPr>
          <a:xfrm>
            <a:off x="925968" y="4686620"/>
            <a:ext cx="1783373" cy="7017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 defTabSz="672008">
              <a:spcBef>
                <a:spcPts val="577"/>
              </a:spcBef>
              <a:defRPr/>
            </a:pPr>
            <a:r>
              <a:rPr lang="en-US" sz="1730" spc="8">
                <a:ln w="3175">
                  <a:noFill/>
                </a:ln>
                <a:cs typeface="Segoe UI Semilight" panose="020B0402040204020203" pitchFamily="34" charset="0"/>
              </a:rPr>
              <a:t>7x Lower Change </a:t>
            </a:r>
          </a:p>
          <a:p>
            <a:pPr algn="ctr" defTabSz="672008">
              <a:spcBef>
                <a:spcPts val="577"/>
              </a:spcBef>
              <a:defRPr/>
            </a:pPr>
            <a:r>
              <a:rPr lang="en-US" sz="1730" spc="8">
                <a:ln w="3175">
                  <a:noFill/>
                </a:ln>
                <a:cs typeface="Segoe UI Semilight" panose="020B0402040204020203" pitchFamily="34" charset="0"/>
              </a:rPr>
              <a:t>Failure Rate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005ABE3-0CFB-4C21-880F-94F20C8A2865}"/>
              </a:ext>
            </a:extLst>
          </p:cNvPr>
          <p:cNvSpPr/>
          <p:nvPr/>
        </p:nvSpPr>
        <p:spPr>
          <a:xfrm>
            <a:off x="978386" y="2163501"/>
            <a:ext cx="1678536" cy="7017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 defTabSz="672008">
              <a:spcBef>
                <a:spcPts val="577"/>
              </a:spcBef>
              <a:defRPr/>
            </a:pPr>
            <a:r>
              <a:rPr lang="en-US" sz="1730" spc="8">
                <a:ln w="3175">
                  <a:noFill/>
                </a:ln>
                <a:cs typeface="Segoe UI Semilight" panose="020B0402040204020203" pitchFamily="34" charset="0"/>
              </a:rPr>
              <a:t>46x Deployment</a:t>
            </a:r>
          </a:p>
          <a:p>
            <a:pPr algn="ctr" defTabSz="672008">
              <a:spcBef>
                <a:spcPts val="577"/>
              </a:spcBef>
              <a:defRPr/>
            </a:pPr>
            <a:r>
              <a:rPr lang="en-US" sz="1730" spc="8">
                <a:ln w="3175">
                  <a:noFill/>
                </a:ln>
                <a:cs typeface="Segoe UI Semilight" panose="020B0402040204020203" pitchFamily="34" charset="0"/>
              </a:rPr>
              <a:t>Frequency</a:t>
            </a: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B144ED3E-9381-4006-A68F-FF4F8A6683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2682456" y="3374175"/>
            <a:ext cx="626516" cy="626516"/>
            <a:chOff x="3440179" y="3387107"/>
            <a:chExt cx="869193" cy="869193"/>
          </a:xfrm>
        </p:grpSpPr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E9D1D0A9-2539-416C-8EFC-9AFA0BD6D4D3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3440179" y="3387107"/>
              <a:ext cx="869193" cy="869193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19050" cap="flat" cmpd="sng" algn="ctr">
              <a:noFill/>
              <a:prstDash val="solid"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129230" tIns="103384" rIns="129230" bIns="103384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658831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697" kern="0" dirty="0">
                <a:solidFill>
                  <a:srgbClr val="0078D7"/>
                </a:solidFill>
                <a:latin typeface="Segoe UI Semilight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48" name="speedometer_2">
              <a:extLst>
                <a:ext uri="{FF2B5EF4-FFF2-40B4-BE49-F238E27FC236}">
                  <a16:creationId xmlns:a16="http://schemas.microsoft.com/office/drawing/2014/main" id="{B718141A-4899-40CD-A4D7-21BEED8E5AFD}"/>
                </a:ext>
              </a:extLst>
            </p:cNvPr>
            <p:cNvSpPr>
              <a:spLocks noChangeAspect="1" noEditPoints="1"/>
            </p:cNvSpPr>
            <p:nvPr/>
          </p:nvSpPr>
          <p:spPr bwMode="auto">
            <a:xfrm>
              <a:off x="3619307" y="3566235"/>
              <a:ext cx="510936" cy="510936"/>
            </a:xfrm>
            <a:custGeom>
              <a:avLst/>
              <a:gdLst>
                <a:gd name="T0" fmla="*/ 155 w 281"/>
                <a:gd name="T1" fmla="*/ 155 h 281"/>
                <a:gd name="T2" fmla="*/ 126 w 281"/>
                <a:gd name="T3" fmla="*/ 155 h 281"/>
                <a:gd name="T4" fmla="*/ 126 w 281"/>
                <a:gd name="T5" fmla="*/ 126 h 281"/>
                <a:gd name="T6" fmla="*/ 155 w 281"/>
                <a:gd name="T7" fmla="*/ 126 h 281"/>
                <a:gd name="T8" fmla="*/ 155 w 281"/>
                <a:gd name="T9" fmla="*/ 155 h 281"/>
                <a:gd name="T10" fmla="*/ 140 w 281"/>
                <a:gd name="T11" fmla="*/ 0 h 281"/>
                <a:gd name="T12" fmla="*/ 0 w 281"/>
                <a:gd name="T13" fmla="*/ 141 h 281"/>
                <a:gd name="T14" fmla="*/ 140 w 281"/>
                <a:gd name="T15" fmla="*/ 281 h 281"/>
                <a:gd name="T16" fmla="*/ 281 w 281"/>
                <a:gd name="T17" fmla="*/ 141 h 281"/>
                <a:gd name="T18" fmla="*/ 140 w 281"/>
                <a:gd name="T19" fmla="*/ 0 h 281"/>
                <a:gd name="T20" fmla="*/ 214 w 281"/>
                <a:gd name="T21" fmla="*/ 210 h 281"/>
                <a:gd name="T22" fmla="*/ 241 w 281"/>
                <a:gd name="T23" fmla="*/ 141 h 281"/>
                <a:gd name="T24" fmla="*/ 235 w 281"/>
                <a:gd name="T25" fmla="*/ 105 h 281"/>
                <a:gd name="T26" fmla="*/ 174 w 281"/>
                <a:gd name="T27" fmla="*/ 45 h 281"/>
                <a:gd name="T28" fmla="*/ 140 w 281"/>
                <a:gd name="T29" fmla="*/ 40 h 281"/>
                <a:gd name="T30" fmla="*/ 40 w 281"/>
                <a:gd name="T31" fmla="*/ 141 h 281"/>
                <a:gd name="T32" fmla="*/ 67 w 281"/>
                <a:gd name="T33" fmla="*/ 210 h 281"/>
                <a:gd name="T34" fmla="*/ 212 w 281"/>
                <a:gd name="T35" fmla="*/ 69 h 281"/>
                <a:gd name="T36" fmla="*/ 157 w 281"/>
                <a:gd name="T37" fmla="*/ 124 h 28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81" h="281">
                  <a:moveTo>
                    <a:pt x="155" y="155"/>
                  </a:moveTo>
                  <a:cubicBezTo>
                    <a:pt x="147" y="164"/>
                    <a:pt x="134" y="164"/>
                    <a:pt x="126" y="155"/>
                  </a:cubicBezTo>
                  <a:cubicBezTo>
                    <a:pt x="117" y="147"/>
                    <a:pt x="117" y="134"/>
                    <a:pt x="126" y="126"/>
                  </a:cubicBezTo>
                  <a:cubicBezTo>
                    <a:pt x="134" y="118"/>
                    <a:pt x="147" y="117"/>
                    <a:pt x="155" y="126"/>
                  </a:cubicBezTo>
                  <a:cubicBezTo>
                    <a:pt x="164" y="134"/>
                    <a:pt x="164" y="147"/>
                    <a:pt x="155" y="155"/>
                  </a:cubicBezTo>
                  <a:close/>
                  <a:moveTo>
                    <a:pt x="140" y="0"/>
                  </a:moveTo>
                  <a:cubicBezTo>
                    <a:pt x="63" y="0"/>
                    <a:pt x="0" y="63"/>
                    <a:pt x="0" y="141"/>
                  </a:cubicBezTo>
                  <a:cubicBezTo>
                    <a:pt x="0" y="218"/>
                    <a:pt x="63" y="281"/>
                    <a:pt x="140" y="281"/>
                  </a:cubicBezTo>
                  <a:cubicBezTo>
                    <a:pt x="218" y="281"/>
                    <a:pt x="281" y="218"/>
                    <a:pt x="281" y="141"/>
                  </a:cubicBezTo>
                  <a:cubicBezTo>
                    <a:pt x="281" y="63"/>
                    <a:pt x="218" y="0"/>
                    <a:pt x="140" y="0"/>
                  </a:cubicBezTo>
                  <a:close/>
                  <a:moveTo>
                    <a:pt x="214" y="210"/>
                  </a:moveTo>
                  <a:cubicBezTo>
                    <a:pt x="231" y="192"/>
                    <a:pt x="241" y="168"/>
                    <a:pt x="241" y="141"/>
                  </a:cubicBezTo>
                  <a:cubicBezTo>
                    <a:pt x="241" y="128"/>
                    <a:pt x="239" y="116"/>
                    <a:pt x="235" y="105"/>
                  </a:cubicBezTo>
                  <a:moveTo>
                    <a:pt x="174" y="45"/>
                  </a:moveTo>
                  <a:cubicBezTo>
                    <a:pt x="163" y="42"/>
                    <a:pt x="152" y="40"/>
                    <a:pt x="140" y="40"/>
                  </a:cubicBezTo>
                  <a:cubicBezTo>
                    <a:pt x="85" y="40"/>
                    <a:pt x="40" y="85"/>
                    <a:pt x="40" y="141"/>
                  </a:cubicBezTo>
                  <a:cubicBezTo>
                    <a:pt x="40" y="168"/>
                    <a:pt x="50" y="192"/>
                    <a:pt x="67" y="210"/>
                  </a:cubicBezTo>
                  <a:moveTo>
                    <a:pt x="212" y="69"/>
                  </a:moveTo>
                  <a:cubicBezTo>
                    <a:pt x="157" y="124"/>
                    <a:pt x="157" y="124"/>
                    <a:pt x="157" y="124"/>
                  </a:cubicBezTo>
                </a:path>
              </a:pathLst>
            </a:custGeom>
            <a:noFill/>
            <a:ln w="19050" cap="rnd">
              <a:solidFill>
                <a:schemeClr val="tx2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65910" tIns="32955" rIns="65910" bIns="32955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en-US" sz="1324" kern="0" dirty="0">
                <a:solidFill>
                  <a:schemeClr val="tx2"/>
                </a:solidFill>
                <a:latin typeface="Segoe UI Semilight"/>
              </a:endParaRPr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89D3924E-F365-4B20-B920-D431785B28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5995052" y="3298051"/>
            <a:ext cx="626516" cy="763085"/>
            <a:chOff x="8035882" y="3281497"/>
            <a:chExt cx="869193" cy="1058660"/>
          </a:xfrm>
        </p:grpSpPr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9C04F600-F0CD-497E-B8E0-AC21EE4850C7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8035882" y="3365508"/>
              <a:ext cx="869193" cy="869193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19050" cap="flat" cmpd="sng" algn="ctr">
              <a:noFill/>
              <a:prstDash val="solid"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129230" tIns="103384" rIns="129230" bIns="103384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658831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697" kern="0" dirty="0">
                <a:solidFill>
                  <a:srgbClr val="0078D7"/>
                </a:solidFill>
                <a:latin typeface="Segoe UI Semilight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52" name="Business Trans large">
              <a:extLst>
                <a:ext uri="{FF2B5EF4-FFF2-40B4-BE49-F238E27FC236}">
                  <a16:creationId xmlns:a16="http://schemas.microsoft.com/office/drawing/2014/main" id="{1A27732C-C27F-4468-945F-F18FAC15BB10}"/>
                </a:ext>
              </a:extLst>
            </p:cNvPr>
            <p:cNvSpPr txBox="1"/>
            <p:nvPr/>
          </p:nvSpPr>
          <p:spPr>
            <a:xfrm>
              <a:off x="8279682" y="3281497"/>
              <a:ext cx="376645" cy="1058660"/>
            </a:xfrm>
            <a:prstGeom prst="rect">
              <a:avLst/>
            </a:prstGeom>
            <a:noFill/>
            <a:ln w="25400">
              <a:noFill/>
              <a:miter lim="800000"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 defTabSz="672008">
                <a:lnSpc>
                  <a:spcPct val="90000"/>
                </a:lnSpc>
                <a:spcBef>
                  <a:spcPts val="577"/>
                </a:spcBef>
                <a:defRPr/>
              </a:pPr>
              <a:r>
                <a:rPr lang="en-US" sz="2306" spc="8" dirty="0">
                  <a:ln w="3175">
                    <a:noFill/>
                  </a:ln>
                  <a:solidFill>
                    <a:schemeClr val="tx2"/>
                  </a:solidFill>
                  <a:latin typeface="+mj-lt"/>
                  <a:cs typeface="Segoe UI Light" panose="020B0502040204020203" pitchFamily="34" charset="0"/>
                </a:rPr>
                <a:t>$</a:t>
              </a:r>
              <a:endParaRPr lang="en-US" sz="1730" spc="8" dirty="0">
                <a:ln w="3175">
                  <a:noFill/>
                </a:ln>
                <a:solidFill>
                  <a:schemeClr val="tx2"/>
                </a:solidFill>
                <a:latin typeface="+mj-lt"/>
                <a:cs typeface="Segoe UI Light" panose="020B0502040204020203" pitchFamily="34" charset="0"/>
              </a:endParaRPr>
            </a:p>
          </p:txBody>
        </p:sp>
      </p:grpSp>
      <p:sp>
        <p:nvSpPr>
          <p:cNvPr id="58" name="Oval 57">
            <a:extLst>
              <a:ext uri="{FF2B5EF4-FFF2-40B4-BE49-F238E27FC236}">
                <a16:creationId xmlns:a16="http://schemas.microsoft.com/office/drawing/2014/main" id="{70E3DF0C-A06A-4929-B941-4EB13229A3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/>
        </p:nvSpPr>
        <p:spPr bwMode="auto">
          <a:xfrm>
            <a:off x="5544268" y="4561932"/>
            <a:ext cx="626516" cy="626516"/>
          </a:xfrm>
          <a:prstGeom prst="ellipse">
            <a:avLst/>
          </a:prstGeom>
          <a:solidFill>
            <a:schemeClr val="bg1">
              <a:lumMod val="95000"/>
            </a:schemeClr>
          </a:solidFill>
          <a:ln w="15875" cap="flat" cmpd="sng" algn="ctr">
            <a:noFill/>
            <a:prstDash val="solid"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129230" tIns="103384" rIns="129230" bIns="10338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658831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/>
            </a:pPr>
            <a:endParaRPr lang="en-US" sz="1697" kern="0" dirty="0">
              <a:solidFill>
                <a:schemeClr val="tx2"/>
              </a:solidFill>
              <a:latin typeface="Segoe UI Semilight"/>
              <a:ea typeface="Segoe UI" pitchFamily="34" charset="0"/>
              <a:cs typeface="Segoe UI" pitchFamily="34" charset="0"/>
            </a:endParaRPr>
          </a:p>
        </p:txBody>
      </p:sp>
      <p:grpSp>
        <p:nvGrpSpPr>
          <p:cNvPr id="66" name="Group 65">
            <a:extLst>
              <a:ext uri="{FF2B5EF4-FFF2-40B4-BE49-F238E27FC236}">
                <a16:creationId xmlns:a16="http://schemas.microsoft.com/office/drawing/2014/main" id="{082DE540-D679-44C5-874C-E1BCD31C0B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5544268" y="2186418"/>
            <a:ext cx="626516" cy="626516"/>
            <a:chOff x="7540587" y="1807263"/>
            <a:chExt cx="852106" cy="852106"/>
          </a:xfrm>
        </p:grpSpPr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58ECDF98-883F-4F5E-BFAE-67F840B0EFF1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7540587" y="1807263"/>
              <a:ext cx="852106" cy="852106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15875" cap="flat" cmpd="sng" algn="ctr">
              <a:noFill/>
              <a:prstDash val="solid"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129230" tIns="103384" rIns="129230" bIns="103384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658831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697" kern="0" dirty="0">
                <a:solidFill>
                  <a:srgbClr val="0078D7"/>
                </a:solidFill>
                <a:latin typeface="Segoe UI Semilight"/>
                <a:ea typeface="Segoe UI" pitchFamily="34" charset="0"/>
                <a:cs typeface="Segoe UI" pitchFamily="34" charset="0"/>
              </a:endParaRPr>
            </a:p>
          </p:txBody>
        </p:sp>
        <p:pic>
          <p:nvPicPr>
            <p:cNvPr id="68" name="Graphic 67">
              <a:extLst>
                <a:ext uri="{FF2B5EF4-FFF2-40B4-BE49-F238E27FC236}">
                  <a16:creationId xmlns:a16="http://schemas.microsoft.com/office/drawing/2014/main" id="{6462EA56-B94F-4AFA-818B-803246C94EC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765848" y="2015603"/>
              <a:ext cx="410330" cy="410330"/>
            </a:xfrm>
            <a:prstGeom prst="rect">
              <a:avLst/>
            </a:prstGeom>
          </p:spPr>
        </p:pic>
      </p:grpSp>
      <p:sp>
        <p:nvSpPr>
          <p:cNvPr id="69" name="Oval 68">
            <a:extLst>
              <a:ext uri="{FF2B5EF4-FFF2-40B4-BE49-F238E27FC236}">
                <a16:creationId xmlns:a16="http://schemas.microsoft.com/office/drawing/2014/main" id="{83286B22-A73D-49B0-B63D-7C9E605988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/>
        </p:nvSpPr>
        <p:spPr bwMode="auto">
          <a:xfrm>
            <a:off x="3189349" y="4561932"/>
            <a:ext cx="626516" cy="626516"/>
          </a:xfrm>
          <a:prstGeom prst="ellipse">
            <a:avLst/>
          </a:prstGeom>
          <a:solidFill>
            <a:schemeClr val="bg1">
              <a:lumMod val="95000"/>
            </a:schemeClr>
          </a:solidFill>
          <a:ln w="15875" cap="flat" cmpd="sng" algn="ctr">
            <a:noFill/>
            <a:prstDash val="solid"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129230" tIns="103384" rIns="129230" bIns="10338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658831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/>
            </a:pPr>
            <a:endParaRPr lang="en-US" sz="1697" kern="0" err="1">
              <a:solidFill>
                <a:srgbClr val="0078D7"/>
              </a:solidFill>
              <a:latin typeface="Segoe UI Semilight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252D033A-ED0B-43A6-9265-1D0F8D8396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/>
        </p:nvSpPr>
        <p:spPr bwMode="auto">
          <a:xfrm>
            <a:off x="3189349" y="2186418"/>
            <a:ext cx="626516" cy="626516"/>
          </a:xfrm>
          <a:prstGeom prst="ellipse">
            <a:avLst/>
          </a:prstGeom>
          <a:solidFill>
            <a:schemeClr val="bg1">
              <a:lumMod val="95000"/>
            </a:schemeClr>
          </a:solidFill>
          <a:ln w="15875" cap="flat" cmpd="sng" algn="ctr">
            <a:noFill/>
            <a:prstDash val="solid"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129230" tIns="103384" rIns="129230" bIns="10338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658831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/>
            </a:pPr>
            <a:endParaRPr lang="en-US" sz="1697" kern="0" dirty="0">
              <a:solidFill>
                <a:srgbClr val="0078D7"/>
              </a:solidFill>
              <a:latin typeface="Segoe UI Semilight"/>
              <a:ea typeface="Segoe UI" pitchFamily="34" charset="0"/>
              <a:cs typeface="Segoe UI" pitchFamily="34" charset="0"/>
            </a:endParaRPr>
          </a:p>
        </p:txBody>
      </p:sp>
      <p:pic>
        <p:nvPicPr>
          <p:cNvPr id="71" name="Graphic 70">
            <a:extLst>
              <a:ext uri="{FF2B5EF4-FFF2-40B4-BE49-F238E27FC236}">
                <a16:creationId xmlns:a16="http://schemas.microsoft.com/office/drawing/2014/main" id="{C45D29E2-CF16-46B5-ADCE-BD7AA1AA82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54156" y="2329055"/>
            <a:ext cx="341241" cy="341241"/>
          </a:xfrm>
          <a:prstGeom prst="rect">
            <a:avLst/>
          </a:prstGeom>
        </p:spPr>
      </p:pic>
      <p:grpSp>
        <p:nvGrpSpPr>
          <p:cNvPr id="72" name="Graphic 50">
            <a:extLst>
              <a:ext uri="{FF2B5EF4-FFF2-40B4-BE49-F238E27FC236}">
                <a16:creationId xmlns:a16="http://schemas.microsoft.com/office/drawing/2014/main" id="{365A5FA5-4A17-4D78-829F-CF88ABE1DB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3354156" y="4656336"/>
            <a:ext cx="292541" cy="368171"/>
            <a:chOff x="4561339" y="5170313"/>
            <a:chExt cx="397875" cy="500737"/>
          </a:xfrm>
        </p:grpSpPr>
        <p:sp>
          <p:nvSpPr>
            <p:cNvPr id="73" name="Freeform 2">
              <a:extLst>
                <a:ext uri="{FF2B5EF4-FFF2-40B4-BE49-F238E27FC236}">
                  <a16:creationId xmlns:a16="http://schemas.microsoft.com/office/drawing/2014/main" id="{1A082384-BE2C-4C0C-AD28-96F903899FD7}"/>
                </a:ext>
              </a:extLst>
            </p:cNvPr>
            <p:cNvSpPr/>
            <p:nvPr/>
          </p:nvSpPr>
          <p:spPr>
            <a:xfrm>
              <a:off x="4561339" y="5170313"/>
              <a:ext cx="392410" cy="418570"/>
            </a:xfrm>
            <a:custGeom>
              <a:avLst/>
              <a:gdLst>
                <a:gd name="connsiteX0" fmla="*/ 13314 w 392409"/>
                <a:gd name="connsiteY0" fmla="*/ 13314 h 418570"/>
                <a:gd name="connsiteX1" fmla="*/ 379563 w 392409"/>
                <a:gd name="connsiteY1" fmla="*/ 13314 h 418570"/>
                <a:gd name="connsiteX2" fmla="*/ 379563 w 392409"/>
                <a:gd name="connsiteY2" fmla="*/ 414920 h 418570"/>
                <a:gd name="connsiteX3" fmla="*/ 13314 w 392409"/>
                <a:gd name="connsiteY3" fmla="*/ 414920 h 4185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92409" h="418570">
                  <a:moveTo>
                    <a:pt x="13314" y="13314"/>
                  </a:moveTo>
                  <a:lnTo>
                    <a:pt x="379563" y="13314"/>
                  </a:lnTo>
                  <a:lnTo>
                    <a:pt x="379563" y="414920"/>
                  </a:lnTo>
                  <a:lnTo>
                    <a:pt x="13314" y="414920"/>
                  </a:lnTo>
                  <a:close/>
                </a:path>
              </a:pathLst>
            </a:custGeom>
            <a:solidFill>
              <a:schemeClr val="bg2">
                <a:alpha val="0"/>
              </a:schemeClr>
            </a:solidFill>
            <a:ln w="1292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24" dirty="0"/>
            </a:p>
          </p:txBody>
        </p:sp>
        <p:sp>
          <p:nvSpPr>
            <p:cNvPr id="74" name="Freeform 5">
              <a:extLst>
                <a:ext uri="{FF2B5EF4-FFF2-40B4-BE49-F238E27FC236}">
                  <a16:creationId xmlns:a16="http://schemas.microsoft.com/office/drawing/2014/main" id="{C5165A95-EF8C-424A-9623-D94315A85BDA}"/>
                </a:ext>
              </a:extLst>
            </p:cNvPr>
            <p:cNvSpPr/>
            <p:nvPr/>
          </p:nvSpPr>
          <p:spPr>
            <a:xfrm>
              <a:off x="4566804" y="5252480"/>
              <a:ext cx="392410" cy="418570"/>
            </a:xfrm>
            <a:custGeom>
              <a:avLst/>
              <a:gdLst>
                <a:gd name="connsiteX0" fmla="*/ 315796 w 392409"/>
                <a:gd name="connsiteY0" fmla="*/ 179679 h 418570"/>
                <a:gd name="connsiteX1" fmla="*/ 340730 w 392409"/>
                <a:gd name="connsiteY1" fmla="*/ 185402 h 418570"/>
                <a:gd name="connsiteX2" fmla="*/ 360964 w 392409"/>
                <a:gd name="connsiteY2" fmla="*/ 199299 h 418570"/>
                <a:gd name="connsiteX3" fmla="*/ 374454 w 392409"/>
                <a:gd name="connsiteY3" fmla="*/ 219943 h 418570"/>
                <a:gd name="connsiteX4" fmla="*/ 379563 w 392409"/>
                <a:gd name="connsiteY4" fmla="*/ 244876 h 418570"/>
                <a:gd name="connsiteX5" fmla="*/ 379563 w 392409"/>
                <a:gd name="connsiteY5" fmla="*/ 284117 h 418570"/>
                <a:gd name="connsiteX6" fmla="*/ 353402 w 392409"/>
                <a:gd name="connsiteY6" fmla="*/ 284117 h 418570"/>
                <a:gd name="connsiteX7" fmla="*/ 353402 w 392409"/>
                <a:gd name="connsiteY7" fmla="*/ 244876 h 418570"/>
                <a:gd name="connsiteX8" fmla="*/ 351154 w 392409"/>
                <a:gd name="connsiteY8" fmla="*/ 232410 h 418570"/>
                <a:gd name="connsiteX9" fmla="*/ 345227 w 392409"/>
                <a:gd name="connsiteY9" fmla="*/ 221372 h 418570"/>
                <a:gd name="connsiteX10" fmla="*/ 336234 w 392409"/>
                <a:gd name="connsiteY10" fmla="*/ 212789 h 418570"/>
                <a:gd name="connsiteX11" fmla="*/ 324585 w 392409"/>
                <a:gd name="connsiteY11" fmla="*/ 207271 h 418570"/>
                <a:gd name="connsiteX12" fmla="*/ 326424 w 392409"/>
                <a:gd name="connsiteY12" fmla="*/ 219533 h 418570"/>
                <a:gd name="connsiteX13" fmla="*/ 327242 w 392409"/>
                <a:gd name="connsiteY13" fmla="*/ 231796 h 418570"/>
                <a:gd name="connsiteX14" fmla="*/ 327242 w 392409"/>
                <a:gd name="connsiteY14" fmla="*/ 284117 h 418570"/>
                <a:gd name="connsiteX15" fmla="*/ 327038 w 392409"/>
                <a:gd name="connsiteY15" fmla="*/ 286774 h 418570"/>
                <a:gd name="connsiteX16" fmla="*/ 326628 w 392409"/>
                <a:gd name="connsiteY16" fmla="*/ 289431 h 418570"/>
                <a:gd name="connsiteX17" fmla="*/ 327855 w 392409"/>
                <a:gd name="connsiteY17" fmla="*/ 288205 h 418570"/>
                <a:gd name="connsiteX18" fmla="*/ 346658 w 392409"/>
                <a:gd name="connsiteY18" fmla="*/ 316410 h 418570"/>
                <a:gd name="connsiteX19" fmla="*/ 353198 w 392409"/>
                <a:gd name="connsiteY19" fmla="*/ 349723 h 418570"/>
                <a:gd name="connsiteX20" fmla="*/ 346658 w 392409"/>
                <a:gd name="connsiteY20" fmla="*/ 383037 h 418570"/>
                <a:gd name="connsiteX21" fmla="*/ 327855 w 392409"/>
                <a:gd name="connsiteY21" fmla="*/ 411037 h 418570"/>
                <a:gd name="connsiteX22" fmla="*/ 309460 w 392409"/>
                <a:gd name="connsiteY22" fmla="*/ 392644 h 418570"/>
                <a:gd name="connsiteX23" fmla="*/ 322541 w 392409"/>
                <a:gd name="connsiteY23" fmla="*/ 373227 h 418570"/>
                <a:gd name="connsiteX24" fmla="*/ 327038 w 392409"/>
                <a:gd name="connsiteY24" fmla="*/ 349927 h 418570"/>
                <a:gd name="connsiteX25" fmla="*/ 320701 w 392409"/>
                <a:gd name="connsiteY25" fmla="*/ 322950 h 418570"/>
                <a:gd name="connsiteX26" fmla="*/ 302103 w 392409"/>
                <a:gd name="connsiteY26" fmla="*/ 360351 h 418570"/>
                <a:gd name="connsiteX27" fmla="*/ 273693 w 392409"/>
                <a:gd name="connsiteY27" fmla="*/ 389374 h 418570"/>
                <a:gd name="connsiteX28" fmla="*/ 237518 w 392409"/>
                <a:gd name="connsiteY28" fmla="*/ 408176 h 418570"/>
                <a:gd name="connsiteX29" fmla="*/ 196438 w 392409"/>
                <a:gd name="connsiteY29" fmla="*/ 414921 h 418570"/>
                <a:gd name="connsiteX30" fmla="*/ 155154 w 392409"/>
                <a:gd name="connsiteY30" fmla="*/ 408176 h 418570"/>
                <a:gd name="connsiteX31" fmla="*/ 119183 w 392409"/>
                <a:gd name="connsiteY31" fmla="*/ 389374 h 418570"/>
                <a:gd name="connsiteX32" fmla="*/ 90570 w 392409"/>
                <a:gd name="connsiteY32" fmla="*/ 360351 h 418570"/>
                <a:gd name="connsiteX33" fmla="*/ 72175 w 392409"/>
                <a:gd name="connsiteY33" fmla="*/ 322950 h 418570"/>
                <a:gd name="connsiteX34" fmla="*/ 65840 w 392409"/>
                <a:gd name="connsiteY34" fmla="*/ 349927 h 418570"/>
                <a:gd name="connsiteX35" fmla="*/ 70336 w 392409"/>
                <a:gd name="connsiteY35" fmla="*/ 373227 h 418570"/>
                <a:gd name="connsiteX36" fmla="*/ 83416 w 392409"/>
                <a:gd name="connsiteY36" fmla="*/ 392644 h 418570"/>
                <a:gd name="connsiteX37" fmla="*/ 65022 w 392409"/>
                <a:gd name="connsiteY37" fmla="*/ 411037 h 418570"/>
                <a:gd name="connsiteX38" fmla="*/ 46015 w 392409"/>
                <a:gd name="connsiteY38" fmla="*/ 383037 h 418570"/>
                <a:gd name="connsiteX39" fmla="*/ 39475 w 392409"/>
                <a:gd name="connsiteY39" fmla="*/ 349723 h 418570"/>
                <a:gd name="connsiteX40" fmla="*/ 46015 w 392409"/>
                <a:gd name="connsiteY40" fmla="*/ 316410 h 418570"/>
                <a:gd name="connsiteX41" fmla="*/ 65022 w 392409"/>
                <a:gd name="connsiteY41" fmla="*/ 288205 h 418570"/>
                <a:gd name="connsiteX42" fmla="*/ 66248 w 392409"/>
                <a:gd name="connsiteY42" fmla="*/ 289431 h 418570"/>
                <a:gd name="connsiteX43" fmla="*/ 65840 w 392409"/>
                <a:gd name="connsiteY43" fmla="*/ 286774 h 418570"/>
                <a:gd name="connsiteX44" fmla="*/ 65635 w 392409"/>
                <a:gd name="connsiteY44" fmla="*/ 284117 h 418570"/>
                <a:gd name="connsiteX45" fmla="*/ 65635 w 392409"/>
                <a:gd name="connsiteY45" fmla="*/ 231796 h 418570"/>
                <a:gd name="connsiteX46" fmla="*/ 66248 w 392409"/>
                <a:gd name="connsiteY46" fmla="*/ 219533 h 418570"/>
                <a:gd name="connsiteX47" fmla="*/ 68292 w 392409"/>
                <a:gd name="connsiteY47" fmla="*/ 207271 h 418570"/>
                <a:gd name="connsiteX48" fmla="*/ 56642 w 392409"/>
                <a:gd name="connsiteY48" fmla="*/ 212789 h 418570"/>
                <a:gd name="connsiteX49" fmla="*/ 47445 w 392409"/>
                <a:gd name="connsiteY49" fmla="*/ 221372 h 418570"/>
                <a:gd name="connsiteX50" fmla="*/ 41518 w 392409"/>
                <a:gd name="connsiteY50" fmla="*/ 232410 h 418570"/>
                <a:gd name="connsiteX51" fmla="*/ 39475 w 392409"/>
                <a:gd name="connsiteY51" fmla="*/ 244876 h 418570"/>
                <a:gd name="connsiteX52" fmla="*/ 39475 w 392409"/>
                <a:gd name="connsiteY52" fmla="*/ 284117 h 418570"/>
                <a:gd name="connsiteX53" fmla="*/ 13314 w 392409"/>
                <a:gd name="connsiteY53" fmla="*/ 284117 h 418570"/>
                <a:gd name="connsiteX54" fmla="*/ 13314 w 392409"/>
                <a:gd name="connsiteY54" fmla="*/ 244876 h 418570"/>
                <a:gd name="connsiteX55" fmla="*/ 18219 w 392409"/>
                <a:gd name="connsiteY55" fmla="*/ 219943 h 418570"/>
                <a:gd name="connsiteX56" fmla="*/ 31913 w 392409"/>
                <a:gd name="connsiteY56" fmla="*/ 199299 h 418570"/>
                <a:gd name="connsiteX57" fmla="*/ 52146 w 392409"/>
                <a:gd name="connsiteY57" fmla="*/ 185402 h 418570"/>
                <a:gd name="connsiteX58" fmla="*/ 77080 w 392409"/>
                <a:gd name="connsiteY58" fmla="*/ 179679 h 418570"/>
                <a:gd name="connsiteX59" fmla="*/ 93431 w 392409"/>
                <a:gd name="connsiteY59" fmla="*/ 152087 h 418570"/>
                <a:gd name="connsiteX60" fmla="*/ 71767 w 392409"/>
                <a:gd name="connsiteY60" fmla="*/ 144322 h 418570"/>
                <a:gd name="connsiteX61" fmla="*/ 54803 w 392409"/>
                <a:gd name="connsiteY61" fmla="*/ 129810 h 418570"/>
                <a:gd name="connsiteX62" fmla="*/ 43562 w 392409"/>
                <a:gd name="connsiteY62" fmla="*/ 110599 h 418570"/>
                <a:gd name="connsiteX63" fmla="*/ 39475 w 392409"/>
                <a:gd name="connsiteY63" fmla="*/ 87913 h 418570"/>
                <a:gd name="connsiteX64" fmla="*/ 39475 w 392409"/>
                <a:gd name="connsiteY64" fmla="*/ 48672 h 418570"/>
                <a:gd name="connsiteX65" fmla="*/ 65635 w 392409"/>
                <a:gd name="connsiteY65" fmla="*/ 48672 h 418570"/>
                <a:gd name="connsiteX66" fmla="*/ 65635 w 392409"/>
                <a:gd name="connsiteY66" fmla="*/ 87913 h 418570"/>
                <a:gd name="connsiteX67" fmla="*/ 68701 w 392409"/>
                <a:gd name="connsiteY67" fmla="*/ 103241 h 418570"/>
                <a:gd name="connsiteX68" fmla="*/ 77080 w 392409"/>
                <a:gd name="connsiteY68" fmla="*/ 115708 h 418570"/>
                <a:gd name="connsiteX69" fmla="*/ 89548 w 392409"/>
                <a:gd name="connsiteY69" fmla="*/ 124088 h 418570"/>
                <a:gd name="connsiteX70" fmla="*/ 104876 w 392409"/>
                <a:gd name="connsiteY70" fmla="*/ 127154 h 418570"/>
                <a:gd name="connsiteX71" fmla="*/ 117956 w 392409"/>
                <a:gd name="connsiteY71" fmla="*/ 127154 h 418570"/>
                <a:gd name="connsiteX72" fmla="*/ 117956 w 392409"/>
                <a:gd name="connsiteY72" fmla="*/ 127767 h 418570"/>
                <a:gd name="connsiteX73" fmla="*/ 137577 w 392409"/>
                <a:gd name="connsiteY73" fmla="*/ 115708 h 418570"/>
                <a:gd name="connsiteX74" fmla="*/ 132672 w 392409"/>
                <a:gd name="connsiteY74" fmla="*/ 102219 h 418570"/>
                <a:gd name="connsiteX75" fmla="*/ 131037 w 392409"/>
                <a:gd name="connsiteY75" fmla="*/ 87913 h 418570"/>
                <a:gd name="connsiteX76" fmla="*/ 137373 w 392409"/>
                <a:gd name="connsiteY76" fmla="*/ 60321 h 418570"/>
                <a:gd name="connsiteX77" fmla="*/ 108759 w 392409"/>
                <a:gd name="connsiteY77" fmla="*/ 31708 h 418570"/>
                <a:gd name="connsiteX78" fmla="*/ 127154 w 392409"/>
                <a:gd name="connsiteY78" fmla="*/ 13314 h 418570"/>
                <a:gd name="connsiteX79" fmla="*/ 153110 w 392409"/>
                <a:gd name="connsiteY79" fmla="*/ 39270 h 418570"/>
                <a:gd name="connsiteX80" fmla="*/ 173140 w 392409"/>
                <a:gd name="connsiteY80" fmla="*/ 27007 h 418570"/>
                <a:gd name="connsiteX81" fmla="*/ 196438 w 392409"/>
                <a:gd name="connsiteY81" fmla="*/ 22511 h 418570"/>
                <a:gd name="connsiteX82" fmla="*/ 219533 w 392409"/>
                <a:gd name="connsiteY82" fmla="*/ 27007 h 418570"/>
                <a:gd name="connsiteX83" fmla="*/ 239767 w 392409"/>
                <a:gd name="connsiteY83" fmla="*/ 39270 h 418570"/>
                <a:gd name="connsiteX84" fmla="*/ 265724 w 392409"/>
                <a:gd name="connsiteY84" fmla="*/ 13314 h 418570"/>
                <a:gd name="connsiteX85" fmla="*/ 284117 w 392409"/>
                <a:gd name="connsiteY85" fmla="*/ 31708 h 418570"/>
                <a:gd name="connsiteX86" fmla="*/ 255504 w 392409"/>
                <a:gd name="connsiteY86" fmla="*/ 60321 h 418570"/>
                <a:gd name="connsiteX87" fmla="*/ 261840 w 392409"/>
                <a:gd name="connsiteY87" fmla="*/ 87913 h 418570"/>
                <a:gd name="connsiteX88" fmla="*/ 260001 w 392409"/>
                <a:gd name="connsiteY88" fmla="*/ 102219 h 418570"/>
                <a:gd name="connsiteX89" fmla="*/ 255300 w 392409"/>
                <a:gd name="connsiteY89" fmla="*/ 115708 h 418570"/>
                <a:gd name="connsiteX90" fmla="*/ 265314 w 392409"/>
                <a:gd name="connsiteY90" fmla="*/ 121431 h 418570"/>
                <a:gd name="connsiteX91" fmla="*/ 274920 w 392409"/>
                <a:gd name="connsiteY91" fmla="*/ 127767 h 418570"/>
                <a:gd name="connsiteX92" fmla="*/ 274920 w 392409"/>
                <a:gd name="connsiteY92" fmla="*/ 127154 h 418570"/>
                <a:gd name="connsiteX93" fmla="*/ 288001 w 392409"/>
                <a:gd name="connsiteY93" fmla="*/ 127154 h 418570"/>
                <a:gd name="connsiteX94" fmla="*/ 303329 w 392409"/>
                <a:gd name="connsiteY94" fmla="*/ 124088 h 418570"/>
                <a:gd name="connsiteX95" fmla="*/ 315796 w 392409"/>
                <a:gd name="connsiteY95" fmla="*/ 115708 h 418570"/>
                <a:gd name="connsiteX96" fmla="*/ 324176 w 392409"/>
                <a:gd name="connsiteY96" fmla="*/ 103241 h 418570"/>
                <a:gd name="connsiteX97" fmla="*/ 327242 w 392409"/>
                <a:gd name="connsiteY97" fmla="*/ 87913 h 418570"/>
                <a:gd name="connsiteX98" fmla="*/ 327242 w 392409"/>
                <a:gd name="connsiteY98" fmla="*/ 48672 h 418570"/>
                <a:gd name="connsiteX99" fmla="*/ 353402 w 392409"/>
                <a:gd name="connsiteY99" fmla="*/ 48672 h 418570"/>
                <a:gd name="connsiteX100" fmla="*/ 353402 w 392409"/>
                <a:gd name="connsiteY100" fmla="*/ 87913 h 418570"/>
                <a:gd name="connsiteX101" fmla="*/ 349315 w 392409"/>
                <a:gd name="connsiteY101" fmla="*/ 110599 h 418570"/>
                <a:gd name="connsiteX102" fmla="*/ 338073 w 392409"/>
                <a:gd name="connsiteY102" fmla="*/ 129810 h 418570"/>
                <a:gd name="connsiteX103" fmla="*/ 320906 w 392409"/>
                <a:gd name="connsiteY103" fmla="*/ 144322 h 418570"/>
                <a:gd name="connsiteX104" fmla="*/ 299446 w 392409"/>
                <a:gd name="connsiteY104" fmla="*/ 152087 h 418570"/>
                <a:gd name="connsiteX105" fmla="*/ 315796 w 392409"/>
                <a:gd name="connsiteY105" fmla="*/ 179679 h 418570"/>
                <a:gd name="connsiteX106" fmla="*/ 196438 w 392409"/>
                <a:gd name="connsiteY106" fmla="*/ 48672 h 418570"/>
                <a:gd name="connsiteX107" fmla="*/ 181110 w 392409"/>
                <a:gd name="connsiteY107" fmla="*/ 51737 h 418570"/>
                <a:gd name="connsiteX108" fmla="*/ 168643 w 392409"/>
                <a:gd name="connsiteY108" fmla="*/ 60117 h 418570"/>
                <a:gd name="connsiteX109" fmla="*/ 160263 w 392409"/>
                <a:gd name="connsiteY109" fmla="*/ 72584 h 418570"/>
                <a:gd name="connsiteX110" fmla="*/ 157197 w 392409"/>
                <a:gd name="connsiteY110" fmla="*/ 87913 h 418570"/>
                <a:gd name="connsiteX111" fmla="*/ 162103 w 392409"/>
                <a:gd name="connsiteY111" fmla="*/ 106307 h 418570"/>
                <a:gd name="connsiteX112" fmla="*/ 179066 w 392409"/>
                <a:gd name="connsiteY112" fmla="*/ 102832 h 418570"/>
                <a:gd name="connsiteX113" fmla="*/ 196438 w 392409"/>
                <a:gd name="connsiteY113" fmla="*/ 101402 h 418570"/>
                <a:gd name="connsiteX114" fmla="*/ 213606 w 392409"/>
                <a:gd name="connsiteY114" fmla="*/ 102832 h 418570"/>
                <a:gd name="connsiteX115" fmla="*/ 230774 w 392409"/>
                <a:gd name="connsiteY115" fmla="*/ 106307 h 418570"/>
                <a:gd name="connsiteX116" fmla="*/ 235679 w 392409"/>
                <a:gd name="connsiteY116" fmla="*/ 87913 h 418570"/>
                <a:gd name="connsiteX117" fmla="*/ 232613 w 392409"/>
                <a:gd name="connsiteY117" fmla="*/ 72584 h 418570"/>
                <a:gd name="connsiteX118" fmla="*/ 224234 w 392409"/>
                <a:gd name="connsiteY118" fmla="*/ 60117 h 418570"/>
                <a:gd name="connsiteX119" fmla="*/ 211767 w 392409"/>
                <a:gd name="connsiteY119" fmla="*/ 51737 h 418570"/>
                <a:gd name="connsiteX120" fmla="*/ 196438 w 392409"/>
                <a:gd name="connsiteY120" fmla="*/ 48672 h 418570"/>
                <a:gd name="connsiteX121" fmla="*/ 301081 w 392409"/>
                <a:gd name="connsiteY121" fmla="*/ 231796 h 418570"/>
                <a:gd name="connsiteX122" fmla="*/ 292702 w 392409"/>
                <a:gd name="connsiteY122" fmla="*/ 191534 h 418570"/>
                <a:gd name="connsiteX123" fmla="*/ 270015 w 392409"/>
                <a:gd name="connsiteY123" fmla="*/ 158219 h 418570"/>
                <a:gd name="connsiteX124" fmla="*/ 236906 w 392409"/>
                <a:gd name="connsiteY124" fmla="*/ 135533 h 418570"/>
                <a:gd name="connsiteX125" fmla="*/ 196438 w 392409"/>
                <a:gd name="connsiteY125" fmla="*/ 127154 h 418570"/>
                <a:gd name="connsiteX126" fmla="*/ 155971 w 392409"/>
                <a:gd name="connsiteY126" fmla="*/ 135533 h 418570"/>
                <a:gd name="connsiteX127" fmla="*/ 122657 w 392409"/>
                <a:gd name="connsiteY127" fmla="*/ 158219 h 418570"/>
                <a:gd name="connsiteX128" fmla="*/ 100175 w 392409"/>
                <a:gd name="connsiteY128" fmla="*/ 191534 h 418570"/>
                <a:gd name="connsiteX129" fmla="*/ 91796 w 392409"/>
                <a:gd name="connsiteY129" fmla="*/ 231796 h 418570"/>
                <a:gd name="connsiteX130" fmla="*/ 91796 w 392409"/>
                <a:gd name="connsiteY130" fmla="*/ 284117 h 418570"/>
                <a:gd name="connsiteX131" fmla="*/ 99971 w 392409"/>
                <a:gd name="connsiteY131" fmla="*/ 324789 h 418570"/>
                <a:gd name="connsiteX132" fmla="*/ 122453 w 392409"/>
                <a:gd name="connsiteY132" fmla="*/ 358102 h 418570"/>
                <a:gd name="connsiteX133" fmla="*/ 155766 w 392409"/>
                <a:gd name="connsiteY133" fmla="*/ 380585 h 418570"/>
                <a:gd name="connsiteX134" fmla="*/ 196438 w 392409"/>
                <a:gd name="connsiteY134" fmla="*/ 388760 h 418570"/>
                <a:gd name="connsiteX135" fmla="*/ 237110 w 392409"/>
                <a:gd name="connsiteY135" fmla="*/ 380585 h 418570"/>
                <a:gd name="connsiteX136" fmla="*/ 270219 w 392409"/>
                <a:gd name="connsiteY136" fmla="*/ 358102 h 418570"/>
                <a:gd name="connsiteX137" fmla="*/ 292702 w 392409"/>
                <a:gd name="connsiteY137" fmla="*/ 324789 h 418570"/>
                <a:gd name="connsiteX138" fmla="*/ 301081 w 392409"/>
                <a:gd name="connsiteY138" fmla="*/ 284117 h 418570"/>
                <a:gd name="connsiteX139" fmla="*/ 301081 w 392409"/>
                <a:gd name="connsiteY139" fmla="*/ 231796 h 4185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</a:cxnLst>
              <a:rect l="l" t="t" r="r" b="b"/>
              <a:pathLst>
                <a:path w="392409" h="418570">
                  <a:moveTo>
                    <a:pt x="315796" y="179679"/>
                  </a:moveTo>
                  <a:cubicBezTo>
                    <a:pt x="324653" y="179952"/>
                    <a:pt x="332964" y="181859"/>
                    <a:pt x="340730" y="185402"/>
                  </a:cubicBezTo>
                  <a:cubicBezTo>
                    <a:pt x="348497" y="188808"/>
                    <a:pt x="355241" y="193441"/>
                    <a:pt x="360964" y="199299"/>
                  </a:cubicBezTo>
                  <a:cubicBezTo>
                    <a:pt x="366687" y="205158"/>
                    <a:pt x="371184" y="212040"/>
                    <a:pt x="374454" y="219943"/>
                  </a:cubicBezTo>
                  <a:cubicBezTo>
                    <a:pt x="377860" y="227709"/>
                    <a:pt x="379563" y="236020"/>
                    <a:pt x="379563" y="244876"/>
                  </a:cubicBezTo>
                  <a:lnTo>
                    <a:pt x="379563" y="284117"/>
                  </a:lnTo>
                  <a:lnTo>
                    <a:pt x="353402" y="284117"/>
                  </a:lnTo>
                  <a:lnTo>
                    <a:pt x="353402" y="244876"/>
                  </a:lnTo>
                  <a:cubicBezTo>
                    <a:pt x="353402" y="240517"/>
                    <a:pt x="352653" y="236361"/>
                    <a:pt x="351154" y="232410"/>
                  </a:cubicBezTo>
                  <a:cubicBezTo>
                    <a:pt x="349792" y="228322"/>
                    <a:pt x="347816" y="224643"/>
                    <a:pt x="345227" y="221372"/>
                  </a:cubicBezTo>
                  <a:cubicBezTo>
                    <a:pt x="342775" y="217966"/>
                    <a:pt x="339776" y="215106"/>
                    <a:pt x="336234" y="212789"/>
                  </a:cubicBezTo>
                  <a:cubicBezTo>
                    <a:pt x="332692" y="210337"/>
                    <a:pt x="328809" y="208497"/>
                    <a:pt x="324585" y="207271"/>
                  </a:cubicBezTo>
                  <a:cubicBezTo>
                    <a:pt x="325403" y="211222"/>
                    <a:pt x="326015" y="215310"/>
                    <a:pt x="326424" y="219533"/>
                  </a:cubicBezTo>
                  <a:cubicBezTo>
                    <a:pt x="326970" y="223621"/>
                    <a:pt x="327242" y="227709"/>
                    <a:pt x="327242" y="231796"/>
                  </a:cubicBezTo>
                  <a:lnTo>
                    <a:pt x="327242" y="284117"/>
                  </a:lnTo>
                  <a:cubicBezTo>
                    <a:pt x="327242" y="285071"/>
                    <a:pt x="327174" y="285957"/>
                    <a:pt x="327038" y="286774"/>
                  </a:cubicBezTo>
                  <a:cubicBezTo>
                    <a:pt x="326902" y="287592"/>
                    <a:pt x="326764" y="288477"/>
                    <a:pt x="326628" y="289431"/>
                  </a:cubicBezTo>
                  <a:lnTo>
                    <a:pt x="327855" y="288205"/>
                  </a:lnTo>
                  <a:cubicBezTo>
                    <a:pt x="336030" y="296380"/>
                    <a:pt x="342297" y="305781"/>
                    <a:pt x="346658" y="316410"/>
                  </a:cubicBezTo>
                  <a:cubicBezTo>
                    <a:pt x="351018" y="327037"/>
                    <a:pt x="353198" y="338142"/>
                    <a:pt x="353198" y="349723"/>
                  </a:cubicBezTo>
                  <a:cubicBezTo>
                    <a:pt x="353198" y="361304"/>
                    <a:pt x="351018" y="372410"/>
                    <a:pt x="346658" y="383037"/>
                  </a:cubicBezTo>
                  <a:cubicBezTo>
                    <a:pt x="342297" y="393529"/>
                    <a:pt x="336030" y="402862"/>
                    <a:pt x="327855" y="411037"/>
                  </a:cubicBezTo>
                  <a:lnTo>
                    <a:pt x="309460" y="392644"/>
                  </a:lnTo>
                  <a:cubicBezTo>
                    <a:pt x="315183" y="386921"/>
                    <a:pt x="319544" y="380449"/>
                    <a:pt x="322541" y="373227"/>
                  </a:cubicBezTo>
                  <a:cubicBezTo>
                    <a:pt x="325539" y="365869"/>
                    <a:pt x="327038" y="358102"/>
                    <a:pt x="327038" y="349927"/>
                  </a:cubicBezTo>
                  <a:cubicBezTo>
                    <a:pt x="327038" y="340662"/>
                    <a:pt x="324925" y="331670"/>
                    <a:pt x="320701" y="322950"/>
                  </a:cubicBezTo>
                  <a:cubicBezTo>
                    <a:pt x="316478" y="336575"/>
                    <a:pt x="310278" y="349042"/>
                    <a:pt x="302103" y="360351"/>
                  </a:cubicBezTo>
                  <a:cubicBezTo>
                    <a:pt x="294063" y="371660"/>
                    <a:pt x="284595" y="381334"/>
                    <a:pt x="273693" y="389374"/>
                  </a:cubicBezTo>
                  <a:cubicBezTo>
                    <a:pt x="262794" y="397413"/>
                    <a:pt x="250735" y="403679"/>
                    <a:pt x="237518" y="408176"/>
                  </a:cubicBezTo>
                  <a:cubicBezTo>
                    <a:pt x="224438" y="412672"/>
                    <a:pt x="210746" y="414921"/>
                    <a:pt x="196438" y="414921"/>
                  </a:cubicBezTo>
                  <a:cubicBezTo>
                    <a:pt x="182131" y="414921"/>
                    <a:pt x="168371" y="412672"/>
                    <a:pt x="155154" y="408176"/>
                  </a:cubicBezTo>
                  <a:cubicBezTo>
                    <a:pt x="142073" y="403679"/>
                    <a:pt x="130083" y="397413"/>
                    <a:pt x="119183" y="389374"/>
                  </a:cubicBezTo>
                  <a:cubicBezTo>
                    <a:pt x="108283" y="381334"/>
                    <a:pt x="98745" y="371660"/>
                    <a:pt x="90570" y="360351"/>
                  </a:cubicBezTo>
                  <a:cubicBezTo>
                    <a:pt x="82531" y="349042"/>
                    <a:pt x="76399" y="336575"/>
                    <a:pt x="72175" y="322950"/>
                  </a:cubicBezTo>
                  <a:cubicBezTo>
                    <a:pt x="67951" y="331670"/>
                    <a:pt x="65840" y="340662"/>
                    <a:pt x="65840" y="349927"/>
                  </a:cubicBezTo>
                  <a:cubicBezTo>
                    <a:pt x="65840" y="358102"/>
                    <a:pt x="67338" y="365869"/>
                    <a:pt x="70336" y="373227"/>
                  </a:cubicBezTo>
                  <a:cubicBezTo>
                    <a:pt x="73333" y="380449"/>
                    <a:pt x="77694" y="386921"/>
                    <a:pt x="83416" y="392644"/>
                  </a:cubicBezTo>
                  <a:lnTo>
                    <a:pt x="65022" y="411037"/>
                  </a:lnTo>
                  <a:cubicBezTo>
                    <a:pt x="56847" y="402862"/>
                    <a:pt x="50511" y="393529"/>
                    <a:pt x="46015" y="383037"/>
                  </a:cubicBezTo>
                  <a:cubicBezTo>
                    <a:pt x="41655" y="372410"/>
                    <a:pt x="39475" y="361304"/>
                    <a:pt x="39475" y="349723"/>
                  </a:cubicBezTo>
                  <a:cubicBezTo>
                    <a:pt x="39475" y="338142"/>
                    <a:pt x="41655" y="327037"/>
                    <a:pt x="46015" y="316410"/>
                  </a:cubicBezTo>
                  <a:cubicBezTo>
                    <a:pt x="50511" y="305781"/>
                    <a:pt x="56847" y="296380"/>
                    <a:pt x="65022" y="288205"/>
                  </a:cubicBezTo>
                  <a:lnTo>
                    <a:pt x="66248" y="289431"/>
                  </a:lnTo>
                  <a:cubicBezTo>
                    <a:pt x="66112" y="288477"/>
                    <a:pt x="65976" y="287592"/>
                    <a:pt x="65840" y="286774"/>
                  </a:cubicBezTo>
                  <a:cubicBezTo>
                    <a:pt x="65703" y="285957"/>
                    <a:pt x="65635" y="285071"/>
                    <a:pt x="65635" y="284117"/>
                  </a:cubicBezTo>
                  <a:lnTo>
                    <a:pt x="65635" y="231796"/>
                  </a:lnTo>
                  <a:cubicBezTo>
                    <a:pt x="65635" y="227709"/>
                    <a:pt x="65840" y="223621"/>
                    <a:pt x="66248" y="219533"/>
                  </a:cubicBezTo>
                  <a:cubicBezTo>
                    <a:pt x="66793" y="215310"/>
                    <a:pt x="67475" y="211222"/>
                    <a:pt x="68292" y="207271"/>
                  </a:cubicBezTo>
                  <a:cubicBezTo>
                    <a:pt x="64068" y="208497"/>
                    <a:pt x="60185" y="210337"/>
                    <a:pt x="56642" y="212789"/>
                  </a:cubicBezTo>
                  <a:cubicBezTo>
                    <a:pt x="53100" y="215106"/>
                    <a:pt x="50034" y="217966"/>
                    <a:pt x="47445" y="221372"/>
                  </a:cubicBezTo>
                  <a:cubicBezTo>
                    <a:pt x="44993" y="224643"/>
                    <a:pt x="43017" y="228322"/>
                    <a:pt x="41518" y="232410"/>
                  </a:cubicBezTo>
                  <a:cubicBezTo>
                    <a:pt x="40156" y="236361"/>
                    <a:pt x="39475" y="240517"/>
                    <a:pt x="39475" y="244876"/>
                  </a:cubicBezTo>
                  <a:lnTo>
                    <a:pt x="39475" y="284117"/>
                  </a:lnTo>
                  <a:lnTo>
                    <a:pt x="13314" y="284117"/>
                  </a:lnTo>
                  <a:lnTo>
                    <a:pt x="13314" y="244876"/>
                  </a:lnTo>
                  <a:cubicBezTo>
                    <a:pt x="13314" y="236020"/>
                    <a:pt x="14949" y="227709"/>
                    <a:pt x="18219" y="219943"/>
                  </a:cubicBezTo>
                  <a:cubicBezTo>
                    <a:pt x="21625" y="212040"/>
                    <a:pt x="26190" y="205158"/>
                    <a:pt x="31913" y="199299"/>
                  </a:cubicBezTo>
                  <a:cubicBezTo>
                    <a:pt x="37635" y="193441"/>
                    <a:pt x="44380" y="188808"/>
                    <a:pt x="52146" y="185402"/>
                  </a:cubicBezTo>
                  <a:cubicBezTo>
                    <a:pt x="59913" y="181859"/>
                    <a:pt x="68224" y="179952"/>
                    <a:pt x="77080" y="179679"/>
                  </a:cubicBezTo>
                  <a:cubicBezTo>
                    <a:pt x="81304" y="170142"/>
                    <a:pt x="86754" y="160944"/>
                    <a:pt x="93431" y="152087"/>
                  </a:cubicBezTo>
                  <a:cubicBezTo>
                    <a:pt x="85664" y="150726"/>
                    <a:pt x="78443" y="148137"/>
                    <a:pt x="71767" y="144322"/>
                  </a:cubicBezTo>
                  <a:cubicBezTo>
                    <a:pt x="65226" y="140370"/>
                    <a:pt x="59572" y="135533"/>
                    <a:pt x="54803" y="129810"/>
                  </a:cubicBezTo>
                  <a:cubicBezTo>
                    <a:pt x="50034" y="124088"/>
                    <a:pt x="46287" y="117684"/>
                    <a:pt x="43562" y="110599"/>
                  </a:cubicBezTo>
                  <a:cubicBezTo>
                    <a:pt x="40837" y="103377"/>
                    <a:pt x="39475" y="95815"/>
                    <a:pt x="39475" y="87913"/>
                  </a:cubicBezTo>
                  <a:lnTo>
                    <a:pt x="39475" y="48672"/>
                  </a:lnTo>
                  <a:lnTo>
                    <a:pt x="65635" y="48672"/>
                  </a:lnTo>
                  <a:lnTo>
                    <a:pt x="65635" y="87913"/>
                  </a:lnTo>
                  <a:cubicBezTo>
                    <a:pt x="65635" y="93363"/>
                    <a:pt x="66657" y="98472"/>
                    <a:pt x="68701" y="103241"/>
                  </a:cubicBezTo>
                  <a:cubicBezTo>
                    <a:pt x="70745" y="108010"/>
                    <a:pt x="73538" y="112166"/>
                    <a:pt x="77080" y="115708"/>
                  </a:cubicBezTo>
                  <a:cubicBezTo>
                    <a:pt x="80623" y="119251"/>
                    <a:pt x="84779" y="122044"/>
                    <a:pt x="89548" y="124088"/>
                  </a:cubicBezTo>
                  <a:cubicBezTo>
                    <a:pt x="94317" y="126132"/>
                    <a:pt x="99426" y="127154"/>
                    <a:pt x="104876" y="127154"/>
                  </a:cubicBezTo>
                  <a:lnTo>
                    <a:pt x="117956" y="127154"/>
                  </a:lnTo>
                  <a:lnTo>
                    <a:pt x="117956" y="127767"/>
                  </a:lnTo>
                  <a:cubicBezTo>
                    <a:pt x="124360" y="122998"/>
                    <a:pt x="130900" y="118978"/>
                    <a:pt x="137577" y="115708"/>
                  </a:cubicBezTo>
                  <a:cubicBezTo>
                    <a:pt x="135533" y="111348"/>
                    <a:pt x="133898" y="106852"/>
                    <a:pt x="132672" y="102219"/>
                  </a:cubicBezTo>
                  <a:cubicBezTo>
                    <a:pt x="131582" y="97450"/>
                    <a:pt x="131037" y="92681"/>
                    <a:pt x="131037" y="87913"/>
                  </a:cubicBezTo>
                  <a:cubicBezTo>
                    <a:pt x="131037" y="78375"/>
                    <a:pt x="133149" y="69178"/>
                    <a:pt x="137373" y="60321"/>
                  </a:cubicBezTo>
                  <a:lnTo>
                    <a:pt x="108759" y="31708"/>
                  </a:lnTo>
                  <a:lnTo>
                    <a:pt x="127154" y="13314"/>
                  </a:lnTo>
                  <a:lnTo>
                    <a:pt x="153110" y="39270"/>
                  </a:lnTo>
                  <a:cubicBezTo>
                    <a:pt x="159241" y="33956"/>
                    <a:pt x="165918" y="29869"/>
                    <a:pt x="173140" y="27007"/>
                  </a:cubicBezTo>
                  <a:cubicBezTo>
                    <a:pt x="180496" y="24010"/>
                    <a:pt x="188263" y="22511"/>
                    <a:pt x="196438" y="22511"/>
                  </a:cubicBezTo>
                  <a:cubicBezTo>
                    <a:pt x="204614" y="22511"/>
                    <a:pt x="212311" y="24010"/>
                    <a:pt x="219533" y="27007"/>
                  </a:cubicBezTo>
                  <a:cubicBezTo>
                    <a:pt x="226891" y="29869"/>
                    <a:pt x="233636" y="33956"/>
                    <a:pt x="239767" y="39270"/>
                  </a:cubicBezTo>
                  <a:lnTo>
                    <a:pt x="265724" y="13314"/>
                  </a:lnTo>
                  <a:lnTo>
                    <a:pt x="284117" y="31708"/>
                  </a:lnTo>
                  <a:lnTo>
                    <a:pt x="255504" y="60321"/>
                  </a:lnTo>
                  <a:cubicBezTo>
                    <a:pt x="259728" y="69178"/>
                    <a:pt x="261840" y="78375"/>
                    <a:pt x="261840" y="87913"/>
                  </a:cubicBezTo>
                  <a:cubicBezTo>
                    <a:pt x="261840" y="92681"/>
                    <a:pt x="261227" y="97450"/>
                    <a:pt x="260001" y="102219"/>
                  </a:cubicBezTo>
                  <a:cubicBezTo>
                    <a:pt x="258910" y="106852"/>
                    <a:pt x="257343" y="111348"/>
                    <a:pt x="255300" y="115708"/>
                  </a:cubicBezTo>
                  <a:cubicBezTo>
                    <a:pt x="258842" y="117480"/>
                    <a:pt x="262180" y="119387"/>
                    <a:pt x="265314" y="121431"/>
                  </a:cubicBezTo>
                  <a:cubicBezTo>
                    <a:pt x="268584" y="123338"/>
                    <a:pt x="271786" y="125450"/>
                    <a:pt x="274920" y="127767"/>
                  </a:cubicBezTo>
                  <a:lnTo>
                    <a:pt x="274920" y="127154"/>
                  </a:lnTo>
                  <a:lnTo>
                    <a:pt x="288001" y="127154"/>
                  </a:lnTo>
                  <a:cubicBezTo>
                    <a:pt x="293451" y="127154"/>
                    <a:pt x="298560" y="126132"/>
                    <a:pt x="303329" y="124088"/>
                  </a:cubicBezTo>
                  <a:cubicBezTo>
                    <a:pt x="308099" y="122044"/>
                    <a:pt x="312254" y="119251"/>
                    <a:pt x="315796" y="115708"/>
                  </a:cubicBezTo>
                  <a:cubicBezTo>
                    <a:pt x="319338" y="112166"/>
                    <a:pt x="322132" y="108010"/>
                    <a:pt x="324176" y="103241"/>
                  </a:cubicBezTo>
                  <a:cubicBezTo>
                    <a:pt x="326220" y="98472"/>
                    <a:pt x="327242" y="93363"/>
                    <a:pt x="327242" y="87913"/>
                  </a:cubicBezTo>
                  <a:lnTo>
                    <a:pt x="327242" y="48672"/>
                  </a:lnTo>
                  <a:lnTo>
                    <a:pt x="353402" y="48672"/>
                  </a:lnTo>
                  <a:lnTo>
                    <a:pt x="353402" y="87913"/>
                  </a:lnTo>
                  <a:cubicBezTo>
                    <a:pt x="353402" y="95815"/>
                    <a:pt x="352039" y="103377"/>
                    <a:pt x="349315" y="110599"/>
                  </a:cubicBezTo>
                  <a:cubicBezTo>
                    <a:pt x="346590" y="117684"/>
                    <a:pt x="342843" y="124088"/>
                    <a:pt x="338073" y="129810"/>
                  </a:cubicBezTo>
                  <a:cubicBezTo>
                    <a:pt x="333304" y="135533"/>
                    <a:pt x="327582" y="140370"/>
                    <a:pt x="320906" y="144322"/>
                  </a:cubicBezTo>
                  <a:cubicBezTo>
                    <a:pt x="314365" y="148137"/>
                    <a:pt x="307213" y="150726"/>
                    <a:pt x="299446" y="152087"/>
                  </a:cubicBezTo>
                  <a:cubicBezTo>
                    <a:pt x="306122" y="160944"/>
                    <a:pt x="311573" y="170142"/>
                    <a:pt x="315796" y="179679"/>
                  </a:cubicBezTo>
                  <a:close/>
                  <a:moveTo>
                    <a:pt x="196438" y="48672"/>
                  </a:moveTo>
                  <a:cubicBezTo>
                    <a:pt x="190988" y="48672"/>
                    <a:pt x="185879" y="49693"/>
                    <a:pt x="181110" y="51737"/>
                  </a:cubicBezTo>
                  <a:cubicBezTo>
                    <a:pt x="176340" y="53781"/>
                    <a:pt x="172185" y="56574"/>
                    <a:pt x="168643" y="60117"/>
                  </a:cubicBezTo>
                  <a:cubicBezTo>
                    <a:pt x="165101" y="63659"/>
                    <a:pt x="162307" y="67815"/>
                    <a:pt x="160263" y="72584"/>
                  </a:cubicBezTo>
                  <a:cubicBezTo>
                    <a:pt x="158219" y="77353"/>
                    <a:pt x="157197" y="82462"/>
                    <a:pt x="157197" y="87913"/>
                  </a:cubicBezTo>
                  <a:cubicBezTo>
                    <a:pt x="157197" y="94725"/>
                    <a:pt x="158832" y="100857"/>
                    <a:pt x="162103" y="106307"/>
                  </a:cubicBezTo>
                  <a:cubicBezTo>
                    <a:pt x="167825" y="104808"/>
                    <a:pt x="173480" y="103650"/>
                    <a:pt x="179066" y="102832"/>
                  </a:cubicBezTo>
                  <a:cubicBezTo>
                    <a:pt x="184789" y="101879"/>
                    <a:pt x="190580" y="101402"/>
                    <a:pt x="196438" y="101402"/>
                  </a:cubicBezTo>
                  <a:cubicBezTo>
                    <a:pt x="202297" y="101402"/>
                    <a:pt x="208020" y="101879"/>
                    <a:pt x="213606" y="102832"/>
                  </a:cubicBezTo>
                  <a:cubicBezTo>
                    <a:pt x="219329" y="103650"/>
                    <a:pt x="225052" y="104808"/>
                    <a:pt x="230774" y="106307"/>
                  </a:cubicBezTo>
                  <a:cubicBezTo>
                    <a:pt x="234044" y="100857"/>
                    <a:pt x="235679" y="94725"/>
                    <a:pt x="235679" y="87913"/>
                  </a:cubicBezTo>
                  <a:cubicBezTo>
                    <a:pt x="235679" y="82462"/>
                    <a:pt x="234658" y="77353"/>
                    <a:pt x="232613" y="72584"/>
                  </a:cubicBezTo>
                  <a:cubicBezTo>
                    <a:pt x="230570" y="67815"/>
                    <a:pt x="227776" y="63659"/>
                    <a:pt x="224234" y="60117"/>
                  </a:cubicBezTo>
                  <a:cubicBezTo>
                    <a:pt x="220692" y="56574"/>
                    <a:pt x="216536" y="53781"/>
                    <a:pt x="211767" y="51737"/>
                  </a:cubicBezTo>
                  <a:cubicBezTo>
                    <a:pt x="206998" y="49693"/>
                    <a:pt x="201889" y="48672"/>
                    <a:pt x="196438" y="48672"/>
                  </a:cubicBezTo>
                  <a:close/>
                  <a:moveTo>
                    <a:pt x="301081" y="231796"/>
                  </a:moveTo>
                  <a:cubicBezTo>
                    <a:pt x="301081" y="217626"/>
                    <a:pt x="298288" y="204205"/>
                    <a:pt x="292702" y="191534"/>
                  </a:cubicBezTo>
                  <a:cubicBezTo>
                    <a:pt x="287115" y="178861"/>
                    <a:pt x="279553" y="167758"/>
                    <a:pt x="270015" y="158219"/>
                  </a:cubicBezTo>
                  <a:cubicBezTo>
                    <a:pt x="260613" y="148681"/>
                    <a:pt x="249577" y="141119"/>
                    <a:pt x="236906" y="135533"/>
                  </a:cubicBezTo>
                  <a:cubicBezTo>
                    <a:pt x="224234" y="129947"/>
                    <a:pt x="210746" y="127154"/>
                    <a:pt x="196438" y="127154"/>
                  </a:cubicBezTo>
                  <a:cubicBezTo>
                    <a:pt x="182131" y="127154"/>
                    <a:pt x="168643" y="129947"/>
                    <a:pt x="155971" y="135533"/>
                  </a:cubicBezTo>
                  <a:cubicBezTo>
                    <a:pt x="143300" y="141119"/>
                    <a:pt x="132195" y="148681"/>
                    <a:pt x="122657" y="158219"/>
                  </a:cubicBezTo>
                  <a:cubicBezTo>
                    <a:pt x="113256" y="167758"/>
                    <a:pt x="105762" y="178861"/>
                    <a:pt x="100175" y="191534"/>
                  </a:cubicBezTo>
                  <a:cubicBezTo>
                    <a:pt x="94589" y="204205"/>
                    <a:pt x="91796" y="217626"/>
                    <a:pt x="91796" y="231796"/>
                  </a:cubicBezTo>
                  <a:lnTo>
                    <a:pt x="91796" y="284117"/>
                  </a:lnTo>
                  <a:cubicBezTo>
                    <a:pt x="91796" y="298561"/>
                    <a:pt x="94521" y="312117"/>
                    <a:pt x="99971" y="324789"/>
                  </a:cubicBezTo>
                  <a:cubicBezTo>
                    <a:pt x="105557" y="337460"/>
                    <a:pt x="113051" y="348566"/>
                    <a:pt x="122453" y="358102"/>
                  </a:cubicBezTo>
                  <a:cubicBezTo>
                    <a:pt x="131991" y="367505"/>
                    <a:pt x="143095" y="374998"/>
                    <a:pt x="155766" y="380585"/>
                  </a:cubicBezTo>
                  <a:cubicBezTo>
                    <a:pt x="168439" y="386035"/>
                    <a:pt x="181995" y="388760"/>
                    <a:pt x="196438" y="388760"/>
                  </a:cubicBezTo>
                  <a:cubicBezTo>
                    <a:pt x="210882" y="388760"/>
                    <a:pt x="224438" y="386035"/>
                    <a:pt x="237110" y="380585"/>
                  </a:cubicBezTo>
                  <a:cubicBezTo>
                    <a:pt x="249781" y="374998"/>
                    <a:pt x="260818" y="367505"/>
                    <a:pt x="270219" y="358102"/>
                  </a:cubicBezTo>
                  <a:cubicBezTo>
                    <a:pt x="279757" y="348566"/>
                    <a:pt x="287251" y="337460"/>
                    <a:pt x="292702" y="324789"/>
                  </a:cubicBezTo>
                  <a:cubicBezTo>
                    <a:pt x="298288" y="312117"/>
                    <a:pt x="301081" y="298561"/>
                    <a:pt x="301081" y="284117"/>
                  </a:cubicBezTo>
                  <a:lnTo>
                    <a:pt x="301081" y="231796"/>
                  </a:lnTo>
                  <a:close/>
                </a:path>
              </a:pathLst>
            </a:custGeom>
            <a:solidFill>
              <a:schemeClr val="tx2"/>
            </a:solidFill>
            <a:ln w="1292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24" dirty="0"/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7691C69D-54C0-4224-A17E-2FE0421A85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5675200" y="4712675"/>
            <a:ext cx="364649" cy="311832"/>
            <a:chOff x="9171621" y="3922983"/>
            <a:chExt cx="702004" cy="600324"/>
          </a:xfrm>
        </p:grpSpPr>
        <p:sp>
          <p:nvSpPr>
            <p:cNvPr id="76" name="Freeform 1">
              <a:extLst>
                <a:ext uri="{FF2B5EF4-FFF2-40B4-BE49-F238E27FC236}">
                  <a16:creationId xmlns:a16="http://schemas.microsoft.com/office/drawing/2014/main" id="{ADFBAEBF-5CB5-439B-BC74-4D023098BD8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00672" y="3922983"/>
              <a:ext cx="244188" cy="600324"/>
            </a:xfrm>
            <a:custGeom>
              <a:avLst/>
              <a:gdLst>
                <a:gd name="T0" fmla="*/ 3215 w 3770"/>
                <a:gd name="T1" fmla="*/ 2209 h 9873"/>
                <a:gd name="T2" fmla="*/ 3067 w 3770"/>
                <a:gd name="T3" fmla="*/ 2615 h 9873"/>
                <a:gd name="T4" fmla="*/ 2794 w 3770"/>
                <a:gd name="T5" fmla="*/ 2942 h 9873"/>
                <a:gd name="T6" fmla="*/ 2427 w 3770"/>
                <a:gd name="T7" fmla="*/ 3146 h 9873"/>
                <a:gd name="T8" fmla="*/ 2381 w 3770"/>
                <a:gd name="T9" fmla="*/ 8881 h 9873"/>
                <a:gd name="T10" fmla="*/ 2248 w 3770"/>
                <a:gd name="T11" fmla="*/ 9123 h 9873"/>
                <a:gd name="T12" fmla="*/ 2029 w 3770"/>
                <a:gd name="T13" fmla="*/ 9295 h 9873"/>
                <a:gd name="T14" fmla="*/ 1819 w 3770"/>
                <a:gd name="T15" fmla="*/ 9349 h 9873"/>
                <a:gd name="T16" fmla="*/ 1592 w 3770"/>
                <a:gd name="T17" fmla="*/ 9279 h 9873"/>
                <a:gd name="T18" fmla="*/ 1405 w 3770"/>
                <a:gd name="T19" fmla="*/ 9123 h 9873"/>
                <a:gd name="T20" fmla="*/ 1296 w 3770"/>
                <a:gd name="T21" fmla="*/ 8827 h 9873"/>
                <a:gd name="T22" fmla="*/ 1155 w 3770"/>
                <a:gd name="T23" fmla="*/ 3060 h 9873"/>
                <a:gd name="T24" fmla="*/ 819 w 3770"/>
                <a:gd name="T25" fmla="*/ 2747 h 9873"/>
                <a:gd name="T26" fmla="*/ 601 w 3770"/>
                <a:gd name="T27" fmla="*/ 2357 h 9873"/>
                <a:gd name="T28" fmla="*/ 531 w 3770"/>
                <a:gd name="T29" fmla="*/ 1920 h 9873"/>
                <a:gd name="T30" fmla="*/ 648 w 3770"/>
                <a:gd name="T31" fmla="*/ 1405 h 9873"/>
                <a:gd name="T32" fmla="*/ 913 w 3770"/>
                <a:gd name="T33" fmla="*/ 960 h 9873"/>
                <a:gd name="T34" fmla="*/ 1085 w 3770"/>
                <a:gd name="T35" fmla="*/ 882 h 9873"/>
                <a:gd name="T36" fmla="*/ 1109 w 3770"/>
                <a:gd name="T37" fmla="*/ 1623 h 9873"/>
                <a:gd name="T38" fmla="*/ 1233 w 3770"/>
                <a:gd name="T39" fmla="*/ 1998 h 9873"/>
                <a:gd name="T40" fmla="*/ 1507 w 3770"/>
                <a:gd name="T41" fmla="*/ 2248 h 9873"/>
                <a:gd name="T42" fmla="*/ 1905 w 3770"/>
                <a:gd name="T43" fmla="*/ 2341 h 9873"/>
                <a:gd name="T44" fmla="*/ 2185 w 3770"/>
                <a:gd name="T45" fmla="*/ 2272 h 9873"/>
                <a:gd name="T46" fmla="*/ 2497 w 3770"/>
                <a:gd name="T47" fmla="*/ 2029 h 9873"/>
                <a:gd name="T48" fmla="*/ 2693 w 3770"/>
                <a:gd name="T49" fmla="*/ 1678 h 9873"/>
                <a:gd name="T50" fmla="*/ 2724 w 3770"/>
                <a:gd name="T51" fmla="*/ 859 h 9873"/>
                <a:gd name="T52" fmla="*/ 2997 w 3770"/>
                <a:gd name="T53" fmla="*/ 1116 h 9873"/>
                <a:gd name="T54" fmla="*/ 3169 w 3770"/>
                <a:gd name="T55" fmla="*/ 1452 h 9873"/>
                <a:gd name="T56" fmla="*/ 2162 w 3770"/>
                <a:gd name="T57" fmla="*/ 0 h 9873"/>
                <a:gd name="T58" fmla="*/ 2131 w 3770"/>
                <a:gd name="T59" fmla="*/ 1655 h 9873"/>
                <a:gd name="T60" fmla="*/ 1928 w 3770"/>
                <a:gd name="T61" fmla="*/ 1811 h 9873"/>
                <a:gd name="T62" fmla="*/ 1748 w 3770"/>
                <a:gd name="T63" fmla="*/ 1764 h 9873"/>
                <a:gd name="T64" fmla="*/ 1623 w 3770"/>
                <a:gd name="T65" fmla="*/ 1576 h 9873"/>
                <a:gd name="T66" fmla="*/ 1256 w 3770"/>
                <a:gd name="T67" fmla="*/ 149 h 9873"/>
                <a:gd name="T68" fmla="*/ 773 w 3770"/>
                <a:gd name="T69" fmla="*/ 382 h 9873"/>
                <a:gd name="T70" fmla="*/ 476 w 3770"/>
                <a:gd name="T71" fmla="*/ 648 h 9873"/>
                <a:gd name="T72" fmla="*/ 219 w 3770"/>
                <a:gd name="T73" fmla="*/ 1015 h 9873"/>
                <a:gd name="T74" fmla="*/ 0 w 3770"/>
                <a:gd name="T75" fmla="*/ 1967 h 9873"/>
                <a:gd name="T76" fmla="*/ 55 w 3770"/>
                <a:gd name="T77" fmla="*/ 2396 h 9873"/>
                <a:gd name="T78" fmla="*/ 258 w 3770"/>
                <a:gd name="T79" fmla="*/ 2888 h 9873"/>
                <a:gd name="T80" fmla="*/ 617 w 3770"/>
                <a:gd name="T81" fmla="*/ 3309 h 9873"/>
                <a:gd name="T82" fmla="*/ 773 w 3770"/>
                <a:gd name="T83" fmla="*/ 8780 h 9873"/>
                <a:gd name="T84" fmla="*/ 882 w 3770"/>
                <a:gd name="T85" fmla="*/ 9295 h 9873"/>
                <a:gd name="T86" fmla="*/ 1148 w 3770"/>
                <a:gd name="T87" fmla="*/ 9623 h 9873"/>
                <a:gd name="T88" fmla="*/ 1647 w 3770"/>
                <a:gd name="T89" fmla="*/ 9856 h 9873"/>
                <a:gd name="T90" fmla="*/ 2068 w 3770"/>
                <a:gd name="T91" fmla="*/ 9841 h 9873"/>
                <a:gd name="T92" fmla="*/ 2505 w 3770"/>
                <a:gd name="T93" fmla="*/ 9599 h 9873"/>
                <a:gd name="T94" fmla="*/ 2771 w 3770"/>
                <a:gd name="T95" fmla="*/ 9295 h 9873"/>
                <a:gd name="T96" fmla="*/ 2919 w 3770"/>
                <a:gd name="T97" fmla="*/ 8819 h 9873"/>
                <a:gd name="T98" fmla="*/ 3192 w 3770"/>
                <a:gd name="T99" fmla="*/ 3239 h 9873"/>
                <a:gd name="T100" fmla="*/ 3544 w 3770"/>
                <a:gd name="T101" fmla="*/ 2770 h 9873"/>
                <a:gd name="T102" fmla="*/ 3769 w 3770"/>
                <a:gd name="T103" fmla="*/ 1897 h 9873"/>
                <a:gd name="T104" fmla="*/ 3676 w 3770"/>
                <a:gd name="T105" fmla="*/ 1343 h 9873"/>
                <a:gd name="T106" fmla="*/ 3332 w 3770"/>
                <a:gd name="T107" fmla="*/ 726 h 9873"/>
                <a:gd name="T108" fmla="*/ 2763 w 3770"/>
                <a:gd name="T109" fmla="*/ 266 h 98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</a:cxnLst>
              <a:rect l="0" t="0" r="r" b="b"/>
              <a:pathLst>
                <a:path w="3770" h="9873">
                  <a:moveTo>
                    <a:pt x="3246" y="1951"/>
                  </a:moveTo>
                  <a:lnTo>
                    <a:pt x="3246" y="1951"/>
                  </a:lnTo>
                  <a:lnTo>
                    <a:pt x="3239" y="2037"/>
                  </a:lnTo>
                  <a:lnTo>
                    <a:pt x="3231" y="2123"/>
                  </a:lnTo>
                  <a:lnTo>
                    <a:pt x="3215" y="2209"/>
                  </a:lnTo>
                  <a:lnTo>
                    <a:pt x="3200" y="2295"/>
                  </a:lnTo>
                  <a:lnTo>
                    <a:pt x="3177" y="2380"/>
                  </a:lnTo>
                  <a:lnTo>
                    <a:pt x="3146" y="2458"/>
                  </a:lnTo>
                  <a:lnTo>
                    <a:pt x="3107" y="2537"/>
                  </a:lnTo>
                  <a:lnTo>
                    <a:pt x="3067" y="2615"/>
                  </a:lnTo>
                  <a:lnTo>
                    <a:pt x="3020" y="2685"/>
                  </a:lnTo>
                  <a:lnTo>
                    <a:pt x="2974" y="2755"/>
                  </a:lnTo>
                  <a:lnTo>
                    <a:pt x="2919" y="2817"/>
                  </a:lnTo>
                  <a:lnTo>
                    <a:pt x="2856" y="2880"/>
                  </a:lnTo>
                  <a:lnTo>
                    <a:pt x="2794" y="2942"/>
                  </a:lnTo>
                  <a:lnTo>
                    <a:pt x="2724" y="2997"/>
                  </a:lnTo>
                  <a:lnTo>
                    <a:pt x="2646" y="3052"/>
                  </a:lnTo>
                  <a:lnTo>
                    <a:pt x="2568" y="3099"/>
                  </a:lnTo>
                  <a:lnTo>
                    <a:pt x="2568" y="3099"/>
                  </a:lnTo>
                  <a:lnTo>
                    <a:pt x="2427" y="3146"/>
                  </a:lnTo>
                  <a:lnTo>
                    <a:pt x="2427" y="3146"/>
                  </a:lnTo>
                  <a:lnTo>
                    <a:pt x="2396" y="8772"/>
                  </a:lnTo>
                  <a:lnTo>
                    <a:pt x="2396" y="8772"/>
                  </a:lnTo>
                  <a:lnTo>
                    <a:pt x="2388" y="8827"/>
                  </a:lnTo>
                  <a:lnTo>
                    <a:pt x="2381" y="8881"/>
                  </a:lnTo>
                  <a:lnTo>
                    <a:pt x="2365" y="8928"/>
                  </a:lnTo>
                  <a:lnTo>
                    <a:pt x="2342" y="8982"/>
                  </a:lnTo>
                  <a:lnTo>
                    <a:pt x="2318" y="9029"/>
                  </a:lnTo>
                  <a:lnTo>
                    <a:pt x="2287" y="9076"/>
                  </a:lnTo>
                  <a:lnTo>
                    <a:pt x="2248" y="9123"/>
                  </a:lnTo>
                  <a:lnTo>
                    <a:pt x="2217" y="9162"/>
                  </a:lnTo>
                  <a:lnTo>
                    <a:pt x="2170" y="9201"/>
                  </a:lnTo>
                  <a:lnTo>
                    <a:pt x="2123" y="9240"/>
                  </a:lnTo>
                  <a:lnTo>
                    <a:pt x="2076" y="9272"/>
                  </a:lnTo>
                  <a:lnTo>
                    <a:pt x="2029" y="9295"/>
                  </a:lnTo>
                  <a:lnTo>
                    <a:pt x="1975" y="9319"/>
                  </a:lnTo>
                  <a:lnTo>
                    <a:pt x="1928" y="9334"/>
                  </a:lnTo>
                  <a:lnTo>
                    <a:pt x="1873" y="9341"/>
                  </a:lnTo>
                  <a:lnTo>
                    <a:pt x="1819" y="9349"/>
                  </a:lnTo>
                  <a:lnTo>
                    <a:pt x="1819" y="9349"/>
                  </a:lnTo>
                  <a:lnTo>
                    <a:pt x="1780" y="9341"/>
                  </a:lnTo>
                  <a:lnTo>
                    <a:pt x="1740" y="9334"/>
                  </a:lnTo>
                  <a:lnTo>
                    <a:pt x="1694" y="9326"/>
                  </a:lnTo>
                  <a:lnTo>
                    <a:pt x="1647" y="9303"/>
                  </a:lnTo>
                  <a:lnTo>
                    <a:pt x="1592" y="9279"/>
                  </a:lnTo>
                  <a:lnTo>
                    <a:pt x="1546" y="9248"/>
                  </a:lnTo>
                  <a:lnTo>
                    <a:pt x="1491" y="9209"/>
                  </a:lnTo>
                  <a:lnTo>
                    <a:pt x="1436" y="9162"/>
                  </a:lnTo>
                  <a:lnTo>
                    <a:pt x="1436" y="9162"/>
                  </a:lnTo>
                  <a:lnTo>
                    <a:pt x="1405" y="9123"/>
                  </a:lnTo>
                  <a:lnTo>
                    <a:pt x="1374" y="9076"/>
                  </a:lnTo>
                  <a:lnTo>
                    <a:pt x="1335" y="8990"/>
                  </a:lnTo>
                  <a:lnTo>
                    <a:pt x="1303" y="8905"/>
                  </a:lnTo>
                  <a:lnTo>
                    <a:pt x="1296" y="8827"/>
                  </a:lnTo>
                  <a:lnTo>
                    <a:pt x="1296" y="8827"/>
                  </a:lnTo>
                  <a:lnTo>
                    <a:pt x="1327" y="3200"/>
                  </a:lnTo>
                  <a:lnTo>
                    <a:pt x="1327" y="3200"/>
                  </a:lnTo>
                  <a:lnTo>
                    <a:pt x="1233" y="3107"/>
                  </a:lnTo>
                  <a:lnTo>
                    <a:pt x="1233" y="3107"/>
                  </a:lnTo>
                  <a:lnTo>
                    <a:pt x="1155" y="3060"/>
                  </a:lnTo>
                  <a:lnTo>
                    <a:pt x="1085" y="3005"/>
                  </a:lnTo>
                  <a:lnTo>
                    <a:pt x="1015" y="2950"/>
                  </a:lnTo>
                  <a:lnTo>
                    <a:pt x="944" y="2888"/>
                  </a:lnTo>
                  <a:lnTo>
                    <a:pt x="882" y="2817"/>
                  </a:lnTo>
                  <a:lnTo>
                    <a:pt x="819" y="2747"/>
                  </a:lnTo>
                  <a:lnTo>
                    <a:pt x="773" y="2677"/>
                  </a:lnTo>
                  <a:lnTo>
                    <a:pt x="719" y="2599"/>
                  </a:lnTo>
                  <a:lnTo>
                    <a:pt x="680" y="2521"/>
                  </a:lnTo>
                  <a:lnTo>
                    <a:pt x="640" y="2443"/>
                  </a:lnTo>
                  <a:lnTo>
                    <a:pt x="601" y="2357"/>
                  </a:lnTo>
                  <a:lnTo>
                    <a:pt x="578" y="2272"/>
                  </a:lnTo>
                  <a:lnTo>
                    <a:pt x="554" y="2186"/>
                  </a:lnTo>
                  <a:lnTo>
                    <a:pt x="539" y="2092"/>
                  </a:lnTo>
                  <a:lnTo>
                    <a:pt x="531" y="2006"/>
                  </a:lnTo>
                  <a:lnTo>
                    <a:pt x="531" y="1920"/>
                  </a:lnTo>
                  <a:lnTo>
                    <a:pt x="531" y="1920"/>
                  </a:lnTo>
                  <a:lnTo>
                    <a:pt x="547" y="1788"/>
                  </a:lnTo>
                  <a:lnTo>
                    <a:pt x="578" y="1662"/>
                  </a:lnTo>
                  <a:lnTo>
                    <a:pt x="609" y="1530"/>
                  </a:lnTo>
                  <a:lnTo>
                    <a:pt x="648" y="1405"/>
                  </a:lnTo>
                  <a:lnTo>
                    <a:pt x="703" y="1280"/>
                  </a:lnTo>
                  <a:lnTo>
                    <a:pt x="757" y="1163"/>
                  </a:lnTo>
                  <a:lnTo>
                    <a:pt x="827" y="1054"/>
                  </a:lnTo>
                  <a:lnTo>
                    <a:pt x="913" y="960"/>
                  </a:lnTo>
                  <a:lnTo>
                    <a:pt x="913" y="960"/>
                  </a:lnTo>
                  <a:lnTo>
                    <a:pt x="937" y="945"/>
                  </a:lnTo>
                  <a:lnTo>
                    <a:pt x="960" y="929"/>
                  </a:lnTo>
                  <a:lnTo>
                    <a:pt x="1007" y="913"/>
                  </a:lnTo>
                  <a:lnTo>
                    <a:pt x="1062" y="890"/>
                  </a:lnTo>
                  <a:lnTo>
                    <a:pt x="1085" y="882"/>
                  </a:lnTo>
                  <a:lnTo>
                    <a:pt x="1109" y="867"/>
                  </a:lnTo>
                  <a:lnTo>
                    <a:pt x="1109" y="867"/>
                  </a:lnTo>
                  <a:lnTo>
                    <a:pt x="1101" y="1530"/>
                  </a:lnTo>
                  <a:lnTo>
                    <a:pt x="1101" y="1530"/>
                  </a:lnTo>
                  <a:lnTo>
                    <a:pt x="1109" y="1623"/>
                  </a:lnTo>
                  <a:lnTo>
                    <a:pt x="1117" y="1702"/>
                  </a:lnTo>
                  <a:lnTo>
                    <a:pt x="1132" y="1788"/>
                  </a:lnTo>
                  <a:lnTo>
                    <a:pt x="1163" y="1858"/>
                  </a:lnTo>
                  <a:lnTo>
                    <a:pt x="1194" y="1928"/>
                  </a:lnTo>
                  <a:lnTo>
                    <a:pt x="1233" y="1998"/>
                  </a:lnTo>
                  <a:lnTo>
                    <a:pt x="1272" y="2060"/>
                  </a:lnTo>
                  <a:lnTo>
                    <a:pt x="1327" y="2115"/>
                  </a:lnTo>
                  <a:lnTo>
                    <a:pt x="1382" y="2162"/>
                  </a:lnTo>
                  <a:lnTo>
                    <a:pt x="1444" y="2209"/>
                  </a:lnTo>
                  <a:lnTo>
                    <a:pt x="1507" y="2248"/>
                  </a:lnTo>
                  <a:lnTo>
                    <a:pt x="1577" y="2279"/>
                  </a:lnTo>
                  <a:lnTo>
                    <a:pt x="1654" y="2303"/>
                  </a:lnTo>
                  <a:lnTo>
                    <a:pt x="1733" y="2326"/>
                  </a:lnTo>
                  <a:lnTo>
                    <a:pt x="1819" y="2334"/>
                  </a:lnTo>
                  <a:lnTo>
                    <a:pt x="1905" y="2341"/>
                  </a:lnTo>
                  <a:lnTo>
                    <a:pt x="1905" y="2341"/>
                  </a:lnTo>
                  <a:lnTo>
                    <a:pt x="1982" y="2334"/>
                  </a:lnTo>
                  <a:lnTo>
                    <a:pt x="2052" y="2319"/>
                  </a:lnTo>
                  <a:lnTo>
                    <a:pt x="2123" y="2303"/>
                  </a:lnTo>
                  <a:lnTo>
                    <a:pt x="2185" y="2272"/>
                  </a:lnTo>
                  <a:lnTo>
                    <a:pt x="2256" y="2232"/>
                  </a:lnTo>
                  <a:lnTo>
                    <a:pt x="2318" y="2193"/>
                  </a:lnTo>
                  <a:lnTo>
                    <a:pt x="2381" y="2146"/>
                  </a:lnTo>
                  <a:lnTo>
                    <a:pt x="2443" y="2092"/>
                  </a:lnTo>
                  <a:lnTo>
                    <a:pt x="2497" y="2029"/>
                  </a:lnTo>
                  <a:lnTo>
                    <a:pt x="2544" y="1967"/>
                  </a:lnTo>
                  <a:lnTo>
                    <a:pt x="2591" y="1905"/>
                  </a:lnTo>
                  <a:lnTo>
                    <a:pt x="2630" y="1835"/>
                  </a:lnTo>
                  <a:lnTo>
                    <a:pt x="2662" y="1756"/>
                  </a:lnTo>
                  <a:lnTo>
                    <a:pt x="2693" y="1678"/>
                  </a:lnTo>
                  <a:lnTo>
                    <a:pt x="2709" y="1600"/>
                  </a:lnTo>
                  <a:lnTo>
                    <a:pt x="2724" y="1522"/>
                  </a:lnTo>
                  <a:lnTo>
                    <a:pt x="2724" y="1522"/>
                  </a:lnTo>
                  <a:lnTo>
                    <a:pt x="2724" y="859"/>
                  </a:lnTo>
                  <a:lnTo>
                    <a:pt x="2724" y="859"/>
                  </a:lnTo>
                  <a:lnTo>
                    <a:pt x="2787" y="898"/>
                  </a:lnTo>
                  <a:lnTo>
                    <a:pt x="2848" y="953"/>
                  </a:lnTo>
                  <a:lnTo>
                    <a:pt x="2895" y="999"/>
                  </a:lnTo>
                  <a:lnTo>
                    <a:pt x="2950" y="1062"/>
                  </a:lnTo>
                  <a:lnTo>
                    <a:pt x="2997" y="1116"/>
                  </a:lnTo>
                  <a:lnTo>
                    <a:pt x="3036" y="1178"/>
                  </a:lnTo>
                  <a:lnTo>
                    <a:pt x="3075" y="1241"/>
                  </a:lnTo>
                  <a:lnTo>
                    <a:pt x="3114" y="1311"/>
                  </a:lnTo>
                  <a:lnTo>
                    <a:pt x="3146" y="1382"/>
                  </a:lnTo>
                  <a:lnTo>
                    <a:pt x="3169" y="1452"/>
                  </a:lnTo>
                  <a:lnTo>
                    <a:pt x="3192" y="1530"/>
                  </a:lnTo>
                  <a:lnTo>
                    <a:pt x="3215" y="1608"/>
                  </a:lnTo>
                  <a:lnTo>
                    <a:pt x="3239" y="1772"/>
                  </a:lnTo>
                  <a:lnTo>
                    <a:pt x="3246" y="1951"/>
                  </a:lnTo>
                  <a:close/>
                  <a:moveTo>
                    <a:pt x="2162" y="0"/>
                  </a:moveTo>
                  <a:lnTo>
                    <a:pt x="2162" y="0"/>
                  </a:lnTo>
                  <a:lnTo>
                    <a:pt x="2154" y="1530"/>
                  </a:lnTo>
                  <a:lnTo>
                    <a:pt x="2154" y="1530"/>
                  </a:lnTo>
                  <a:lnTo>
                    <a:pt x="2146" y="1592"/>
                  </a:lnTo>
                  <a:lnTo>
                    <a:pt x="2131" y="1655"/>
                  </a:lnTo>
                  <a:lnTo>
                    <a:pt x="2107" y="1702"/>
                  </a:lnTo>
                  <a:lnTo>
                    <a:pt x="2076" y="1741"/>
                  </a:lnTo>
                  <a:lnTo>
                    <a:pt x="2037" y="1772"/>
                  </a:lnTo>
                  <a:lnTo>
                    <a:pt x="1990" y="1795"/>
                  </a:lnTo>
                  <a:lnTo>
                    <a:pt x="1928" y="1811"/>
                  </a:lnTo>
                  <a:lnTo>
                    <a:pt x="1866" y="1811"/>
                  </a:lnTo>
                  <a:lnTo>
                    <a:pt x="1866" y="1811"/>
                  </a:lnTo>
                  <a:lnTo>
                    <a:pt x="1827" y="1811"/>
                  </a:lnTo>
                  <a:lnTo>
                    <a:pt x="1787" y="1788"/>
                  </a:lnTo>
                  <a:lnTo>
                    <a:pt x="1748" y="1764"/>
                  </a:lnTo>
                  <a:lnTo>
                    <a:pt x="1709" y="1733"/>
                  </a:lnTo>
                  <a:lnTo>
                    <a:pt x="1678" y="1694"/>
                  </a:lnTo>
                  <a:lnTo>
                    <a:pt x="1647" y="1655"/>
                  </a:lnTo>
                  <a:lnTo>
                    <a:pt x="1631" y="1615"/>
                  </a:lnTo>
                  <a:lnTo>
                    <a:pt x="1623" y="1576"/>
                  </a:lnTo>
                  <a:lnTo>
                    <a:pt x="1623" y="1576"/>
                  </a:lnTo>
                  <a:lnTo>
                    <a:pt x="1639" y="55"/>
                  </a:lnTo>
                  <a:lnTo>
                    <a:pt x="1639" y="55"/>
                  </a:lnTo>
                  <a:lnTo>
                    <a:pt x="1256" y="149"/>
                  </a:lnTo>
                  <a:lnTo>
                    <a:pt x="1256" y="149"/>
                  </a:lnTo>
                  <a:lnTo>
                    <a:pt x="1148" y="188"/>
                  </a:lnTo>
                  <a:lnTo>
                    <a:pt x="1046" y="227"/>
                  </a:lnTo>
                  <a:lnTo>
                    <a:pt x="952" y="281"/>
                  </a:lnTo>
                  <a:lnTo>
                    <a:pt x="858" y="328"/>
                  </a:lnTo>
                  <a:lnTo>
                    <a:pt x="773" y="382"/>
                  </a:lnTo>
                  <a:lnTo>
                    <a:pt x="687" y="445"/>
                  </a:lnTo>
                  <a:lnTo>
                    <a:pt x="609" y="515"/>
                  </a:lnTo>
                  <a:lnTo>
                    <a:pt x="539" y="586"/>
                  </a:lnTo>
                  <a:lnTo>
                    <a:pt x="539" y="586"/>
                  </a:lnTo>
                  <a:lnTo>
                    <a:pt x="476" y="648"/>
                  </a:lnTo>
                  <a:lnTo>
                    <a:pt x="414" y="718"/>
                  </a:lnTo>
                  <a:lnTo>
                    <a:pt x="359" y="788"/>
                  </a:lnTo>
                  <a:lnTo>
                    <a:pt x="313" y="859"/>
                  </a:lnTo>
                  <a:lnTo>
                    <a:pt x="266" y="937"/>
                  </a:lnTo>
                  <a:lnTo>
                    <a:pt x="219" y="1015"/>
                  </a:lnTo>
                  <a:lnTo>
                    <a:pt x="149" y="1186"/>
                  </a:lnTo>
                  <a:lnTo>
                    <a:pt x="86" y="1366"/>
                  </a:lnTo>
                  <a:lnTo>
                    <a:pt x="39" y="1561"/>
                  </a:lnTo>
                  <a:lnTo>
                    <a:pt x="16" y="1756"/>
                  </a:lnTo>
                  <a:lnTo>
                    <a:pt x="0" y="1967"/>
                  </a:lnTo>
                  <a:lnTo>
                    <a:pt x="0" y="1967"/>
                  </a:lnTo>
                  <a:lnTo>
                    <a:pt x="8" y="2076"/>
                  </a:lnTo>
                  <a:lnTo>
                    <a:pt x="16" y="2186"/>
                  </a:lnTo>
                  <a:lnTo>
                    <a:pt x="31" y="2287"/>
                  </a:lnTo>
                  <a:lnTo>
                    <a:pt x="55" y="2396"/>
                  </a:lnTo>
                  <a:lnTo>
                    <a:pt x="78" y="2497"/>
                  </a:lnTo>
                  <a:lnTo>
                    <a:pt x="117" y="2599"/>
                  </a:lnTo>
                  <a:lnTo>
                    <a:pt x="156" y="2701"/>
                  </a:lnTo>
                  <a:lnTo>
                    <a:pt x="203" y="2794"/>
                  </a:lnTo>
                  <a:lnTo>
                    <a:pt x="258" y="2888"/>
                  </a:lnTo>
                  <a:lnTo>
                    <a:pt x="321" y="2981"/>
                  </a:lnTo>
                  <a:lnTo>
                    <a:pt x="382" y="3068"/>
                  </a:lnTo>
                  <a:lnTo>
                    <a:pt x="460" y="3153"/>
                  </a:lnTo>
                  <a:lnTo>
                    <a:pt x="539" y="3231"/>
                  </a:lnTo>
                  <a:lnTo>
                    <a:pt x="617" y="3309"/>
                  </a:lnTo>
                  <a:lnTo>
                    <a:pt x="711" y="3379"/>
                  </a:lnTo>
                  <a:lnTo>
                    <a:pt x="804" y="3442"/>
                  </a:lnTo>
                  <a:lnTo>
                    <a:pt x="804" y="3442"/>
                  </a:lnTo>
                  <a:lnTo>
                    <a:pt x="773" y="8780"/>
                  </a:lnTo>
                  <a:lnTo>
                    <a:pt x="773" y="8780"/>
                  </a:lnTo>
                  <a:lnTo>
                    <a:pt x="773" y="8889"/>
                  </a:lnTo>
                  <a:lnTo>
                    <a:pt x="788" y="8990"/>
                  </a:lnTo>
                  <a:lnTo>
                    <a:pt x="812" y="9099"/>
                  </a:lnTo>
                  <a:lnTo>
                    <a:pt x="843" y="9201"/>
                  </a:lnTo>
                  <a:lnTo>
                    <a:pt x="882" y="9295"/>
                  </a:lnTo>
                  <a:lnTo>
                    <a:pt x="929" y="9380"/>
                  </a:lnTo>
                  <a:lnTo>
                    <a:pt x="991" y="9466"/>
                  </a:lnTo>
                  <a:lnTo>
                    <a:pt x="1054" y="9544"/>
                  </a:lnTo>
                  <a:lnTo>
                    <a:pt x="1054" y="9544"/>
                  </a:lnTo>
                  <a:lnTo>
                    <a:pt x="1148" y="9623"/>
                  </a:lnTo>
                  <a:lnTo>
                    <a:pt x="1241" y="9693"/>
                  </a:lnTo>
                  <a:lnTo>
                    <a:pt x="1342" y="9747"/>
                  </a:lnTo>
                  <a:lnTo>
                    <a:pt x="1444" y="9794"/>
                  </a:lnTo>
                  <a:lnTo>
                    <a:pt x="1546" y="9833"/>
                  </a:lnTo>
                  <a:lnTo>
                    <a:pt x="1647" y="9856"/>
                  </a:lnTo>
                  <a:lnTo>
                    <a:pt x="1756" y="9864"/>
                  </a:lnTo>
                  <a:lnTo>
                    <a:pt x="1866" y="9872"/>
                  </a:lnTo>
                  <a:lnTo>
                    <a:pt x="1866" y="9872"/>
                  </a:lnTo>
                  <a:lnTo>
                    <a:pt x="1967" y="9864"/>
                  </a:lnTo>
                  <a:lnTo>
                    <a:pt x="2068" y="9841"/>
                  </a:lnTo>
                  <a:lnTo>
                    <a:pt x="2162" y="9817"/>
                  </a:lnTo>
                  <a:lnTo>
                    <a:pt x="2256" y="9770"/>
                  </a:lnTo>
                  <a:lnTo>
                    <a:pt x="2342" y="9724"/>
                  </a:lnTo>
                  <a:lnTo>
                    <a:pt x="2427" y="9670"/>
                  </a:lnTo>
                  <a:lnTo>
                    <a:pt x="2505" y="9599"/>
                  </a:lnTo>
                  <a:lnTo>
                    <a:pt x="2583" y="9537"/>
                  </a:lnTo>
                  <a:lnTo>
                    <a:pt x="2583" y="9537"/>
                  </a:lnTo>
                  <a:lnTo>
                    <a:pt x="2646" y="9458"/>
                  </a:lnTo>
                  <a:lnTo>
                    <a:pt x="2716" y="9380"/>
                  </a:lnTo>
                  <a:lnTo>
                    <a:pt x="2771" y="9295"/>
                  </a:lnTo>
                  <a:lnTo>
                    <a:pt x="2817" y="9209"/>
                  </a:lnTo>
                  <a:lnTo>
                    <a:pt x="2864" y="9115"/>
                  </a:lnTo>
                  <a:lnTo>
                    <a:pt x="2887" y="9021"/>
                  </a:lnTo>
                  <a:lnTo>
                    <a:pt x="2911" y="8920"/>
                  </a:lnTo>
                  <a:lnTo>
                    <a:pt x="2919" y="8819"/>
                  </a:lnTo>
                  <a:lnTo>
                    <a:pt x="2919" y="8819"/>
                  </a:lnTo>
                  <a:lnTo>
                    <a:pt x="2950" y="3473"/>
                  </a:lnTo>
                  <a:lnTo>
                    <a:pt x="2950" y="3473"/>
                  </a:lnTo>
                  <a:lnTo>
                    <a:pt x="3192" y="3239"/>
                  </a:lnTo>
                  <a:lnTo>
                    <a:pt x="3192" y="3239"/>
                  </a:lnTo>
                  <a:lnTo>
                    <a:pt x="3192" y="3239"/>
                  </a:lnTo>
                  <a:lnTo>
                    <a:pt x="3262" y="3161"/>
                  </a:lnTo>
                  <a:lnTo>
                    <a:pt x="3325" y="3091"/>
                  </a:lnTo>
                  <a:lnTo>
                    <a:pt x="3442" y="2935"/>
                  </a:lnTo>
                  <a:lnTo>
                    <a:pt x="3544" y="2770"/>
                  </a:lnTo>
                  <a:lnTo>
                    <a:pt x="3621" y="2599"/>
                  </a:lnTo>
                  <a:lnTo>
                    <a:pt x="3683" y="2427"/>
                  </a:lnTo>
                  <a:lnTo>
                    <a:pt x="3730" y="2256"/>
                  </a:lnTo>
                  <a:lnTo>
                    <a:pt x="3762" y="2076"/>
                  </a:lnTo>
                  <a:lnTo>
                    <a:pt x="3769" y="1897"/>
                  </a:lnTo>
                  <a:lnTo>
                    <a:pt x="3769" y="1897"/>
                  </a:lnTo>
                  <a:lnTo>
                    <a:pt x="3762" y="1756"/>
                  </a:lnTo>
                  <a:lnTo>
                    <a:pt x="3746" y="1615"/>
                  </a:lnTo>
                  <a:lnTo>
                    <a:pt x="3715" y="1476"/>
                  </a:lnTo>
                  <a:lnTo>
                    <a:pt x="3676" y="1343"/>
                  </a:lnTo>
                  <a:lnTo>
                    <a:pt x="3629" y="1210"/>
                  </a:lnTo>
                  <a:lnTo>
                    <a:pt x="3567" y="1078"/>
                  </a:lnTo>
                  <a:lnTo>
                    <a:pt x="3497" y="960"/>
                  </a:lnTo>
                  <a:lnTo>
                    <a:pt x="3418" y="835"/>
                  </a:lnTo>
                  <a:lnTo>
                    <a:pt x="3332" y="726"/>
                  </a:lnTo>
                  <a:lnTo>
                    <a:pt x="3231" y="617"/>
                  </a:lnTo>
                  <a:lnTo>
                    <a:pt x="3130" y="523"/>
                  </a:lnTo>
                  <a:lnTo>
                    <a:pt x="3013" y="429"/>
                  </a:lnTo>
                  <a:lnTo>
                    <a:pt x="2895" y="343"/>
                  </a:lnTo>
                  <a:lnTo>
                    <a:pt x="2763" y="266"/>
                  </a:lnTo>
                  <a:lnTo>
                    <a:pt x="2630" y="196"/>
                  </a:lnTo>
                  <a:lnTo>
                    <a:pt x="2489" y="141"/>
                  </a:lnTo>
                  <a:lnTo>
                    <a:pt x="2162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ffectLst/>
          </p:spPr>
          <p:txBody>
            <a:bodyPr wrap="none" anchor="ctr"/>
            <a:lstStyle/>
            <a:p>
              <a:endParaRPr lang="en-US" sz="1050" dirty="0"/>
            </a:p>
          </p:txBody>
        </p:sp>
        <p:sp>
          <p:nvSpPr>
            <p:cNvPr id="77" name="Freeform 2">
              <a:extLst>
                <a:ext uri="{FF2B5EF4-FFF2-40B4-BE49-F238E27FC236}">
                  <a16:creationId xmlns:a16="http://schemas.microsoft.com/office/drawing/2014/main" id="{7B6BFAC3-0706-4A2E-A555-A921B577294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171621" y="4110936"/>
              <a:ext cx="141657" cy="223882"/>
            </a:xfrm>
            <a:custGeom>
              <a:avLst/>
              <a:gdLst>
                <a:gd name="T0" fmla="*/ 1842 w 2186"/>
                <a:gd name="T1" fmla="*/ 3683 h 3684"/>
                <a:gd name="T2" fmla="*/ 0 w 2186"/>
                <a:gd name="T3" fmla="*/ 1841 h 3684"/>
                <a:gd name="T4" fmla="*/ 1842 w 2186"/>
                <a:gd name="T5" fmla="*/ 0 h 3684"/>
                <a:gd name="T6" fmla="*/ 2185 w 2186"/>
                <a:gd name="T7" fmla="*/ 343 h 3684"/>
                <a:gd name="T8" fmla="*/ 679 w 2186"/>
                <a:gd name="T9" fmla="*/ 1841 h 3684"/>
                <a:gd name="T10" fmla="*/ 2185 w 2186"/>
                <a:gd name="T11" fmla="*/ 3348 h 3684"/>
                <a:gd name="T12" fmla="*/ 1842 w 2186"/>
                <a:gd name="T13" fmla="*/ 3683 h 36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186" h="3684">
                  <a:moveTo>
                    <a:pt x="1842" y="3683"/>
                  </a:moveTo>
                  <a:lnTo>
                    <a:pt x="0" y="1841"/>
                  </a:lnTo>
                  <a:lnTo>
                    <a:pt x="1842" y="0"/>
                  </a:lnTo>
                  <a:lnTo>
                    <a:pt x="2185" y="343"/>
                  </a:lnTo>
                  <a:lnTo>
                    <a:pt x="679" y="1841"/>
                  </a:lnTo>
                  <a:lnTo>
                    <a:pt x="2185" y="3348"/>
                  </a:lnTo>
                  <a:lnTo>
                    <a:pt x="1842" y="3683"/>
                  </a:lnTo>
                </a:path>
              </a:pathLst>
            </a:custGeom>
            <a:solidFill>
              <a:schemeClr val="tx2"/>
            </a:solidFill>
            <a:ln>
              <a:noFill/>
            </a:ln>
            <a:effectLst/>
          </p:spPr>
          <p:txBody>
            <a:bodyPr wrap="none" anchor="ctr"/>
            <a:lstStyle/>
            <a:p>
              <a:endParaRPr lang="en-US" sz="1050" dirty="0">
                <a:solidFill>
                  <a:schemeClr val="tx2"/>
                </a:solidFill>
              </a:endParaRPr>
            </a:p>
          </p:txBody>
        </p:sp>
        <p:sp>
          <p:nvSpPr>
            <p:cNvPr id="78" name="Freeform 3">
              <a:extLst>
                <a:ext uri="{FF2B5EF4-FFF2-40B4-BE49-F238E27FC236}">
                  <a16:creationId xmlns:a16="http://schemas.microsoft.com/office/drawing/2014/main" id="{09E24A0E-A86B-42E9-B250-83D43F8FA94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732539" y="4110936"/>
              <a:ext cx="141086" cy="223882"/>
            </a:xfrm>
            <a:custGeom>
              <a:avLst/>
              <a:gdLst>
                <a:gd name="T0" fmla="*/ 335 w 2177"/>
                <a:gd name="T1" fmla="*/ 3683 h 3684"/>
                <a:gd name="T2" fmla="*/ 0 w 2177"/>
                <a:gd name="T3" fmla="*/ 3348 h 3684"/>
                <a:gd name="T4" fmla="*/ 1505 w 2177"/>
                <a:gd name="T5" fmla="*/ 1841 h 3684"/>
                <a:gd name="T6" fmla="*/ 0 w 2177"/>
                <a:gd name="T7" fmla="*/ 343 h 3684"/>
                <a:gd name="T8" fmla="*/ 335 w 2177"/>
                <a:gd name="T9" fmla="*/ 0 h 3684"/>
                <a:gd name="T10" fmla="*/ 2176 w 2177"/>
                <a:gd name="T11" fmla="*/ 1841 h 3684"/>
                <a:gd name="T12" fmla="*/ 335 w 2177"/>
                <a:gd name="T13" fmla="*/ 3683 h 36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177" h="3684">
                  <a:moveTo>
                    <a:pt x="335" y="3683"/>
                  </a:moveTo>
                  <a:lnTo>
                    <a:pt x="0" y="3348"/>
                  </a:lnTo>
                  <a:lnTo>
                    <a:pt x="1505" y="1841"/>
                  </a:lnTo>
                  <a:lnTo>
                    <a:pt x="0" y="343"/>
                  </a:lnTo>
                  <a:lnTo>
                    <a:pt x="335" y="0"/>
                  </a:lnTo>
                  <a:lnTo>
                    <a:pt x="2176" y="1841"/>
                  </a:lnTo>
                  <a:lnTo>
                    <a:pt x="335" y="3683"/>
                  </a:lnTo>
                </a:path>
              </a:pathLst>
            </a:custGeom>
            <a:solidFill>
              <a:schemeClr val="tx2"/>
            </a:solidFill>
            <a:ln>
              <a:noFill/>
            </a:ln>
            <a:effectLst/>
          </p:spPr>
          <p:txBody>
            <a:bodyPr wrap="none" anchor="ctr"/>
            <a:lstStyle/>
            <a:p>
              <a:endParaRPr lang="en-US" sz="1050"/>
            </a:p>
          </p:txBody>
        </p:sp>
      </p:grpSp>
      <p:sp>
        <p:nvSpPr>
          <p:cNvPr id="41" name="TextBox 40">
            <a:extLst>
              <a:ext uri="{FF2B5EF4-FFF2-40B4-BE49-F238E27FC236}">
                <a16:creationId xmlns:a16="http://schemas.microsoft.com/office/drawing/2014/main" id="{489DD46E-7E66-46BB-9618-3EB18407D0C2}"/>
              </a:ext>
            </a:extLst>
          </p:cNvPr>
          <p:cNvSpPr txBox="1"/>
          <p:nvPr/>
        </p:nvSpPr>
        <p:spPr>
          <a:xfrm>
            <a:off x="-21168" y="5735956"/>
            <a:ext cx="6422466" cy="311523"/>
          </a:xfrm>
          <a:prstGeom prst="rect">
            <a:avLst/>
          </a:prstGeom>
          <a:noFill/>
        </p:spPr>
        <p:txBody>
          <a:bodyPr wrap="none" lIns="126620" tIns="101296" rIns="126620" bIns="101296" rtlCol="0">
            <a:spAutoFit/>
          </a:bodyPr>
          <a:lstStyle/>
          <a:p>
            <a:pPr algn="r" defTabSz="645659">
              <a:lnSpc>
                <a:spcPct val="90000"/>
              </a:lnSpc>
              <a:spcAft>
                <a:spcPts val="415"/>
              </a:spcAft>
            </a:pPr>
            <a:r>
              <a:rPr lang="en-US" sz="772" kern="0" dirty="0">
                <a:solidFill>
                  <a:schemeClr val="bg1"/>
                </a:solidFill>
                <a:latin typeface="Segoe UI Light"/>
              </a:rPr>
              <a:t>Source: </a:t>
            </a:r>
            <a:r>
              <a:rPr lang="en-GB" sz="772" kern="0" dirty="0">
                <a:solidFill>
                  <a:schemeClr val="bg1"/>
                </a:solidFill>
                <a:latin typeface="Segoe UI Light"/>
              </a:rPr>
              <a:t>2018 Accelerate: State of DevOps: Strategies for a New Economy." N. Forsgren, J. Humble, G. Kim. DevOps Research and Assessment (DORA)</a:t>
            </a:r>
            <a:endParaRPr lang="en-US" sz="772" kern="0" dirty="0">
              <a:solidFill>
                <a:schemeClr val="bg1"/>
              </a:solidFill>
              <a:latin typeface="Segoe UI Light"/>
            </a:endParaRPr>
          </a:p>
        </p:txBody>
      </p:sp>
    </p:spTree>
    <p:extLst>
      <p:ext uri="{BB962C8B-B14F-4D97-AF65-F5344CB8AC3E}">
        <p14:creationId xmlns:p14="http://schemas.microsoft.com/office/powerpoint/2010/main" val="11690536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-61116"/>
            <a:ext cx="9144000" cy="1325563"/>
          </a:xfrm>
        </p:spPr>
        <p:txBody>
          <a:bodyPr>
            <a:normAutofit/>
          </a:bodyPr>
          <a:lstStyle/>
          <a:p>
            <a:r>
              <a:rPr lang="en-CA" sz="4000" dirty="0"/>
              <a:t>DevOps: Required Organisational Changes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971600" y="1628800"/>
            <a:ext cx="6987120" cy="3716432"/>
            <a:chOff x="2545932" y="2100618"/>
            <a:chExt cx="6987120" cy="3716432"/>
          </a:xfrm>
        </p:grpSpPr>
        <p:sp>
          <p:nvSpPr>
            <p:cNvPr id="8" name="Oval 7"/>
            <p:cNvSpPr/>
            <p:nvPr/>
          </p:nvSpPr>
          <p:spPr bwMode="auto">
            <a:xfrm>
              <a:off x="2545932" y="2100618"/>
              <a:ext cx="1043517" cy="1044000"/>
            </a:xfrm>
            <a:prstGeom prst="ellipse">
              <a:avLst/>
            </a:prstGeom>
            <a:solidFill>
              <a:schemeClr val="accent2">
                <a:lumMod val="50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1438" tIns="36512" rIns="71438" bIns="36512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eaLnBrk="0" hangingPunct="0">
                <a:buClr>
                  <a:schemeClr val="tx1"/>
                </a:buClr>
                <a:buFont typeface="Wingdings" pitchFamily="2" charset="2"/>
                <a:buChar char="n"/>
              </a:pPr>
              <a:endParaRPr lang="en-US"/>
            </a:p>
          </p:txBody>
        </p:sp>
        <p:sp>
          <p:nvSpPr>
            <p:cNvPr id="9" name="Oval 8"/>
            <p:cNvSpPr/>
            <p:nvPr/>
          </p:nvSpPr>
          <p:spPr bwMode="auto">
            <a:xfrm>
              <a:off x="4103802" y="2100618"/>
              <a:ext cx="1043517" cy="1044000"/>
            </a:xfrm>
            <a:prstGeom prst="ellipse">
              <a:avLst/>
            </a:prstGeom>
            <a:solidFill>
              <a:srgbClr val="00BDBD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1438" tIns="36512" rIns="71438" bIns="36512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eaLnBrk="0" hangingPunct="0">
                <a:buClr>
                  <a:schemeClr val="tx1"/>
                </a:buClr>
                <a:buFont typeface="Wingdings" pitchFamily="2" charset="2"/>
                <a:buChar char="n"/>
              </a:pPr>
              <a:endParaRPr lang="en-US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2768181" y="3167415"/>
              <a:ext cx="50366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 err="1">
                  <a:latin typeface="+mj-lt"/>
                </a:rPr>
                <a:t>Dev</a:t>
              </a:r>
              <a:endParaRPr lang="en-US" sz="1400" dirty="0">
                <a:latin typeface="+mj-lt"/>
              </a:endParaRP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385319" y="3165926"/>
              <a:ext cx="513933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+mj-lt"/>
                </a:rPr>
                <a:t>Ops</a:t>
              </a:r>
            </a:p>
          </p:txBody>
        </p:sp>
        <p:sp>
          <p:nvSpPr>
            <p:cNvPr id="12" name="Oval 11"/>
            <p:cNvSpPr/>
            <p:nvPr/>
          </p:nvSpPr>
          <p:spPr bwMode="auto">
            <a:xfrm>
              <a:off x="6940132" y="2100618"/>
              <a:ext cx="1043517" cy="1044000"/>
            </a:xfrm>
            <a:prstGeom prst="ellipse">
              <a:avLst/>
            </a:prstGeom>
            <a:solidFill>
              <a:schemeClr val="accent2">
                <a:lumMod val="50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1438" tIns="36512" rIns="71438" bIns="36512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eaLnBrk="0" hangingPunct="0">
                <a:buClr>
                  <a:schemeClr val="tx1"/>
                </a:buClr>
                <a:buFont typeface="Wingdings" pitchFamily="2" charset="2"/>
                <a:buChar char="n"/>
              </a:pPr>
              <a:endParaRPr lang="en-US"/>
            </a:p>
          </p:txBody>
        </p:sp>
        <p:sp>
          <p:nvSpPr>
            <p:cNvPr id="13" name="Oval 12"/>
            <p:cNvSpPr/>
            <p:nvPr/>
          </p:nvSpPr>
          <p:spPr bwMode="auto">
            <a:xfrm>
              <a:off x="8489535" y="2100618"/>
              <a:ext cx="1043517" cy="1044000"/>
            </a:xfrm>
            <a:prstGeom prst="ellipse">
              <a:avLst/>
            </a:prstGeom>
            <a:solidFill>
              <a:srgbClr val="00BDBD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1438" tIns="36512" rIns="71438" bIns="36512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eaLnBrk="0" hangingPunct="0">
                <a:buClr>
                  <a:schemeClr val="tx1"/>
                </a:buClr>
                <a:buFont typeface="Wingdings" pitchFamily="2" charset="2"/>
                <a:buChar char="n"/>
              </a:pPr>
              <a:endParaRPr lang="en-US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162381" y="3167415"/>
              <a:ext cx="50366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 err="1">
                  <a:latin typeface="+mj-lt"/>
                </a:rPr>
                <a:t>Dev</a:t>
              </a:r>
              <a:endParaRPr lang="en-US" sz="1400" dirty="0">
                <a:latin typeface="+mj-lt"/>
              </a:endParaRP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8771052" y="3165926"/>
              <a:ext cx="513933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+mj-lt"/>
                </a:rPr>
                <a:t>Ops</a:t>
              </a:r>
            </a:p>
          </p:txBody>
        </p:sp>
        <p:sp>
          <p:nvSpPr>
            <p:cNvPr id="16" name="Oval 15"/>
            <p:cNvSpPr/>
            <p:nvPr/>
          </p:nvSpPr>
          <p:spPr bwMode="auto">
            <a:xfrm>
              <a:off x="7947474" y="2388484"/>
              <a:ext cx="540000" cy="540000"/>
            </a:xfrm>
            <a:prstGeom prst="ellipse">
              <a:avLst/>
            </a:prstGeom>
            <a:solidFill>
              <a:schemeClr val="accent5"/>
            </a:solidFill>
            <a:ln w="9525" cap="flat" cmpd="sng" algn="ctr">
              <a:solidFill>
                <a:schemeClr val="accent2">
                  <a:lumMod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1438" tIns="36512" rIns="71438" bIns="36512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eaLnBrk="0" hangingPunct="0">
                <a:buClr>
                  <a:schemeClr val="tx1"/>
                </a:buClr>
                <a:buFont typeface="Wingdings" pitchFamily="2" charset="2"/>
                <a:buChar char="n"/>
              </a:pPr>
              <a:endParaRPr lang="en-US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7845193" y="3165926"/>
              <a:ext cx="83320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 err="1">
                  <a:latin typeface="+mj-lt"/>
                </a:rPr>
                <a:t>DevOps</a:t>
              </a:r>
              <a:endParaRPr lang="en-US" sz="1400" dirty="0">
                <a:latin typeface="+mj-lt"/>
              </a:endParaRPr>
            </a:p>
          </p:txBody>
        </p:sp>
        <p:sp>
          <p:nvSpPr>
            <p:cNvPr id="18" name="Oval 17"/>
            <p:cNvSpPr/>
            <p:nvPr/>
          </p:nvSpPr>
          <p:spPr bwMode="auto">
            <a:xfrm>
              <a:off x="4625560" y="4044317"/>
              <a:ext cx="1043517" cy="1044000"/>
            </a:xfrm>
            <a:prstGeom prst="ellipse">
              <a:avLst/>
            </a:prstGeom>
            <a:solidFill>
              <a:schemeClr val="accent2">
                <a:lumMod val="50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1438" tIns="36512" rIns="71438" bIns="36512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eaLnBrk="0" hangingPunct="0">
                <a:buClr>
                  <a:schemeClr val="tx1"/>
                </a:buClr>
                <a:buFont typeface="Wingdings" pitchFamily="2" charset="2"/>
                <a:buChar char="n"/>
              </a:pPr>
              <a:endParaRPr lang="en-US"/>
            </a:p>
          </p:txBody>
        </p:sp>
        <p:sp>
          <p:nvSpPr>
            <p:cNvPr id="19" name="Oval 18"/>
            <p:cNvSpPr/>
            <p:nvPr/>
          </p:nvSpPr>
          <p:spPr bwMode="auto">
            <a:xfrm>
              <a:off x="6174963" y="4044316"/>
              <a:ext cx="1043517" cy="1044000"/>
            </a:xfrm>
            <a:prstGeom prst="ellipse">
              <a:avLst/>
            </a:prstGeom>
            <a:solidFill>
              <a:srgbClr val="00BDBD">
                <a:alpha val="32000"/>
              </a:srgb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1438" tIns="36512" rIns="71438" bIns="36512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eaLnBrk="0" hangingPunct="0">
                <a:buClr>
                  <a:schemeClr val="tx1"/>
                </a:buClr>
                <a:buFont typeface="Wingdings" pitchFamily="2" charset="2"/>
                <a:buChar char="n"/>
              </a:pPr>
              <a:endParaRPr lang="en-US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4847809" y="5111114"/>
              <a:ext cx="50366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 err="1">
                  <a:latin typeface="+mj-lt"/>
                </a:rPr>
                <a:t>Dev</a:t>
              </a:r>
              <a:endParaRPr lang="en-US" sz="1400" dirty="0">
                <a:latin typeface="+mj-lt"/>
              </a:endParaRP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6456480" y="5109625"/>
              <a:ext cx="513933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+mj-lt"/>
                </a:rPr>
                <a:t>Ops</a:t>
              </a:r>
            </a:p>
          </p:txBody>
        </p:sp>
        <p:sp>
          <p:nvSpPr>
            <p:cNvPr id="22" name="Oval 21"/>
            <p:cNvSpPr/>
            <p:nvPr/>
          </p:nvSpPr>
          <p:spPr bwMode="auto">
            <a:xfrm>
              <a:off x="5146260" y="4332183"/>
              <a:ext cx="522817" cy="536481"/>
            </a:xfrm>
            <a:prstGeom prst="ellipse">
              <a:avLst/>
            </a:prstGeom>
            <a:solidFill>
              <a:schemeClr val="accent5"/>
            </a:solidFill>
            <a:ln w="9525" cap="flat" cmpd="sng" algn="ctr">
              <a:solidFill>
                <a:schemeClr val="accent2">
                  <a:lumMod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1438" tIns="36512" rIns="71438" bIns="36512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eaLnBrk="0" hangingPunct="0">
                <a:buClr>
                  <a:schemeClr val="tx1"/>
                </a:buClr>
                <a:buFont typeface="Wingdings" pitchFamily="2" charset="2"/>
                <a:buChar char="n"/>
              </a:pPr>
              <a:endParaRPr lang="en-US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5341756" y="5109625"/>
              <a:ext cx="83320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 err="1">
                  <a:latin typeface="+mj-lt"/>
                </a:rPr>
                <a:t>DevOps</a:t>
              </a:r>
              <a:endParaRPr lang="en-US" sz="1400" dirty="0">
                <a:latin typeface="+mj-lt"/>
              </a:endParaRP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3203513" y="3591986"/>
              <a:ext cx="142204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>
                  <a:latin typeface="+mj-lt"/>
                </a:rPr>
                <a:t>Separate Silos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7234386" y="3591986"/>
              <a:ext cx="205059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>
                  <a:latin typeface="+mj-lt"/>
                </a:rPr>
                <a:t>Separate </a:t>
              </a:r>
              <a:r>
                <a:rPr lang="en-US" sz="1400" b="1" dirty="0" err="1">
                  <a:latin typeface="+mj-lt"/>
                </a:rPr>
                <a:t>DevOps</a:t>
              </a:r>
              <a:r>
                <a:rPr lang="en-US" sz="1400" b="1" dirty="0">
                  <a:latin typeface="+mj-lt"/>
                </a:rPr>
                <a:t> Silo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5209318" y="5509273"/>
              <a:ext cx="1807243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>
                  <a:latin typeface="+mj-lt"/>
                </a:rPr>
                <a:t>We don’t need Ops</a:t>
              </a:r>
            </a:p>
          </p:txBody>
        </p:sp>
      </p:grpSp>
      <p:sp>
        <p:nvSpPr>
          <p:cNvPr id="27" name="Rectangle 26"/>
          <p:cNvSpPr/>
          <p:nvPr/>
        </p:nvSpPr>
        <p:spPr>
          <a:xfrm>
            <a:off x="3820" y="1124744"/>
            <a:ext cx="3849657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b="1" i="1" dirty="0"/>
              <a:t>What to avoid: anti-patterns</a:t>
            </a:r>
            <a:endParaRPr lang="en-CA" sz="2400" b="1" dirty="0"/>
          </a:p>
        </p:txBody>
      </p:sp>
      <p:sp>
        <p:nvSpPr>
          <p:cNvPr id="28" name="TextBox 27"/>
          <p:cNvSpPr txBox="1"/>
          <p:nvPr/>
        </p:nvSpPr>
        <p:spPr>
          <a:xfrm>
            <a:off x="1514316" y="5569733"/>
            <a:ext cx="529984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From M. Skelton. What Team Structure is Right for </a:t>
            </a:r>
            <a:r>
              <a:rPr lang="en-US" sz="1000" dirty="0" err="1"/>
              <a:t>DevOps</a:t>
            </a:r>
            <a:r>
              <a:rPr lang="en-US" sz="1000" dirty="0"/>
              <a:t> to Flourish? 2013</a:t>
            </a:r>
            <a:br>
              <a:rPr lang="en-US" sz="1000" dirty="0"/>
            </a:br>
            <a:r>
              <a:rPr lang="en-US" sz="1000" dirty="0">
                <a:hlinkClick r:id="rId2"/>
              </a:rPr>
              <a:t>http://blog.matthewskelton.net/2013/10/22/what-team-structure-is-right-for-devops-to-flourish/</a:t>
            </a:r>
            <a:endParaRPr lang="en-US" sz="1000" dirty="0"/>
          </a:p>
          <a:p>
            <a:r>
              <a:rPr lang="en-US" sz="1000" dirty="0">
                <a:hlinkClick r:id="rId3"/>
              </a:rPr>
              <a:t>http://web.devopstopologies.com</a:t>
            </a:r>
            <a:r>
              <a:rPr lang="en-US" sz="1000" dirty="0"/>
              <a:t>  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3A671D42-4668-CB5C-AA31-32A5508CB0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Sw. Evolution</a:t>
            </a:r>
          </a:p>
        </p:txBody>
      </p:sp>
    </p:spTree>
    <p:extLst>
      <p:ext uri="{BB962C8B-B14F-4D97-AF65-F5344CB8AC3E}">
        <p14:creationId xmlns:p14="http://schemas.microsoft.com/office/powerpoint/2010/main" val="405764413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611560" y="1556792"/>
            <a:ext cx="7686713" cy="4566939"/>
            <a:chOff x="2256382" y="2011495"/>
            <a:chExt cx="7686713" cy="4566939"/>
          </a:xfrm>
        </p:grpSpPr>
        <p:sp>
          <p:nvSpPr>
            <p:cNvPr id="8" name="Oval 7"/>
            <p:cNvSpPr/>
            <p:nvPr/>
          </p:nvSpPr>
          <p:spPr bwMode="auto">
            <a:xfrm>
              <a:off x="7452195" y="2011495"/>
              <a:ext cx="1043517" cy="1044000"/>
            </a:xfrm>
            <a:prstGeom prst="ellipse">
              <a:avLst/>
            </a:prstGeom>
            <a:solidFill>
              <a:schemeClr val="accent2">
                <a:lumMod val="50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1438" tIns="36512" rIns="71438" bIns="36512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eaLnBrk="0" hangingPunct="0">
                <a:buClr>
                  <a:schemeClr val="tx1"/>
                </a:buClr>
                <a:buFont typeface="Wingdings" pitchFamily="2" charset="2"/>
                <a:buChar char="n"/>
              </a:pPr>
              <a:endParaRPr lang="en-US"/>
            </a:p>
          </p:txBody>
        </p:sp>
        <p:sp>
          <p:nvSpPr>
            <p:cNvPr id="9" name="Oval 8"/>
            <p:cNvSpPr/>
            <p:nvPr/>
          </p:nvSpPr>
          <p:spPr bwMode="auto">
            <a:xfrm>
              <a:off x="8495712" y="2011495"/>
              <a:ext cx="1043517" cy="1044000"/>
            </a:xfrm>
            <a:prstGeom prst="ellipse">
              <a:avLst/>
            </a:prstGeom>
            <a:solidFill>
              <a:srgbClr val="00BDBD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1438" tIns="36512" rIns="71438" bIns="36512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eaLnBrk="0" hangingPunct="0">
                <a:buClr>
                  <a:schemeClr val="tx1"/>
                </a:buClr>
                <a:buFont typeface="Wingdings" pitchFamily="2" charset="2"/>
                <a:buChar char="n"/>
              </a:pPr>
              <a:endParaRPr lang="en-US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7674444" y="3078292"/>
              <a:ext cx="50366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 err="1">
                  <a:latin typeface="+mj-lt"/>
                </a:rPr>
                <a:t>Dev</a:t>
              </a:r>
              <a:endParaRPr lang="en-US" sz="1400" dirty="0">
                <a:latin typeface="+mj-lt"/>
              </a:endParaRP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8758161" y="3076803"/>
              <a:ext cx="513933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+mj-lt"/>
                </a:rPr>
                <a:t>Ops</a:t>
              </a:r>
            </a:p>
          </p:txBody>
        </p:sp>
        <p:sp>
          <p:nvSpPr>
            <p:cNvPr id="12" name="Oval 11"/>
            <p:cNvSpPr/>
            <p:nvPr/>
          </p:nvSpPr>
          <p:spPr bwMode="auto">
            <a:xfrm>
              <a:off x="7972894" y="2272469"/>
              <a:ext cx="540000" cy="540000"/>
            </a:xfrm>
            <a:prstGeom prst="ellipse">
              <a:avLst/>
            </a:prstGeom>
            <a:solidFill>
              <a:schemeClr val="accent5"/>
            </a:solidFill>
            <a:ln w="9525" cap="flat" cmpd="sng" algn="ctr">
              <a:solidFill>
                <a:schemeClr val="accent2">
                  <a:lumMod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1438" tIns="36512" rIns="71438" bIns="36512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eaLnBrk="0" hangingPunct="0">
                <a:buClr>
                  <a:schemeClr val="tx1"/>
                </a:buClr>
                <a:buFont typeface="Wingdings" pitchFamily="2" charset="2"/>
                <a:buChar char="n"/>
              </a:pPr>
              <a:endParaRPr lang="en-US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8060911" y="3076803"/>
              <a:ext cx="83320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 err="1">
                  <a:latin typeface="+mj-lt"/>
                </a:rPr>
                <a:t>DevOps</a:t>
              </a:r>
              <a:endParaRPr lang="en-US" sz="1400" dirty="0">
                <a:latin typeface="+mj-lt"/>
              </a:endParaRPr>
            </a:p>
          </p:txBody>
        </p:sp>
        <p:sp>
          <p:nvSpPr>
            <p:cNvPr id="14" name="Oval 13"/>
            <p:cNvSpPr/>
            <p:nvPr/>
          </p:nvSpPr>
          <p:spPr bwMode="auto">
            <a:xfrm>
              <a:off x="3012716" y="2062072"/>
              <a:ext cx="1043517" cy="1044000"/>
            </a:xfrm>
            <a:prstGeom prst="ellipse">
              <a:avLst/>
            </a:prstGeom>
            <a:solidFill>
              <a:srgbClr val="00BDBD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1438" tIns="36512" rIns="71438" bIns="36512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eaLnBrk="0" hangingPunct="0">
                <a:buClr>
                  <a:schemeClr val="tx1"/>
                </a:buClr>
                <a:buFont typeface="Wingdings" pitchFamily="2" charset="2"/>
                <a:buChar char="n"/>
              </a:pPr>
              <a:endParaRPr lang="en-US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2599962" y="3128869"/>
              <a:ext cx="50366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 err="1">
                  <a:latin typeface="+mj-lt"/>
                </a:rPr>
                <a:t>Dev</a:t>
              </a:r>
              <a:endParaRPr lang="en-US" sz="1400" dirty="0">
                <a:latin typeface="+mj-lt"/>
              </a:endParaRP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3336567" y="3130112"/>
              <a:ext cx="513933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+mj-lt"/>
                </a:rPr>
                <a:t>Ops</a:t>
              </a:r>
            </a:p>
          </p:txBody>
        </p:sp>
        <p:sp>
          <p:nvSpPr>
            <p:cNvPr id="17" name="Oval 16"/>
            <p:cNvSpPr/>
            <p:nvPr/>
          </p:nvSpPr>
          <p:spPr bwMode="auto">
            <a:xfrm>
              <a:off x="2377713" y="2062072"/>
              <a:ext cx="1043517" cy="1044000"/>
            </a:xfrm>
            <a:prstGeom prst="ellipse">
              <a:avLst/>
            </a:prstGeom>
            <a:solidFill>
              <a:schemeClr val="accent2">
                <a:lumMod val="50000"/>
                <a:alpha val="86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1438" tIns="36512" rIns="71438" bIns="36512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eaLnBrk="0" hangingPunct="0">
                <a:buClr>
                  <a:schemeClr val="tx1"/>
                </a:buClr>
                <a:buFont typeface="Wingdings" pitchFamily="2" charset="2"/>
                <a:buChar char="n"/>
              </a:pPr>
              <a:endParaRPr lang="en-US"/>
            </a:p>
          </p:txBody>
        </p:sp>
        <p:sp>
          <p:nvSpPr>
            <p:cNvPr id="18" name="Oval 17"/>
            <p:cNvSpPr/>
            <p:nvPr/>
          </p:nvSpPr>
          <p:spPr bwMode="auto">
            <a:xfrm>
              <a:off x="5510197" y="2056564"/>
              <a:ext cx="1043517" cy="1044000"/>
            </a:xfrm>
            <a:prstGeom prst="ellipse">
              <a:avLst/>
            </a:prstGeom>
            <a:solidFill>
              <a:srgbClr val="00BDBD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1438" tIns="36512" rIns="71438" bIns="36512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eaLnBrk="0" hangingPunct="0">
                <a:buClr>
                  <a:schemeClr val="tx1"/>
                </a:buClr>
                <a:buFont typeface="Wingdings" pitchFamily="2" charset="2"/>
                <a:buChar char="n"/>
              </a:pPr>
              <a:endParaRPr lang="en-US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5529260" y="3123361"/>
              <a:ext cx="50366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 err="1">
                  <a:latin typeface="+mj-lt"/>
                </a:rPr>
                <a:t>Dev</a:t>
              </a:r>
              <a:endParaRPr lang="en-US" sz="1400" dirty="0">
                <a:latin typeface="+mj-lt"/>
              </a:endParaRP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5834048" y="3124604"/>
              <a:ext cx="513933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+mj-lt"/>
                </a:rPr>
                <a:t>Ops</a:t>
              </a:r>
            </a:p>
          </p:txBody>
        </p:sp>
        <p:sp>
          <p:nvSpPr>
            <p:cNvPr id="21" name="Oval 20"/>
            <p:cNvSpPr/>
            <p:nvPr/>
          </p:nvSpPr>
          <p:spPr bwMode="auto">
            <a:xfrm>
              <a:off x="5307011" y="2056564"/>
              <a:ext cx="1043517" cy="1044000"/>
            </a:xfrm>
            <a:prstGeom prst="ellipse">
              <a:avLst/>
            </a:prstGeom>
            <a:solidFill>
              <a:schemeClr val="accent2">
                <a:lumMod val="50000"/>
                <a:alpha val="86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1438" tIns="36512" rIns="71438" bIns="36512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eaLnBrk="0" hangingPunct="0">
                <a:buClr>
                  <a:schemeClr val="tx1"/>
                </a:buClr>
                <a:buFont typeface="Wingdings" pitchFamily="2" charset="2"/>
                <a:buChar char="n"/>
              </a:pPr>
              <a:endParaRPr lang="en-US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7358638" y="3493154"/>
              <a:ext cx="244169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>
                  <a:latin typeface="+mj-lt"/>
                </a:rPr>
                <a:t>Infrastructure as a Service</a:t>
              </a:r>
            </a:p>
          </p:txBody>
        </p:sp>
        <p:sp>
          <p:nvSpPr>
            <p:cNvPr id="23" name="Oval 22"/>
            <p:cNvSpPr/>
            <p:nvPr/>
          </p:nvSpPr>
          <p:spPr bwMode="auto">
            <a:xfrm>
              <a:off x="3074979" y="4054056"/>
              <a:ext cx="1043517" cy="1044000"/>
            </a:xfrm>
            <a:prstGeom prst="ellipse">
              <a:avLst/>
            </a:prstGeom>
            <a:solidFill>
              <a:schemeClr val="accent2">
                <a:lumMod val="50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1438" tIns="36512" rIns="71438" bIns="36512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eaLnBrk="0" hangingPunct="0">
                <a:buClr>
                  <a:schemeClr val="tx1"/>
                </a:buClr>
                <a:buFont typeface="Wingdings" pitchFamily="2" charset="2"/>
                <a:buChar char="n"/>
              </a:pPr>
              <a:endParaRPr lang="en-US"/>
            </a:p>
          </p:txBody>
        </p:sp>
        <p:sp>
          <p:nvSpPr>
            <p:cNvPr id="24" name="Oval 23"/>
            <p:cNvSpPr/>
            <p:nvPr/>
          </p:nvSpPr>
          <p:spPr bwMode="auto">
            <a:xfrm>
              <a:off x="4118496" y="3952452"/>
              <a:ext cx="1152000" cy="1152000"/>
            </a:xfrm>
            <a:prstGeom prst="ellipse">
              <a:avLst/>
            </a:prstGeom>
            <a:solidFill>
              <a:srgbClr val="00BDBD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1438" tIns="36512" rIns="71438" bIns="36512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eaLnBrk="0" hangingPunct="0">
                <a:buClr>
                  <a:schemeClr val="tx1"/>
                </a:buClr>
                <a:buFont typeface="Wingdings" pitchFamily="2" charset="2"/>
                <a:buChar char="n"/>
              </a:pPr>
              <a:endParaRPr lang="en-US"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3297228" y="5120853"/>
              <a:ext cx="50366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 err="1">
                  <a:latin typeface="+mj-lt"/>
                </a:rPr>
                <a:t>Dev</a:t>
              </a:r>
              <a:endParaRPr lang="en-US" sz="1400" dirty="0">
                <a:latin typeface="+mj-lt"/>
              </a:endParaRP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4380945" y="5119364"/>
              <a:ext cx="513933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+mj-lt"/>
                </a:rPr>
                <a:t>Ops</a:t>
              </a:r>
            </a:p>
          </p:txBody>
        </p:sp>
        <p:sp>
          <p:nvSpPr>
            <p:cNvPr id="27" name="Oval 26"/>
            <p:cNvSpPr/>
            <p:nvPr/>
          </p:nvSpPr>
          <p:spPr bwMode="auto">
            <a:xfrm>
              <a:off x="3806660" y="4315031"/>
              <a:ext cx="919688" cy="536481"/>
            </a:xfrm>
            <a:prstGeom prst="ellipse">
              <a:avLst/>
            </a:prstGeom>
            <a:solidFill>
              <a:schemeClr val="accent5"/>
            </a:solidFill>
            <a:ln w="9525" cap="flat" cmpd="sng" algn="ctr">
              <a:solidFill>
                <a:schemeClr val="accent2">
                  <a:lumMod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1438" tIns="36512" rIns="71438" bIns="36512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eaLnBrk="0" hangingPunct="0">
                <a:buClr>
                  <a:schemeClr val="tx1"/>
                </a:buClr>
                <a:buFont typeface="Wingdings" pitchFamily="2" charset="2"/>
                <a:buChar char="n"/>
              </a:pPr>
              <a:endParaRPr lang="en-US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3683695" y="5119364"/>
              <a:ext cx="83320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 err="1">
                  <a:latin typeface="+mj-lt"/>
                </a:rPr>
                <a:t>DevOps</a:t>
              </a:r>
              <a:endParaRPr lang="en-US" sz="1400" dirty="0">
                <a:latin typeface="+mj-lt"/>
              </a:endParaRP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2981423" y="5535715"/>
              <a:ext cx="195438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 err="1">
                  <a:latin typeface="+mj-lt"/>
                </a:rPr>
                <a:t>DevOps</a:t>
              </a:r>
              <a:r>
                <a:rPr lang="en-US" sz="1400" b="1" dirty="0">
                  <a:latin typeface="+mj-lt"/>
                </a:rPr>
                <a:t> as a Service</a:t>
              </a:r>
            </a:p>
          </p:txBody>
        </p:sp>
        <p:sp>
          <p:nvSpPr>
            <p:cNvPr id="30" name="Oval 29"/>
            <p:cNvSpPr/>
            <p:nvPr/>
          </p:nvSpPr>
          <p:spPr bwMode="auto">
            <a:xfrm>
              <a:off x="7350175" y="4054056"/>
              <a:ext cx="1043517" cy="1044000"/>
            </a:xfrm>
            <a:prstGeom prst="ellipse">
              <a:avLst/>
            </a:prstGeom>
            <a:solidFill>
              <a:schemeClr val="accent2">
                <a:lumMod val="50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1438" tIns="36512" rIns="71438" bIns="36512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eaLnBrk="0" hangingPunct="0">
                <a:buClr>
                  <a:schemeClr val="tx1"/>
                </a:buClr>
                <a:buFont typeface="Wingdings" pitchFamily="2" charset="2"/>
                <a:buChar char="n"/>
              </a:pPr>
              <a:endParaRPr lang="en-US"/>
            </a:p>
          </p:txBody>
        </p:sp>
        <p:sp>
          <p:nvSpPr>
            <p:cNvPr id="31" name="Oval 30"/>
            <p:cNvSpPr/>
            <p:nvPr/>
          </p:nvSpPr>
          <p:spPr bwMode="auto">
            <a:xfrm>
              <a:off x="8899578" y="4054056"/>
              <a:ext cx="1043517" cy="1044000"/>
            </a:xfrm>
            <a:prstGeom prst="ellipse">
              <a:avLst/>
            </a:prstGeom>
            <a:solidFill>
              <a:srgbClr val="00BDBD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1438" tIns="36512" rIns="71438" bIns="36512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eaLnBrk="0" hangingPunct="0">
                <a:buClr>
                  <a:schemeClr val="tx1"/>
                </a:buClr>
                <a:buFont typeface="Wingdings" pitchFamily="2" charset="2"/>
                <a:buChar char="n"/>
              </a:pPr>
              <a:endParaRPr lang="en-US"/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7572424" y="5120853"/>
              <a:ext cx="50366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 err="1">
                  <a:latin typeface="+mj-lt"/>
                </a:rPr>
                <a:t>Dev</a:t>
              </a:r>
              <a:endParaRPr lang="en-US" sz="1400" dirty="0">
                <a:latin typeface="+mj-lt"/>
              </a:endParaRP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9181095" y="5119364"/>
              <a:ext cx="513933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+mj-lt"/>
                </a:rPr>
                <a:t>Ops</a:t>
              </a:r>
            </a:p>
          </p:txBody>
        </p:sp>
        <p:sp>
          <p:nvSpPr>
            <p:cNvPr id="34" name="Oval 33"/>
            <p:cNvSpPr/>
            <p:nvPr/>
          </p:nvSpPr>
          <p:spPr bwMode="auto">
            <a:xfrm>
              <a:off x="8385228" y="4341922"/>
              <a:ext cx="522817" cy="536481"/>
            </a:xfrm>
            <a:prstGeom prst="ellipse">
              <a:avLst/>
            </a:prstGeom>
            <a:solidFill>
              <a:schemeClr val="accent5"/>
            </a:solidFill>
            <a:ln w="9525" cap="flat" cmpd="sng" algn="ctr">
              <a:solidFill>
                <a:schemeClr val="accent2">
                  <a:lumMod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1438" tIns="36512" rIns="71438" bIns="36512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eaLnBrk="0" hangingPunct="0">
                <a:buClr>
                  <a:schemeClr val="tx1"/>
                </a:buClr>
                <a:buFont typeface="Wingdings" pitchFamily="2" charset="2"/>
                <a:buChar char="n"/>
              </a:pPr>
              <a:endParaRPr lang="en-US"/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8255236" y="5119364"/>
              <a:ext cx="83320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 err="1">
                  <a:latin typeface="+mj-lt"/>
                </a:rPr>
                <a:t>DevOps</a:t>
              </a:r>
              <a:endParaRPr lang="en-US" sz="1400" dirty="0">
                <a:latin typeface="+mj-lt"/>
              </a:endParaRP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7502574" y="5535715"/>
              <a:ext cx="233322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>
                  <a:latin typeface="+mj-lt"/>
                </a:rPr>
                <a:t>Temporary </a:t>
              </a:r>
              <a:r>
                <a:rPr lang="en-US" sz="1400" b="1" dirty="0" err="1">
                  <a:latin typeface="+mj-lt"/>
                </a:rPr>
                <a:t>DevOps</a:t>
              </a:r>
              <a:r>
                <a:rPr lang="en-US" sz="1400" b="1" dirty="0">
                  <a:latin typeface="+mj-lt"/>
                </a:rPr>
                <a:t> Team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5183894" y="3452286"/>
              <a:ext cx="157125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>
                  <a:latin typeface="+mj-lt"/>
                </a:rPr>
                <a:t>Fully Embedded</a:t>
              </a:r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2256382" y="3452286"/>
              <a:ext cx="202991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>
                  <a:latin typeface="+mj-lt"/>
                </a:rPr>
                <a:t>Smooth collaboration</a:t>
              </a:r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3159138" y="6024436"/>
              <a:ext cx="5299849" cy="5539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/>
                <a:t>From M. Skelton. What Team Structure is Right for </a:t>
              </a:r>
              <a:r>
                <a:rPr lang="en-US" sz="1000" dirty="0" err="1"/>
                <a:t>DevOps</a:t>
              </a:r>
              <a:r>
                <a:rPr lang="en-US" sz="1000" dirty="0"/>
                <a:t> to Flourish? 2013</a:t>
              </a:r>
              <a:br>
                <a:rPr lang="en-US" sz="1000" dirty="0"/>
              </a:br>
              <a:r>
                <a:rPr lang="en-US" sz="1000" dirty="0">
                  <a:hlinkClick r:id="rId2"/>
                </a:rPr>
                <a:t>http://blog.matthewskelton.net/2013/10/22/what-team-structure-is-right-for-devops-to-flourish/</a:t>
              </a:r>
              <a:endParaRPr lang="en-US" sz="1000" dirty="0"/>
            </a:p>
            <a:p>
              <a:r>
                <a:rPr lang="en-US" sz="1000" dirty="0">
                  <a:hlinkClick r:id="rId3"/>
                </a:rPr>
                <a:t>http://web.devopstopologies.com</a:t>
              </a:r>
              <a:r>
                <a:rPr lang="en-US" sz="1000" dirty="0"/>
                <a:t>  </a:t>
              </a:r>
            </a:p>
          </p:txBody>
        </p:sp>
      </p:grpSp>
      <p:sp>
        <p:nvSpPr>
          <p:cNvPr id="40" name="Rectangle 39"/>
          <p:cNvSpPr/>
          <p:nvPr/>
        </p:nvSpPr>
        <p:spPr>
          <a:xfrm>
            <a:off x="16396" y="1124744"/>
            <a:ext cx="312138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i="1" dirty="0"/>
              <a:t>What to do: adoption patterns</a:t>
            </a:r>
            <a:endParaRPr lang="en-CA" b="1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2F1036E7-FFCC-DA9D-DB18-95E1578D2F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Sw. Evolution</a:t>
            </a:r>
          </a:p>
        </p:txBody>
      </p:sp>
      <p:sp>
        <p:nvSpPr>
          <p:cNvPr id="6" name="Title 2">
            <a:extLst>
              <a:ext uri="{FF2B5EF4-FFF2-40B4-BE49-F238E27FC236}">
                <a16:creationId xmlns:a16="http://schemas.microsoft.com/office/drawing/2014/main" id="{732497DB-2F2F-5A84-3561-DA9C80490BEB}"/>
              </a:ext>
            </a:extLst>
          </p:cNvPr>
          <p:cNvSpPr txBox="1">
            <a:spLocks/>
          </p:cNvSpPr>
          <p:nvPr/>
        </p:nvSpPr>
        <p:spPr>
          <a:xfrm>
            <a:off x="0" y="-61116"/>
            <a:ext cx="9144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CA" sz="4000"/>
              <a:t>DevOps: Required Organisational Changes</a:t>
            </a:r>
            <a:endParaRPr lang="en-CA" sz="4000" dirty="0"/>
          </a:p>
        </p:txBody>
      </p:sp>
    </p:spTree>
    <p:extLst>
      <p:ext uri="{BB962C8B-B14F-4D97-AF65-F5344CB8AC3E}">
        <p14:creationId xmlns:p14="http://schemas.microsoft.com/office/powerpoint/2010/main" val="329526928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006853" y="2018627"/>
            <a:ext cx="7357142" cy="184281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ts val="1650"/>
              </a:lnSpc>
            </a:pPr>
            <a:r>
              <a:rPr lang="en-US" dirty="0"/>
              <a:t>Find and mitigate Organizational/Social Barriers to DevOps</a:t>
            </a:r>
          </a:p>
          <a:p>
            <a:pPr>
              <a:lnSpc>
                <a:spcPts val="1650"/>
              </a:lnSpc>
            </a:pPr>
            <a:endParaRPr lang="en-US" dirty="0"/>
          </a:p>
          <a:p>
            <a:pPr marL="685800" lvl="1" indent="-342900">
              <a:lnSpc>
                <a:spcPts val="1650"/>
              </a:lnSpc>
              <a:buFont typeface="+mj-lt"/>
              <a:buAutoNum type="arabicPeriod"/>
            </a:pPr>
            <a:r>
              <a:rPr lang="en-US" dirty="0"/>
              <a:t>Study Organizational and Social Structure</a:t>
            </a:r>
          </a:p>
          <a:p>
            <a:pPr marL="685800" lvl="1" indent="-342900">
              <a:lnSpc>
                <a:spcPts val="1650"/>
              </a:lnSpc>
              <a:buFont typeface="+mj-lt"/>
              <a:buAutoNum type="arabicPeriod"/>
            </a:pPr>
            <a:endParaRPr lang="en-US" dirty="0"/>
          </a:p>
          <a:p>
            <a:pPr marL="685800" lvl="1" indent="-342900">
              <a:lnSpc>
                <a:spcPts val="1650"/>
              </a:lnSpc>
              <a:buFont typeface="+mj-lt"/>
              <a:buAutoNum type="arabicPeriod"/>
            </a:pPr>
            <a:r>
              <a:rPr lang="en-US" dirty="0"/>
              <a:t>Isolate Barriers, e.g. silo-effects</a:t>
            </a:r>
          </a:p>
          <a:p>
            <a:pPr marL="685800" lvl="1" indent="-342900">
              <a:lnSpc>
                <a:spcPts val="1650"/>
              </a:lnSpc>
              <a:buFont typeface="+mj-lt"/>
              <a:buAutoNum type="arabicPeriod"/>
            </a:pPr>
            <a:endParaRPr lang="en-US" dirty="0"/>
          </a:p>
          <a:p>
            <a:pPr marL="685800" lvl="1" indent="-342900">
              <a:lnSpc>
                <a:spcPts val="1650"/>
              </a:lnSpc>
              <a:buFont typeface="+mj-lt"/>
              <a:buAutoNum type="arabicPeriod"/>
            </a:pPr>
            <a:r>
              <a:rPr lang="en-US" dirty="0"/>
              <a:t>Employ Mitigations, e.g. influence with new policies and org. culture!</a:t>
            </a:r>
          </a:p>
          <a:p>
            <a:pPr marL="342900" indent="-342900">
              <a:lnSpc>
                <a:spcPts val="1650"/>
              </a:lnSpc>
              <a:buAutoNum type="alphaLcPeriod"/>
            </a:pPr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4773064" y="3718886"/>
            <a:ext cx="4370936" cy="71558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350" i="1" dirty="0"/>
              <a:t>“You can’t buy </a:t>
            </a:r>
            <a:r>
              <a:rPr lang="en-US" sz="1350" i="1" dirty="0" err="1"/>
              <a:t>DevOps</a:t>
            </a:r>
            <a:r>
              <a:rPr lang="en-US" sz="1350" i="1" dirty="0"/>
              <a:t>, its a </a:t>
            </a:r>
            <a:r>
              <a:rPr lang="en-US" sz="1350" b="1" i="1" dirty="0">
                <a:solidFill>
                  <a:srgbClr val="C00000"/>
                </a:solidFill>
              </a:rPr>
              <a:t>community transition </a:t>
            </a:r>
            <a:r>
              <a:rPr lang="en-US" sz="1350" i="1" dirty="0"/>
              <a:t>that cannot heed planning or off-the-shelf solutions” </a:t>
            </a:r>
            <a:r>
              <a:rPr lang="en-US" sz="1350" dirty="0"/>
              <a:t>Todd Waits – </a:t>
            </a:r>
            <a:r>
              <a:rPr lang="en-US" sz="1350" dirty="0" err="1"/>
              <a:t>DevOps</a:t>
            </a:r>
            <a:r>
              <a:rPr lang="en-US" sz="1350" dirty="0"/>
              <a:t> Guru</a:t>
            </a:r>
          </a:p>
        </p:txBody>
      </p:sp>
      <p:pic>
        <p:nvPicPr>
          <p:cNvPr id="5" name="Picture 4" descr="icse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1698" y="3910253"/>
            <a:ext cx="2465723" cy="1570243"/>
          </a:xfrm>
          <a:prstGeom prst="rect">
            <a:avLst/>
          </a:prstGeom>
        </p:spPr>
      </p:pic>
      <p:sp>
        <p:nvSpPr>
          <p:cNvPr id="6" name="Isosceles Triangle 5"/>
          <p:cNvSpPr/>
          <p:nvPr/>
        </p:nvSpPr>
        <p:spPr bwMode="auto">
          <a:xfrm>
            <a:off x="1525712" y="3552626"/>
            <a:ext cx="303056" cy="568396"/>
          </a:xfrm>
          <a:prstGeom prst="triangle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53579" tIns="27384" rIns="53579" bIns="27384" numCol="1" rtlCol="0" anchor="t" anchorCtr="0" compatLnSpc="1">
            <a:prstTxWarp prst="textNoShape">
              <a:avLst/>
            </a:prstTxWarp>
            <a:spAutoFit/>
          </a:bodyPr>
          <a:lstStyle/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n"/>
            </a:pPr>
            <a:endParaRPr lang="en-US" sz="1500">
              <a:latin typeface="Book Antiqua" pitchFamily="18" charset="0"/>
            </a:endParaRPr>
          </a:p>
        </p:txBody>
      </p:sp>
      <p:sp>
        <p:nvSpPr>
          <p:cNvPr id="11" name="Rectangle 10"/>
          <p:cNvSpPr/>
          <p:nvPr/>
        </p:nvSpPr>
        <p:spPr bwMode="auto">
          <a:xfrm>
            <a:off x="249121" y="3523318"/>
            <a:ext cx="2568299" cy="286135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53579" tIns="27384" rIns="53579" bIns="27384" numCol="1" rtlCol="0" anchor="t" anchorCtr="0" compatLnSpc="1">
            <a:prstTxWarp prst="textNoShape">
              <a:avLst/>
            </a:prstTxWarp>
            <a:spAutoFit/>
          </a:bodyPr>
          <a:lstStyle/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n"/>
            </a:pPr>
            <a:endParaRPr lang="en-US" sz="1500">
              <a:latin typeface="Book Antiqua" pitchFamily="18" charset="0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3294426" y="4619133"/>
            <a:ext cx="4572000" cy="92333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1350" i="1" dirty="0"/>
              <a:t>“</a:t>
            </a:r>
            <a:r>
              <a:rPr lang="en-US" sz="1350" i="1" dirty="0" err="1"/>
              <a:t>Organisational</a:t>
            </a:r>
            <a:r>
              <a:rPr lang="en-US" sz="1350" i="1" dirty="0"/>
              <a:t> structure can turn out to be </a:t>
            </a:r>
            <a:r>
              <a:rPr lang="en-US" sz="1350" b="1" i="1" dirty="0">
                <a:solidFill>
                  <a:srgbClr val="C00000"/>
                </a:solidFill>
              </a:rPr>
              <a:t>conflicting</a:t>
            </a:r>
            <a:r>
              <a:rPr lang="en-US" sz="1350" i="1" dirty="0"/>
              <a:t> towards DevOps goals - if everyone is divided into very </a:t>
            </a:r>
            <a:r>
              <a:rPr lang="en-US" sz="1350" b="1" i="1" dirty="0">
                <a:solidFill>
                  <a:srgbClr val="C00000"/>
                </a:solidFill>
              </a:rPr>
              <a:t>different groups</a:t>
            </a:r>
            <a:r>
              <a:rPr lang="en-US" sz="1350" i="1" dirty="0"/>
              <a:t>, DevOps is </a:t>
            </a:r>
            <a:r>
              <a:rPr lang="en-US" sz="1350" b="1" i="1" dirty="0">
                <a:solidFill>
                  <a:srgbClr val="C00000"/>
                </a:solidFill>
              </a:rPr>
              <a:t>impossible</a:t>
            </a:r>
            <a:r>
              <a:rPr lang="en-US" sz="1350" i="1" dirty="0"/>
              <a:t>” </a:t>
            </a:r>
            <a:r>
              <a:rPr lang="en-US" sz="1350" dirty="0"/>
              <a:t>Aaron Volkmann – DevOps Guru</a:t>
            </a:r>
            <a:endParaRPr lang="en-US" sz="1350" i="1" dirty="0"/>
          </a:p>
        </p:txBody>
      </p:sp>
      <p:sp>
        <p:nvSpPr>
          <p:cNvPr id="18" name="Title 1"/>
          <p:cNvSpPr txBox="1">
            <a:spLocks/>
          </p:cNvSpPr>
          <p:nvPr/>
        </p:nvSpPr>
        <p:spPr bwMode="auto">
          <a:xfrm>
            <a:off x="500913" y="234528"/>
            <a:ext cx="8142174" cy="424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53570" tIns="27379" rIns="53570" bIns="27379" numCol="1" anchor="t" anchorCtr="0" compatLnSpc="1">
            <a:prstTxWarp prst="textNoShape">
              <a:avLst/>
            </a:prstTxWarp>
            <a:spAutoFit/>
          </a:bodyPr>
          <a:lstStyle>
            <a:lvl1pPr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2pPr>
            <a:lvl3pPr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3pPr>
            <a:lvl4pPr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4pPr>
            <a:lvl5pPr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5pPr>
            <a:lvl6pPr marL="457200"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6pPr>
            <a:lvl7pPr marL="914400"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7pPr>
            <a:lvl8pPr marL="1371600"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8pPr>
            <a:lvl9pPr marL="1828800"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9pPr>
          </a:lstStyle>
          <a:p>
            <a:pPr algn="just"/>
            <a:r>
              <a:rPr lang="en-US" sz="2400" dirty="0"/>
              <a:t>Need 3: Clearing The Way Towards DevOps</a:t>
            </a:r>
            <a:endParaRPr lang="en-US" sz="2400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9997985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7" name="AutoShape 2"/>
          <p:cNvSpPr>
            <a:spLocks noChangeAspect="1" noChangeArrowheads="1"/>
          </p:cNvSpPr>
          <p:nvPr/>
        </p:nvSpPr>
        <p:spPr bwMode="auto">
          <a:xfrm>
            <a:off x="857251" y="858442"/>
            <a:ext cx="3572" cy="238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100000"/>
              </a:spcBef>
              <a:buClr>
                <a:schemeClr val="tx1"/>
              </a:buClr>
              <a:buFont typeface="Wingdings" panose="05000000000000000000" pitchFamily="2" charset="2"/>
              <a:buChar char="n"/>
              <a:defRPr sz="1600">
                <a:solidFill>
                  <a:schemeClr val="tx1"/>
                </a:solidFill>
                <a:latin typeface="Book Antiqua" panose="02040602050305030304" pitchFamily="18" charset="0"/>
                <a:ea typeface="MS PGothic" panose="020B0600070205080204" pitchFamily="34" charset="-128"/>
              </a:defRPr>
            </a:lvl1pPr>
            <a:lvl2pPr marL="742950" indent="-285750" eaLnBrk="0" hangingPunct="0">
              <a:spcBef>
                <a:spcPct val="30000"/>
              </a:spcBef>
              <a:buFont typeface="Book Antiqua" panose="02040602050305030304" pitchFamily="18" charset="0"/>
              <a:buChar char="•"/>
              <a:defRPr sz="1600">
                <a:solidFill>
                  <a:schemeClr val="tx1"/>
                </a:solidFill>
                <a:latin typeface="Book Antiqua" panose="02040602050305030304" pitchFamily="18" charset="0"/>
                <a:ea typeface="MS PGothic" panose="020B0600070205080204" pitchFamily="34" charset="-128"/>
              </a:defRPr>
            </a:lvl2pPr>
            <a:lvl3pPr marL="1143000" indent="-228600" eaLnBrk="0" hangingPunct="0">
              <a:spcBef>
                <a:spcPct val="30000"/>
              </a:spcBef>
              <a:buFont typeface="Book Antiqua" panose="02040602050305030304" pitchFamily="18" charset="0"/>
              <a:buChar char="–"/>
              <a:defRPr sz="1600">
                <a:solidFill>
                  <a:schemeClr val="tx1"/>
                </a:solidFill>
                <a:latin typeface="Book Antiqua" panose="02040602050305030304" pitchFamily="18" charset="0"/>
                <a:ea typeface="MS PGothic" panose="020B0600070205080204" pitchFamily="34" charset="-128"/>
              </a:defRPr>
            </a:lvl3pPr>
            <a:lvl4pPr marL="1600200" indent="-228600" eaLnBrk="0" hangingPunct="0">
              <a:spcBef>
                <a:spcPct val="30000"/>
              </a:spcBef>
              <a:buFont typeface="Book Antiqua" panose="02040602050305030304" pitchFamily="18" charset="0"/>
              <a:buChar char="–"/>
              <a:defRPr sz="1600">
                <a:solidFill>
                  <a:schemeClr val="tx1"/>
                </a:solidFill>
                <a:latin typeface="Book Antiqua" panose="02040602050305030304" pitchFamily="18" charset="0"/>
                <a:ea typeface="MS PGothic" panose="020B0600070205080204" pitchFamily="34" charset="-128"/>
              </a:defRPr>
            </a:lvl4pPr>
            <a:lvl5pPr marL="2057400" indent="-228600" eaLnBrk="0" hangingPunct="0">
              <a:spcBef>
                <a:spcPct val="30000"/>
              </a:spcBef>
              <a:buFont typeface="Book Antiqua" panose="02040602050305030304" pitchFamily="18" charset="0"/>
              <a:buChar char="–"/>
              <a:defRPr sz="1600">
                <a:solidFill>
                  <a:schemeClr val="tx1"/>
                </a:solidFill>
                <a:latin typeface="Book Antiqua" panose="02040602050305030304" pitchFamily="18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buFont typeface="Book Antiqua" panose="02040602050305030304" pitchFamily="18" charset="0"/>
              <a:buChar char="–"/>
              <a:defRPr sz="1600">
                <a:solidFill>
                  <a:schemeClr val="tx1"/>
                </a:solidFill>
                <a:latin typeface="Book Antiqua" panose="02040602050305030304" pitchFamily="18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buFont typeface="Book Antiqua" panose="02040602050305030304" pitchFamily="18" charset="0"/>
              <a:buChar char="–"/>
              <a:defRPr sz="1600">
                <a:solidFill>
                  <a:schemeClr val="tx1"/>
                </a:solidFill>
                <a:latin typeface="Book Antiqua" panose="02040602050305030304" pitchFamily="18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buFont typeface="Book Antiqua" panose="02040602050305030304" pitchFamily="18" charset="0"/>
              <a:buChar char="–"/>
              <a:defRPr sz="1600">
                <a:solidFill>
                  <a:schemeClr val="tx1"/>
                </a:solidFill>
                <a:latin typeface="Book Antiqua" panose="02040602050305030304" pitchFamily="18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buFont typeface="Book Antiqua" panose="02040602050305030304" pitchFamily="18" charset="0"/>
              <a:buChar char="–"/>
              <a:defRPr sz="1600">
                <a:solidFill>
                  <a:schemeClr val="tx1"/>
                </a:solidFill>
                <a:latin typeface="Book Antiqua" panose="02040602050305030304" pitchFamily="18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endParaRPr lang="en-US" altLang="it-IT" sz="1500">
              <a:solidFill>
                <a:srgbClr val="000000"/>
              </a:solidFill>
            </a:endParaRPr>
          </a:p>
        </p:txBody>
      </p:sp>
      <p:graphicFrame>
        <p:nvGraphicFramePr>
          <p:cNvPr id="2" name="Grafico 1"/>
          <p:cNvGraphicFramePr/>
          <p:nvPr/>
        </p:nvGraphicFramePr>
        <p:xfrm>
          <a:off x="1074296" y="2051800"/>
          <a:ext cx="3497705" cy="340447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0" name="Tabella 9"/>
          <p:cNvGraphicFramePr>
            <a:graphicFrameLocks noGrp="1"/>
          </p:cNvGraphicFramePr>
          <p:nvPr/>
        </p:nvGraphicFramePr>
        <p:xfrm>
          <a:off x="4714710" y="2605800"/>
          <a:ext cx="3257549" cy="27500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41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34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61725">
                <a:tc>
                  <a:txBody>
                    <a:bodyPr/>
                    <a:lstStyle/>
                    <a:p>
                      <a:pPr algn="ctr" fontAlgn="b"/>
                      <a:r>
                        <a:rPr lang="it-IT" sz="800" b="1" i="0" u="none" strike="noStrike" dirty="0">
                          <a:solidFill>
                            <a:srgbClr val="FFFFFF"/>
                          </a:solidFill>
                          <a:effectLst/>
                          <a:latin typeface="+mn-lt"/>
                        </a:rPr>
                        <a:t>Benefit/</a:t>
                      </a:r>
                      <a:r>
                        <a:rPr lang="it-IT" sz="800" b="1" i="0" u="none" strike="noStrike" dirty="0" err="1">
                          <a:solidFill>
                            <a:srgbClr val="FFFFFF"/>
                          </a:solidFill>
                          <a:effectLst/>
                          <a:latin typeface="+mn-lt"/>
                        </a:rPr>
                        <a:t>Metric</a:t>
                      </a:r>
                      <a:endParaRPr lang="it-IT" sz="800" b="1" i="0" u="none" strike="noStrike" dirty="0">
                        <a:solidFill>
                          <a:srgbClr val="FFFFFF"/>
                        </a:solidFill>
                        <a:effectLst/>
                        <a:latin typeface="+mn-lt"/>
                      </a:endParaRPr>
                    </a:p>
                  </a:txBody>
                  <a:tcPr marL="7144" marR="7144" marT="7144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it-IT" sz="800" b="1" i="0" u="none" strike="noStrike" dirty="0" err="1">
                          <a:solidFill>
                            <a:srgbClr val="FFFFFF"/>
                          </a:solidFill>
                          <a:effectLst/>
                          <a:latin typeface="+mn-lt"/>
                        </a:rPr>
                        <a:t>Improvement</a:t>
                      </a:r>
                      <a:endParaRPr lang="it-IT" sz="800" b="1" i="0" u="none" strike="noStrike" dirty="0">
                        <a:solidFill>
                          <a:srgbClr val="FFFFFF"/>
                        </a:solidFill>
                        <a:effectLst/>
                        <a:latin typeface="+mn-lt"/>
                      </a:endParaRPr>
                    </a:p>
                  </a:txBody>
                  <a:tcPr marL="7144" marR="7144" marT="7144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4488"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New software/services that would otherwise not be possible </a:t>
                      </a:r>
                    </a:p>
                  </a:txBody>
                  <a:tcPr marL="7144" marR="7144" marT="7144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it-IT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21%</a:t>
                      </a:r>
                    </a:p>
                  </a:txBody>
                  <a:tcPr marL="7144" marR="7144" marT="7144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4488"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A reduction in time spent fixing and maintaining applications</a:t>
                      </a:r>
                    </a:p>
                  </a:txBody>
                  <a:tcPr marL="7144" marR="7144" marT="7144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it-IT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21%</a:t>
                      </a:r>
                    </a:p>
                  </a:txBody>
                  <a:tcPr marL="7144" marR="7144" marT="7144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9894">
                <a:tc>
                  <a:txBody>
                    <a:bodyPr/>
                    <a:lstStyle/>
                    <a:p>
                      <a:pPr algn="l" fontAlgn="b"/>
                      <a:r>
                        <a:rPr lang="it-IT" sz="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Increased collaboration between departments </a:t>
                      </a:r>
                    </a:p>
                  </a:txBody>
                  <a:tcPr marL="7144" marR="7144" marT="7144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it-IT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21%</a:t>
                      </a:r>
                    </a:p>
                  </a:txBody>
                  <a:tcPr marL="7144" marR="7144" marT="7144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9894">
                <a:tc>
                  <a:txBody>
                    <a:bodyPr/>
                    <a:lstStyle/>
                    <a:p>
                      <a:pPr algn="l" fontAlgn="b"/>
                      <a:r>
                        <a:rPr lang="it-IT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An </a:t>
                      </a:r>
                      <a:r>
                        <a:rPr lang="it-IT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increase</a:t>
                      </a:r>
                      <a:r>
                        <a:rPr lang="it-IT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 in </a:t>
                      </a:r>
                      <a:r>
                        <a:rPr lang="it-IT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revenue</a:t>
                      </a:r>
                      <a:endParaRPr lang="it-IT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44" marR="7144" marT="7144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it-IT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19%</a:t>
                      </a:r>
                    </a:p>
                  </a:txBody>
                  <a:tcPr marL="7144" marR="7144" marT="7144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4488"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Improved quality and performance of  deployed applications</a:t>
                      </a:r>
                    </a:p>
                  </a:txBody>
                  <a:tcPr marL="7144" marR="7144" marT="7144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it-IT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19%</a:t>
                      </a:r>
                    </a:p>
                  </a:txBody>
                  <a:tcPr marL="7144" marR="7144" marT="7144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4488"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A reduction in spend on development, testing or operations</a:t>
                      </a:r>
                    </a:p>
                  </a:txBody>
                  <a:tcPr marL="7144" marR="7144" marT="7144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it-IT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19%</a:t>
                      </a:r>
                    </a:p>
                  </a:txBody>
                  <a:tcPr marL="7144" marR="7144" marT="7144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9894"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Software/Services made available across more platforms</a:t>
                      </a:r>
                    </a:p>
                  </a:txBody>
                  <a:tcPr marL="7144" marR="7144" marT="7144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it-IT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18%</a:t>
                      </a:r>
                    </a:p>
                  </a:txBody>
                  <a:tcPr marL="7144" marR="7144" marT="7144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9894">
                <a:tc>
                  <a:txBody>
                    <a:bodyPr/>
                    <a:lstStyle/>
                    <a:p>
                      <a:pPr algn="l" fontAlgn="b"/>
                      <a:r>
                        <a:rPr lang="it-IT" sz="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Reduced time-to-market for software/services</a:t>
                      </a:r>
                    </a:p>
                  </a:txBody>
                  <a:tcPr marL="7144" marR="7144" marT="7144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it-IT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18%</a:t>
                      </a:r>
                    </a:p>
                  </a:txBody>
                  <a:tcPr marL="7144" marR="7144" marT="7144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9894"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Increased numbers of customers using software/services</a:t>
                      </a:r>
                    </a:p>
                  </a:txBody>
                  <a:tcPr marL="7144" marR="7144" marT="7144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it-IT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18%</a:t>
                      </a:r>
                    </a:p>
                  </a:txBody>
                  <a:tcPr marL="7144" marR="7144" marT="7144" marB="0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7174"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Fewer employees working on developing and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deployng</a:t>
                      </a: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 software</a:t>
                      </a:r>
                    </a:p>
                  </a:txBody>
                  <a:tcPr marL="7144" marR="7144" marT="7144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it-IT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18%</a:t>
                      </a:r>
                    </a:p>
                  </a:txBody>
                  <a:tcPr marL="7144" marR="7144" marT="7144" marB="0" anchor="ctr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09894"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Increased frequency of deployments of software/services</a:t>
                      </a:r>
                    </a:p>
                  </a:txBody>
                  <a:tcPr marL="7144" marR="7144" marT="7144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it-IT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15%</a:t>
                      </a:r>
                    </a:p>
                  </a:txBody>
                  <a:tcPr marL="7144" marR="7144" marT="7144" marB="0" anchor="ctr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5" name="CasellaDiTesto 4"/>
          <p:cNvSpPr txBox="1"/>
          <p:nvPr/>
        </p:nvSpPr>
        <p:spPr>
          <a:xfrm>
            <a:off x="5092369" y="2051800"/>
            <a:ext cx="2349416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350" b="1" dirty="0" err="1"/>
              <a:t>DevOps</a:t>
            </a:r>
            <a:r>
              <a:rPr lang="it-IT" sz="1350" b="1" dirty="0"/>
              <a:t> Benefits</a:t>
            </a:r>
          </a:p>
        </p:txBody>
      </p:sp>
      <p:cxnSp>
        <p:nvCxnSpPr>
          <p:cNvPr id="4" name="Connettore 1 3"/>
          <p:cNvCxnSpPr/>
          <p:nvPr/>
        </p:nvCxnSpPr>
        <p:spPr bwMode="auto">
          <a:xfrm flipH="1">
            <a:off x="4572000" y="2431730"/>
            <a:ext cx="1" cy="2943587"/>
          </a:xfrm>
          <a:prstGeom prst="line">
            <a:avLst/>
          </a:prstGeom>
          <a:noFill/>
          <a:ln w="9525" cap="flat" cmpd="sng" algn="ctr">
            <a:solidFill>
              <a:schemeClr val="accent2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8" name="CasellaDiTesto 7"/>
          <p:cNvSpPr txBox="1"/>
          <p:nvPr/>
        </p:nvSpPr>
        <p:spPr>
          <a:xfrm>
            <a:off x="6476174" y="961160"/>
            <a:ext cx="231051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050" i="1" dirty="0" err="1"/>
              <a:t>When</a:t>
            </a:r>
            <a:r>
              <a:rPr lang="it-IT" sz="1050" i="1" dirty="0"/>
              <a:t> to focus on </a:t>
            </a:r>
            <a:r>
              <a:rPr lang="it-IT" sz="1050" i="1" dirty="0" err="1"/>
              <a:t>DevOps</a:t>
            </a:r>
            <a:r>
              <a:rPr lang="it-IT" sz="1050" i="1" dirty="0"/>
              <a:t> and </a:t>
            </a:r>
            <a:r>
              <a:rPr lang="it-IT" sz="1050" i="1" dirty="0" err="1"/>
              <a:t>why</a:t>
            </a:r>
            <a:r>
              <a:rPr lang="it-IT" sz="1050" i="1" dirty="0"/>
              <a:t>?</a:t>
            </a:r>
          </a:p>
        </p:txBody>
      </p:sp>
      <p:sp>
        <p:nvSpPr>
          <p:cNvPr id="9" name="Title 1"/>
          <p:cNvSpPr txBox="1">
            <a:spLocks/>
          </p:cNvSpPr>
          <p:nvPr/>
        </p:nvSpPr>
        <p:spPr bwMode="auto">
          <a:xfrm>
            <a:off x="536430" y="1436447"/>
            <a:ext cx="8142174" cy="424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53570" tIns="27379" rIns="53570" bIns="27379" numCol="1" anchor="t" anchorCtr="0" compatLnSpc="1">
            <a:prstTxWarp prst="textNoShape">
              <a:avLst/>
            </a:prstTxWarp>
            <a:spAutoFit/>
          </a:bodyPr>
          <a:lstStyle>
            <a:lvl1pPr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2pPr>
            <a:lvl3pPr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3pPr>
            <a:lvl4pPr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4pPr>
            <a:lvl5pPr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5pPr>
            <a:lvl6pPr marL="457200"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6pPr>
            <a:lvl7pPr marL="914400"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7pPr>
            <a:lvl8pPr marL="1371600"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8pPr>
            <a:lvl9pPr marL="1828800"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9pPr>
          </a:lstStyle>
          <a:p>
            <a:pPr algn="just"/>
            <a:r>
              <a:rPr lang="en-US" sz="2400" dirty="0">
                <a:solidFill>
                  <a:srgbClr val="000000"/>
                </a:solidFill>
              </a:rPr>
              <a:t>Numbers Overview (1/2)</a:t>
            </a:r>
          </a:p>
        </p:txBody>
      </p:sp>
      <p:sp>
        <p:nvSpPr>
          <p:cNvPr id="3" name="CasellaDiTesto 2"/>
          <p:cNvSpPr txBox="1"/>
          <p:nvPr/>
        </p:nvSpPr>
        <p:spPr>
          <a:xfrm>
            <a:off x="415555" y="5466669"/>
            <a:ext cx="5117160" cy="2192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it-IT" sz="825" i="1" dirty="0">
                <a:solidFill>
                  <a:srgbClr val="000000"/>
                </a:solidFill>
              </a:rPr>
              <a:t>T</a:t>
            </a:r>
            <a:r>
              <a:rPr lang="en-US" sz="825" i="1" dirty="0" err="1">
                <a:solidFill>
                  <a:srgbClr val="000000"/>
                </a:solidFill>
              </a:rPr>
              <a:t>aken</a:t>
            </a:r>
            <a:r>
              <a:rPr lang="en-US" sz="825" i="1" dirty="0">
                <a:solidFill>
                  <a:srgbClr val="000000"/>
                </a:solidFill>
              </a:rPr>
              <a:t> by CA technologies report: DevOps: The Worst-Kept Secret to Winning in the </a:t>
            </a:r>
            <a:r>
              <a:rPr lang="it-IT" sz="825" i="1" dirty="0">
                <a:solidFill>
                  <a:srgbClr val="000000"/>
                </a:solidFill>
              </a:rPr>
              <a:t>Application Economy - 2013</a:t>
            </a:r>
          </a:p>
        </p:txBody>
      </p:sp>
      <p:sp>
        <p:nvSpPr>
          <p:cNvPr id="6" name="CasellaDiTesto 5"/>
          <p:cNvSpPr txBox="1"/>
          <p:nvPr/>
        </p:nvSpPr>
        <p:spPr>
          <a:xfrm>
            <a:off x="415555" y="5167078"/>
            <a:ext cx="17468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200" dirty="0"/>
              <a:t>1.256 </a:t>
            </a:r>
            <a:r>
              <a:rPr lang="it-IT" sz="1200" dirty="0" err="1"/>
              <a:t>respondents</a:t>
            </a:r>
            <a:endParaRPr lang="it-IT" sz="1200" dirty="0"/>
          </a:p>
        </p:txBody>
      </p:sp>
      <p:sp>
        <p:nvSpPr>
          <p:cNvPr id="7" name="Rettangolo 6"/>
          <p:cNvSpPr/>
          <p:nvPr/>
        </p:nvSpPr>
        <p:spPr bwMode="auto">
          <a:xfrm>
            <a:off x="1074296" y="2637453"/>
            <a:ext cx="3341841" cy="351000"/>
          </a:xfrm>
          <a:prstGeom prst="rect">
            <a:avLst/>
          </a:prstGeom>
          <a:noFill/>
          <a:ln w="9525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53579" tIns="27384" rIns="53579" bIns="27384" numCol="1" rtlCol="0" anchor="t" anchorCtr="0" compatLnSpc="1">
            <a:prstTxWarp prst="textNoShape">
              <a:avLst/>
            </a:prstTxWarp>
            <a:noAutofit/>
          </a:bodyPr>
          <a:lstStyle/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>
                <a:schemeClr val="tx1"/>
              </a:buClr>
            </a:pPr>
            <a:endParaRPr lang="it-IT" sz="1500" dirty="0">
              <a:latin typeface="Book Antiqua" pitchFamily="18" charset="0"/>
            </a:endParaRPr>
          </a:p>
        </p:txBody>
      </p:sp>
      <p:sp>
        <p:nvSpPr>
          <p:cNvPr id="12" name="Rettangolo 11"/>
          <p:cNvSpPr/>
          <p:nvPr/>
        </p:nvSpPr>
        <p:spPr bwMode="auto">
          <a:xfrm>
            <a:off x="1074296" y="3067388"/>
            <a:ext cx="3341841" cy="351000"/>
          </a:xfrm>
          <a:prstGeom prst="rect">
            <a:avLst/>
          </a:prstGeom>
          <a:noFill/>
          <a:ln w="9525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53579" tIns="27384" rIns="53579" bIns="27384" numCol="1" rtlCol="0" anchor="t" anchorCtr="0" compatLnSpc="1">
            <a:prstTxWarp prst="textNoShape">
              <a:avLst/>
            </a:prstTxWarp>
            <a:noAutofit/>
          </a:bodyPr>
          <a:lstStyle/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n"/>
            </a:pPr>
            <a:endParaRPr lang="it-IT" sz="1500">
              <a:latin typeface="Book Antiqua" pitchFamily="18" charset="0"/>
            </a:endParaRPr>
          </a:p>
        </p:txBody>
      </p:sp>
      <p:sp>
        <p:nvSpPr>
          <p:cNvPr id="13" name="Rettangolo 12"/>
          <p:cNvSpPr/>
          <p:nvPr/>
        </p:nvSpPr>
        <p:spPr bwMode="auto">
          <a:xfrm>
            <a:off x="4630418" y="3556495"/>
            <a:ext cx="3341841" cy="216000"/>
          </a:xfrm>
          <a:prstGeom prst="rect">
            <a:avLst/>
          </a:prstGeom>
          <a:noFill/>
          <a:ln w="9525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53579" tIns="27384" rIns="53579" bIns="27384" numCol="1" rtlCol="0" anchor="t" anchorCtr="0" compatLnSpc="1">
            <a:prstTxWarp prst="textNoShape">
              <a:avLst/>
            </a:prstTxWarp>
            <a:noAutofit/>
          </a:bodyPr>
          <a:lstStyle/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n"/>
            </a:pPr>
            <a:endParaRPr lang="it-IT" sz="1500">
              <a:latin typeface="Book Antiqua" pitchFamily="18" charset="0"/>
            </a:endParaRPr>
          </a:p>
        </p:txBody>
      </p:sp>
      <p:sp>
        <p:nvSpPr>
          <p:cNvPr id="14" name="Rettangolo 13"/>
          <p:cNvSpPr/>
          <p:nvPr/>
        </p:nvSpPr>
        <p:spPr bwMode="auto">
          <a:xfrm>
            <a:off x="4630418" y="3794756"/>
            <a:ext cx="3341841" cy="216000"/>
          </a:xfrm>
          <a:prstGeom prst="rect">
            <a:avLst/>
          </a:prstGeom>
          <a:noFill/>
          <a:ln w="9525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53579" tIns="27384" rIns="53579" bIns="27384" numCol="1" rtlCol="0" anchor="t" anchorCtr="0" compatLnSpc="1">
            <a:prstTxWarp prst="textNoShape">
              <a:avLst/>
            </a:prstTxWarp>
            <a:noAutofit/>
          </a:bodyPr>
          <a:lstStyle/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n"/>
            </a:pPr>
            <a:endParaRPr lang="it-IT" sz="1500">
              <a:latin typeface="Book Antiqua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3633698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2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2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2" grpId="0" animBg="1"/>
      <p:bldP spid="13" grpId="0" animBg="1"/>
      <p:bldP spid="14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7" name="AutoShape 2"/>
          <p:cNvSpPr>
            <a:spLocks noChangeAspect="1" noChangeArrowheads="1"/>
          </p:cNvSpPr>
          <p:nvPr/>
        </p:nvSpPr>
        <p:spPr bwMode="auto">
          <a:xfrm>
            <a:off x="857251" y="858442"/>
            <a:ext cx="3572" cy="238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100000"/>
              </a:spcBef>
              <a:buClr>
                <a:schemeClr val="tx1"/>
              </a:buClr>
              <a:buFont typeface="Wingdings" panose="05000000000000000000" pitchFamily="2" charset="2"/>
              <a:buChar char="n"/>
              <a:defRPr sz="1600">
                <a:solidFill>
                  <a:schemeClr val="tx1"/>
                </a:solidFill>
                <a:latin typeface="Book Antiqua" panose="02040602050305030304" pitchFamily="18" charset="0"/>
                <a:ea typeface="MS PGothic" panose="020B0600070205080204" pitchFamily="34" charset="-128"/>
              </a:defRPr>
            </a:lvl1pPr>
            <a:lvl2pPr marL="742950" indent="-285750" eaLnBrk="0" hangingPunct="0">
              <a:spcBef>
                <a:spcPct val="30000"/>
              </a:spcBef>
              <a:buFont typeface="Book Antiqua" panose="02040602050305030304" pitchFamily="18" charset="0"/>
              <a:buChar char="•"/>
              <a:defRPr sz="1600">
                <a:solidFill>
                  <a:schemeClr val="tx1"/>
                </a:solidFill>
                <a:latin typeface="Book Antiqua" panose="02040602050305030304" pitchFamily="18" charset="0"/>
                <a:ea typeface="MS PGothic" panose="020B0600070205080204" pitchFamily="34" charset="-128"/>
              </a:defRPr>
            </a:lvl2pPr>
            <a:lvl3pPr marL="1143000" indent="-228600" eaLnBrk="0" hangingPunct="0">
              <a:spcBef>
                <a:spcPct val="30000"/>
              </a:spcBef>
              <a:buFont typeface="Book Antiqua" panose="02040602050305030304" pitchFamily="18" charset="0"/>
              <a:buChar char="–"/>
              <a:defRPr sz="1600">
                <a:solidFill>
                  <a:schemeClr val="tx1"/>
                </a:solidFill>
                <a:latin typeface="Book Antiqua" panose="02040602050305030304" pitchFamily="18" charset="0"/>
                <a:ea typeface="MS PGothic" panose="020B0600070205080204" pitchFamily="34" charset="-128"/>
              </a:defRPr>
            </a:lvl3pPr>
            <a:lvl4pPr marL="1600200" indent="-228600" eaLnBrk="0" hangingPunct="0">
              <a:spcBef>
                <a:spcPct val="30000"/>
              </a:spcBef>
              <a:buFont typeface="Book Antiqua" panose="02040602050305030304" pitchFamily="18" charset="0"/>
              <a:buChar char="–"/>
              <a:defRPr sz="1600">
                <a:solidFill>
                  <a:schemeClr val="tx1"/>
                </a:solidFill>
                <a:latin typeface="Book Antiqua" panose="02040602050305030304" pitchFamily="18" charset="0"/>
                <a:ea typeface="MS PGothic" panose="020B0600070205080204" pitchFamily="34" charset="-128"/>
              </a:defRPr>
            </a:lvl4pPr>
            <a:lvl5pPr marL="2057400" indent="-228600" eaLnBrk="0" hangingPunct="0">
              <a:spcBef>
                <a:spcPct val="30000"/>
              </a:spcBef>
              <a:buFont typeface="Book Antiqua" panose="02040602050305030304" pitchFamily="18" charset="0"/>
              <a:buChar char="–"/>
              <a:defRPr sz="1600">
                <a:solidFill>
                  <a:schemeClr val="tx1"/>
                </a:solidFill>
                <a:latin typeface="Book Antiqua" panose="02040602050305030304" pitchFamily="18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buFont typeface="Book Antiqua" panose="02040602050305030304" pitchFamily="18" charset="0"/>
              <a:buChar char="–"/>
              <a:defRPr sz="1600">
                <a:solidFill>
                  <a:schemeClr val="tx1"/>
                </a:solidFill>
                <a:latin typeface="Book Antiqua" panose="02040602050305030304" pitchFamily="18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buFont typeface="Book Antiqua" panose="02040602050305030304" pitchFamily="18" charset="0"/>
              <a:buChar char="–"/>
              <a:defRPr sz="1600">
                <a:solidFill>
                  <a:schemeClr val="tx1"/>
                </a:solidFill>
                <a:latin typeface="Book Antiqua" panose="02040602050305030304" pitchFamily="18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buFont typeface="Book Antiqua" panose="02040602050305030304" pitchFamily="18" charset="0"/>
              <a:buChar char="–"/>
              <a:defRPr sz="1600">
                <a:solidFill>
                  <a:schemeClr val="tx1"/>
                </a:solidFill>
                <a:latin typeface="Book Antiqua" panose="02040602050305030304" pitchFamily="18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buFont typeface="Book Antiqua" panose="02040602050305030304" pitchFamily="18" charset="0"/>
              <a:buChar char="–"/>
              <a:defRPr sz="1600">
                <a:solidFill>
                  <a:schemeClr val="tx1"/>
                </a:solidFill>
                <a:latin typeface="Book Antiqua" panose="02040602050305030304" pitchFamily="18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endParaRPr lang="en-US" altLang="it-IT" sz="1500">
              <a:solidFill>
                <a:srgbClr val="000000"/>
              </a:solidFill>
            </a:endParaRPr>
          </a:p>
        </p:txBody>
      </p:sp>
      <p:graphicFrame>
        <p:nvGraphicFramePr>
          <p:cNvPr id="34" name="Grafico 33"/>
          <p:cNvGraphicFramePr/>
          <p:nvPr/>
        </p:nvGraphicFramePr>
        <p:xfrm>
          <a:off x="1151442" y="1965347"/>
          <a:ext cx="3332235" cy="354440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2" name="Grafico 11"/>
          <p:cNvGraphicFramePr/>
          <p:nvPr>
            <p:extLst>
              <p:ext uri="{D42A27DB-BD31-4B8C-83A1-F6EECF244321}">
                <p14:modId xmlns:p14="http://schemas.microsoft.com/office/powerpoint/2010/main" val="2041280961"/>
              </p:ext>
            </p:extLst>
          </p:nvPr>
        </p:nvGraphicFramePr>
        <p:xfrm>
          <a:off x="4722669" y="1965348"/>
          <a:ext cx="3233078" cy="354440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5" name="Title 1"/>
          <p:cNvSpPr txBox="1">
            <a:spLocks/>
          </p:cNvSpPr>
          <p:nvPr/>
        </p:nvSpPr>
        <p:spPr bwMode="auto">
          <a:xfrm>
            <a:off x="1357313" y="1403749"/>
            <a:ext cx="6276975" cy="424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53570" tIns="27379" rIns="53570" bIns="27379" numCol="1" anchor="t" anchorCtr="0" compatLnSpc="1">
            <a:prstTxWarp prst="textNoShape">
              <a:avLst/>
            </a:prstTxWarp>
            <a:spAutoFit/>
          </a:bodyPr>
          <a:lstStyle>
            <a:lvl1pPr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2pPr>
            <a:lvl3pPr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3pPr>
            <a:lvl4pPr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4pPr>
            <a:lvl5pPr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5pPr>
            <a:lvl6pPr marL="457200"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6pPr>
            <a:lvl7pPr marL="914400"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7pPr>
            <a:lvl8pPr marL="1371600"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8pPr>
            <a:lvl9pPr marL="1828800"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9pPr>
          </a:lstStyle>
          <a:p>
            <a:endParaRPr lang="en-US" sz="2400" dirty="0">
              <a:solidFill>
                <a:srgbClr val="000000"/>
              </a:solidFill>
            </a:endParaRPr>
          </a:p>
        </p:txBody>
      </p:sp>
      <p:cxnSp>
        <p:nvCxnSpPr>
          <p:cNvPr id="8" name="Connettore 1 7"/>
          <p:cNvCxnSpPr/>
          <p:nvPr/>
        </p:nvCxnSpPr>
        <p:spPr bwMode="auto">
          <a:xfrm>
            <a:off x="4572000" y="2348593"/>
            <a:ext cx="1" cy="3026724"/>
          </a:xfrm>
          <a:prstGeom prst="line">
            <a:avLst/>
          </a:prstGeom>
          <a:noFill/>
          <a:ln w="9525" cap="flat" cmpd="sng" algn="ctr">
            <a:solidFill>
              <a:schemeClr val="accent2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7" name="CasellaDiTesto 6"/>
          <p:cNvSpPr txBox="1"/>
          <p:nvPr/>
        </p:nvSpPr>
        <p:spPr>
          <a:xfrm>
            <a:off x="6476174" y="961160"/>
            <a:ext cx="231051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050" i="1" dirty="0" err="1"/>
              <a:t>When</a:t>
            </a:r>
            <a:r>
              <a:rPr lang="it-IT" sz="1050" i="1" dirty="0"/>
              <a:t> to focus on </a:t>
            </a:r>
            <a:r>
              <a:rPr lang="it-IT" sz="1050" i="1" dirty="0" err="1"/>
              <a:t>DevOps</a:t>
            </a:r>
            <a:r>
              <a:rPr lang="it-IT" sz="1050" i="1" dirty="0"/>
              <a:t> and </a:t>
            </a:r>
            <a:r>
              <a:rPr lang="it-IT" sz="1050" i="1" dirty="0" err="1"/>
              <a:t>why</a:t>
            </a:r>
            <a:r>
              <a:rPr lang="it-IT" sz="1050" i="1" dirty="0"/>
              <a:t>?</a:t>
            </a:r>
          </a:p>
        </p:txBody>
      </p:sp>
      <p:sp>
        <p:nvSpPr>
          <p:cNvPr id="9" name="Title 1"/>
          <p:cNvSpPr txBox="1">
            <a:spLocks/>
          </p:cNvSpPr>
          <p:nvPr/>
        </p:nvSpPr>
        <p:spPr bwMode="auto">
          <a:xfrm>
            <a:off x="536430" y="1436447"/>
            <a:ext cx="8142174" cy="424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53570" tIns="27379" rIns="53570" bIns="27379" numCol="1" anchor="t" anchorCtr="0" compatLnSpc="1">
            <a:prstTxWarp prst="textNoShape">
              <a:avLst/>
            </a:prstTxWarp>
            <a:spAutoFit/>
          </a:bodyPr>
          <a:lstStyle>
            <a:lvl1pPr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2pPr>
            <a:lvl3pPr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3pPr>
            <a:lvl4pPr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4pPr>
            <a:lvl5pPr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5pPr>
            <a:lvl6pPr marL="457200"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6pPr>
            <a:lvl7pPr marL="914400"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7pPr>
            <a:lvl8pPr marL="1371600"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8pPr>
            <a:lvl9pPr marL="1828800" algn="l" defTabSz="709613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9pPr>
          </a:lstStyle>
          <a:p>
            <a:pPr algn="just"/>
            <a:r>
              <a:rPr lang="en-US" sz="2400" dirty="0">
                <a:solidFill>
                  <a:srgbClr val="000000"/>
                </a:solidFill>
              </a:rPr>
              <a:t>Numbers Overview (2/2)</a:t>
            </a:r>
          </a:p>
        </p:txBody>
      </p:sp>
      <p:sp>
        <p:nvSpPr>
          <p:cNvPr id="11" name="CasellaDiTesto 10"/>
          <p:cNvSpPr txBox="1"/>
          <p:nvPr/>
        </p:nvSpPr>
        <p:spPr>
          <a:xfrm>
            <a:off x="415555" y="5466669"/>
            <a:ext cx="5117160" cy="2192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it-IT" sz="825" i="1" dirty="0">
                <a:solidFill>
                  <a:srgbClr val="000000"/>
                </a:solidFill>
              </a:rPr>
              <a:t>T</a:t>
            </a:r>
            <a:r>
              <a:rPr lang="en-US" sz="825" i="1" dirty="0" err="1">
                <a:solidFill>
                  <a:srgbClr val="000000"/>
                </a:solidFill>
              </a:rPr>
              <a:t>aken</a:t>
            </a:r>
            <a:r>
              <a:rPr lang="en-US" sz="825" i="1" dirty="0">
                <a:solidFill>
                  <a:srgbClr val="000000"/>
                </a:solidFill>
              </a:rPr>
              <a:t> by CA technologies report: DevOps: The Worst-Kept Secret to Winning in the </a:t>
            </a:r>
            <a:r>
              <a:rPr lang="it-IT" sz="825" i="1" dirty="0">
                <a:solidFill>
                  <a:srgbClr val="000000"/>
                </a:solidFill>
              </a:rPr>
              <a:t>Application Economy - 2013</a:t>
            </a:r>
          </a:p>
        </p:txBody>
      </p:sp>
      <p:sp>
        <p:nvSpPr>
          <p:cNvPr id="10" name="CasellaDiTesto 9"/>
          <p:cNvSpPr txBox="1"/>
          <p:nvPr/>
        </p:nvSpPr>
        <p:spPr>
          <a:xfrm>
            <a:off x="415555" y="5167078"/>
            <a:ext cx="17468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200" dirty="0"/>
              <a:t>1.256 </a:t>
            </a:r>
            <a:r>
              <a:rPr lang="it-IT" sz="1200" dirty="0" err="1"/>
              <a:t>respondents</a:t>
            </a:r>
            <a:endParaRPr lang="it-IT" sz="1200" dirty="0"/>
          </a:p>
        </p:txBody>
      </p:sp>
      <p:sp>
        <p:nvSpPr>
          <p:cNvPr id="13" name="Rettangolo 12"/>
          <p:cNvSpPr/>
          <p:nvPr/>
        </p:nvSpPr>
        <p:spPr bwMode="auto">
          <a:xfrm>
            <a:off x="1074296" y="2457905"/>
            <a:ext cx="3341841" cy="351000"/>
          </a:xfrm>
          <a:prstGeom prst="rect">
            <a:avLst/>
          </a:prstGeom>
          <a:noFill/>
          <a:ln w="9525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53579" tIns="27384" rIns="53579" bIns="27384" numCol="1" rtlCol="0" anchor="t" anchorCtr="0" compatLnSpc="1">
            <a:prstTxWarp prst="textNoShape">
              <a:avLst/>
            </a:prstTxWarp>
            <a:noAutofit/>
          </a:bodyPr>
          <a:lstStyle/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>
                <a:schemeClr val="tx1"/>
              </a:buClr>
            </a:pPr>
            <a:endParaRPr lang="it-IT" sz="1500" dirty="0">
              <a:latin typeface="Book Antiqua" pitchFamily="18" charset="0"/>
            </a:endParaRPr>
          </a:p>
        </p:txBody>
      </p:sp>
      <p:sp>
        <p:nvSpPr>
          <p:cNvPr id="14" name="Rettangolo 13"/>
          <p:cNvSpPr/>
          <p:nvPr/>
        </p:nvSpPr>
        <p:spPr bwMode="auto">
          <a:xfrm>
            <a:off x="1074296" y="2877449"/>
            <a:ext cx="3341841" cy="351000"/>
          </a:xfrm>
          <a:prstGeom prst="rect">
            <a:avLst/>
          </a:prstGeom>
          <a:noFill/>
          <a:ln w="9525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53579" tIns="27384" rIns="53579" bIns="27384" numCol="1" rtlCol="0" anchor="t" anchorCtr="0" compatLnSpc="1">
            <a:prstTxWarp prst="textNoShape">
              <a:avLst/>
            </a:prstTxWarp>
            <a:noAutofit/>
          </a:bodyPr>
          <a:lstStyle/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n"/>
            </a:pPr>
            <a:endParaRPr lang="it-IT" sz="1500">
              <a:latin typeface="Book Antiqua" pitchFamily="18" charset="0"/>
            </a:endParaRPr>
          </a:p>
        </p:txBody>
      </p:sp>
      <p:sp>
        <p:nvSpPr>
          <p:cNvPr id="16" name="Rettangolo 15"/>
          <p:cNvSpPr/>
          <p:nvPr/>
        </p:nvSpPr>
        <p:spPr bwMode="auto">
          <a:xfrm>
            <a:off x="4630418" y="3556495"/>
            <a:ext cx="3341841" cy="216000"/>
          </a:xfrm>
          <a:prstGeom prst="rect">
            <a:avLst/>
          </a:prstGeom>
          <a:noFill/>
          <a:ln w="9525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53579" tIns="27384" rIns="53579" bIns="27384" numCol="1" rtlCol="0" anchor="t" anchorCtr="0" compatLnSpc="1">
            <a:prstTxWarp prst="textNoShape">
              <a:avLst/>
            </a:prstTxWarp>
            <a:noAutofit/>
          </a:bodyPr>
          <a:lstStyle/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n"/>
            </a:pPr>
            <a:endParaRPr lang="it-IT" sz="1500">
              <a:latin typeface="Book Antiqua" pitchFamily="18" charset="0"/>
            </a:endParaRPr>
          </a:p>
        </p:txBody>
      </p:sp>
      <p:sp>
        <p:nvSpPr>
          <p:cNvPr id="17" name="Rettangolo 16"/>
          <p:cNvSpPr/>
          <p:nvPr/>
        </p:nvSpPr>
        <p:spPr bwMode="auto">
          <a:xfrm>
            <a:off x="4630418" y="4044143"/>
            <a:ext cx="3341841" cy="216000"/>
          </a:xfrm>
          <a:prstGeom prst="rect">
            <a:avLst/>
          </a:prstGeom>
          <a:noFill/>
          <a:ln w="9525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53579" tIns="27384" rIns="53579" bIns="27384" numCol="1" rtlCol="0" anchor="t" anchorCtr="0" compatLnSpc="1">
            <a:prstTxWarp prst="textNoShape">
              <a:avLst/>
            </a:prstTxWarp>
            <a:noAutofit/>
          </a:bodyPr>
          <a:lstStyle/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n"/>
            </a:pPr>
            <a:endParaRPr lang="it-IT" sz="1500">
              <a:latin typeface="Book Antiqua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69719349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2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2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6" grpId="0" animBg="1"/>
      <p:bldP spid="17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7353" y="2204864"/>
            <a:ext cx="4623079" cy="2616993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1971" y="-130801"/>
            <a:ext cx="7717971" cy="1325563"/>
          </a:xfrm>
        </p:spPr>
        <p:txBody>
          <a:bodyPr/>
          <a:lstStyle/>
          <a:p>
            <a:r>
              <a:rPr lang="en-US" dirty="0"/>
              <a:t>DevOps Maintenance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88146" y="4869160"/>
            <a:ext cx="336823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/>
              <a:t>Image by </a:t>
            </a:r>
            <a:r>
              <a:rPr lang="en-US" sz="1200" dirty="0" err="1"/>
              <a:t>Kharnagy</a:t>
            </a:r>
            <a:r>
              <a:rPr lang="en-US" sz="1200" dirty="0"/>
              <a:t> (Own work) [CC BY-SA 4.0 </a:t>
            </a:r>
            <a:br>
              <a:rPr lang="en-US" sz="1200" dirty="0"/>
            </a:br>
            <a:r>
              <a:rPr lang="en-US" sz="1200" dirty="0"/>
              <a:t>(http://</a:t>
            </a:r>
            <a:r>
              <a:rPr lang="en-US" sz="1200" dirty="0" err="1"/>
              <a:t>creativecommons.org</a:t>
            </a:r>
            <a:r>
              <a:rPr lang="en-US" sz="1200" dirty="0"/>
              <a:t>/licenses/by-</a:t>
            </a:r>
            <a:r>
              <a:rPr lang="en-US" sz="1200" dirty="0" err="1"/>
              <a:t>sa</a:t>
            </a:r>
            <a:r>
              <a:rPr lang="en-US" sz="1200" dirty="0"/>
              <a:t>/4.0)], </a:t>
            </a:r>
            <a:br>
              <a:rPr lang="en-US" sz="1200" dirty="0"/>
            </a:br>
            <a:r>
              <a:rPr lang="en-US" sz="1200" dirty="0"/>
              <a:t>via Wikimedia Commons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504" y="1124744"/>
            <a:ext cx="28803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- Continuous Architecting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504" y="1556792"/>
            <a:ext cx="324036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600" b="1" dirty="0"/>
              <a:t>Def. </a:t>
            </a:r>
            <a:r>
              <a:rPr lang="en-CA" sz="1600" i="1" dirty="0"/>
              <a:t>“architect for test, build and deploy, take quality attributes into account, take advantage of feedback from runtime” [1]</a:t>
            </a:r>
          </a:p>
        </p:txBody>
      </p:sp>
      <p:cxnSp>
        <p:nvCxnSpPr>
          <p:cNvPr id="11" name="Straight Connector 10"/>
          <p:cNvCxnSpPr/>
          <p:nvPr/>
        </p:nvCxnSpPr>
        <p:spPr>
          <a:xfrm flipV="1">
            <a:off x="179004" y="1484784"/>
            <a:ext cx="2520280" cy="9292"/>
          </a:xfrm>
          <a:prstGeom prst="line">
            <a:avLst/>
          </a:prstGeom>
          <a:ln>
            <a:headEnd type="oval"/>
            <a:tailEnd type="oval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/>
          <p:cNvCxnSpPr/>
          <p:nvPr/>
        </p:nvCxnSpPr>
        <p:spPr>
          <a:xfrm>
            <a:off x="2699284" y="1494076"/>
            <a:ext cx="1649172" cy="858580"/>
          </a:xfrm>
          <a:prstGeom prst="line">
            <a:avLst/>
          </a:prstGeom>
          <a:ln>
            <a:headEnd type="oval"/>
            <a:tailEnd type="oval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44016" y="2943076"/>
            <a:ext cx="2520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- Continuous Integration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216024" y="3303116"/>
            <a:ext cx="2376264" cy="0"/>
          </a:xfrm>
          <a:prstGeom prst="line">
            <a:avLst/>
          </a:prstGeom>
          <a:ln>
            <a:headEnd type="oval"/>
            <a:tailEnd type="oval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7504" y="3303116"/>
            <a:ext cx="36004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600" b="1" dirty="0"/>
              <a:t>Def. </a:t>
            </a:r>
            <a:r>
              <a:rPr lang="en-CA" sz="1600" i="1" dirty="0"/>
              <a:t>“m</a:t>
            </a:r>
            <a:r>
              <a:rPr lang="en-CA" sz="1600" dirty="0"/>
              <a:t>erge all developer </a:t>
            </a:r>
            <a:br>
              <a:rPr lang="en-CA" sz="1600" dirty="0"/>
            </a:br>
            <a:r>
              <a:rPr lang="en-CA" sz="1600" dirty="0"/>
              <a:t>work-copies to a shared mainline frequently</a:t>
            </a:r>
            <a:r>
              <a:rPr lang="en-CA" sz="1600" i="1" dirty="0"/>
              <a:t>” [4]</a:t>
            </a:r>
          </a:p>
          <a:p>
            <a:r>
              <a:rPr lang="en-CA" sz="1600" b="1" i="1" dirty="0"/>
              <a:t>Examples. Apache Jenkins</a:t>
            </a:r>
            <a:r>
              <a:rPr lang="en-CA" sz="1600" i="1" dirty="0"/>
              <a:t>, </a:t>
            </a:r>
            <a:r>
              <a:rPr lang="en-CA" sz="1600" b="1" i="1" dirty="0"/>
              <a:t>Hudson,</a:t>
            </a:r>
            <a:r>
              <a:rPr lang="en-CA" sz="1600" i="1" dirty="0"/>
              <a:t> etc.</a:t>
            </a:r>
            <a:endParaRPr lang="en-CA" sz="1600" b="1" i="1" dirty="0"/>
          </a:p>
        </p:txBody>
      </p:sp>
      <p:sp>
        <p:nvSpPr>
          <p:cNvPr id="22" name="TextBox 21"/>
          <p:cNvSpPr txBox="1"/>
          <p:nvPr/>
        </p:nvSpPr>
        <p:spPr>
          <a:xfrm>
            <a:off x="254511" y="4653136"/>
            <a:ext cx="2520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- Continuous Testing</a:t>
            </a:r>
          </a:p>
        </p:txBody>
      </p:sp>
      <p:cxnSp>
        <p:nvCxnSpPr>
          <p:cNvPr id="23" name="Straight Connector 22"/>
          <p:cNvCxnSpPr/>
          <p:nvPr/>
        </p:nvCxnSpPr>
        <p:spPr>
          <a:xfrm>
            <a:off x="326519" y="5013176"/>
            <a:ext cx="1872208" cy="0"/>
          </a:xfrm>
          <a:prstGeom prst="line">
            <a:avLst/>
          </a:prstGeom>
          <a:ln>
            <a:headEnd type="oval"/>
            <a:tailEnd type="oval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82503" y="5013176"/>
            <a:ext cx="36004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600" b="1" dirty="0"/>
              <a:t>Def. </a:t>
            </a:r>
            <a:r>
              <a:rPr lang="en-CA" sz="1600" i="1" dirty="0"/>
              <a:t>“run tests as part the build pipeline so that every check-in and deployment is validated” [3]</a:t>
            </a:r>
          </a:p>
          <a:p>
            <a:r>
              <a:rPr lang="en-CA" sz="1600" b="1" i="1" dirty="0"/>
              <a:t>Examples. </a:t>
            </a:r>
            <a:r>
              <a:rPr lang="en-CA" sz="1600" b="1" i="1" dirty="0" err="1"/>
              <a:t>Selenium+GitHub+LI-API</a:t>
            </a:r>
            <a:r>
              <a:rPr lang="en-CA" sz="1600" i="1" dirty="0"/>
              <a:t>, etc.</a:t>
            </a:r>
            <a:endParaRPr lang="en-CA" sz="1600" b="1" i="1" dirty="0"/>
          </a:p>
        </p:txBody>
      </p:sp>
      <p:cxnSp>
        <p:nvCxnSpPr>
          <p:cNvPr id="26" name="Straight Connector 25"/>
          <p:cNvCxnSpPr/>
          <p:nvPr/>
        </p:nvCxnSpPr>
        <p:spPr>
          <a:xfrm flipV="1">
            <a:off x="2198727" y="4305845"/>
            <a:ext cx="1852147" cy="716623"/>
          </a:xfrm>
          <a:prstGeom prst="line">
            <a:avLst/>
          </a:prstGeom>
          <a:ln>
            <a:headEnd type="oval"/>
            <a:tailEnd type="oval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 flipV="1">
            <a:off x="2592288" y="3279332"/>
            <a:ext cx="1213038" cy="31633"/>
          </a:xfrm>
          <a:prstGeom prst="line">
            <a:avLst/>
          </a:prstGeom>
          <a:ln>
            <a:headEnd type="oval"/>
            <a:tailEnd type="oval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>
            <a:off x="2592288" y="3303115"/>
            <a:ext cx="2917172" cy="791807"/>
          </a:xfrm>
          <a:prstGeom prst="line">
            <a:avLst/>
          </a:prstGeom>
          <a:ln>
            <a:headEnd type="oval"/>
            <a:tailEnd type="oval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/>
          <p:cNvCxnSpPr/>
          <p:nvPr/>
        </p:nvCxnSpPr>
        <p:spPr>
          <a:xfrm flipV="1">
            <a:off x="2592288" y="2387072"/>
            <a:ext cx="3843813" cy="916042"/>
          </a:xfrm>
          <a:prstGeom prst="line">
            <a:avLst/>
          </a:prstGeom>
          <a:ln>
            <a:headEnd type="oval"/>
            <a:tailEnd type="oval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/>
          <p:nvPr/>
        </p:nvCxnSpPr>
        <p:spPr>
          <a:xfrm>
            <a:off x="2699284" y="1484784"/>
            <a:ext cx="2810176" cy="669073"/>
          </a:xfrm>
          <a:prstGeom prst="line">
            <a:avLst/>
          </a:prstGeom>
          <a:ln>
            <a:headEnd type="oval"/>
            <a:tailEnd type="oval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908A9E-0A6B-4792-A7F9-72B397E69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Sw. Evolution</a:t>
            </a:r>
          </a:p>
        </p:txBody>
      </p:sp>
    </p:spTree>
    <p:extLst>
      <p:ext uri="{BB962C8B-B14F-4D97-AF65-F5344CB8AC3E}">
        <p14:creationId xmlns:p14="http://schemas.microsoft.com/office/powerpoint/2010/main" val="10361257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  <p:bldP spid="15" grpId="0"/>
      <p:bldP spid="19" grpId="0"/>
      <p:bldP spid="22" grpId="0"/>
      <p:bldP spid="24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37" y="1268760"/>
            <a:ext cx="4623079" cy="2616993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716016" y="2132856"/>
            <a:ext cx="4392488" cy="4320480"/>
          </a:xfrm>
          <a:prstGeom prst="rect">
            <a:avLst/>
          </a:prstGeom>
          <a:noFill/>
          <a:ln w="38100" cmpd="sng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graphicFrame>
        <p:nvGraphicFramePr>
          <p:cNvPr id="9" name="Diagram 8"/>
          <p:cNvGraphicFramePr/>
          <p:nvPr/>
        </p:nvGraphicFramePr>
        <p:xfrm>
          <a:off x="3876600" y="2245320"/>
          <a:ext cx="6096000" cy="4064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10" name="Straight Connector 9"/>
          <p:cNvCxnSpPr/>
          <p:nvPr/>
        </p:nvCxnSpPr>
        <p:spPr>
          <a:xfrm>
            <a:off x="2555776" y="3573016"/>
            <a:ext cx="2160240" cy="288032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/>
          <p:cNvCxnSpPr/>
          <p:nvPr/>
        </p:nvCxnSpPr>
        <p:spPr>
          <a:xfrm>
            <a:off x="3707904" y="1340768"/>
            <a:ext cx="5400600" cy="79208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/>
          <p:cNvGrpSpPr/>
          <p:nvPr/>
        </p:nvGrpSpPr>
        <p:grpSpPr>
          <a:xfrm rot="17339786">
            <a:off x="6717654" y="5530588"/>
            <a:ext cx="413891" cy="327092"/>
            <a:chOff x="1637328" y="2419049"/>
            <a:chExt cx="413891" cy="327092"/>
          </a:xfrm>
        </p:grpSpPr>
        <p:sp>
          <p:nvSpPr>
            <p:cNvPr id="16" name="Right Arrow 15"/>
            <p:cNvSpPr/>
            <p:nvPr/>
          </p:nvSpPr>
          <p:spPr>
            <a:xfrm rot="15120000">
              <a:off x="1680728" y="2375649"/>
              <a:ext cx="327092" cy="413891"/>
            </a:xfrm>
            <a:prstGeom prst="rightArrow">
              <a:avLst>
                <a:gd name="adj1" fmla="val 60000"/>
                <a:gd name="adj2" fmla="val 50000"/>
              </a:avLst>
            </a:prstGeom>
          </p:spPr>
          <p:style>
            <a:ln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lnRef>
            <a:fillRef idx="3">
              <a:schemeClr val="accent1">
                <a:tint val="60000"/>
                <a:hueOff val="0"/>
                <a:satOff val="0"/>
                <a:lumOff val="0"/>
                <a:alphaOff val="0"/>
              </a:schemeClr>
            </a:fillRef>
            <a:effectRef idx="2">
              <a:schemeClr val="accent1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IT"/>
            </a:p>
          </p:txBody>
        </p:sp>
        <p:sp>
          <p:nvSpPr>
            <p:cNvPr id="17" name="Right Arrow 4"/>
            <p:cNvSpPr/>
            <p:nvPr/>
          </p:nvSpPr>
          <p:spPr>
            <a:xfrm rot="25920000">
              <a:off x="1744954" y="2505090"/>
              <a:ext cx="228964" cy="24833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lvl="0"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en-CA" sz="800" kern="1200"/>
            </a:p>
          </p:txBody>
        </p:sp>
      </p:grp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B37716F-1F79-20D9-68FE-2467947688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Sw. Evolution</a:t>
            </a:r>
          </a:p>
        </p:txBody>
      </p:sp>
    </p:spTree>
    <p:extLst>
      <p:ext uri="{BB962C8B-B14F-4D97-AF65-F5344CB8AC3E}">
        <p14:creationId xmlns:p14="http://schemas.microsoft.com/office/powerpoint/2010/main" val="8186991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Graphic spid="9" grpId="0">
        <p:bldAsOne/>
      </p:bldGraphic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E9EC2C-9B53-3DBB-16E4-6F41808F8B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43FD9E-135D-4F26-91E3-4040579B6A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F72A86-9E46-C634-B6A6-246D7CF981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Sw. Evolution</a:t>
            </a:r>
          </a:p>
        </p:txBody>
      </p:sp>
      <p:pic>
        <p:nvPicPr>
          <p:cNvPr id="2050" name="Picture 2" descr="Building an E2E DevOps Pipeline. What is DevOps ? | by Ahmed KHALED | Medium">
            <a:extLst>
              <a:ext uri="{FF2B5EF4-FFF2-40B4-BE49-F238E27FC236}">
                <a16:creationId xmlns:a16="http://schemas.microsoft.com/office/drawing/2014/main" id="{FD73A270-2216-A79F-8E17-DD3321E2EAE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476" r="6875"/>
          <a:stretch/>
        </p:blipFill>
        <p:spPr bwMode="auto">
          <a:xfrm>
            <a:off x="0" y="819490"/>
            <a:ext cx="9114006" cy="52190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1032924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89B1F6E-1CED-468D-BF7A-F9DF3E8911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5705" y="1103645"/>
            <a:ext cx="1946698" cy="158410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277E0C3B-B37C-4BAE-9DCC-009D904546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4672" y="3339523"/>
            <a:ext cx="2437087" cy="242519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D800D3C-C391-472E-BEDC-FC867F9044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31" y="2342805"/>
            <a:ext cx="3649687" cy="127204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23E3F73-D68B-4FB1-A137-9F82CBC5394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48616" y="2178213"/>
            <a:ext cx="4134132" cy="1551414"/>
          </a:xfrm>
          <a:prstGeom prst="rect">
            <a:avLst/>
          </a:prstGeom>
        </p:spPr>
      </p:pic>
      <p:sp>
        <p:nvSpPr>
          <p:cNvPr id="49" name="Flowchart: Connector 48">
            <a:extLst>
              <a:ext uri="{FF2B5EF4-FFF2-40B4-BE49-F238E27FC236}">
                <a16:creationId xmlns:a16="http://schemas.microsoft.com/office/drawing/2014/main" id="{22850F50-2F76-43C8-AC7B-A305ED1275C9}"/>
              </a:ext>
            </a:extLst>
          </p:cNvPr>
          <p:cNvSpPr/>
          <p:nvPr/>
        </p:nvSpPr>
        <p:spPr bwMode="auto">
          <a:xfrm>
            <a:off x="3624156" y="2315894"/>
            <a:ext cx="1207008" cy="1207008"/>
          </a:xfrm>
          <a:prstGeom prst="flowChartConnector">
            <a:avLst/>
          </a:prstGeom>
          <a:solidFill>
            <a:srgbClr val="0070C0"/>
          </a:solidFill>
          <a:ln w="9525" cap="flat" cmpd="sng" algn="ctr">
            <a:noFill/>
            <a:prstDash val="solid"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134464" tIns="107571" rIns="134464" bIns="107571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685577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/>
            </a:pPr>
            <a:endParaRPr lang="en-CA" sz="1765" kern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Segoe UI Semilight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8" name="Flowchart: Connector 37">
            <a:extLst>
              <a:ext uri="{FF2B5EF4-FFF2-40B4-BE49-F238E27FC236}">
                <a16:creationId xmlns:a16="http://schemas.microsoft.com/office/drawing/2014/main" id="{BFBB85D0-ED47-4CED-A1EA-FC25C34A091D}"/>
              </a:ext>
            </a:extLst>
          </p:cNvPr>
          <p:cNvSpPr/>
          <p:nvPr/>
        </p:nvSpPr>
        <p:spPr bwMode="auto">
          <a:xfrm>
            <a:off x="3624156" y="2325659"/>
            <a:ext cx="1207008" cy="1207008"/>
          </a:xfrm>
          <a:prstGeom prst="flowChartConnector">
            <a:avLst/>
          </a:prstGeom>
          <a:solidFill>
            <a:srgbClr val="0070C0"/>
          </a:solidFill>
          <a:ln w="9525" cap="flat" cmpd="sng" algn="ctr">
            <a:noFill/>
            <a:prstDash val="solid"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134464" tIns="107571" rIns="134464" bIns="107571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685577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/>
            </a:pPr>
            <a:endParaRPr lang="en-CA" sz="1765" kern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Segoe UI Semilight"/>
              <a:ea typeface="Segoe UI" pitchFamily="34" charset="0"/>
              <a:cs typeface="Segoe UI" pitchFamily="34" charset="0"/>
            </a:endParaRPr>
          </a:p>
        </p:txBody>
      </p:sp>
      <p:pic>
        <p:nvPicPr>
          <p:cNvPr id="12" name="Picture 11" descr="A close up of a sign&#10;&#10;Description generated with high confidence">
            <a:extLst>
              <a:ext uri="{FF2B5EF4-FFF2-40B4-BE49-F238E27FC236}">
                <a16:creationId xmlns:a16="http://schemas.microsoft.com/office/drawing/2014/main" id="{F7CCE2E9-5D6D-4158-A91D-02D595F8D95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19088" y="2429858"/>
            <a:ext cx="721532" cy="36076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93D93B1-8FB0-4642-88A4-8E1F6AD81AE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18990" y="3134438"/>
            <a:ext cx="820267" cy="19225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9C1DBEF-13DF-4CB9-B8AA-CDCD69D4E42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8890" y="2291103"/>
            <a:ext cx="730825" cy="450919"/>
          </a:xfrm>
          <a:prstGeom prst="rect">
            <a:avLst/>
          </a:prstGeom>
        </p:spPr>
      </p:pic>
      <p:pic>
        <p:nvPicPr>
          <p:cNvPr id="15" name="Picture 14" descr="A drawing of a face&#10;&#10;Description generated with high confidence">
            <a:extLst>
              <a:ext uri="{FF2B5EF4-FFF2-40B4-BE49-F238E27FC236}">
                <a16:creationId xmlns:a16="http://schemas.microsoft.com/office/drawing/2014/main" id="{AEDE64BB-CAF4-4747-BE61-DFC6BBBAE2CA}"/>
              </a:ext>
            </a:extLst>
          </p:cNvPr>
          <p:cNvPicPr>
            <a:picLocks noChangeAspect="1"/>
          </p:cNvPicPr>
          <p:nvPr/>
        </p:nvPicPr>
        <p:blipFill rotWithShape="1">
          <a:blip r:embed="rId9">
            <a:clrChange>
              <a:clrFrom>
                <a:srgbClr val="FFFEFD"/>
              </a:clrFrom>
              <a:clrTo>
                <a:srgbClr val="FFFEFD">
                  <a:alpha val="0"/>
                </a:srgbClr>
              </a:clrTo>
            </a:clrChange>
          </a:blip>
          <a:srcRect l="3355" t="12699" r="5707" b="7516"/>
          <a:stretch/>
        </p:blipFill>
        <p:spPr>
          <a:xfrm>
            <a:off x="2089133" y="3937060"/>
            <a:ext cx="661396" cy="410255"/>
          </a:xfrm>
          <a:prstGeom prst="rect">
            <a:avLst/>
          </a:prstGeom>
        </p:spPr>
      </p:pic>
      <p:pic>
        <p:nvPicPr>
          <p:cNvPr id="16" name="Picture 15" descr="A close up of a sign&#10;&#10;Description generated with very high confidence">
            <a:extLst>
              <a:ext uri="{FF2B5EF4-FFF2-40B4-BE49-F238E27FC236}">
                <a16:creationId xmlns:a16="http://schemas.microsoft.com/office/drawing/2014/main" id="{92CCADE6-DD63-4C07-B22E-18163797608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012212" y="3416298"/>
            <a:ext cx="653054" cy="400322"/>
          </a:xfrm>
          <a:prstGeom prst="rect">
            <a:avLst/>
          </a:prstGeom>
        </p:spPr>
      </p:pic>
      <p:pic>
        <p:nvPicPr>
          <p:cNvPr id="17" name="Picture 16" descr="A close up of a logo&#10;&#10;Description generated with very high confidence">
            <a:extLst>
              <a:ext uri="{FF2B5EF4-FFF2-40B4-BE49-F238E27FC236}">
                <a16:creationId xmlns:a16="http://schemas.microsoft.com/office/drawing/2014/main" id="{B450CE6A-C006-48FC-946D-24CA37D94C85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996046" y="3464416"/>
            <a:ext cx="400322" cy="400322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3C4539E7-DDAF-4C7C-ACCB-80452D903E1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36750" y="3832651"/>
            <a:ext cx="820267" cy="19225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B988476-8D65-48A9-AC52-F4F7F4DA1275}"/>
              </a:ext>
            </a:extLst>
          </p:cNvPr>
          <p:cNvPicPr>
            <a:picLocks noChangeAspect="1"/>
          </p:cNvPicPr>
          <p:nvPr/>
        </p:nvPicPr>
        <p:blipFill>
          <a:blip r:embed="rId1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421654" y="3558039"/>
            <a:ext cx="534020" cy="360464"/>
          </a:xfrm>
          <a:prstGeom prst="rect">
            <a:avLst/>
          </a:prstGeom>
        </p:spPr>
      </p:pic>
      <p:pic>
        <p:nvPicPr>
          <p:cNvPr id="20" name="Picture 19" descr="A drawing of a face&#10;&#10;Description generated with high confidence">
            <a:extLst>
              <a:ext uri="{FF2B5EF4-FFF2-40B4-BE49-F238E27FC236}">
                <a16:creationId xmlns:a16="http://schemas.microsoft.com/office/drawing/2014/main" id="{C4C0CADA-1919-4495-BF42-7E21847F3703}"/>
              </a:ext>
            </a:extLst>
          </p:cNvPr>
          <p:cNvPicPr>
            <a:picLocks noChangeAspect="1"/>
          </p:cNvPicPr>
          <p:nvPr/>
        </p:nvPicPr>
        <p:blipFill>
          <a:blip r:embed="rId1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541157" y="3972362"/>
            <a:ext cx="638651" cy="447914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DE5039AA-5BD4-457E-B334-98E203112281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956535" y="4478792"/>
            <a:ext cx="1077054" cy="358121"/>
          </a:xfrm>
          <a:prstGeom prst="rect">
            <a:avLst/>
          </a:prstGeom>
        </p:spPr>
      </p:pic>
      <p:pic>
        <p:nvPicPr>
          <p:cNvPr id="22" name="Picture 21" descr="A close up of a sign&#10;&#10;Description generated with very high confidence">
            <a:extLst>
              <a:ext uri="{FF2B5EF4-FFF2-40B4-BE49-F238E27FC236}">
                <a16:creationId xmlns:a16="http://schemas.microsoft.com/office/drawing/2014/main" id="{17CCC15D-4CB8-47E4-A724-E5E2607C0CFD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406736" y="4670474"/>
            <a:ext cx="1182521" cy="397832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B0C7FA7E-ABD6-46CB-B836-953D3A65102F}"/>
              </a:ext>
            </a:extLst>
          </p:cNvPr>
          <p:cNvPicPr>
            <a:picLocks noChangeAspect="1"/>
          </p:cNvPicPr>
          <p:nvPr/>
        </p:nvPicPr>
        <p:blipFill rotWithShape="1">
          <a:blip r:embed="rId16"/>
          <a:srcRect l="28897" t="9516" b="15012"/>
          <a:stretch/>
        </p:blipFill>
        <p:spPr>
          <a:xfrm>
            <a:off x="6602159" y="4632422"/>
            <a:ext cx="746130" cy="465869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B77B5B33-C277-4E00-A43D-E7AA2218E53A}"/>
              </a:ext>
            </a:extLst>
          </p:cNvPr>
          <p:cNvPicPr>
            <a:picLocks noChangeAspect="1"/>
          </p:cNvPicPr>
          <p:nvPr/>
        </p:nvPicPr>
        <p:blipFill>
          <a:blip r:embed="rId1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142275" y="4687167"/>
            <a:ext cx="1481810" cy="454433"/>
          </a:xfrm>
          <a:prstGeom prst="rect">
            <a:avLst/>
          </a:prstGeom>
        </p:spPr>
      </p:pic>
      <p:pic>
        <p:nvPicPr>
          <p:cNvPr id="25" name="Picture 24" descr="A close up of a sign&#10;&#10;Description generated with high confidence">
            <a:extLst>
              <a:ext uri="{FF2B5EF4-FFF2-40B4-BE49-F238E27FC236}">
                <a16:creationId xmlns:a16="http://schemas.microsoft.com/office/drawing/2014/main" id="{12890388-6C73-450F-92D1-981E24264623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448012" y="3820066"/>
            <a:ext cx="1281710" cy="264887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593F0A7A-0231-4D6D-B134-942031F75CB6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657105" y="5118716"/>
            <a:ext cx="1409642" cy="339060"/>
          </a:xfrm>
          <a:prstGeom prst="rect">
            <a:avLst/>
          </a:prstGeom>
        </p:spPr>
      </p:pic>
      <p:pic>
        <p:nvPicPr>
          <p:cNvPr id="27" name="Picture 26" descr="A picture containing clipart&#10;&#10;Description generated with very high confidence">
            <a:extLst>
              <a:ext uri="{FF2B5EF4-FFF2-40B4-BE49-F238E27FC236}">
                <a16:creationId xmlns:a16="http://schemas.microsoft.com/office/drawing/2014/main" id="{865CF503-52CE-4DDC-9B1B-B41A2ED4D5C2}"/>
              </a:ext>
            </a:extLst>
          </p:cNvPr>
          <p:cNvPicPr>
            <a:picLocks noChangeAspect="1"/>
          </p:cNvPicPr>
          <p:nvPr/>
        </p:nvPicPr>
        <p:blipFill>
          <a:blip r:embed="rId20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377672" y="5109988"/>
            <a:ext cx="1240155" cy="350044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4206BF97-E290-4B52-8958-4EE76B51A5AE}"/>
              </a:ext>
            </a:extLst>
          </p:cNvPr>
          <p:cNvPicPr>
            <a:picLocks noChangeAspect="1"/>
          </p:cNvPicPr>
          <p:nvPr/>
        </p:nvPicPr>
        <p:blipFill rotWithShape="1">
          <a:blip r:embed="rId21">
            <a:clrChange>
              <a:clrFrom>
                <a:srgbClr val="FEFEFE"/>
              </a:clrFrom>
              <a:clrTo>
                <a:srgbClr val="FEFEFE">
                  <a:alpha val="0"/>
                </a:srgbClr>
              </a:clrTo>
            </a:clrChange>
          </a:blip>
          <a:srcRect l="24401" r="21955"/>
          <a:stretch/>
        </p:blipFill>
        <p:spPr>
          <a:xfrm>
            <a:off x="5070395" y="2247536"/>
            <a:ext cx="496652" cy="612934"/>
          </a:xfrm>
          <a:prstGeom prst="rect">
            <a:avLst/>
          </a:prstGeom>
        </p:spPr>
      </p:pic>
      <p:pic>
        <p:nvPicPr>
          <p:cNvPr id="29" name="Picture 28" descr="A picture containing object, clock&#10;&#10;Description generated with high confidence">
            <a:extLst>
              <a:ext uri="{FF2B5EF4-FFF2-40B4-BE49-F238E27FC236}">
                <a16:creationId xmlns:a16="http://schemas.microsoft.com/office/drawing/2014/main" id="{88DAA7B4-071D-4D56-94C7-15878AD43665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544618" y="2512732"/>
            <a:ext cx="803672" cy="220742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0B05B244-B503-41CD-B10B-277ECCBAACD9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7485733" y="3280903"/>
            <a:ext cx="457200" cy="457200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1F4EFEBC-62D9-49C1-A400-357917AEE554}"/>
              </a:ext>
            </a:extLst>
          </p:cNvPr>
          <p:cNvPicPr>
            <a:picLocks noChangeAspect="1"/>
          </p:cNvPicPr>
          <p:nvPr/>
        </p:nvPicPr>
        <p:blipFill rotWithShape="1">
          <a:blip r:embed="rId1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12821" t="7694" r="13781" b="16241"/>
          <a:stretch/>
        </p:blipFill>
        <p:spPr>
          <a:xfrm>
            <a:off x="7989314" y="3269209"/>
            <a:ext cx="1093557" cy="347552"/>
          </a:xfrm>
          <a:prstGeom prst="rect">
            <a:avLst/>
          </a:prstGeom>
        </p:spPr>
      </p:pic>
      <p:pic>
        <p:nvPicPr>
          <p:cNvPr id="32" name="Picture 31" descr="A close up of a sign&#10;&#10;Description generated with very high confidence">
            <a:extLst>
              <a:ext uri="{FF2B5EF4-FFF2-40B4-BE49-F238E27FC236}">
                <a16:creationId xmlns:a16="http://schemas.microsoft.com/office/drawing/2014/main" id="{AE958B8C-E80D-4099-8815-54165F1CA06E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962573" y="3734428"/>
            <a:ext cx="985266" cy="331470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5443EB65-0DC1-4DB4-99E1-D33434E812A7}"/>
              </a:ext>
            </a:extLst>
          </p:cNvPr>
          <p:cNvPicPr>
            <a:picLocks noChangeAspect="1"/>
          </p:cNvPicPr>
          <p:nvPr/>
        </p:nvPicPr>
        <p:blipFill rotWithShape="1">
          <a:blip r:embed="rId16"/>
          <a:srcRect l="28897" t="9516" b="15012"/>
          <a:stretch/>
        </p:blipFill>
        <p:spPr>
          <a:xfrm>
            <a:off x="8102941" y="2322231"/>
            <a:ext cx="679808" cy="424458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8CB2569B-02D5-453F-B3FC-6C8EBD15855F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5750137" y="3073182"/>
            <a:ext cx="774504" cy="272241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DB75658C-5476-4847-9A99-F8C9BC02D196}"/>
              </a:ext>
            </a:extLst>
          </p:cNvPr>
          <p:cNvPicPr>
            <a:picLocks noChangeAspect="1"/>
          </p:cNvPicPr>
          <p:nvPr/>
        </p:nvPicPr>
        <p:blipFill rotWithShape="1">
          <a:blip r:embed="rId2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29072" b="29279"/>
          <a:stretch/>
        </p:blipFill>
        <p:spPr>
          <a:xfrm>
            <a:off x="6107305" y="1876780"/>
            <a:ext cx="792956" cy="223742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123A1F71-184D-411A-A223-F58D85C6AAA9}"/>
              </a:ext>
            </a:extLst>
          </p:cNvPr>
          <p:cNvPicPr>
            <a:picLocks noChangeAspect="1"/>
          </p:cNvPicPr>
          <p:nvPr/>
        </p:nvPicPr>
        <p:blipFill rotWithShape="1">
          <a:blip r:embed="rId2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32118" b="33546"/>
          <a:stretch/>
        </p:blipFill>
        <p:spPr>
          <a:xfrm>
            <a:off x="5175800" y="1858368"/>
            <a:ext cx="914400" cy="235476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B91E02DF-D251-41A5-9C54-69F86B1A1411}"/>
              </a:ext>
            </a:extLst>
          </p:cNvPr>
          <p:cNvPicPr>
            <a:picLocks noChangeAspect="1"/>
          </p:cNvPicPr>
          <p:nvPr/>
        </p:nvPicPr>
        <p:blipFill rotWithShape="1">
          <a:blip r:embed="rId2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32609" b="32682"/>
          <a:stretch/>
        </p:blipFill>
        <p:spPr>
          <a:xfrm>
            <a:off x="4815187" y="1280062"/>
            <a:ext cx="857294" cy="297558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5B6F9DEE-B7C8-4ED3-B378-93D9054780DE}"/>
              </a:ext>
            </a:extLst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7978152" y="1787076"/>
            <a:ext cx="1077978" cy="493206"/>
          </a:xfrm>
          <a:prstGeom prst="rect">
            <a:avLst/>
          </a:prstGeom>
        </p:spPr>
      </p:pic>
      <p:pic>
        <p:nvPicPr>
          <p:cNvPr id="40" name="Picture 39" descr="A close up of a logo&#10;&#10;Description generated with very high confidence">
            <a:extLst>
              <a:ext uri="{FF2B5EF4-FFF2-40B4-BE49-F238E27FC236}">
                <a16:creationId xmlns:a16="http://schemas.microsoft.com/office/drawing/2014/main" id="{17D22955-7A54-4073-9630-02AFCDBC91D2}"/>
              </a:ext>
            </a:extLst>
      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8330021" y="4124941"/>
            <a:ext cx="712052" cy="635273"/>
          </a:xfrm>
          <a:prstGeom prst="rect">
            <a:avLst/>
          </a:prstGeom>
        </p:spPr>
      </p:pic>
      <p:pic>
        <p:nvPicPr>
          <p:cNvPr id="41" name="Picture 40" descr="A close up of a logo&#10;&#10;Description generated with very high confidence">
            <a:extLst>
              <a:ext uri="{FF2B5EF4-FFF2-40B4-BE49-F238E27FC236}">
                <a16:creationId xmlns:a16="http://schemas.microsoft.com/office/drawing/2014/main" id="{9DAE4D5B-013C-4819-8DE7-BE2EB17B1AC2}"/>
              </a:ext>
            </a:extLst>
      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7648607" y="4163979"/>
            <a:ext cx="681413" cy="515496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6A3F0AE1-12DF-47A6-BEAD-B97A7A58F291}"/>
              </a:ext>
            </a:extLst>
          </p:cNvPr>
          <p:cNvPicPr>
            <a:picLocks noChangeAspect="1"/>
          </p:cNvPicPr>
          <p:nvPr/>
        </p:nvPicPr>
        <p:blipFill rotWithShape="1">
          <a:blip r:embed="rId3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537" r="26396" b="25648"/>
          <a:stretch/>
        </p:blipFill>
        <p:spPr>
          <a:xfrm>
            <a:off x="3762018" y="2449905"/>
            <a:ext cx="999357" cy="880018"/>
          </a:xfrm>
          <a:prstGeom prst="rect">
            <a:avLst/>
          </a:prstGeom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AA1C5F48-6E11-4F53-8660-AB71C4D3F447}"/>
              </a:ext>
            </a:extLst>
      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33046" y="4261823"/>
            <a:ext cx="2144128" cy="455883"/>
          </a:xfrm>
          <a:prstGeom prst="rect">
            <a:avLst/>
          </a:prstGeom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13A80CC8-96E6-4801-B920-B3CB191679DA}"/>
              </a:ext>
            </a:extLst>
      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147295" y="4003153"/>
            <a:ext cx="256207" cy="256207"/>
          </a:xfrm>
          <a:prstGeom prst="rect">
            <a:avLst/>
          </a:prstGeom>
        </p:spPr>
      </p:pic>
      <p:sp>
        <p:nvSpPr>
          <p:cNvPr id="45" name="TextBox 44">
            <a:extLst>
              <a:ext uri="{FF2B5EF4-FFF2-40B4-BE49-F238E27FC236}">
                <a16:creationId xmlns:a16="http://schemas.microsoft.com/office/drawing/2014/main" id="{387BFC89-8872-4131-8CC6-8875597E8277}"/>
              </a:ext>
            </a:extLst>
          </p:cNvPr>
          <p:cNvSpPr txBox="1"/>
          <p:nvPr/>
        </p:nvSpPr>
        <p:spPr>
          <a:xfrm>
            <a:off x="319622" y="3931794"/>
            <a:ext cx="1430216" cy="429348"/>
          </a:xfrm>
          <a:prstGeom prst="rect">
            <a:avLst/>
          </a:prstGeom>
          <a:noFill/>
        </p:spPr>
        <p:txBody>
          <a:bodyPr wrap="square" lIns="137160" tIns="109728" rIns="137160" bIns="109728" rtlCol="0">
            <a:spAutoFit/>
          </a:bodyPr>
          <a:lstStyle/>
          <a:p>
            <a:pPr>
              <a:lnSpc>
                <a:spcPct val="90000"/>
              </a:lnSpc>
              <a:spcAft>
                <a:spcPts val="450"/>
              </a:spcAft>
            </a:pPr>
            <a:r>
              <a:rPr lang="en-US" sz="1500">
                <a:solidFill>
                  <a:srgbClr val="7030A0"/>
                </a:solidFill>
              </a:rPr>
              <a:t>Visual Studio</a:t>
            </a:r>
            <a:endParaRPr lang="en-CA" sz="1500" err="1">
              <a:solidFill>
                <a:srgbClr val="7030A0"/>
              </a:solidFill>
            </a:endParaRPr>
          </a:p>
        </p:txBody>
      </p:sp>
      <p:pic>
        <p:nvPicPr>
          <p:cNvPr id="46" name="Picture 45" descr="A picture containing clipart&#10;&#10;Description generated with very high confidence">
            <a:extLst>
              <a:ext uri="{FF2B5EF4-FFF2-40B4-BE49-F238E27FC236}">
                <a16:creationId xmlns:a16="http://schemas.microsoft.com/office/drawing/2014/main" id="{CD9D4415-8052-47D4-8FE9-3D36C5B72810}"/>
              </a:ext>
            </a:extLst>
      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679147" y="1538523"/>
            <a:ext cx="220560" cy="235477"/>
          </a:xfrm>
          <a:prstGeom prst="rect">
            <a:avLst/>
          </a:prstGeom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61F89794-2CAE-4153-A0B3-C832C57324A7}"/>
              </a:ext>
            </a:extLst>
          </p:cNvPr>
          <p:cNvSpPr txBox="1"/>
          <p:nvPr/>
        </p:nvSpPr>
        <p:spPr>
          <a:xfrm>
            <a:off x="5825827" y="1451324"/>
            <a:ext cx="1849376" cy="408573"/>
          </a:xfrm>
          <a:prstGeom prst="rect">
            <a:avLst/>
          </a:prstGeom>
          <a:noFill/>
        </p:spPr>
        <p:txBody>
          <a:bodyPr wrap="square" lIns="137160" tIns="109728" rIns="137160" bIns="109728" rtlCol="0">
            <a:spAutoFit/>
          </a:bodyPr>
          <a:lstStyle/>
          <a:p>
            <a:pPr>
              <a:lnSpc>
                <a:spcPct val="90000"/>
              </a:lnSpc>
              <a:spcAft>
                <a:spcPts val="450"/>
              </a:spcAft>
            </a:pPr>
            <a:r>
              <a:rPr lang="en-US" sz="1350">
                <a:solidFill>
                  <a:srgbClr val="7030A0"/>
                </a:solidFill>
              </a:rPr>
              <a:t>Application Insights</a:t>
            </a:r>
            <a:endParaRPr lang="en-CA" sz="1350" err="1">
              <a:solidFill>
                <a:srgbClr val="7030A0"/>
              </a:solidFill>
            </a:endParaRPr>
          </a:p>
        </p:txBody>
      </p:sp>
      <p:pic>
        <p:nvPicPr>
          <p:cNvPr id="48" name="Graphic 47">
            <a:extLst>
              <a:ext uri="{FF2B5EF4-FFF2-40B4-BE49-F238E27FC236}">
                <a16:creationId xmlns:a16="http://schemas.microsoft.com/office/drawing/2014/main" id="{8BBBBBD4-4B5D-483F-8771-375E44224B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5"/>
              </a:ext>
            </a:extLst>
          </a:blip>
          <a:stretch>
            <a:fillRect/>
          </a:stretch>
        </p:blipFill>
        <p:spPr>
          <a:xfrm>
            <a:off x="4433638" y="1578038"/>
            <a:ext cx="1148942" cy="158475"/>
          </a:xfrm>
          <a:prstGeom prst="rect">
            <a:avLst/>
          </a:prstGeom>
        </p:spPr>
      </p:pic>
      <p:pic>
        <p:nvPicPr>
          <p:cNvPr id="50" name="Picture 49" descr="A close up of a logo&#10;&#10;Description generated with very high confidence">
            <a:extLst>
              <a:ext uri="{FF2B5EF4-FFF2-40B4-BE49-F238E27FC236}">
                <a16:creationId xmlns:a16="http://schemas.microsoft.com/office/drawing/2014/main" id="{399925D9-2FAF-479E-B53F-515F696CE64F}"/>
              </a:ext>
            </a:extLst>
      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5854608" y="4164440"/>
            <a:ext cx="933372" cy="223746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F44B9271-4CF0-485F-8437-54606EBB755A}"/>
              </a:ext>
            </a:extLst>
          </p:cNvPr>
          <p:cNvPicPr>
            <a:picLocks noChangeAspect="1"/>
          </p:cNvPicPr>
          <p:nvPr/>
        </p:nvPicPr>
        <p:blipFill>
          <a:blip r:embed="rId3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157472" y="3885327"/>
            <a:ext cx="570712" cy="570712"/>
          </a:xfrm>
          <a:prstGeom prst="rect">
            <a:avLst/>
          </a:prstGeom>
        </p:spPr>
      </p:pic>
      <p:pic>
        <p:nvPicPr>
          <p:cNvPr id="52" name="Picture 51" descr="A close up of a sign&#10;&#10;Description generated with very high confidence">
            <a:extLst>
              <a:ext uri="{FF2B5EF4-FFF2-40B4-BE49-F238E27FC236}">
                <a16:creationId xmlns:a16="http://schemas.microsoft.com/office/drawing/2014/main" id="{386A37B3-8A5E-436E-83A4-ACA97685D5AE}"/>
              </a:ext>
            </a:extLst>
      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7745195" y="4777556"/>
            <a:ext cx="1234108" cy="2406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05358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500"/>
                            </p:stCondLst>
                            <p:childTnLst>
                              <p:par>
                                <p:cTn id="3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1000"/>
                            </p:stCondLst>
                            <p:childTnLst>
                              <p:par>
                                <p:cTn id="5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500"/>
                            </p:stCondLst>
                            <p:childTnLst>
                              <p:par>
                                <p:cTn id="6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2000"/>
                            </p:stCondLst>
                            <p:childTnLst>
                              <p:par>
                                <p:cTn id="7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5" fill="hold">
                            <p:stCondLst>
                              <p:cond delay="2500"/>
                            </p:stCondLst>
                            <p:childTnLst>
                              <p:par>
                                <p:cTn id="8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2" fill="hold">
                            <p:stCondLst>
                              <p:cond delay="3000"/>
                            </p:stCondLst>
                            <p:childTnLst>
                              <p:par>
                                <p:cTn id="12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2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4" fill="hold">
                            <p:stCondLst>
                              <p:cond delay="3500"/>
                            </p:stCondLst>
                            <p:childTnLst>
                              <p:par>
                                <p:cTn id="14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 animBg="1"/>
      <p:bldP spid="45" grpId="0"/>
      <p:bldP spid="47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C516D4-9456-22A4-A744-DF59758001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-25276"/>
            <a:ext cx="7886700" cy="1325563"/>
          </a:xfrm>
        </p:spPr>
        <p:txBody>
          <a:bodyPr/>
          <a:lstStyle/>
          <a:p>
            <a:r>
              <a:rPr lang="en-IT" dirty="0"/>
              <a:t>Digital.ai DevOps Periodic Table</a:t>
            </a:r>
          </a:p>
        </p:txBody>
      </p:sp>
      <p:pic>
        <p:nvPicPr>
          <p:cNvPr id="6" name="Content Placeholder 5" descr="A table of periodic table of elements&#10;&#10;Description automatically generated">
            <a:extLst>
              <a:ext uri="{FF2B5EF4-FFF2-40B4-BE49-F238E27FC236}">
                <a16:creationId xmlns:a16="http://schemas.microsoft.com/office/drawing/2014/main" id="{AF7C410E-0931-FE7D-3FCE-05E0AD47E9D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0" y="1092275"/>
            <a:ext cx="9192645" cy="4230624"/>
          </a:xfr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7742E7A-9BC7-0734-65DB-0E7C963A53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Sw. Evolution</a:t>
            </a:r>
          </a:p>
        </p:txBody>
      </p:sp>
      <p:pic>
        <p:nvPicPr>
          <p:cNvPr id="8" name="Picture 7" descr="A group of squares with letters and numbers&#10;&#10;Description automatically generated">
            <a:extLst>
              <a:ext uri="{FF2B5EF4-FFF2-40B4-BE49-F238E27FC236}">
                <a16:creationId xmlns:a16="http://schemas.microsoft.com/office/drawing/2014/main" id="{7011EB2B-DECD-FCA3-ADDB-8B64A090B7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2337" y="5446811"/>
            <a:ext cx="7772400" cy="14111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162911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diagram of a process&#10;&#10;Description automatically generated">
            <a:extLst>
              <a:ext uri="{FF2B5EF4-FFF2-40B4-BE49-F238E27FC236}">
                <a16:creationId xmlns:a16="http://schemas.microsoft.com/office/drawing/2014/main" id="{5C06BFF6-F875-6F47-A261-CD013BD93F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8164" y="165357"/>
            <a:ext cx="9152164" cy="2917188"/>
          </a:xfrm>
          <a:prstGeom prst="rect">
            <a:avLst/>
          </a:prstGeom>
        </p:spPr>
      </p:pic>
      <p:pic>
        <p:nvPicPr>
          <p:cNvPr id="8" name="Picture 7" descr="A diagram of a delivery process&#10;&#10;Description automatically generated">
            <a:extLst>
              <a:ext uri="{FF2B5EF4-FFF2-40B4-BE49-F238E27FC236}">
                <a16:creationId xmlns:a16="http://schemas.microsoft.com/office/drawing/2014/main" id="{30F92B90-78F2-8620-521D-ED11243D40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878" y="3154640"/>
            <a:ext cx="8977746" cy="37024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56726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523D9E-31E2-0789-2C29-C8718BF8F3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Principle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2F7AE9-CB22-779F-42CD-7D37CB63D9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M</a:t>
            </a:r>
            <a:r>
              <a:rPr lang="en-IT" dirty="0"/>
              <a:t>anage complexity automatically.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D2E0E54-1264-23F6-757A-EC9CCCDE3B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Sw. Evolution</a:t>
            </a:r>
          </a:p>
        </p:txBody>
      </p:sp>
    </p:spTree>
    <p:extLst>
      <p:ext uri="{BB962C8B-B14F-4D97-AF65-F5344CB8AC3E}">
        <p14:creationId xmlns:p14="http://schemas.microsoft.com/office/powerpoint/2010/main" val="36650239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4DF4B22-A63C-15EC-8AAD-9DBBFE8150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3944" y="2415887"/>
            <a:ext cx="2514281" cy="1735654"/>
          </a:xfrm>
        </p:spPr>
        <p:txBody>
          <a:bodyPr vert="horz" lIns="68580" tIns="34290" rIns="68580" bIns="34290" rtlCol="0" anchor="b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4050" dirty="0"/>
              <a:t>Maslow’s Hierarchy Of Needs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F7D45B35-79A7-EAEE-B914-571CA53312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82890" y="1652395"/>
            <a:ext cx="4702997" cy="3562520"/>
          </a:xfrm>
          <a:prstGeom prst="rect">
            <a:avLst/>
          </a:prstGeom>
          <a:noFill/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538144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C18FC5-B09B-0A39-0F0C-F83A4DFDE2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89530" y="1857375"/>
            <a:ext cx="4680435" cy="3143250"/>
          </a:xfrm>
        </p:spPr>
        <p:txBody>
          <a:bodyPr vert="horz" lIns="68580" tIns="34290" rIns="68580" bIns="34290" rtlCol="0" anchor="ctr">
            <a:normAutofit fontScale="90000"/>
          </a:bodyPr>
          <a:lstStyle/>
          <a:p>
            <a:r>
              <a:rPr lang="en-US" sz="5400" dirty="0">
                <a:solidFill>
                  <a:schemeClr val="tx2"/>
                </a:solidFill>
              </a:rPr>
              <a:t>“</a:t>
            </a:r>
            <a:br>
              <a:rPr lang="en-US" sz="5400" dirty="0">
                <a:solidFill>
                  <a:schemeClr val="tx2"/>
                </a:solidFill>
              </a:rPr>
            </a:br>
            <a:r>
              <a:rPr lang="en-US" sz="5400" dirty="0">
                <a:solidFill>
                  <a:schemeClr val="tx2"/>
                </a:solidFill>
              </a:rPr>
              <a:t>Culture Eats Strategy For Breakfast					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567001-94CC-4FA4-8A6B-654F8D2BA4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6216" y="1857375"/>
            <a:ext cx="2185785" cy="3143250"/>
          </a:xfrm>
        </p:spPr>
        <p:txBody>
          <a:bodyPr vert="horz" lIns="68580" tIns="34290" rIns="68580" bIns="34290" rtlCol="0" anchor="ctr">
            <a:normAutofit/>
          </a:bodyPr>
          <a:lstStyle/>
          <a:p>
            <a:pPr marL="0" indent="0" algn="r">
              <a:buNone/>
            </a:pPr>
            <a:r>
              <a:rPr lang="en-US" b="0" i="0" u="none" strike="noStrike" kern="1200" cap="all" dirty="0">
                <a:effectLst/>
                <a:latin typeface="+mj-lt"/>
                <a:ea typeface="+mj-ea"/>
                <a:cs typeface="+mj-cs"/>
              </a:rPr>
              <a:t>Peter Drucker</a:t>
            </a:r>
            <a:r>
              <a:rPr lang="en-US" b="0" i="0" kern="1200" cap="all" dirty="0">
                <a:effectLst/>
                <a:latin typeface="+mj-lt"/>
                <a:ea typeface="+mj-ea"/>
                <a:cs typeface="+mj-cs"/>
              </a:rPr>
              <a:t> </a:t>
            </a:r>
            <a:endParaRPr lang="en-US" b="0" i="0" kern="1200" cap="all" dirty="0"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78919327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3259B8-980E-40CC-8379-40DECDBCAD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are GitHub Actions?</a:t>
            </a:r>
          </a:p>
        </p:txBody>
      </p:sp>
    </p:spTree>
    <p:extLst>
      <p:ext uri="{BB962C8B-B14F-4D97-AF65-F5344CB8AC3E}">
        <p14:creationId xmlns:p14="http://schemas.microsoft.com/office/powerpoint/2010/main" val="33477179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E8EC0AB-6723-4F3C-9CCA-55A15F16BF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Run a workflow on any GitHub event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457B637-881C-45E3-A52D-F3E7714117C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5677" t="18366" r="14584" b="20000"/>
          <a:stretch/>
        </p:blipFill>
        <p:spPr>
          <a:xfrm>
            <a:off x="-102325" y="1690689"/>
            <a:ext cx="9544221" cy="4568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115690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E8EC0AB-6723-4F3C-9CCA-55A15F16BF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0"/>
            <a:ext cx="7886700" cy="1325563"/>
          </a:xfrm>
        </p:spPr>
        <p:txBody>
          <a:bodyPr/>
          <a:lstStyle/>
          <a:p>
            <a:r>
              <a:rPr lang="en-GB" dirty="0"/>
              <a:t>Built to Scale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775CE31-84B7-43BA-8F99-57EE81F6159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750" t="15274" r="14427" b="4230"/>
          <a:stretch/>
        </p:blipFill>
        <p:spPr>
          <a:xfrm>
            <a:off x="-59375" y="1244604"/>
            <a:ext cx="9246828" cy="56133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00657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>
            <a:extLst>
              <a:ext uri="{FF2B5EF4-FFF2-40B4-BE49-F238E27FC236}">
                <a16:creationId xmlns:a16="http://schemas.microsoft.com/office/drawing/2014/main" id="{8F7AF2BE-D9A3-472E-AD7B-B4F31B7744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14" y="4390218"/>
            <a:ext cx="238736" cy="642094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5E8EC0AB-6723-4F3C-9CCA-55A15F16BF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Community-powered workflows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863CB4E-B357-439A-A0B0-B2CA5FCADCD6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6635" r="1196" b="5571"/>
          <a:stretch/>
        </p:blipFill>
        <p:spPr>
          <a:xfrm>
            <a:off x="686942" y="1831550"/>
            <a:ext cx="7886700" cy="3795983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CCF40F99-7C75-44A2-B563-538957F03E68}"/>
              </a:ext>
            </a:extLst>
          </p:cNvPr>
          <p:cNvSpPr/>
          <p:nvPr/>
        </p:nvSpPr>
        <p:spPr>
          <a:xfrm>
            <a:off x="5010375" y="1756859"/>
            <a:ext cx="3905026" cy="197268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35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3921B30-B202-432E-B813-E4F3D370028C}"/>
              </a:ext>
            </a:extLst>
          </p:cNvPr>
          <p:cNvSpPr/>
          <p:nvPr/>
        </p:nvSpPr>
        <p:spPr>
          <a:xfrm>
            <a:off x="326763" y="1833627"/>
            <a:ext cx="1702398" cy="189591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35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59DF281-6186-40AD-8553-7B57F5C77235}"/>
              </a:ext>
            </a:extLst>
          </p:cNvPr>
          <p:cNvSpPr/>
          <p:nvPr/>
        </p:nvSpPr>
        <p:spPr>
          <a:xfrm>
            <a:off x="463924" y="5012391"/>
            <a:ext cx="1565237" cy="69398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35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67C7FBF-C434-459A-90BE-4D01999B38AD}"/>
              </a:ext>
            </a:extLst>
          </p:cNvPr>
          <p:cNvSpPr/>
          <p:nvPr/>
        </p:nvSpPr>
        <p:spPr>
          <a:xfrm>
            <a:off x="5010375" y="4996340"/>
            <a:ext cx="3828377" cy="72202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35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06986F5-2DF6-4DC5-8E3A-2EEB8E5F489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223581" y="3742564"/>
            <a:ext cx="3280537" cy="60915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5A7E231-62BE-4E76-9463-1A87BB94EBA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50123" y="3739904"/>
            <a:ext cx="3294697" cy="595760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4F3A2072-8521-4D45-BFE8-A344EAF0BA2C}"/>
              </a:ext>
            </a:extLst>
          </p:cNvPr>
          <p:cNvSpPr/>
          <p:nvPr/>
        </p:nvSpPr>
        <p:spPr>
          <a:xfrm>
            <a:off x="608647" y="4351715"/>
            <a:ext cx="1420514" cy="3850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35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7058F2F-8E90-4024-BEC0-584D77113108}"/>
              </a:ext>
            </a:extLst>
          </p:cNvPr>
          <p:cNvSpPr/>
          <p:nvPr/>
        </p:nvSpPr>
        <p:spPr>
          <a:xfrm>
            <a:off x="4992053" y="4338694"/>
            <a:ext cx="3724751" cy="635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35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AD66ED3F-5895-418C-9383-35B0D8DE01C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5612" y="4422013"/>
            <a:ext cx="1420514" cy="57626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522C56B1-CFDE-41E5-B823-B2C598CE514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05997" y="4390218"/>
            <a:ext cx="1511858" cy="621134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48AAF40E-754D-4C20-9687-79E12642C18C}"/>
              </a:ext>
            </a:extLst>
          </p:cNvPr>
          <p:cNvPicPr>
            <a:picLocks noChangeAspect="1"/>
          </p:cNvPicPr>
          <p:nvPr/>
        </p:nvPicPr>
        <p:blipFill rotWithShape="1">
          <a:blip r:embed="rId9"/>
          <a:srcRect b="42420"/>
          <a:stretch/>
        </p:blipFill>
        <p:spPr>
          <a:xfrm>
            <a:off x="8187691" y="3691474"/>
            <a:ext cx="5146673" cy="5565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2B978521-94E3-4D05-9F08-FC17EBD4A8AF}"/>
              </a:ext>
            </a:extLst>
          </p:cNvPr>
          <p:cNvPicPr>
            <a:picLocks noChangeAspect="1"/>
          </p:cNvPicPr>
          <p:nvPr/>
        </p:nvPicPr>
        <p:blipFill rotWithShape="1">
          <a:blip r:embed="rId9"/>
          <a:srcRect b="42420"/>
          <a:stretch/>
        </p:blipFill>
        <p:spPr>
          <a:xfrm>
            <a:off x="-3117512" y="3689785"/>
            <a:ext cx="5146673" cy="55655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D673B74B-73F2-4882-B0BA-7ED4E637C099}"/>
              </a:ext>
            </a:extLst>
          </p:cNvPr>
          <p:cNvPicPr>
            <a:picLocks noChangeAspect="1"/>
          </p:cNvPicPr>
          <p:nvPr/>
        </p:nvPicPr>
        <p:blipFill rotWithShape="1">
          <a:blip r:embed="rId9"/>
          <a:srcRect t="40725" b="42420"/>
          <a:stretch/>
        </p:blipFill>
        <p:spPr>
          <a:xfrm>
            <a:off x="-3103572" y="4354637"/>
            <a:ext cx="5146673" cy="53167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5E9E4458-F96A-4917-94C5-1A210B959E10}"/>
              </a:ext>
            </a:extLst>
          </p:cNvPr>
          <p:cNvPicPr>
            <a:picLocks noChangeAspect="1"/>
          </p:cNvPicPr>
          <p:nvPr/>
        </p:nvPicPr>
        <p:blipFill rotWithShape="1">
          <a:blip r:embed="rId9"/>
          <a:srcRect b="42420"/>
          <a:stretch/>
        </p:blipFill>
        <p:spPr>
          <a:xfrm rot="10800000">
            <a:off x="-3103572" y="4999416"/>
            <a:ext cx="5146673" cy="55655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1B610B77-D63E-499C-9DA0-8B7ED415BC79}"/>
              </a:ext>
            </a:extLst>
          </p:cNvPr>
          <p:cNvPicPr>
            <a:picLocks noChangeAspect="1"/>
          </p:cNvPicPr>
          <p:nvPr/>
        </p:nvPicPr>
        <p:blipFill rotWithShape="1">
          <a:blip r:embed="rId9"/>
          <a:srcRect b="42420"/>
          <a:stretch/>
        </p:blipFill>
        <p:spPr>
          <a:xfrm rot="10800000">
            <a:off x="5010374" y="5001111"/>
            <a:ext cx="5146673" cy="55655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A4B8C082-3759-4C56-BDB5-112C272E13F9}"/>
              </a:ext>
            </a:extLst>
          </p:cNvPr>
          <p:cNvPicPr>
            <a:picLocks noChangeAspect="1"/>
          </p:cNvPicPr>
          <p:nvPr/>
        </p:nvPicPr>
        <p:blipFill rotWithShape="1">
          <a:blip r:embed="rId9"/>
          <a:srcRect t="38484" b="42420"/>
          <a:stretch/>
        </p:blipFill>
        <p:spPr>
          <a:xfrm>
            <a:off x="4992052" y="4338694"/>
            <a:ext cx="5146673" cy="562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288062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2B9189-ADB4-439C-BF63-370A87B502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Simple, pay-as-you-go pricing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4D68F5E-D133-4A2B-B9CE-6BFDC5F1C40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4731" t="38952" r="16422" b="4751"/>
          <a:stretch/>
        </p:blipFill>
        <p:spPr>
          <a:xfrm>
            <a:off x="20183" y="1828801"/>
            <a:ext cx="8928163" cy="3954482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982A1C67-C091-4F98-8A8E-0A06A957C4A5}"/>
              </a:ext>
            </a:extLst>
          </p:cNvPr>
          <p:cNvSpPr/>
          <p:nvPr/>
        </p:nvSpPr>
        <p:spPr>
          <a:xfrm>
            <a:off x="5958392" y="4746139"/>
            <a:ext cx="645459" cy="26625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350"/>
          </a:p>
        </p:txBody>
      </p:sp>
    </p:spTree>
    <p:extLst>
      <p:ext uri="{BB962C8B-B14F-4D97-AF65-F5344CB8AC3E}">
        <p14:creationId xmlns:p14="http://schemas.microsoft.com/office/powerpoint/2010/main" val="41712846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83E1118-A5F0-49B1-8852-812A88CA0A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~Demo: Your first Workflow</a:t>
            </a:r>
          </a:p>
        </p:txBody>
      </p:sp>
    </p:spTree>
    <p:extLst>
      <p:ext uri="{BB962C8B-B14F-4D97-AF65-F5344CB8AC3E}">
        <p14:creationId xmlns:p14="http://schemas.microsoft.com/office/powerpoint/2010/main" val="29092326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89FBECE-3CB7-47BE-947C-D2149CB8B9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Sample Workflow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E09E5F2-DEE5-4DCA-9F20-CC60DBEE77DE}"/>
              </a:ext>
            </a:extLst>
          </p:cNvPr>
          <p:cNvSpPr/>
          <p:nvPr/>
        </p:nvSpPr>
        <p:spPr>
          <a:xfrm>
            <a:off x="536538" y="1756859"/>
            <a:ext cx="8435340" cy="403411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1125" b="1" dirty="0">
                <a:solidFill>
                  <a:srgbClr val="FF0000"/>
                </a:solidFill>
              </a:rPr>
              <a:t>on:</a:t>
            </a:r>
          </a:p>
          <a:p>
            <a:pPr lvl="1"/>
            <a:r>
              <a:rPr lang="en-GB" sz="1125" b="1" dirty="0">
                <a:solidFill>
                  <a:srgbClr val="FF0000"/>
                </a:solidFill>
              </a:rPr>
              <a:t>push:</a:t>
            </a:r>
          </a:p>
          <a:p>
            <a:pPr lvl="2"/>
            <a:r>
              <a:rPr lang="en-GB" sz="1125" b="1" dirty="0">
                <a:solidFill>
                  <a:srgbClr val="FF0000"/>
                </a:solidFill>
              </a:rPr>
              <a:t> branches:</a:t>
            </a:r>
          </a:p>
          <a:p>
            <a:pPr lvl="3"/>
            <a:r>
              <a:rPr lang="en-GB" sz="1125" b="1" dirty="0">
                <a:solidFill>
                  <a:srgbClr val="FF0000"/>
                </a:solidFill>
              </a:rPr>
              <a:t>- master</a:t>
            </a:r>
          </a:p>
          <a:p>
            <a:r>
              <a:rPr lang="en-GB" sz="1125" b="1" dirty="0">
                <a:solidFill>
                  <a:srgbClr val="FF0000"/>
                </a:solidFill>
              </a:rPr>
              <a:t>jobs:</a:t>
            </a:r>
          </a:p>
          <a:p>
            <a:pPr lvl="1"/>
            <a:r>
              <a:rPr lang="en-GB" sz="1125" b="1" dirty="0">
                <a:solidFill>
                  <a:srgbClr val="FF0000"/>
                </a:solidFill>
              </a:rPr>
              <a:t>build-and-deploy:</a:t>
            </a:r>
          </a:p>
          <a:p>
            <a:pPr lvl="1"/>
            <a:r>
              <a:rPr lang="en-GB" sz="1125" b="1" dirty="0">
                <a:solidFill>
                  <a:srgbClr val="FF0000"/>
                </a:solidFill>
              </a:rPr>
              <a:t>name: Build and Deploy</a:t>
            </a:r>
          </a:p>
          <a:p>
            <a:pPr lvl="1"/>
            <a:r>
              <a:rPr lang="en-GB" sz="1125" b="1" dirty="0">
                <a:solidFill>
                  <a:srgbClr val="FF0000"/>
                </a:solidFill>
              </a:rPr>
              <a:t>runs-on: ${{ </a:t>
            </a:r>
            <a:r>
              <a:rPr lang="en-GB" sz="1125" b="1" dirty="0" err="1">
                <a:solidFill>
                  <a:srgbClr val="FF0000"/>
                </a:solidFill>
              </a:rPr>
              <a:t>matrix.os</a:t>
            </a:r>
            <a:r>
              <a:rPr lang="en-GB" sz="1125" b="1" dirty="0">
                <a:solidFill>
                  <a:srgbClr val="FF0000"/>
                </a:solidFill>
              </a:rPr>
              <a:t> }}</a:t>
            </a:r>
          </a:p>
          <a:p>
            <a:pPr lvl="1"/>
            <a:r>
              <a:rPr lang="en-GB" sz="1125" b="1" dirty="0">
                <a:solidFill>
                  <a:srgbClr val="FF0000"/>
                </a:solidFill>
              </a:rPr>
              <a:t>strategy:</a:t>
            </a:r>
          </a:p>
          <a:p>
            <a:pPr lvl="2"/>
            <a:r>
              <a:rPr lang="en-GB" sz="1125" b="1" dirty="0">
                <a:solidFill>
                  <a:srgbClr val="FF0000"/>
                </a:solidFill>
              </a:rPr>
              <a:t> matrix:</a:t>
            </a:r>
          </a:p>
          <a:p>
            <a:pPr lvl="2"/>
            <a:r>
              <a:rPr lang="en-GB" sz="1125" b="1" dirty="0">
                <a:solidFill>
                  <a:srgbClr val="FF0000"/>
                </a:solidFill>
              </a:rPr>
              <a:t>         </a:t>
            </a:r>
            <a:r>
              <a:rPr lang="en-GB" sz="1125" b="1" dirty="0" err="1">
                <a:solidFill>
                  <a:srgbClr val="FF0000"/>
                </a:solidFill>
              </a:rPr>
              <a:t>node_version</a:t>
            </a:r>
            <a:r>
              <a:rPr lang="en-GB" sz="1125" b="1" dirty="0">
                <a:solidFill>
                  <a:srgbClr val="FF0000"/>
                </a:solidFill>
              </a:rPr>
              <a:t>: ['8', '10', '12']</a:t>
            </a:r>
          </a:p>
          <a:p>
            <a:pPr lvl="3"/>
            <a:r>
              <a:rPr lang="en-GB" sz="1125" b="1" dirty="0" err="1">
                <a:solidFill>
                  <a:srgbClr val="FF0000"/>
                </a:solidFill>
              </a:rPr>
              <a:t>os</a:t>
            </a:r>
            <a:r>
              <a:rPr lang="en-GB" sz="1125" b="1" dirty="0">
                <a:solidFill>
                  <a:srgbClr val="FF0000"/>
                </a:solidFill>
              </a:rPr>
              <a:t>: [ubuntu-latest, windows-latest, macOS-latest]</a:t>
            </a:r>
          </a:p>
          <a:p>
            <a:r>
              <a:rPr lang="en-GB" sz="1125" b="1" dirty="0">
                <a:solidFill>
                  <a:srgbClr val="FF0000"/>
                </a:solidFill>
              </a:rPr>
              <a:t>steps:</a:t>
            </a:r>
          </a:p>
          <a:p>
            <a:pPr lvl="1"/>
            <a:r>
              <a:rPr lang="en-GB" sz="1125" b="1" dirty="0">
                <a:solidFill>
                  <a:srgbClr val="FF0000"/>
                </a:solidFill>
              </a:rPr>
              <a:t>- uses: actions/checkout@v2</a:t>
            </a:r>
          </a:p>
          <a:p>
            <a:pPr lvl="1"/>
            <a:r>
              <a:rPr lang="en-GB" sz="1125" b="1" dirty="0">
                <a:solidFill>
                  <a:srgbClr val="FF0000"/>
                </a:solidFill>
              </a:rPr>
              <a:t>- name: Use Node.js ${{ </a:t>
            </a:r>
            <a:r>
              <a:rPr lang="en-GB" sz="1125" b="1" dirty="0" err="1">
                <a:solidFill>
                  <a:srgbClr val="FF0000"/>
                </a:solidFill>
              </a:rPr>
              <a:t>env.NODE_VERSION</a:t>
            </a:r>
            <a:r>
              <a:rPr lang="en-GB" sz="1125" b="1" dirty="0">
                <a:solidFill>
                  <a:srgbClr val="FF0000"/>
                </a:solidFill>
              </a:rPr>
              <a:t> }}</a:t>
            </a:r>
          </a:p>
          <a:p>
            <a:r>
              <a:rPr lang="en-GB" sz="1125" b="1" dirty="0">
                <a:solidFill>
                  <a:srgbClr val="FF0000"/>
                </a:solidFill>
              </a:rPr>
              <a:t>           uses: actions/setup-node@v1</a:t>
            </a:r>
          </a:p>
          <a:p>
            <a:r>
              <a:rPr lang="en-GB" sz="1125" b="1" dirty="0">
                <a:solidFill>
                  <a:srgbClr val="FF0000"/>
                </a:solidFill>
              </a:rPr>
              <a:t>           with:</a:t>
            </a:r>
          </a:p>
          <a:p>
            <a:r>
              <a:rPr lang="en-GB" sz="1125" b="1" dirty="0">
                <a:solidFill>
                  <a:srgbClr val="FF0000"/>
                </a:solidFill>
              </a:rPr>
              <a:t>                   node-version: ${{ </a:t>
            </a:r>
            <a:r>
              <a:rPr lang="en-GB" sz="1125" b="1" dirty="0" err="1">
                <a:solidFill>
                  <a:srgbClr val="FF0000"/>
                </a:solidFill>
              </a:rPr>
              <a:t>env.NODE_VERSION</a:t>
            </a:r>
            <a:r>
              <a:rPr lang="en-GB" sz="1125" b="1" dirty="0">
                <a:solidFill>
                  <a:srgbClr val="FF0000"/>
                </a:solidFill>
              </a:rPr>
              <a:t> }}</a:t>
            </a:r>
          </a:p>
          <a:p>
            <a:pPr lvl="1"/>
            <a:r>
              <a:rPr lang="en-GB" sz="1125" b="1" dirty="0">
                <a:solidFill>
                  <a:srgbClr val="FF0000"/>
                </a:solidFill>
              </a:rPr>
              <a:t>- name: </a:t>
            </a:r>
            <a:r>
              <a:rPr lang="en-GB" sz="1125" b="1" dirty="0" err="1">
                <a:solidFill>
                  <a:srgbClr val="FF0000"/>
                </a:solidFill>
              </a:rPr>
              <a:t>npm</a:t>
            </a:r>
            <a:r>
              <a:rPr lang="en-GB" sz="1125" b="1" dirty="0">
                <a:solidFill>
                  <a:srgbClr val="FF0000"/>
                </a:solidFill>
              </a:rPr>
              <a:t> install, build, and test</a:t>
            </a:r>
          </a:p>
          <a:p>
            <a:r>
              <a:rPr lang="en-GB" sz="1125" b="1" dirty="0">
                <a:solidFill>
                  <a:srgbClr val="FF0000"/>
                </a:solidFill>
              </a:rPr>
              <a:t>           run: |</a:t>
            </a:r>
          </a:p>
          <a:p>
            <a:pPr lvl="2"/>
            <a:r>
              <a:rPr lang="en-GB" sz="1125" b="1" dirty="0">
                <a:solidFill>
                  <a:srgbClr val="FF0000"/>
                </a:solidFill>
              </a:rPr>
              <a:t>  </a:t>
            </a:r>
            <a:r>
              <a:rPr lang="en-GB" sz="1125" b="1" dirty="0" err="1">
                <a:solidFill>
                  <a:srgbClr val="FF0000"/>
                </a:solidFill>
              </a:rPr>
              <a:t>npm</a:t>
            </a:r>
            <a:r>
              <a:rPr lang="en-GB" sz="1125" b="1" dirty="0">
                <a:solidFill>
                  <a:srgbClr val="FF0000"/>
                </a:solidFill>
              </a:rPr>
              <a:t> install</a:t>
            </a:r>
          </a:p>
          <a:p>
            <a:r>
              <a:rPr lang="en-GB" sz="1125" b="1" dirty="0">
                <a:solidFill>
                  <a:srgbClr val="FF0000"/>
                </a:solidFill>
              </a:rPr>
              <a:t>                   </a:t>
            </a:r>
            <a:r>
              <a:rPr lang="en-GB" sz="1125" b="1" dirty="0" err="1">
                <a:solidFill>
                  <a:srgbClr val="FF0000"/>
                </a:solidFill>
              </a:rPr>
              <a:t>npm</a:t>
            </a:r>
            <a:r>
              <a:rPr lang="en-GB" sz="1125" b="1" dirty="0">
                <a:solidFill>
                  <a:srgbClr val="FF0000"/>
                </a:solidFill>
              </a:rPr>
              <a:t> run build --if-present</a:t>
            </a:r>
          </a:p>
          <a:p>
            <a:r>
              <a:rPr lang="en-GB" sz="1125" b="1" dirty="0">
                <a:solidFill>
                  <a:srgbClr val="FF0000"/>
                </a:solidFill>
              </a:rPr>
              <a:t>                   </a:t>
            </a:r>
            <a:r>
              <a:rPr lang="en-GB" sz="1125" b="1" dirty="0" err="1">
                <a:solidFill>
                  <a:srgbClr val="FF0000"/>
                </a:solidFill>
              </a:rPr>
              <a:t>npm</a:t>
            </a:r>
            <a:r>
              <a:rPr lang="en-GB" sz="1125" b="1" dirty="0">
                <a:solidFill>
                  <a:srgbClr val="FF0000"/>
                </a:solidFill>
              </a:rPr>
              <a:t> run test --if-present</a:t>
            </a:r>
          </a:p>
        </p:txBody>
      </p:sp>
      <p:sp>
        <p:nvSpPr>
          <p:cNvPr id="8" name="Speech Bubble: Rectangle 7">
            <a:extLst>
              <a:ext uri="{FF2B5EF4-FFF2-40B4-BE49-F238E27FC236}">
                <a16:creationId xmlns:a16="http://schemas.microsoft.com/office/drawing/2014/main" id="{C027F732-ED03-4869-AA0F-6A877A78F538}"/>
              </a:ext>
            </a:extLst>
          </p:cNvPr>
          <p:cNvSpPr/>
          <p:nvPr/>
        </p:nvSpPr>
        <p:spPr>
          <a:xfrm>
            <a:off x="3667013" y="2191556"/>
            <a:ext cx="5002306" cy="689834"/>
          </a:xfrm>
          <a:prstGeom prst="wedgeRectCallout">
            <a:avLst>
              <a:gd name="adj1" fmla="val -79301"/>
              <a:gd name="adj2" fmla="val -60892"/>
            </a:avLst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350" dirty="0"/>
              <a:t>What event triggers the workflow?</a:t>
            </a:r>
          </a:p>
        </p:txBody>
      </p:sp>
      <p:sp>
        <p:nvSpPr>
          <p:cNvPr id="9" name="Speech Bubble: Rectangle 8">
            <a:extLst>
              <a:ext uri="{FF2B5EF4-FFF2-40B4-BE49-F238E27FC236}">
                <a16:creationId xmlns:a16="http://schemas.microsoft.com/office/drawing/2014/main" id="{1C50C875-FE93-4A69-A841-2A8BE7540EA7}"/>
              </a:ext>
            </a:extLst>
          </p:cNvPr>
          <p:cNvSpPr/>
          <p:nvPr/>
        </p:nvSpPr>
        <p:spPr>
          <a:xfrm>
            <a:off x="3767194" y="2667302"/>
            <a:ext cx="5002306" cy="689834"/>
          </a:xfrm>
          <a:prstGeom prst="wedgeRectCallout">
            <a:avLst>
              <a:gd name="adj1" fmla="val -82043"/>
              <a:gd name="adj2" fmla="val 33260"/>
            </a:avLst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350" dirty="0"/>
              <a:t>Where does it run?</a:t>
            </a:r>
          </a:p>
        </p:txBody>
      </p:sp>
      <p:sp>
        <p:nvSpPr>
          <p:cNvPr id="10" name="Speech Bubble: Rectangle 9">
            <a:extLst>
              <a:ext uri="{FF2B5EF4-FFF2-40B4-BE49-F238E27FC236}">
                <a16:creationId xmlns:a16="http://schemas.microsoft.com/office/drawing/2014/main" id="{DDF99869-5A17-4428-8710-3AF34E823A10}"/>
              </a:ext>
            </a:extLst>
          </p:cNvPr>
          <p:cNvSpPr/>
          <p:nvPr/>
        </p:nvSpPr>
        <p:spPr>
          <a:xfrm>
            <a:off x="3884856" y="3286777"/>
            <a:ext cx="5002306" cy="689834"/>
          </a:xfrm>
          <a:prstGeom prst="wedgeRectCallout">
            <a:avLst>
              <a:gd name="adj1" fmla="val -49059"/>
              <a:gd name="adj2" fmla="val 141447"/>
            </a:avLst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350" dirty="0"/>
              <a:t>What gets run?</a:t>
            </a:r>
          </a:p>
        </p:txBody>
      </p:sp>
    </p:spTree>
    <p:extLst>
      <p:ext uri="{BB962C8B-B14F-4D97-AF65-F5344CB8AC3E}">
        <p14:creationId xmlns:p14="http://schemas.microsoft.com/office/powerpoint/2010/main" val="25573339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8" grpId="1" animBg="1"/>
      <p:bldP spid="9" grpId="0" animBg="1"/>
      <p:bldP spid="9" grpId="1" animBg="1"/>
      <p:bldP spid="10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3259B8-980E-40CC-8379-40DECDBCAD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How do I write my own Custom Action?</a:t>
            </a:r>
          </a:p>
        </p:txBody>
      </p:sp>
    </p:spTree>
    <p:extLst>
      <p:ext uri="{BB962C8B-B14F-4D97-AF65-F5344CB8AC3E}">
        <p14:creationId xmlns:p14="http://schemas.microsoft.com/office/powerpoint/2010/main" val="6122812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8D048FA-B9E2-4B45-B620-4D72291934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Control over logical flow</a:t>
            </a:r>
          </a:p>
          <a:p>
            <a:r>
              <a:rPr lang="en-GB" dirty="0"/>
              <a:t>Use of custom tools not present on the agent</a:t>
            </a:r>
          </a:p>
          <a:p>
            <a:r>
              <a:rPr lang="en-GB" dirty="0"/>
              <a:t>Aid management of complexity</a:t>
            </a:r>
          </a:p>
          <a:p>
            <a:r>
              <a:rPr lang="en-GB" dirty="0"/>
              <a:t>Code reuse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FB7E054-A7C9-421F-90CD-D9A3453F78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Why might you want a custom action?</a:t>
            </a:r>
          </a:p>
        </p:txBody>
      </p:sp>
    </p:spTree>
    <p:extLst>
      <p:ext uri="{BB962C8B-B14F-4D97-AF65-F5344CB8AC3E}">
        <p14:creationId xmlns:p14="http://schemas.microsoft.com/office/powerpoint/2010/main" val="19694558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EB313A-7E24-4E9B-97E8-3BD8F99559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9720" y="1281113"/>
            <a:ext cx="8733864" cy="994172"/>
          </a:xfrm>
        </p:spPr>
        <p:txBody>
          <a:bodyPr>
            <a:normAutofit fontScale="90000"/>
          </a:bodyPr>
          <a:lstStyle/>
          <a:p>
            <a:r>
              <a:rPr lang="en-GB" dirty="0"/>
              <a:t>Before you start, remember the Marketplace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597FDB4-4A7F-4771-ADB1-B88E2C8CAE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8741" y="2490470"/>
            <a:ext cx="6046517" cy="3645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735301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D35FCF1-91A3-4494-A129-7AC7298DD2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do I write my action in?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E042A7-48CD-4F0B-829A-D0E62CF6AF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r>
              <a:rPr lang="en-GB" dirty="0"/>
              <a:t>JavaScript				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9243CD5-86E6-47D4-90DF-98F565CAF68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r>
              <a:rPr lang="en-GB" dirty="0"/>
              <a:t>Fast to load</a:t>
            </a:r>
          </a:p>
          <a:p>
            <a:r>
              <a:rPr lang="en-GB" dirty="0"/>
              <a:t>Runs directly on Agent</a:t>
            </a:r>
          </a:p>
          <a:p>
            <a:r>
              <a:rPr lang="en-GB" dirty="0"/>
              <a:t>SDK for Workflows API</a:t>
            </a:r>
          </a:p>
          <a:p>
            <a:r>
              <a:rPr lang="en-GB" dirty="0"/>
              <a:t>Templates available</a:t>
            </a:r>
          </a:p>
          <a:p>
            <a:r>
              <a:rPr lang="en-GB" dirty="0"/>
              <a:t>But requires correct setup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34E95CA-F29E-4A4E-BA7E-B70F7CF5F47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2900363"/>
            <a:ext cx="4141022" cy="2763441"/>
          </a:xfrm>
        </p:spPr>
        <p:txBody>
          <a:bodyPr>
            <a:normAutofit lnSpcReduction="10000"/>
          </a:bodyPr>
          <a:lstStyle/>
          <a:p>
            <a:r>
              <a:rPr lang="en-GB" dirty="0"/>
              <a:t>Flexible, any tools any language</a:t>
            </a:r>
          </a:p>
          <a:p>
            <a:r>
              <a:rPr lang="en-GB" dirty="0"/>
              <a:t>Built at runtime or loaded from Docker Registry</a:t>
            </a:r>
          </a:p>
          <a:p>
            <a:r>
              <a:rPr lang="en-GB" dirty="0"/>
              <a:t>Consistent results</a:t>
            </a:r>
          </a:p>
          <a:p>
            <a:r>
              <a:rPr lang="en-GB" dirty="0"/>
              <a:t>Slower to start 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0EC47F6-FE1F-48EE-A81A-E5B1A54384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 anchor="t"/>
          <a:lstStyle/>
          <a:p>
            <a:r>
              <a:rPr lang="en-GB" dirty="0"/>
              <a:t>Docker</a:t>
            </a:r>
          </a:p>
        </p:txBody>
      </p:sp>
      <p:pic>
        <p:nvPicPr>
          <p:cNvPr id="11" name="Picture 2" descr="Image result for javascript icon">
            <a:extLst>
              <a:ext uri="{FF2B5EF4-FFF2-40B4-BE49-F238E27FC236}">
                <a16:creationId xmlns:a16="http://schemas.microsoft.com/office/drawing/2014/main" id="{977D8E15-E7C3-4C28-9819-90BA50B3A8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79032" y="2070806"/>
            <a:ext cx="892969" cy="8929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Image result for docker icon">
            <a:extLst>
              <a:ext uri="{FF2B5EF4-FFF2-40B4-BE49-F238E27FC236}">
                <a16:creationId xmlns:a16="http://schemas.microsoft.com/office/drawing/2014/main" id="{614CBAFA-2A58-49CA-9569-8E98BF96DC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1191" y="2185021"/>
            <a:ext cx="926854" cy="6645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990551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7" grpId="0" build="p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26F7B-05AC-4B82-8E3F-32586F9EFF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Anatomy of an </a:t>
            </a:r>
            <a:r>
              <a:rPr lang="en-GB" dirty="0" err="1"/>
              <a:t>Action.yaml</a:t>
            </a:r>
            <a:r>
              <a:rPr lang="en-GB" dirty="0"/>
              <a:t> file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0AA80F2-5DC7-46E0-6233-C63F4AE55423}"/>
              </a:ext>
            </a:extLst>
          </p:cNvPr>
          <p:cNvGrpSpPr/>
          <p:nvPr/>
        </p:nvGrpSpPr>
        <p:grpSpPr>
          <a:xfrm>
            <a:off x="-1" y="1308152"/>
            <a:ext cx="9144001" cy="5056553"/>
            <a:chOff x="-1" y="1308152"/>
            <a:chExt cx="7981083" cy="3884855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76BF5397-E300-4736-8BF4-9ABE0A60EBF1}"/>
                </a:ext>
              </a:extLst>
            </p:cNvPr>
            <p:cNvSpPr/>
            <p:nvPr/>
          </p:nvSpPr>
          <p:spPr>
            <a:xfrm>
              <a:off x="0" y="1308152"/>
              <a:ext cx="7981082" cy="388485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GB" sz="1600" dirty="0">
                  <a:solidFill>
                    <a:srgbClr val="1F8CCB"/>
                  </a:solidFill>
                </a:rPr>
                <a:t>name</a:t>
              </a:r>
              <a:r>
                <a:rPr lang="en-GB" sz="1600" dirty="0"/>
                <a:t>: </a:t>
              </a:r>
              <a:r>
                <a:rPr lang="en-GB" sz="1600" dirty="0">
                  <a:solidFill>
                    <a:schemeClr val="accent1"/>
                  </a:solidFill>
                </a:rPr>
                <a:t>'Apply Version to JSON file'</a:t>
              </a:r>
            </a:p>
            <a:p>
              <a:r>
                <a:rPr lang="en-GB" sz="1600" dirty="0">
                  <a:solidFill>
                    <a:srgbClr val="1F8CCB"/>
                  </a:solidFill>
                </a:rPr>
                <a:t>description</a:t>
              </a:r>
              <a:r>
                <a:rPr lang="en-GB" sz="1600" dirty="0"/>
                <a:t>: </a:t>
              </a:r>
              <a:r>
                <a:rPr lang="en-GB" sz="1600" dirty="0">
                  <a:solidFill>
                    <a:schemeClr val="accent1"/>
                  </a:solidFill>
                </a:rPr>
                <a:t>'Adds a version number to a field in a JSON file'</a:t>
              </a:r>
            </a:p>
            <a:p>
              <a:r>
                <a:rPr lang="en-GB" sz="1600" dirty="0">
                  <a:solidFill>
                    <a:srgbClr val="1F8CCB"/>
                  </a:solidFill>
                </a:rPr>
                <a:t>author</a:t>
              </a:r>
              <a:r>
                <a:rPr lang="en-GB" sz="1600" dirty="0"/>
                <a:t>: </a:t>
              </a:r>
              <a:r>
                <a:rPr lang="en-GB" sz="1600" dirty="0">
                  <a:solidFill>
                    <a:schemeClr val="accent1"/>
                  </a:solidFill>
                </a:rPr>
                <a:t>'Richard Fennell'</a:t>
              </a:r>
            </a:p>
            <a:p>
              <a:r>
                <a:rPr lang="en-GB" sz="1600" dirty="0">
                  <a:solidFill>
                    <a:srgbClr val="1F8CCB"/>
                  </a:solidFill>
                </a:rPr>
                <a:t>inputs</a:t>
              </a:r>
              <a:r>
                <a:rPr lang="en-GB" sz="1600" dirty="0"/>
                <a:t>:</a:t>
              </a:r>
            </a:p>
            <a:p>
              <a:pPr lvl="1"/>
              <a:r>
                <a:rPr lang="en-GB" sz="1600" dirty="0">
                  <a:solidFill>
                    <a:srgbClr val="1F8CCB"/>
                  </a:solidFill>
                </a:rPr>
                <a:t>Path</a:t>
              </a:r>
              <a:r>
                <a:rPr lang="en-GB" sz="1600" dirty="0"/>
                <a:t>:</a:t>
              </a:r>
            </a:p>
            <a:p>
              <a:pPr lvl="2"/>
              <a:r>
                <a:rPr lang="en-GB" sz="1600" dirty="0">
                  <a:solidFill>
                    <a:srgbClr val="1F8CCB"/>
                  </a:solidFill>
                </a:rPr>
                <a:t>description</a:t>
              </a:r>
              <a:r>
                <a:rPr lang="en-GB" sz="1600" dirty="0"/>
                <a:t>: </a:t>
              </a:r>
              <a:r>
                <a:rPr lang="en-GB" sz="1600" dirty="0">
                  <a:solidFill>
                    <a:schemeClr val="accent1"/>
                  </a:solidFill>
                </a:rPr>
                <a:t>'Source folder Filter (folder under GITHUB_WORKSPACE)'</a:t>
              </a:r>
            </a:p>
            <a:p>
              <a:pPr lvl="2"/>
              <a:r>
                <a:rPr lang="en-GB" sz="1600" dirty="0">
                  <a:solidFill>
                    <a:srgbClr val="1F8CCB"/>
                  </a:solidFill>
                </a:rPr>
                <a:t>default</a:t>
              </a:r>
              <a:r>
                <a:rPr lang="en-GB" sz="1600" dirty="0"/>
                <a:t>: </a:t>
              </a:r>
              <a:r>
                <a:rPr lang="en-GB" sz="1600" dirty="0">
                  <a:solidFill>
                    <a:schemeClr val="accent1"/>
                  </a:solidFill>
                </a:rPr>
                <a:t>''</a:t>
              </a:r>
            </a:p>
            <a:p>
              <a:pPr lvl="2"/>
              <a:r>
                <a:rPr lang="en-GB" sz="1600" dirty="0">
                  <a:solidFill>
                    <a:srgbClr val="1F8CCB"/>
                  </a:solidFill>
                </a:rPr>
                <a:t>required</a:t>
              </a:r>
              <a:r>
                <a:rPr lang="en-GB" sz="1600" dirty="0"/>
                <a:t>: </a:t>
              </a:r>
              <a:r>
                <a:rPr lang="en-GB" sz="1600" dirty="0">
                  <a:solidFill>
                    <a:schemeClr val="accent1"/>
                  </a:solidFill>
                </a:rPr>
                <a:t>false</a:t>
              </a:r>
            </a:p>
            <a:p>
              <a:pPr lvl="1"/>
              <a:r>
                <a:rPr lang="en-GB" sz="1600" dirty="0" err="1">
                  <a:solidFill>
                    <a:srgbClr val="1F8CCB"/>
                  </a:solidFill>
                </a:rPr>
                <a:t>VersionNumber</a:t>
              </a:r>
              <a:r>
                <a:rPr lang="en-GB" sz="1600" dirty="0"/>
                <a:t>:</a:t>
              </a:r>
            </a:p>
            <a:p>
              <a:pPr lvl="2"/>
              <a:r>
                <a:rPr lang="en-GB" sz="1600" dirty="0"/>
                <a:t> </a:t>
              </a:r>
              <a:r>
                <a:rPr lang="en-GB" sz="1600" dirty="0">
                  <a:solidFill>
                    <a:srgbClr val="1F8CCB"/>
                  </a:solidFill>
                </a:rPr>
                <a:t>description</a:t>
              </a:r>
              <a:r>
                <a:rPr lang="en-GB" sz="1600" dirty="0"/>
                <a:t>:</a:t>
              </a:r>
              <a:r>
                <a:rPr lang="en-GB" sz="1600" dirty="0">
                  <a:solidFill>
                    <a:schemeClr val="accent1"/>
                  </a:solidFill>
                </a:rPr>
                <a:t> 'Version Number'</a:t>
              </a:r>
            </a:p>
            <a:p>
              <a:pPr lvl="2"/>
              <a:r>
                <a:rPr lang="en-GB" sz="1600" dirty="0"/>
                <a:t> </a:t>
              </a:r>
              <a:r>
                <a:rPr lang="en-GB" sz="1600" dirty="0">
                  <a:solidFill>
                    <a:srgbClr val="1F8CCB"/>
                  </a:solidFill>
                </a:rPr>
                <a:t>default</a:t>
              </a:r>
              <a:r>
                <a:rPr lang="en-GB" sz="1600" dirty="0"/>
                <a:t>: </a:t>
              </a:r>
              <a:r>
                <a:rPr lang="en-GB" sz="1600" dirty="0">
                  <a:solidFill>
                    <a:schemeClr val="accent1"/>
                  </a:solidFill>
                </a:rPr>
                <a:t>''</a:t>
              </a:r>
            </a:p>
            <a:p>
              <a:pPr lvl="2"/>
              <a:r>
                <a:rPr lang="en-GB" sz="1600" dirty="0"/>
                <a:t> </a:t>
              </a:r>
              <a:r>
                <a:rPr lang="en-GB" sz="1600" dirty="0">
                  <a:solidFill>
                    <a:srgbClr val="1F8CCB"/>
                  </a:solidFill>
                </a:rPr>
                <a:t>required</a:t>
              </a:r>
              <a:r>
                <a:rPr lang="en-GB" sz="1600" dirty="0"/>
                <a:t>: </a:t>
              </a:r>
              <a:r>
                <a:rPr lang="en-GB" sz="1600" dirty="0">
                  <a:solidFill>
                    <a:schemeClr val="accent1"/>
                  </a:solidFill>
                </a:rPr>
                <a:t>true</a:t>
              </a:r>
            </a:p>
            <a:p>
              <a:r>
                <a:rPr lang="en-GB" sz="1600" dirty="0">
                  <a:solidFill>
                    <a:srgbClr val="1F8CCB"/>
                  </a:solidFill>
                </a:rPr>
                <a:t>outputs</a:t>
              </a:r>
              <a:r>
                <a:rPr lang="en-GB" sz="1600" dirty="0"/>
                <a:t>:</a:t>
              </a:r>
              <a:endParaRPr lang="en-GB" sz="1600" dirty="0">
                <a:solidFill>
                  <a:srgbClr val="1F8CCB"/>
                </a:solidFill>
              </a:endParaRPr>
            </a:p>
            <a:p>
              <a:pPr lvl="1"/>
              <a:r>
                <a:rPr lang="en-GB" sz="1600" dirty="0" err="1">
                  <a:solidFill>
                    <a:srgbClr val="1F8CCB"/>
                  </a:solidFill>
                </a:rPr>
                <a:t>FileUpdated</a:t>
              </a:r>
              <a:r>
                <a:rPr lang="en-GB" sz="1600" dirty="0"/>
                <a:t>:</a:t>
              </a:r>
            </a:p>
            <a:p>
              <a:pPr lvl="2"/>
              <a:r>
                <a:rPr lang="en-GB" sz="1600" dirty="0">
                  <a:solidFill>
                    <a:srgbClr val="1F8CCB"/>
                  </a:solidFill>
                </a:rPr>
                <a:t>description</a:t>
              </a:r>
              <a:r>
                <a:rPr lang="en-GB" sz="1600" dirty="0"/>
                <a:t>: </a:t>
              </a:r>
              <a:r>
                <a:rPr lang="en-GB" sz="1600" dirty="0">
                  <a:solidFill>
                    <a:schemeClr val="accent1"/>
                  </a:solidFill>
                </a:rPr>
                <a:t>'The name of the file updated'</a:t>
              </a:r>
            </a:p>
            <a:p>
              <a:r>
                <a:rPr lang="en-GB" sz="1600" dirty="0">
                  <a:solidFill>
                    <a:srgbClr val="1F8CCB"/>
                  </a:solidFill>
                </a:rPr>
                <a:t>runs</a:t>
              </a:r>
              <a:r>
                <a:rPr lang="en-GB" sz="1600" dirty="0"/>
                <a:t>:</a:t>
              </a:r>
            </a:p>
            <a:p>
              <a:pPr lvl="1"/>
              <a:r>
                <a:rPr lang="en-GB" sz="1600" dirty="0">
                  <a:solidFill>
                    <a:srgbClr val="1F8CCB"/>
                  </a:solidFill>
                </a:rPr>
                <a:t>using</a:t>
              </a:r>
              <a:r>
                <a:rPr lang="en-GB" sz="1600" dirty="0"/>
                <a:t>: </a:t>
              </a:r>
              <a:r>
                <a:rPr lang="en-GB" sz="1600" dirty="0">
                  <a:solidFill>
                    <a:schemeClr val="accent1"/>
                  </a:solidFill>
                </a:rPr>
                <a:t>'node12'</a:t>
              </a:r>
            </a:p>
            <a:p>
              <a:pPr lvl="1"/>
              <a:r>
                <a:rPr lang="en-GB" sz="1600" dirty="0">
                  <a:solidFill>
                    <a:srgbClr val="1F8CCB"/>
                  </a:solidFill>
                </a:rPr>
                <a:t>main</a:t>
              </a:r>
              <a:r>
                <a:rPr lang="en-GB" sz="1600" dirty="0"/>
                <a:t>: </a:t>
              </a:r>
              <a:r>
                <a:rPr lang="en-GB" sz="1600" dirty="0">
                  <a:solidFill>
                    <a:schemeClr val="accent1"/>
                  </a:solidFill>
                </a:rPr>
                <a:t>'lib/main.js'</a:t>
              </a:r>
            </a:p>
            <a:p>
              <a:r>
                <a:rPr lang="en-GB" sz="1600" dirty="0">
                  <a:solidFill>
                    <a:srgbClr val="1F8CCB"/>
                  </a:solidFill>
                </a:rPr>
                <a:t>branding</a:t>
              </a:r>
              <a:r>
                <a:rPr lang="en-GB" sz="1600" dirty="0"/>
                <a:t>:</a:t>
              </a:r>
            </a:p>
            <a:p>
              <a:pPr lvl="1"/>
              <a:r>
                <a:rPr lang="en-GB" sz="1600" dirty="0">
                  <a:solidFill>
                    <a:srgbClr val="1F8CCB"/>
                  </a:solidFill>
                </a:rPr>
                <a:t>icon</a:t>
              </a:r>
              <a:r>
                <a:rPr lang="en-GB" sz="1600" dirty="0"/>
                <a:t>: </a:t>
              </a:r>
              <a:r>
                <a:rPr lang="en-GB" sz="1600" dirty="0">
                  <a:solidFill>
                    <a:schemeClr val="accent1"/>
                  </a:solidFill>
                </a:rPr>
                <a:t>'file-text'  </a:t>
              </a:r>
            </a:p>
            <a:p>
              <a:pPr lvl="1"/>
              <a:r>
                <a:rPr lang="en-GB" sz="1600" dirty="0" err="1">
                  <a:solidFill>
                    <a:srgbClr val="1F8CCB"/>
                  </a:solidFill>
                </a:rPr>
                <a:t>color</a:t>
              </a:r>
              <a:r>
                <a:rPr lang="en-GB" sz="1600" dirty="0"/>
                <a:t>: </a:t>
              </a:r>
              <a:r>
                <a:rPr lang="en-GB" sz="1600" dirty="0">
                  <a:solidFill>
                    <a:schemeClr val="accent1"/>
                  </a:solidFill>
                </a:rPr>
                <a:t>'green'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AA3686C-AE31-4FE4-B7B6-777436222888}"/>
                </a:ext>
              </a:extLst>
            </p:cNvPr>
            <p:cNvSpPr/>
            <p:nvPr/>
          </p:nvSpPr>
          <p:spPr>
            <a:xfrm>
              <a:off x="-1" y="4067488"/>
              <a:ext cx="2384163" cy="57687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GB" sz="1600" dirty="0">
                  <a:solidFill>
                    <a:srgbClr val="1F8CCB"/>
                  </a:solidFill>
                </a:rPr>
                <a:t>runs</a:t>
              </a:r>
              <a:r>
                <a:rPr lang="en-GB" sz="1600" dirty="0"/>
                <a:t>:</a:t>
              </a:r>
            </a:p>
            <a:p>
              <a:pPr lvl="1"/>
              <a:r>
                <a:rPr lang="en-GB" sz="1600" dirty="0">
                  <a:solidFill>
                    <a:srgbClr val="1F8CCB"/>
                  </a:solidFill>
                </a:rPr>
                <a:t>using</a:t>
              </a:r>
              <a:r>
                <a:rPr lang="en-GB" sz="1600" dirty="0"/>
                <a:t>: </a:t>
              </a:r>
              <a:r>
                <a:rPr lang="en-GB" sz="1600" dirty="0">
                  <a:solidFill>
                    <a:schemeClr val="accent1"/>
                  </a:solidFill>
                </a:rPr>
                <a:t>’docker'</a:t>
              </a:r>
            </a:p>
            <a:p>
              <a:pPr lvl="1"/>
              <a:r>
                <a:rPr lang="en-GB" sz="1600" dirty="0">
                  <a:solidFill>
                    <a:srgbClr val="1F8CCB"/>
                  </a:solidFill>
                </a:rPr>
                <a:t>main</a:t>
              </a:r>
              <a:r>
                <a:rPr lang="en-GB" sz="1600" dirty="0"/>
                <a:t>: </a:t>
              </a:r>
              <a:r>
                <a:rPr lang="en-GB" sz="1600" dirty="0">
                  <a:solidFill>
                    <a:schemeClr val="accent1"/>
                  </a:solidFill>
                </a:rPr>
                <a:t>’</a:t>
              </a:r>
              <a:r>
                <a:rPr lang="en-GB" sz="1600" dirty="0" err="1">
                  <a:solidFill>
                    <a:schemeClr val="accent1"/>
                  </a:solidFill>
                </a:rPr>
                <a:t>dockerfile</a:t>
              </a:r>
              <a:r>
                <a:rPr lang="en-GB" sz="1600" dirty="0">
                  <a:solidFill>
                    <a:schemeClr val="accent1"/>
                  </a:solidFill>
                </a:rPr>
                <a:t>'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9F3EF0E-F8C9-474D-99ED-C8C6543E5957}"/>
                </a:ext>
              </a:extLst>
            </p:cNvPr>
            <p:cNvSpPr/>
            <p:nvPr/>
          </p:nvSpPr>
          <p:spPr>
            <a:xfrm>
              <a:off x="-1" y="4053370"/>
              <a:ext cx="2555847" cy="57687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GB" sz="1600" dirty="0">
                  <a:solidFill>
                    <a:srgbClr val="1F8CCB"/>
                  </a:solidFill>
                </a:rPr>
                <a:t>runs</a:t>
              </a:r>
              <a:r>
                <a:rPr lang="en-GB" sz="1600" dirty="0"/>
                <a:t>:</a:t>
              </a:r>
            </a:p>
            <a:p>
              <a:pPr lvl="1"/>
              <a:r>
                <a:rPr lang="en-GB" sz="1600" dirty="0">
                  <a:solidFill>
                    <a:srgbClr val="1F8CCB"/>
                  </a:solidFill>
                </a:rPr>
                <a:t>using</a:t>
              </a:r>
              <a:r>
                <a:rPr lang="en-GB" sz="1600" dirty="0"/>
                <a:t>: </a:t>
              </a:r>
              <a:r>
                <a:rPr lang="en-GB" sz="1600" dirty="0">
                  <a:solidFill>
                    <a:schemeClr val="accent1"/>
                  </a:solidFill>
                </a:rPr>
                <a:t>’docker'</a:t>
              </a:r>
            </a:p>
            <a:p>
              <a:pPr lvl="1"/>
              <a:r>
                <a:rPr lang="en-GB" sz="1600" dirty="0">
                  <a:solidFill>
                    <a:srgbClr val="1F8CCB"/>
                  </a:solidFill>
                </a:rPr>
                <a:t>main</a:t>
              </a:r>
              <a:r>
                <a:rPr lang="en-GB" sz="1600" dirty="0"/>
                <a:t>: </a:t>
              </a:r>
              <a:r>
                <a:rPr lang="en-GB" sz="1600" dirty="0">
                  <a:solidFill>
                    <a:schemeClr val="accent1"/>
                  </a:solidFill>
                </a:rPr>
                <a:t>’docker://</a:t>
              </a:r>
              <a:r>
                <a:rPr lang="en-GB" sz="1600" dirty="0" err="1">
                  <a:solidFill>
                    <a:schemeClr val="accent1"/>
                  </a:solidFill>
                </a:rPr>
                <a:t>image:tag</a:t>
              </a:r>
              <a:r>
                <a:rPr lang="en-GB" sz="1600" dirty="0">
                  <a:solidFill>
                    <a:schemeClr val="accent1"/>
                  </a:solidFill>
                </a:rPr>
                <a:t>'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4663710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D6225D4-5D56-4FB0-A533-671B461533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9895" y="1468073"/>
            <a:ext cx="6790765" cy="2029100"/>
          </a:xfrm>
        </p:spPr>
        <p:txBody>
          <a:bodyPr>
            <a:normAutofit/>
          </a:bodyPr>
          <a:lstStyle/>
          <a:p>
            <a:r>
              <a:rPr lang="en-GB" dirty="0"/>
              <a:t>But I have some custom </a:t>
            </a:r>
            <a:br>
              <a:rPr lang="en-GB" dirty="0"/>
            </a:br>
            <a:r>
              <a:rPr lang="en-GB" dirty="0"/>
              <a:t>Azure DevOps Pipeline Tasks. </a:t>
            </a:r>
            <a:br>
              <a:rPr lang="en-GB" dirty="0"/>
            </a:br>
            <a:br>
              <a:rPr lang="en-GB" dirty="0"/>
            </a:br>
            <a:r>
              <a:rPr lang="en-GB" dirty="0"/>
              <a:t>Can I reuse them?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3B2FF4-FFE5-43D0-ADE0-1E019DDE99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915127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F62C298-1E32-41AF-81A2-1ED5BA5956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Should be written in Node.JS</a:t>
            </a:r>
          </a:p>
          <a:p>
            <a:r>
              <a:rPr lang="en-GB" dirty="0"/>
              <a:t>Can’t make use of Azure DevOps specific APIs</a:t>
            </a:r>
          </a:p>
          <a:p>
            <a:r>
              <a:rPr lang="en-GB" dirty="0"/>
              <a:t>Must do something that is useful in GitHub workflows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0E9DBDE-60B6-4A43-A8BE-DDE998B87B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is a good candidate?</a:t>
            </a:r>
          </a:p>
        </p:txBody>
      </p:sp>
    </p:spTree>
    <p:extLst>
      <p:ext uri="{BB962C8B-B14F-4D97-AF65-F5344CB8AC3E}">
        <p14:creationId xmlns:p14="http://schemas.microsoft.com/office/powerpoint/2010/main" val="163636389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5F1F92C-E3BF-49D4-B5C1-48C73848A6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2216382"/>
            <a:ext cx="8015715" cy="3444286"/>
          </a:xfrm>
        </p:spPr>
        <p:txBody>
          <a:bodyPr>
            <a:normAutofit fontScale="92500" lnSpcReduction="10000"/>
          </a:bodyPr>
          <a:lstStyle/>
          <a:p>
            <a:r>
              <a:rPr lang="en-GB" dirty="0"/>
              <a:t>Create a new repo from the template generator</a:t>
            </a:r>
          </a:p>
          <a:p>
            <a:pPr marL="342900" lvl="1" indent="0">
              <a:buNone/>
            </a:pPr>
            <a:r>
              <a:rPr lang="en-GB" dirty="0">
                <a:hlinkClick r:id="rId3"/>
              </a:rPr>
              <a:t>https://github.com/actions</a:t>
            </a:r>
            <a:r>
              <a:rPr lang="en-GB">
                <a:hlinkClick r:id="rId3"/>
              </a:rPr>
              <a:t>/typescript-action</a:t>
            </a:r>
            <a:r>
              <a:rPr lang="en-GB"/>
              <a:t> </a:t>
            </a:r>
            <a:endParaRPr lang="en-GB" dirty="0"/>
          </a:p>
          <a:p>
            <a:r>
              <a:rPr lang="en-GB" dirty="0"/>
              <a:t>Copied in my task code into the repo bit by bit</a:t>
            </a:r>
          </a:p>
          <a:p>
            <a:pPr lvl="1"/>
            <a:r>
              <a:rPr lang="en-GB" dirty="0"/>
              <a:t>Removed any Azure DevOps specific code that was not needed</a:t>
            </a:r>
          </a:p>
          <a:p>
            <a:pPr lvl="1"/>
            <a:r>
              <a:rPr lang="en-GB" dirty="0"/>
              <a:t>Swapped the references to “vsts-task-lib/task” to “@actions/core” </a:t>
            </a:r>
          </a:p>
          <a:p>
            <a:pPr lvl="1"/>
            <a:r>
              <a:rPr lang="en-GB" dirty="0"/>
              <a:t>Swapped tests from Mocha/Chai to Jest</a:t>
            </a:r>
          </a:p>
          <a:p>
            <a:pPr lvl="1"/>
            <a:r>
              <a:rPr lang="en-GB" dirty="0"/>
              <a:t>Added running of </a:t>
            </a:r>
            <a:r>
              <a:rPr lang="en-GB" dirty="0" err="1"/>
              <a:t>TSLint</a:t>
            </a:r>
            <a:r>
              <a:rPr lang="en-GB" dirty="0"/>
              <a:t> to the build process</a:t>
            </a:r>
          </a:p>
          <a:p>
            <a:r>
              <a:rPr lang="en-GB" dirty="0"/>
              <a:t>Updated the action manifest to expose parameters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E8EC0AB-6723-4F3C-9CCA-55A15F16BF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How did I write my own Custom Action?</a:t>
            </a:r>
            <a:br>
              <a:rPr lang="en-GB" dirty="0"/>
            </a:b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4542370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8DFDAFE-7651-4414-BB67-9F6678B2A8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793" y="1294751"/>
            <a:ext cx="8247334" cy="853051"/>
          </a:xfrm>
        </p:spPr>
        <p:txBody>
          <a:bodyPr/>
          <a:lstStyle/>
          <a:p>
            <a:r>
              <a:rPr lang="en-GB" dirty="0"/>
              <a:t>Adding a Release Branch</a:t>
            </a:r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699D2BF1-00F0-4728-AA26-5A6B96B1C6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1593" y="2054597"/>
            <a:ext cx="7745023" cy="3508653"/>
          </a:xfrm>
          <a:prstGeom prst="rect">
            <a:avLst/>
          </a:prstGeom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dirty="0">
              <a:solidFill>
                <a:srgbClr val="333333"/>
              </a:solidFill>
              <a:latin typeface="SFMono-Regular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100" dirty="0">
                <a:solidFill>
                  <a:schemeClr val="accent6">
                    <a:lumMod val="75000"/>
                  </a:schemeClr>
                </a:solidFill>
                <a:latin typeface="SFMono-Regular"/>
              </a:rPr>
              <a:t># comment out in distribution branches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100" dirty="0">
                <a:solidFill>
                  <a:schemeClr val="accent6">
                    <a:lumMod val="75000"/>
                  </a:schemeClr>
                </a:solidFill>
                <a:latin typeface="SFMono-Regular"/>
              </a:rPr>
              <a:t># </a:t>
            </a:r>
            <a:r>
              <a:rPr lang="en-US" altLang="en-US" sz="2100" dirty="0" err="1">
                <a:solidFill>
                  <a:schemeClr val="accent6">
                    <a:lumMod val="75000"/>
                  </a:schemeClr>
                </a:solidFill>
                <a:latin typeface="SFMono-Regular"/>
              </a:rPr>
              <a:t>node_modules</a:t>
            </a:r>
            <a:r>
              <a:rPr lang="en-US" altLang="en-US" sz="2100" dirty="0">
                <a:solidFill>
                  <a:schemeClr val="accent6">
                    <a:lumMod val="75000"/>
                  </a:schemeClr>
                </a:solidFill>
                <a:latin typeface="SFMono-Regular"/>
              </a:rPr>
              <a:t>/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100" dirty="0">
                <a:solidFill>
                  <a:schemeClr val="bg1"/>
                </a:solidFill>
                <a:latin typeface="SFMono-Regular"/>
              </a:rPr>
              <a:t>$ git checkout -b releases/v1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100" dirty="0">
                <a:solidFill>
                  <a:schemeClr val="bg1"/>
                </a:solidFill>
                <a:latin typeface="SFMono-Regular"/>
              </a:rPr>
              <a:t>$ </a:t>
            </a:r>
            <a:r>
              <a:rPr lang="en-US" altLang="en-US" sz="2100" dirty="0" err="1">
                <a:solidFill>
                  <a:schemeClr val="bg1"/>
                </a:solidFill>
                <a:latin typeface="SFMono-Regular"/>
              </a:rPr>
              <a:t>npm</a:t>
            </a:r>
            <a:r>
              <a:rPr lang="en-US" altLang="en-US" sz="2100" dirty="0">
                <a:solidFill>
                  <a:schemeClr val="bg1"/>
                </a:solidFill>
                <a:latin typeface="SFMono-Regular"/>
              </a:rPr>
              <a:t> prune --production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100" dirty="0">
                <a:solidFill>
                  <a:schemeClr val="bg1"/>
                </a:solidFill>
                <a:latin typeface="SFMono-Regular"/>
              </a:rPr>
              <a:t>$ git add </a:t>
            </a:r>
            <a:r>
              <a:rPr lang="en-US" altLang="en-US" sz="2100" dirty="0" err="1">
                <a:solidFill>
                  <a:schemeClr val="bg1"/>
                </a:solidFill>
                <a:latin typeface="SFMono-Regular"/>
              </a:rPr>
              <a:t>node_modules</a:t>
            </a:r>
            <a:endParaRPr lang="en-US" altLang="en-US" sz="2100" dirty="0">
              <a:solidFill>
                <a:schemeClr val="bg1"/>
              </a:solidFill>
              <a:latin typeface="SFMono-Regular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100" dirty="0">
                <a:solidFill>
                  <a:schemeClr val="bg1"/>
                </a:solidFill>
                <a:latin typeface="SFMono-Regular"/>
              </a:rPr>
              <a:t>$ git commit -a -m "prod dependencies"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100" dirty="0">
                <a:solidFill>
                  <a:schemeClr val="bg1"/>
                </a:solidFill>
                <a:latin typeface="SFMono-Regular"/>
              </a:rPr>
              <a:t>$ git push origin releases/v1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2100" dirty="0">
              <a:solidFill>
                <a:schemeClr val="bg1"/>
              </a:solidFill>
              <a:latin typeface="SFMono-Regular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2100" dirty="0">
              <a:solidFill>
                <a:schemeClr val="bg1"/>
              </a:solidFill>
              <a:latin typeface="SFMono-Regular"/>
            </a:endParaRP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1050" dirty="0">
              <a:latin typeface="Arial" panose="020B0604020202020204" pitchFamily="34" charset="0"/>
            </a:endParaRP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105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72472621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6CF7C4-AF02-58A6-DCEF-D5B71A6B51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6036B1-06C3-E50E-BD57-8E7F329BF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Principle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08FEF8-00E6-AB84-8485-0E706EA981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M</a:t>
            </a:r>
            <a:r>
              <a:rPr lang="en-IT" dirty="0"/>
              <a:t>ake everything observable and track your s**t!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6EDFF0B-EF25-5B19-F852-776E3BDEE7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Sw. Evolution</a:t>
            </a:r>
          </a:p>
        </p:txBody>
      </p:sp>
    </p:spTree>
    <p:extLst>
      <p:ext uri="{BB962C8B-B14F-4D97-AF65-F5344CB8AC3E}">
        <p14:creationId xmlns:p14="http://schemas.microsoft.com/office/powerpoint/2010/main" val="2790766891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A7BEC2B-1DC3-4C89-B1F3-B914A5E365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Versioning your Action Updates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07404C6-0EEE-4753-BF7E-BF5FF37E5DA0}"/>
              </a:ext>
            </a:extLst>
          </p:cNvPr>
          <p:cNvSpPr/>
          <p:nvPr/>
        </p:nvSpPr>
        <p:spPr>
          <a:xfrm>
            <a:off x="49280" y="5638259"/>
            <a:ext cx="6858000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900" dirty="0"/>
              <a:t>Based on </a:t>
            </a:r>
            <a:r>
              <a:rPr lang="en-GB" sz="900" dirty="0">
                <a:hlinkClick r:id="rId3"/>
              </a:rPr>
              <a:t>https://github.com/actions/toolkit/blob/master/docs/action-versioning.md</a:t>
            </a:r>
            <a:r>
              <a:rPr lang="en-GB" sz="900" dirty="0"/>
              <a:t> 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AAEA8F95-5645-4BD5-8CD7-50652A8C9863}"/>
              </a:ext>
            </a:extLst>
          </p:cNvPr>
          <p:cNvSpPr/>
          <p:nvPr/>
        </p:nvSpPr>
        <p:spPr>
          <a:xfrm>
            <a:off x="1649954" y="2725047"/>
            <a:ext cx="597050" cy="588981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35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129D17C-1675-4564-BA65-FFFF1BB00D1C}"/>
              </a:ext>
            </a:extLst>
          </p:cNvPr>
          <p:cNvSpPr txBox="1"/>
          <p:nvPr/>
        </p:nvSpPr>
        <p:spPr>
          <a:xfrm>
            <a:off x="885824" y="2895374"/>
            <a:ext cx="706058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350" b="1" dirty="0"/>
              <a:t>master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2D45F9-BDF2-4005-9969-E0EFB810A638}"/>
              </a:ext>
            </a:extLst>
          </p:cNvPr>
          <p:cNvSpPr txBox="1"/>
          <p:nvPr/>
        </p:nvSpPr>
        <p:spPr>
          <a:xfrm>
            <a:off x="825313" y="4558972"/>
            <a:ext cx="1123166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350" b="1" dirty="0"/>
              <a:t>releases/v1</a:t>
            </a:r>
          </a:p>
        </p:txBody>
      </p:sp>
      <p:sp>
        <p:nvSpPr>
          <p:cNvPr id="6" name="Speech Bubble: Rectangle 5">
            <a:extLst>
              <a:ext uri="{FF2B5EF4-FFF2-40B4-BE49-F238E27FC236}">
                <a16:creationId xmlns:a16="http://schemas.microsoft.com/office/drawing/2014/main" id="{4BB2AE96-AFD5-49B7-B7B4-74AC084993AC}"/>
              </a:ext>
            </a:extLst>
          </p:cNvPr>
          <p:cNvSpPr/>
          <p:nvPr/>
        </p:nvSpPr>
        <p:spPr>
          <a:xfrm>
            <a:off x="1591882" y="2117638"/>
            <a:ext cx="1069042" cy="440801"/>
          </a:xfrm>
          <a:prstGeom prst="wedgeRectCallout">
            <a:avLst>
              <a:gd name="adj1" fmla="val 3318"/>
              <a:gd name="adj2" fmla="val 94531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900" b="1" dirty="0"/>
              <a:t>branch: </a:t>
            </a:r>
            <a:r>
              <a:rPr lang="en-GB" sz="900" dirty="0"/>
              <a:t>master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FE32B51-8C97-4174-9869-2F92FB5A9724}"/>
              </a:ext>
            </a:extLst>
          </p:cNvPr>
          <p:cNvSpPr/>
          <p:nvPr/>
        </p:nvSpPr>
        <p:spPr>
          <a:xfrm>
            <a:off x="3002728" y="2724536"/>
            <a:ext cx="597050" cy="588981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35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E203B9C-B00A-4FC4-BABE-042EA011140C}"/>
              </a:ext>
            </a:extLst>
          </p:cNvPr>
          <p:cNvCxnSpPr>
            <a:cxnSpLocks/>
            <a:stCxn id="9" idx="2"/>
            <a:endCxn id="2" idx="6"/>
          </p:cNvCxnSpPr>
          <p:nvPr/>
        </p:nvCxnSpPr>
        <p:spPr>
          <a:xfrm flipH="1">
            <a:off x="2247004" y="3019026"/>
            <a:ext cx="755724" cy="51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DE348AC-5869-4C5E-90E6-05A57F20EF7F}"/>
              </a:ext>
            </a:extLst>
          </p:cNvPr>
          <p:cNvCxnSpPr>
            <a:cxnSpLocks/>
          </p:cNvCxnSpPr>
          <p:nvPr/>
        </p:nvCxnSpPr>
        <p:spPr>
          <a:xfrm flipV="1">
            <a:off x="935916" y="3707242"/>
            <a:ext cx="7459084" cy="22301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4A270B3A-7531-4F83-98F9-3939471D57CA}"/>
              </a:ext>
            </a:extLst>
          </p:cNvPr>
          <p:cNvSpPr/>
          <p:nvPr/>
        </p:nvSpPr>
        <p:spPr>
          <a:xfrm>
            <a:off x="3681805" y="4519267"/>
            <a:ext cx="597050" cy="588981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350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AABD13F-B177-4AC1-AB18-77C2BDEF8130}"/>
              </a:ext>
            </a:extLst>
          </p:cNvPr>
          <p:cNvCxnSpPr>
            <a:cxnSpLocks/>
          </p:cNvCxnSpPr>
          <p:nvPr/>
        </p:nvCxnSpPr>
        <p:spPr>
          <a:xfrm flipH="1" flipV="1">
            <a:off x="3398145" y="3296122"/>
            <a:ext cx="442335" cy="125629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0" name="Speech Bubble: Rectangle 19">
            <a:extLst>
              <a:ext uri="{FF2B5EF4-FFF2-40B4-BE49-F238E27FC236}">
                <a16:creationId xmlns:a16="http://schemas.microsoft.com/office/drawing/2014/main" id="{9E7252EA-BC2A-48F4-988B-728B0264C403}"/>
              </a:ext>
            </a:extLst>
          </p:cNvPr>
          <p:cNvSpPr/>
          <p:nvPr/>
        </p:nvSpPr>
        <p:spPr>
          <a:xfrm>
            <a:off x="2186293" y="3858629"/>
            <a:ext cx="1178213" cy="440801"/>
          </a:xfrm>
          <a:prstGeom prst="wedgeRectCallout">
            <a:avLst>
              <a:gd name="adj1" fmla="val 74878"/>
              <a:gd name="adj2" fmla="val 128393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900" b="1" dirty="0"/>
              <a:t>branch: </a:t>
            </a:r>
            <a:r>
              <a:rPr lang="en-GB" sz="900" dirty="0"/>
              <a:t>releases/v1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BEE012BA-9A15-4F1E-B06F-F2A72FD7EDD6}"/>
              </a:ext>
            </a:extLst>
          </p:cNvPr>
          <p:cNvSpPr/>
          <p:nvPr/>
        </p:nvSpPr>
        <p:spPr>
          <a:xfrm>
            <a:off x="4889991" y="2729702"/>
            <a:ext cx="597050" cy="588981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350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8F4B1EFE-611B-4D22-90A3-DC6FEC6F8087}"/>
              </a:ext>
            </a:extLst>
          </p:cNvPr>
          <p:cNvCxnSpPr>
            <a:cxnSpLocks/>
            <a:stCxn id="26" idx="2"/>
            <a:endCxn id="9" idx="6"/>
          </p:cNvCxnSpPr>
          <p:nvPr/>
        </p:nvCxnSpPr>
        <p:spPr>
          <a:xfrm flipH="1" flipV="1">
            <a:off x="3599778" y="3019026"/>
            <a:ext cx="1290214" cy="516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4992BB0E-A29C-48D1-814B-018EC9CC59BF}"/>
              </a:ext>
            </a:extLst>
          </p:cNvPr>
          <p:cNvSpPr txBox="1"/>
          <p:nvPr/>
        </p:nvSpPr>
        <p:spPr>
          <a:xfrm>
            <a:off x="3815964" y="3063348"/>
            <a:ext cx="863301" cy="3348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788" dirty="0"/>
              <a:t>fix issue from testing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14877221-B941-4440-8BB3-85C565046167}"/>
              </a:ext>
            </a:extLst>
          </p:cNvPr>
          <p:cNvSpPr/>
          <p:nvPr/>
        </p:nvSpPr>
        <p:spPr>
          <a:xfrm>
            <a:off x="5593137" y="4519267"/>
            <a:ext cx="597050" cy="588981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350"/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9331BEF5-5994-4217-8437-51BCC3F8BB73}"/>
              </a:ext>
            </a:extLst>
          </p:cNvPr>
          <p:cNvCxnSpPr>
            <a:cxnSpLocks/>
            <a:stCxn id="31" idx="2"/>
            <a:endCxn id="17" idx="6"/>
          </p:cNvCxnSpPr>
          <p:nvPr/>
        </p:nvCxnSpPr>
        <p:spPr>
          <a:xfrm flipH="1">
            <a:off x="4278855" y="4813757"/>
            <a:ext cx="1314283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AD76A303-C1D1-4E73-B4B1-8311C4D06AC0}"/>
              </a:ext>
            </a:extLst>
          </p:cNvPr>
          <p:cNvCxnSpPr>
            <a:cxnSpLocks/>
          </p:cNvCxnSpPr>
          <p:nvPr/>
        </p:nvCxnSpPr>
        <p:spPr>
          <a:xfrm flipH="1" flipV="1">
            <a:off x="5309754" y="3313424"/>
            <a:ext cx="497107" cy="120121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7" name="Speech Bubble: Rectangle 36">
            <a:extLst>
              <a:ext uri="{FF2B5EF4-FFF2-40B4-BE49-F238E27FC236}">
                <a16:creationId xmlns:a16="http://schemas.microsoft.com/office/drawing/2014/main" id="{A00001DD-33B2-434F-A23D-A2474DE6F680}"/>
              </a:ext>
            </a:extLst>
          </p:cNvPr>
          <p:cNvSpPr/>
          <p:nvPr/>
        </p:nvSpPr>
        <p:spPr>
          <a:xfrm>
            <a:off x="3843978" y="3839744"/>
            <a:ext cx="1539628" cy="440801"/>
          </a:xfrm>
          <a:prstGeom prst="wedgeRectCallout">
            <a:avLst>
              <a:gd name="adj1" fmla="val 65154"/>
              <a:gd name="adj2" fmla="val 119241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900" b="1" dirty="0"/>
              <a:t>create release + tag:  </a:t>
            </a:r>
            <a:r>
              <a:rPr lang="en-GB" sz="900" dirty="0"/>
              <a:t>1.0.1</a:t>
            </a:r>
            <a:br>
              <a:rPr lang="en-GB" sz="900" dirty="0"/>
            </a:br>
            <a:r>
              <a:rPr lang="en-GB" sz="900" b="1" dirty="0"/>
              <a:t>tag:</a:t>
            </a:r>
            <a:r>
              <a:rPr lang="en-GB" sz="900" dirty="0"/>
              <a:t> v1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5A7815F-4C6F-4603-B7B2-E87F8D99061B}"/>
              </a:ext>
            </a:extLst>
          </p:cNvPr>
          <p:cNvSpPr txBox="1"/>
          <p:nvPr/>
        </p:nvSpPr>
        <p:spPr>
          <a:xfrm>
            <a:off x="5436800" y="3778647"/>
            <a:ext cx="796442" cy="3348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788" dirty="0"/>
              <a:t>merge or rebase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330E385-236C-4095-A7ED-5D48864EE540}"/>
              </a:ext>
            </a:extLst>
          </p:cNvPr>
          <p:cNvSpPr txBox="1"/>
          <p:nvPr/>
        </p:nvSpPr>
        <p:spPr>
          <a:xfrm>
            <a:off x="6303429" y="4935194"/>
            <a:ext cx="796442" cy="6985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788" dirty="0"/>
              <a:t>test E2E referencing releases/v1 branch ‘latest’ unreleased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184F1BC-61B8-4ED6-B07B-303DDB6E40CB}"/>
              </a:ext>
            </a:extLst>
          </p:cNvPr>
          <p:cNvSpPr txBox="1"/>
          <p:nvPr/>
        </p:nvSpPr>
        <p:spPr>
          <a:xfrm>
            <a:off x="4427941" y="4900646"/>
            <a:ext cx="1215835" cy="3348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788" dirty="0"/>
              <a:t>Check-in prod dependencies Test E2E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6F62D2E8-E1A5-4B1F-8723-19BE14181AC9}"/>
              </a:ext>
            </a:extLst>
          </p:cNvPr>
          <p:cNvSpPr/>
          <p:nvPr/>
        </p:nvSpPr>
        <p:spPr>
          <a:xfrm>
            <a:off x="6502821" y="2726305"/>
            <a:ext cx="597050" cy="588981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350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56A55529-A212-48EB-AE00-8128CAB6B725}"/>
              </a:ext>
            </a:extLst>
          </p:cNvPr>
          <p:cNvSpPr/>
          <p:nvPr/>
        </p:nvSpPr>
        <p:spPr>
          <a:xfrm>
            <a:off x="7169200" y="4523596"/>
            <a:ext cx="597050" cy="588981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35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2F8C8E8-3C9F-45CE-9E08-59D6A04027DE}"/>
              </a:ext>
            </a:extLst>
          </p:cNvPr>
          <p:cNvSpPr txBox="1"/>
          <p:nvPr/>
        </p:nvSpPr>
        <p:spPr>
          <a:xfrm>
            <a:off x="5717247" y="3110109"/>
            <a:ext cx="796442" cy="2135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788" dirty="0"/>
              <a:t>fix bug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F63DC1A7-7009-4272-A325-B75631F0624F}"/>
              </a:ext>
            </a:extLst>
          </p:cNvPr>
          <p:cNvCxnSpPr>
            <a:cxnSpLocks/>
            <a:stCxn id="42" idx="2"/>
            <a:endCxn id="26" idx="6"/>
          </p:cNvCxnSpPr>
          <p:nvPr/>
        </p:nvCxnSpPr>
        <p:spPr>
          <a:xfrm flipH="1">
            <a:off x="5487040" y="3020796"/>
            <a:ext cx="1015781" cy="339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4E90AD68-529E-4A6E-8339-B5B4992ECB05}"/>
              </a:ext>
            </a:extLst>
          </p:cNvPr>
          <p:cNvCxnSpPr>
            <a:cxnSpLocks/>
            <a:stCxn id="43" idx="2"/>
            <a:endCxn id="31" idx="6"/>
          </p:cNvCxnSpPr>
          <p:nvPr/>
        </p:nvCxnSpPr>
        <p:spPr>
          <a:xfrm flipH="1" flipV="1">
            <a:off x="6190187" y="4813757"/>
            <a:ext cx="979013" cy="4329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3F6F23AC-1C6F-4AC6-9786-534AFEA2FA44}"/>
              </a:ext>
            </a:extLst>
          </p:cNvPr>
          <p:cNvSpPr txBox="1"/>
          <p:nvPr/>
        </p:nvSpPr>
        <p:spPr>
          <a:xfrm>
            <a:off x="6955230" y="3402584"/>
            <a:ext cx="796442" cy="3348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788" dirty="0"/>
              <a:t>merge or rebase</a:t>
            </a:r>
          </a:p>
        </p:txBody>
      </p:sp>
      <p:sp>
        <p:nvSpPr>
          <p:cNvPr id="51" name="Speech Bubble: Rectangle 50">
            <a:extLst>
              <a:ext uri="{FF2B5EF4-FFF2-40B4-BE49-F238E27FC236}">
                <a16:creationId xmlns:a16="http://schemas.microsoft.com/office/drawing/2014/main" id="{009C4AC2-DD15-409F-A42B-2AD9DEBC7695}"/>
              </a:ext>
            </a:extLst>
          </p:cNvPr>
          <p:cNvSpPr/>
          <p:nvPr/>
        </p:nvSpPr>
        <p:spPr>
          <a:xfrm>
            <a:off x="7421970" y="3858629"/>
            <a:ext cx="1539628" cy="440801"/>
          </a:xfrm>
          <a:prstGeom prst="wedgeRectCallout">
            <a:avLst>
              <a:gd name="adj1" fmla="val -37819"/>
              <a:gd name="adj2" fmla="val 91785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900" b="1" dirty="0"/>
              <a:t>create release + tag:  </a:t>
            </a:r>
            <a:r>
              <a:rPr lang="en-GB" sz="900" dirty="0"/>
              <a:t>1.0.2 </a:t>
            </a:r>
            <a:r>
              <a:rPr lang="en-GB" sz="900" b="1" dirty="0"/>
              <a:t>move tag:</a:t>
            </a:r>
            <a:r>
              <a:rPr lang="en-GB" sz="900" dirty="0"/>
              <a:t> v1</a:t>
            </a:r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EF5E40AC-C7C2-4F7C-A155-305975D58AE6}"/>
              </a:ext>
            </a:extLst>
          </p:cNvPr>
          <p:cNvCxnSpPr>
            <a:cxnSpLocks/>
          </p:cNvCxnSpPr>
          <p:nvPr/>
        </p:nvCxnSpPr>
        <p:spPr>
          <a:xfrm flipH="1" flipV="1">
            <a:off x="6955231" y="3304727"/>
            <a:ext cx="427940" cy="121133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042061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 animBg="1"/>
      <p:bldP spid="17" grpId="0" animBg="1"/>
      <p:bldP spid="20" grpId="0" animBg="1"/>
      <p:bldP spid="26" grpId="0" animBg="1"/>
      <p:bldP spid="28" grpId="0"/>
      <p:bldP spid="31" grpId="0" animBg="1"/>
      <p:bldP spid="37" grpId="0" animBg="1"/>
      <p:bldP spid="38" grpId="0"/>
      <p:bldP spid="40" grpId="0"/>
      <p:bldP spid="41" grpId="0"/>
      <p:bldP spid="42" grpId="0" animBg="1"/>
      <p:bldP spid="43" grpId="0" animBg="1"/>
      <p:bldP spid="44" grpId="0"/>
      <p:bldP spid="50" grpId="0"/>
      <p:bldP spid="51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A7BEC2B-1DC3-4C89-B1F3-B914A5E365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How to use your action in a workflow?</a:t>
            </a: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C9325BA5-9B78-4673-BEC4-5B74BCBD87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6634" y="1962220"/>
            <a:ext cx="7745023" cy="3554819"/>
          </a:xfrm>
          <a:prstGeom prst="rect">
            <a:avLst/>
          </a:prstGeom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1500" dirty="0">
              <a:solidFill>
                <a:srgbClr val="333333"/>
              </a:solidFill>
              <a:latin typeface="SFMono-Regular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1500" dirty="0">
              <a:solidFill>
                <a:srgbClr val="333333"/>
              </a:solidFill>
              <a:latin typeface="SFMono-Regular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1500" dirty="0">
              <a:solidFill>
                <a:srgbClr val="333333"/>
              </a:solidFill>
              <a:latin typeface="SFMono-Regular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1500" dirty="0">
              <a:solidFill>
                <a:srgbClr val="333333"/>
              </a:solidFill>
              <a:latin typeface="SFMono-Regular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500" dirty="0">
                <a:solidFill>
                  <a:srgbClr val="1D8CCB"/>
                </a:solidFill>
                <a:latin typeface="SFMono-Regular"/>
              </a:rPr>
              <a:t>steps</a:t>
            </a:r>
            <a:r>
              <a:rPr lang="en-US" altLang="en-US" sz="1500" dirty="0">
                <a:solidFill>
                  <a:schemeClr val="bg1"/>
                </a:solidFill>
                <a:latin typeface="SFMono-Regular"/>
              </a:rPr>
              <a:t>: 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500" dirty="0">
                <a:solidFill>
                  <a:schemeClr val="bg1"/>
                </a:solidFill>
                <a:latin typeface="SFMono-Regular"/>
              </a:rPr>
              <a:t>     - </a:t>
            </a:r>
            <a:r>
              <a:rPr lang="en-GB" sz="1500" dirty="0">
                <a:solidFill>
                  <a:srgbClr val="1D8CCB"/>
                </a:solidFill>
                <a:latin typeface="SFMono-Regular"/>
              </a:rPr>
              <a:t>uses</a:t>
            </a:r>
            <a:r>
              <a:rPr lang="en-GB" sz="1500" dirty="0">
                <a:solidFill>
                  <a:schemeClr val="bg1"/>
                </a:solidFill>
                <a:latin typeface="SFMono-Regular"/>
              </a:rPr>
              <a:t>: </a:t>
            </a:r>
            <a:r>
              <a:rPr lang="en-GB" sz="1500" dirty="0">
                <a:solidFill>
                  <a:schemeClr val="accent1"/>
                </a:solidFill>
                <a:latin typeface="SFMono-Regular"/>
              </a:rPr>
              <a:t>./</a:t>
            </a:r>
            <a:r>
              <a:rPr lang="en-GB" sz="1500" dirty="0">
                <a:solidFill>
                  <a:schemeClr val="bg1"/>
                </a:solidFill>
                <a:latin typeface="SFMono-Regular"/>
              </a:rPr>
              <a:t> </a:t>
            </a:r>
            <a:r>
              <a:rPr lang="en-GB" sz="1500" i="1" dirty="0">
                <a:solidFill>
                  <a:srgbClr val="00B050"/>
                </a:solidFill>
                <a:latin typeface="SFMono-Regular"/>
              </a:rPr>
              <a:t># Uses a private action in the root directory of workflow repo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500" dirty="0">
                <a:solidFill>
                  <a:schemeClr val="bg1"/>
                </a:solidFill>
                <a:latin typeface="SFMono-Regular"/>
              </a:rPr>
              <a:t>     - </a:t>
            </a:r>
            <a:r>
              <a:rPr lang="en-US" altLang="en-US" sz="1500" dirty="0">
                <a:solidFill>
                  <a:srgbClr val="1D8CCB"/>
                </a:solidFill>
                <a:latin typeface="SFMono-Regular"/>
              </a:rPr>
              <a:t>uses</a:t>
            </a:r>
            <a:r>
              <a:rPr lang="en-US" altLang="en-US" sz="1500" dirty="0">
                <a:solidFill>
                  <a:schemeClr val="bg1"/>
                </a:solidFill>
                <a:latin typeface="SFMono-Regular"/>
              </a:rPr>
              <a:t>: </a:t>
            </a:r>
            <a:r>
              <a:rPr lang="en-US" altLang="en-US" sz="1500" dirty="0" err="1">
                <a:solidFill>
                  <a:schemeClr val="accent1"/>
                </a:solidFill>
                <a:latin typeface="SFMono-Regular"/>
              </a:rPr>
              <a:t>rfennell</a:t>
            </a:r>
            <a:r>
              <a:rPr lang="en-US" altLang="en-US" sz="1500" dirty="0">
                <a:solidFill>
                  <a:schemeClr val="accent1"/>
                </a:solidFill>
                <a:latin typeface="SFMono-Regular"/>
              </a:rPr>
              <a:t>/JSONFileVersioner@74bc508 </a:t>
            </a:r>
            <a:r>
              <a:rPr lang="en-US" altLang="en-US" sz="1500" i="1" dirty="0">
                <a:solidFill>
                  <a:srgbClr val="00B050"/>
                </a:solidFill>
                <a:latin typeface="SFMono-Regular"/>
              </a:rPr>
              <a:t># a specific commit of a public action</a:t>
            </a:r>
            <a:r>
              <a:rPr lang="en-US" altLang="en-US" sz="1500" dirty="0">
                <a:solidFill>
                  <a:srgbClr val="00B050"/>
                </a:solidFill>
                <a:latin typeface="SFMono-Regular"/>
              </a:rPr>
              <a:t> 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500" i="1" dirty="0">
                <a:solidFill>
                  <a:schemeClr val="bg1"/>
                </a:solidFill>
                <a:latin typeface="SFMono-Regular"/>
              </a:rPr>
              <a:t>     </a:t>
            </a:r>
            <a:r>
              <a:rPr lang="en-US" altLang="en-US" sz="1500" dirty="0">
                <a:solidFill>
                  <a:schemeClr val="bg1"/>
                </a:solidFill>
                <a:latin typeface="SFMono-Regular"/>
              </a:rPr>
              <a:t>- </a:t>
            </a:r>
            <a:r>
              <a:rPr lang="en-US" altLang="en-US" sz="1500" dirty="0">
                <a:solidFill>
                  <a:srgbClr val="1D8CCB"/>
                </a:solidFill>
                <a:latin typeface="SFMono-Regular"/>
              </a:rPr>
              <a:t>uses</a:t>
            </a:r>
            <a:r>
              <a:rPr lang="en-US" altLang="en-US" sz="1500" dirty="0">
                <a:solidFill>
                  <a:schemeClr val="bg1"/>
                </a:solidFill>
                <a:latin typeface="SFMono-Regular"/>
              </a:rPr>
              <a:t>: </a:t>
            </a:r>
            <a:r>
              <a:rPr lang="en-US" altLang="en-US" sz="1500" dirty="0" err="1">
                <a:solidFill>
                  <a:schemeClr val="accent1"/>
                </a:solidFill>
                <a:latin typeface="SFMono-Regular"/>
              </a:rPr>
              <a:t>rfennell</a:t>
            </a:r>
            <a:r>
              <a:rPr lang="en-US" altLang="en-US" sz="1500" dirty="0">
                <a:solidFill>
                  <a:schemeClr val="accent1"/>
                </a:solidFill>
                <a:latin typeface="SFMono-Regular"/>
              </a:rPr>
              <a:t>/</a:t>
            </a:r>
            <a:r>
              <a:rPr lang="en-US" altLang="en-US" sz="1500" dirty="0" err="1">
                <a:solidFill>
                  <a:schemeClr val="accent1"/>
                </a:solidFill>
                <a:latin typeface="SFMono-Regular"/>
              </a:rPr>
              <a:t>JSONFileVersioner@master</a:t>
            </a:r>
            <a:r>
              <a:rPr lang="en-US" altLang="en-US" sz="1500" dirty="0">
                <a:solidFill>
                  <a:schemeClr val="accent1"/>
                </a:solidFill>
                <a:latin typeface="SFMono-Regular"/>
              </a:rPr>
              <a:t> </a:t>
            </a:r>
            <a:r>
              <a:rPr lang="en-US" altLang="en-US" sz="1500" i="1" dirty="0">
                <a:solidFill>
                  <a:srgbClr val="00B050"/>
                </a:solidFill>
                <a:latin typeface="SFMono-Regular"/>
              </a:rPr>
              <a:t># a branch</a:t>
            </a:r>
            <a:r>
              <a:rPr lang="en-US" altLang="en-US" sz="1500" dirty="0">
                <a:solidFill>
                  <a:srgbClr val="00B050"/>
                </a:solidFill>
              </a:rPr>
              <a:t> </a:t>
            </a:r>
            <a:r>
              <a:rPr lang="en-US" altLang="en-US" sz="1500" i="1" dirty="0">
                <a:solidFill>
                  <a:srgbClr val="00B050"/>
                </a:solidFill>
                <a:latin typeface="SFMono-Regular"/>
              </a:rPr>
              <a:t>of a public action</a:t>
            </a:r>
            <a:r>
              <a:rPr lang="en-US" altLang="en-US" sz="1500" dirty="0">
                <a:solidFill>
                  <a:srgbClr val="00B050"/>
                </a:solidFill>
              </a:rPr>
              <a:t> 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500" dirty="0">
                <a:solidFill>
                  <a:schemeClr val="bg1"/>
                </a:solidFill>
                <a:latin typeface="SFMono-Regular"/>
              </a:rPr>
              <a:t>     - </a:t>
            </a:r>
            <a:r>
              <a:rPr lang="en-US" altLang="en-US" sz="1500" dirty="0">
                <a:solidFill>
                  <a:srgbClr val="1D8CCB"/>
                </a:solidFill>
                <a:latin typeface="SFMono-Regular"/>
              </a:rPr>
              <a:t>uses</a:t>
            </a:r>
            <a:r>
              <a:rPr lang="en-US" altLang="en-US" sz="1500" dirty="0">
                <a:solidFill>
                  <a:schemeClr val="bg1"/>
                </a:solidFill>
                <a:latin typeface="SFMono-Regular"/>
              </a:rPr>
              <a:t>: </a:t>
            </a:r>
            <a:r>
              <a:rPr lang="en-US" altLang="en-US" sz="1500" dirty="0" err="1">
                <a:solidFill>
                  <a:schemeClr val="accent1"/>
                </a:solidFill>
                <a:latin typeface="SFMono-Regular"/>
              </a:rPr>
              <a:t>rfennell</a:t>
            </a:r>
            <a:r>
              <a:rPr lang="en-US" altLang="en-US" sz="1500" dirty="0">
                <a:solidFill>
                  <a:schemeClr val="accent1"/>
                </a:solidFill>
                <a:latin typeface="SFMono-Regular"/>
              </a:rPr>
              <a:t>/JSONFileVersioner@v1.0.1 </a:t>
            </a:r>
            <a:r>
              <a:rPr lang="en-US" altLang="en-US" sz="1500" i="1" dirty="0">
                <a:solidFill>
                  <a:srgbClr val="00B050"/>
                </a:solidFill>
                <a:latin typeface="SFMono-Regular"/>
              </a:rPr>
              <a:t># the version of a release  of a public action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500" i="1" dirty="0">
                <a:solidFill>
                  <a:schemeClr val="bg1"/>
                </a:solidFill>
                <a:latin typeface="SFMono-Regular"/>
              </a:rPr>
              <a:t>     </a:t>
            </a:r>
            <a:r>
              <a:rPr lang="en-US" altLang="en-US" sz="1500" dirty="0">
                <a:solidFill>
                  <a:schemeClr val="bg1"/>
                </a:solidFill>
                <a:latin typeface="SFMono-Regular"/>
              </a:rPr>
              <a:t>- </a:t>
            </a:r>
            <a:r>
              <a:rPr lang="en-US" altLang="en-US" sz="1500" dirty="0">
                <a:solidFill>
                  <a:srgbClr val="1D8CCB"/>
                </a:solidFill>
                <a:latin typeface="SFMono-Regular"/>
              </a:rPr>
              <a:t>uses</a:t>
            </a:r>
            <a:r>
              <a:rPr lang="en-US" altLang="en-US" sz="1500" dirty="0">
                <a:solidFill>
                  <a:schemeClr val="bg1"/>
                </a:solidFill>
                <a:latin typeface="SFMono-Regular"/>
              </a:rPr>
              <a:t>: </a:t>
            </a:r>
            <a:r>
              <a:rPr lang="en-US" altLang="en-US" sz="1500" dirty="0" err="1">
                <a:solidFill>
                  <a:schemeClr val="accent1"/>
                </a:solidFill>
                <a:latin typeface="SFMono-Regular"/>
              </a:rPr>
              <a:t>rfennell</a:t>
            </a:r>
            <a:r>
              <a:rPr lang="en-US" altLang="en-US" sz="1500" dirty="0">
                <a:solidFill>
                  <a:schemeClr val="accent1"/>
                </a:solidFill>
                <a:latin typeface="SFMono-Regular"/>
              </a:rPr>
              <a:t>/JSONFileVersioner@v1 </a:t>
            </a:r>
            <a:r>
              <a:rPr lang="en-US" altLang="en-US" sz="1500" i="1" dirty="0">
                <a:solidFill>
                  <a:srgbClr val="00B050"/>
                </a:solidFill>
                <a:latin typeface="SFMono-Regular"/>
              </a:rPr>
              <a:t># the major version of a release  of a public action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br>
              <a:rPr lang="en-US" altLang="en-US" sz="1500" dirty="0">
                <a:solidFill>
                  <a:schemeClr val="bg1"/>
                </a:solidFill>
              </a:rPr>
            </a:br>
            <a:endParaRPr lang="en-GB" sz="1500" i="1" dirty="0">
              <a:solidFill>
                <a:srgbClr val="00B050"/>
              </a:solidFill>
              <a:latin typeface="SFMono-Regular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endParaRPr lang="en-GB" sz="1500" i="1" dirty="0">
              <a:solidFill>
                <a:srgbClr val="00B050"/>
              </a:solidFill>
              <a:latin typeface="SFMono-Regular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endParaRPr lang="en-GB" sz="1500" i="1" dirty="0">
              <a:solidFill>
                <a:srgbClr val="00B050"/>
              </a:solidFill>
              <a:latin typeface="SFMono-Regular"/>
            </a:endParaRP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1050" dirty="0">
              <a:latin typeface="Arial" panose="020B0604020202020204" pitchFamily="34" charset="0"/>
            </a:endParaRP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105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0362990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73F6FD-9FAD-4C6E-93CA-8F405A72EE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In your GitHub repo create a new draft release</a:t>
            </a:r>
          </a:p>
          <a:p>
            <a:r>
              <a:rPr lang="en-GB" dirty="0"/>
              <a:t>Select ‘Publish to Marketplace’</a:t>
            </a:r>
          </a:p>
          <a:p>
            <a:r>
              <a:rPr lang="en-GB" dirty="0"/>
              <a:t>Fix any errors, usually by checking in or editing files</a:t>
            </a:r>
          </a:p>
          <a:p>
            <a:r>
              <a:rPr lang="en-GB" dirty="0"/>
              <a:t>Choose categories</a:t>
            </a:r>
          </a:p>
          <a:p>
            <a:r>
              <a:rPr lang="en-GB" dirty="0"/>
              <a:t>Pick the tag that points to version to release</a:t>
            </a:r>
          </a:p>
          <a:p>
            <a:r>
              <a:rPr lang="en-GB" dirty="0"/>
              <a:t>Click Publish release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343C396-8868-4E84-BAF8-E020B57DED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9144000" cy="1325563"/>
          </a:xfrm>
        </p:spPr>
        <p:txBody>
          <a:bodyPr/>
          <a:lstStyle/>
          <a:p>
            <a:r>
              <a:rPr lang="en-GB" dirty="0"/>
              <a:t>Finally add it to the GitHub Marketplace</a:t>
            </a:r>
          </a:p>
        </p:txBody>
      </p:sp>
    </p:spTree>
    <p:extLst>
      <p:ext uri="{BB962C8B-B14F-4D97-AF65-F5344CB8AC3E}">
        <p14:creationId xmlns:p14="http://schemas.microsoft.com/office/powerpoint/2010/main" val="186271277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DF2207-A1AD-91E9-6997-FEDC89760B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7136" y="0"/>
            <a:ext cx="8515350" cy="1325563"/>
          </a:xfrm>
        </p:spPr>
        <p:txBody>
          <a:bodyPr/>
          <a:lstStyle/>
          <a:p>
            <a:r>
              <a:rPr lang="en-IT" dirty="0"/>
              <a:t>Principle 3: structure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891F4A-8527-E192-4F0D-3D48D4CB6B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825625"/>
            <a:ext cx="9241536" cy="5032376"/>
          </a:xfrm>
        </p:spPr>
        <p:txBody>
          <a:bodyPr>
            <a:normAutofit lnSpcReduction="10000"/>
          </a:bodyPr>
          <a:lstStyle/>
          <a:p>
            <a:r>
              <a:rPr lang="en-GB" sz="3200" dirty="0"/>
              <a:t>Let's assume the application is a containerized web app hosted on a cloud platform (e.g., AWS, GCP, or Azure). </a:t>
            </a:r>
          </a:p>
          <a:p>
            <a:r>
              <a:rPr lang="en-GB" sz="3200" dirty="0"/>
              <a:t>The CI/CD pipeline will include the following components:</a:t>
            </a:r>
          </a:p>
          <a:p>
            <a:pPr lvl="1"/>
            <a:r>
              <a:rPr lang="en-GB" sz="2800" dirty="0"/>
              <a:t>Source Code Repository: GitHub</a:t>
            </a:r>
          </a:p>
          <a:p>
            <a:pPr lvl="1"/>
            <a:r>
              <a:rPr lang="en-GB" sz="2800" dirty="0"/>
              <a:t>CI/CD Tool: Jenkins or GitHub Actions</a:t>
            </a:r>
          </a:p>
          <a:p>
            <a:pPr lvl="1"/>
            <a:r>
              <a:rPr lang="en-GB" sz="2800" dirty="0"/>
              <a:t>Containerization: Docker</a:t>
            </a:r>
          </a:p>
          <a:p>
            <a:pPr lvl="1"/>
            <a:r>
              <a:rPr lang="en-GB" sz="2800" dirty="0"/>
              <a:t>Orchestration: Kubernetes (K8s)</a:t>
            </a:r>
          </a:p>
          <a:p>
            <a:pPr lvl="1"/>
            <a:r>
              <a:rPr lang="en-GB" sz="2800" dirty="0"/>
              <a:t>Deployment: Cloud Platform (e.g., AWS EKS for Kubernetes)</a:t>
            </a:r>
            <a:endParaRPr lang="en-IT" sz="280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481CCDD-2185-7405-B1FE-121BA6BEAD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Sw. Evolution</a:t>
            </a:r>
          </a:p>
        </p:txBody>
      </p:sp>
    </p:spTree>
    <p:extLst>
      <p:ext uri="{BB962C8B-B14F-4D97-AF65-F5344CB8AC3E}">
        <p14:creationId xmlns:p14="http://schemas.microsoft.com/office/powerpoint/2010/main" val="13631113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47C2D5-A397-1917-4130-0CD4F26FEA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Setup Jenkins as CI/CD Tool</a:t>
            </a:r>
            <a:endParaRPr lang="en-IT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9FD7C6-A61B-FC31-F373-0C1A0BE514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Install Jenkins: </a:t>
            </a:r>
            <a:r>
              <a:rPr lang="en-GB" dirty="0"/>
              <a:t>Install Jenkins on a server or use Jenkins as a service.</a:t>
            </a:r>
          </a:p>
          <a:p>
            <a:r>
              <a:rPr lang="en-GB" b="1" dirty="0"/>
              <a:t>Install Plugins: </a:t>
            </a:r>
            <a:r>
              <a:rPr lang="en-GB" dirty="0"/>
              <a:t>Install plugins required for integration with GitHub, Docker, and Kubernetes, like the Git plugin, Docker, and Kubernetes plugin.</a:t>
            </a:r>
          </a:p>
          <a:p>
            <a:r>
              <a:rPr lang="en-GB" b="1" dirty="0"/>
              <a:t>Configure Credentials: </a:t>
            </a:r>
            <a:r>
              <a:rPr lang="en-GB" dirty="0"/>
              <a:t>Add GitHub credentials in Jenkins for repository access and Docker registry credentials for pushing Docker images.</a:t>
            </a:r>
            <a:endParaRPr lang="en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9431B70-9DE7-D6B3-480F-8CD0A13177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Sw. Evolution</a:t>
            </a:r>
          </a:p>
        </p:txBody>
      </p:sp>
    </p:spTree>
    <p:extLst>
      <p:ext uri="{BB962C8B-B14F-4D97-AF65-F5344CB8AC3E}">
        <p14:creationId xmlns:p14="http://schemas.microsoft.com/office/powerpoint/2010/main" val="269199598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DAAE2B-5CDD-309F-541D-BE52692CDA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Configure Jenkins Pipeline (</a:t>
            </a:r>
            <a:r>
              <a:rPr lang="en-GB" dirty="0" err="1"/>
              <a:t>Jenkinsfile</a:t>
            </a:r>
            <a:r>
              <a:rPr lang="en-GB" dirty="0"/>
              <a:t>)</a:t>
            </a:r>
            <a:endParaRPr lang="en-IT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7B415D-AB0D-360A-7B6E-5F063297BF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Create a </a:t>
            </a:r>
            <a:r>
              <a:rPr lang="en-GB" b="1" dirty="0" err="1"/>
              <a:t>Jenkinsfile</a:t>
            </a:r>
            <a:r>
              <a:rPr lang="en-GB" dirty="0"/>
              <a:t>: Define the pipeline in a </a:t>
            </a:r>
            <a:r>
              <a:rPr lang="en-GB" dirty="0" err="1"/>
              <a:t>Jenkinsfile</a:t>
            </a:r>
            <a:r>
              <a:rPr lang="en-GB" dirty="0"/>
              <a:t> stored in the repository root. The pipeline should have stages like:</a:t>
            </a:r>
          </a:p>
          <a:p>
            <a:endParaRPr lang="en-GB" dirty="0"/>
          </a:p>
          <a:p>
            <a:pPr lvl="1"/>
            <a:r>
              <a:rPr lang="en-GB" b="1" dirty="0"/>
              <a:t>Checkout:</a:t>
            </a:r>
            <a:r>
              <a:rPr lang="en-GB" dirty="0"/>
              <a:t> Clone the latest code from GitHub.</a:t>
            </a:r>
          </a:p>
          <a:p>
            <a:pPr lvl="1"/>
            <a:r>
              <a:rPr lang="en-GB" b="1" dirty="0"/>
              <a:t>Build:</a:t>
            </a:r>
            <a:r>
              <a:rPr lang="en-GB" dirty="0"/>
              <a:t> Build the Docker image for the application.</a:t>
            </a:r>
          </a:p>
          <a:p>
            <a:pPr lvl="1"/>
            <a:r>
              <a:rPr lang="en-GB" b="1" dirty="0"/>
              <a:t>Test:</a:t>
            </a:r>
            <a:r>
              <a:rPr lang="en-GB" dirty="0"/>
              <a:t> Run unit and integration tests.</a:t>
            </a:r>
          </a:p>
          <a:p>
            <a:pPr lvl="1"/>
            <a:r>
              <a:rPr lang="en-GB" b="1" dirty="0"/>
              <a:t>Publish:</a:t>
            </a:r>
            <a:r>
              <a:rPr lang="en-GB" dirty="0"/>
              <a:t> Push the Docker image to a registry.</a:t>
            </a:r>
          </a:p>
          <a:p>
            <a:pPr lvl="1"/>
            <a:r>
              <a:rPr lang="en-GB" b="1" dirty="0"/>
              <a:t>Deploy:</a:t>
            </a:r>
            <a:r>
              <a:rPr lang="en-GB" dirty="0"/>
              <a:t> Deploy the application to Kubernetes.</a:t>
            </a:r>
            <a:endParaRPr lang="en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1FB1BA5-40CA-FD88-E9B7-46EAD115E2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Sw. Evolution</a:t>
            </a:r>
          </a:p>
        </p:txBody>
      </p:sp>
    </p:spTree>
    <p:extLst>
      <p:ext uri="{BB962C8B-B14F-4D97-AF65-F5344CB8AC3E}">
        <p14:creationId xmlns:p14="http://schemas.microsoft.com/office/powerpoint/2010/main" val="201853523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043120-0519-6B87-5D52-33C7F52C5A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Build the Docker Image (Build Stage)</a:t>
            </a:r>
            <a:endParaRPr lang="en-IT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402AA0-FF14-BCA7-E466-66DF8CBC72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Define a </a:t>
            </a:r>
            <a:r>
              <a:rPr lang="en-GB" i="1" dirty="0" err="1"/>
              <a:t>Dockerfile</a:t>
            </a:r>
            <a:r>
              <a:rPr lang="en-GB" dirty="0"/>
              <a:t> in your project repository to containerize the application.</a:t>
            </a:r>
          </a:p>
          <a:p>
            <a:r>
              <a:rPr lang="en-GB" dirty="0"/>
              <a:t>In the </a:t>
            </a:r>
            <a:r>
              <a:rPr lang="en-GB" i="1" dirty="0" err="1"/>
              <a:t>Jenkinsfile</a:t>
            </a:r>
            <a:r>
              <a:rPr lang="en-GB" dirty="0"/>
              <a:t>, add the build stage:</a:t>
            </a:r>
            <a:endParaRPr lang="en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1BCAC2B-D9FE-D5A0-7C87-A5FF956CF7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Sw. Evolution</a:t>
            </a:r>
          </a:p>
        </p:txBody>
      </p:sp>
      <p:pic>
        <p:nvPicPr>
          <p:cNvPr id="6" name="Picture 5" descr="A black screen with white text&#10;&#10;Description automatically generated">
            <a:extLst>
              <a:ext uri="{FF2B5EF4-FFF2-40B4-BE49-F238E27FC236}">
                <a16:creationId xmlns:a16="http://schemas.microsoft.com/office/drawing/2014/main" id="{7869CDC4-2478-5996-3B98-9AB861F58E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2550" y="3429000"/>
            <a:ext cx="6438900" cy="2273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187051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9B82C1-AC1B-A858-576F-374376FDB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Run Tests (Test Stage)</a:t>
            </a:r>
            <a:endParaRPr lang="en-IT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AE4AA3-4114-8302-04FC-A707D8B188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In the </a:t>
            </a:r>
            <a:r>
              <a:rPr lang="en-GB" i="1" dirty="0" err="1"/>
              <a:t>Jenkinsfile</a:t>
            </a:r>
            <a:r>
              <a:rPr lang="en-GB" dirty="0"/>
              <a:t>, add a test stage to run unit and integration tests:</a:t>
            </a:r>
            <a:endParaRPr lang="en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9BCC937-7BAA-9E37-5F11-2279AA0D04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Sw. Evolution</a:t>
            </a:r>
          </a:p>
        </p:txBody>
      </p:sp>
      <p:pic>
        <p:nvPicPr>
          <p:cNvPr id="6" name="Picture 5" descr="A black screen with white text&#10;&#10;Description automatically generated">
            <a:extLst>
              <a:ext uri="{FF2B5EF4-FFF2-40B4-BE49-F238E27FC236}">
                <a16:creationId xmlns:a16="http://schemas.microsoft.com/office/drawing/2014/main" id="{8240953E-DDAE-7AD4-BE82-21FE1A0AD7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6622" y="3055143"/>
            <a:ext cx="3897992" cy="2471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430519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7E641-D572-FE45-AB88-C9B7620AA3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Publish Docker Image to Registry (Publish Stage)</a:t>
            </a:r>
            <a:endParaRPr lang="en-IT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1E6E5C-21FF-7B79-E2CB-414E58DF5E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After passing tests, publish the Docker image to a registry (e.g., Docker Hub, AWS ECR).</a:t>
            </a:r>
          </a:p>
          <a:p>
            <a:r>
              <a:rPr lang="en-GB" dirty="0"/>
              <a:t>In the </a:t>
            </a:r>
            <a:r>
              <a:rPr lang="en-GB" i="1" dirty="0" err="1"/>
              <a:t>Jenkinsfile</a:t>
            </a:r>
            <a:r>
              <a:rPr lang="en-GB" dirty="0"/>
              <a:t>, add:</a:t>
            </a:r>
            <a:endParaRPr lang="en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1977D87-2C1D-A174-7E4F-CC793752A0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Sw. Evolution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CE18CD5-109F-94D5-9A5F-A27124539069}"/>
              </a:ext>
            </a:extLst>
          </p:cNvPr>
          <p:cNvSpPr txBox="1"/>
          <p:nvPr/>
        </p:nvSpPr>
        <p:spPr>
          <a:xfrm>
            <a:off x="783772" y="3429000"/>
            <a:ext cx="8055428" cy="258532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IT" dirty="0">
                <a:solidFill>
                  <a:schemeClr val="bg1"/>
                </a:solidFill>
                <a:highlight>
                  <a:srgbClr val="000000"/>
                </a:highlight>
              </a:rPr>
              <a:t>stage('Publish') {</a:t>
            </a:r>
          </a:p>
          <a:p>
            <a:r>
              <a:rPr lang="en-IT" dirty="0">
                <a:solidFill>
                  <a:schemeClr val="bg1"/>
                </a:solidFill>
                <a:highlight>
                  <a:srgbClr val="000000"/>
                </a:highlight>
              </a:rPr>
              <a:t>    steps {</a:t>
            </a:r>
          </a:p>
          <a:p>
            <a:r>
              <a:rPr lang="en-IT" dirty="0">
                <a:solidFill>
                  <a:schemeClr val="bg1"/>
                </a:solidFill>
                <a:highlight>
                  <a:srgbClr val="000000"/>
                </a:highlight>
              </a:rPr>
              <a:t>        script {</a:t>
            </a:r>
          </a:p>
          <a:p>
            <a:r>
              <a:rPr lang="en-IT" dirty="0">
                <a:solidFill>
                  <a:schemeClr val="bg1"/>
                </a:solidFill>
                <a:highlight>
                  <a:srgbClr val="000000"/>
                </a:highlight>
              </a:rPr>
              <a:t>            docker.withRegistry('https://registry.hub.docker.com', 'docker-credentials') {</a:t>
            </a:r>
          </a:p>
          <a:p>
            <a:r>
              <a:rPr lang="en-IT" dirty="0">
                <a:solidFill>
                  <a:schemeClr val="bg1"/>
                </a:solidFill>
                <a:highlight>
                  <a:srgbClr val="000000"/>
                </a:highlight>
              </a:rPr>
              <a:t>                docker.image("your-app-image:${env.BUILD_ID}").push()</a:t>
            </a:r>
          </a:p>
          <a:p>
            <a:r>
              <a:rPr lang="en-IT" dirty="0">
                <a:solidFill>
                  <a:schemeClr val="bg1"/>
                </a:solidFill>
                <a:highlight>
                  <a:srgbClr val="000000"/>
                </a:highlight>
              </a:rPr>
              <a:t>            }</a:t>
            </a:r>
          </a:p>
          <a:p>
            <a:r>
              <a:rPr lang="en-IT" dirty="0">
                <a:solidFill>
                  <a:schemeClr val="bg1"/>
                </a:solidFill>
                <a:highlight>
                  <a:srgbClr val="000000"/>
                </a:highlight>
              </a:rPr>
              <a:t>        }</a:t>
            </a:r>
          </a:p>
          <a:p>
            <a:r>
              <a:rPr lang="en-IT" dirty="0">
                <a:solidFill>
                  <a:schemeClr val="bg1"/>
                </a:solidFill>
                <a:highlight>
                  <a:srgbClr val="000000"/>
                </a:highlight>
              </a:rPr>
              <a:t>    }</a:t>
            </a:r>
          </a:p>
          <a:p>
            <a:r>
              <a:rPr lang="en-IT" dirty="0">
                <a:solidFill>
                  <a:schemeClr val="bg1"/>
                </a:solidFill>
                <a:highlight>
                  <a:srgbClr val="000000"/>
                </a:highlight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6714097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3218BA-9332-9B5E-C71E-9E1518F379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Deploy to Kubernetes (Deploy Stage)</a:t>
            </a:r>
            <a:endParaRPr lang="en-IT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DDEF80-A5AC-5485-72E0-B31568EA3D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Kubernetes Manifest</a:t>
            </a:r>
            <a:r>
              <a:rPr lang="en-GB" dirty="0"/>
              <a:t>: Create YAML files for deployment and services in the k8s/ directory.</a:t>
            </a:r>
          </a:p>
          <a:p>
            <a:r>
              <a:rPr lang="en-GB" b="1" dirty="0"/>
              <a:t>Kubernetes Plugin</a:t>
            </a:r>
            <a:r>
              <a:rPr lang="en-GB" dirty="0"/>
              <a:t>: Ensure Jenkins has access to your Kubernetes cluster.</a:t>
            </a:r>
          </a:p>
          <a:p>
            <a:r>
              <a:rPr lang="en-GB" dirty="0"/>
              <a:t>In the </a:t>
            </a:r>
            <a:r>
              <a:rPr lang="en-GB" i="1" dirty="0" err="1"/>
              <a:t>Jenkinsfile</a:t>
            </a:r>
            <a:r>
              <a:rPr lang="en-GB" dirty="0"/>
              <a:t>, add:</a:t>
            </a:r>
            <a:endParaRPr lang="en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517AEA8-B699-1449-3F5E-0B9072B983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Sw. Evolution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473B51-D5FB-6FBD-385A-6FBF24F306A3}"/>
              </a:ext>
            </a:extLst>
          </p:cNvPr>
          <p:cNvSpPr txBox="1"/>
          <p:nvPr/>
        </p:nvSpPr>
        <p:spPr>
          <a:xfrm>
            <a:off x="314325" y="4145638"/>
            <a:ext cx="8515350" cy="203132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IT" dirty="0">
                <a:solidFill>
                  <a:schemeClr val="bg1"/>
                </a:solidFill>
              </a:rPr>
              <a:t>stage('Deploy') {</a:t>
            </a:r>
          </a:p>
          <a:p>
            <a:r>
              <a:rPr lang="en-IT" dirty="0">
                <a:solidFill>
                  <a:schemeClr val="bg1"/>
                </a:solidFill>
              </a:rPr>
              <a:t>    steps {</a:t>
            </a:r>
          </a:p>
          <a:p>
            <a:r>
              <a:rPr lang="en-IT" dirty="0">
                <a:solidFill>
                  <a:schemeClr val="bg1"/>
                </a:solidFill>
              </a:rPr>
              <a:t>        script {</a:t>
            </a:r>
          </a:p>
          <a:p>
            <a:r>
              <a:rPr lang="en-IT" dirty="0">
                <a:solidFill>
                  <a:schemeClr val="bg1"/>
                </a:solidFill>
              </a:rPr>
              <a:t>            kubernetesDeploy(kubeconfigId: 'kubeconfig', configs: 'k8s/deployment.yaml')</a:t>
            </a:r>
          </a:p>
          <a:p>
            <a:r>
              <a:rPr lang="en-IT" dirty="0">
                <a:solidFill>
                  <a:schemeClr val="bg1"/>
                </a:solidFill>
              </a:rPr>
              <a:t>        }</a:t>
            </a:r>
          </a:p>
          <a:p>
            <a:r>
              <a:rPr lang="en-IT" dirty="0">
                <a:solidFill>
                  <a:schemeClr val="bg1"/>
                </a:solidFill>
              </a:rPr>
              <a:t>    }</a:t>
            </a:r>
          </a:p>
          <a:p>
            <a:r>
              <a:rPr lang="en-IT" dirty="0">
                <a:solidFill>
                  <a:schemeClr val="bg1"/>
                </a:solidFill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617018801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C70F55E-57E9-4462-B41F-3CEB43B6CF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3509" y="1567543"/>
            <a:ext cx="8438605" cy="4833257"/>
          </a:xfrm>
        </p:spPr>
        <p:txBody>
          <a:bodyPr>
            <a:normAutofit fontScale="85000" lnSpcReduction="20000"/>
          </a:bodyPr>
          <a:lstStyle/>
          <a:p>
            <a:r>
              <a:rPr lang="en-GB" dirty="0"/>
              <a:t>DevOps Evolution = Automation </a:t>
            </a:r>
            <a:r>
              <a:rPr lang="en-GB" dirty="0">
                <a:sym typeface="Wingdings" pitchFamily="2" charset="2"/>
              </a:rPr>
              <a:t> </a:t>
            </a:r>
            <a:r>
              <a:rPr lang="en-GB" dirty="0"/>
              <a:t>GitHub Actions are an example of 100% automated CI/CD ;</a:t>
            </a:r>
          </a:p>
          <a:p>
            <a:endParaRPr lang="en-GB" dirty="0"/>
          </a:p>
          <a:p>
            <a:r>
              <a:rPr lang="en-GB" dirty="0"/>
              <a:t>You now don’t have to leave GitHub or provision other resources;</a:t>
            </a:r>
          </a:p>
          <a:p>
            <a:endParaRPr lang="en-GB" dirty="0"/>
          </a:p>
          <a:p>
            <a:r>
              <a:rPr lang="en-GB" dirty="0"/>
              <a:t>They are free for OSS and pay-per-minute for private repo;</a:t>
            </a:r>
          </a:p>
          <a:p>
            <a:endParaRPr lang="en-GB" dirty="0"/>
          </a:p>
          <a:p>
            <a:r>
              <a:rPr lang="en-GB" dirty="0"/>
              <a:t>They are not as rich in features as Azure DevOps Pipelines, yet…</a:t>
            </a:r>
          </a:p>
          <a:p>
            <a:endParaRPr lang="en-GB" dirty="0"/>
          </a:p>
          <a:p>
            <a:r>
              <a:rPr lang="en-GB" dirty="0"/>
              <a:t>Also, remember they are not limited to CI/CD</a:t>
            </a:r>
          </a:p>
          <a:p>
            <a:endParaRPr lang="en-GB" dirty="0"/>
          </a:p>
          <a:p>
            <a:r>
              <a:rPr lang="en-GB" dirty="0"/>
              <a:t>They can trigger a workflow on any GitHub event</a:t>
            </a:r>
          </a:p>
          <a:p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440630D-50E7-41AF-A5C3-0551A741E8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2181829401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5D8272-2D66-B70C-382E-B112C23CF1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5A41DE-4A17-F4D5-3865-EC92D8CAD0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O</a:t>
            </a:r>
            <a:r>
              <a:rPr lang="en-IT" dirty="0"/>
              <a:t>ne challenge remains…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BA55BC8-C358-3DDD-688D-A97E61C97E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Sw. Evolution</a:t>
            </a:r>
          </a:p>
        </p:txBody>
      </p:sp>
    </p:spTree>
    <p:extLst>
      <p:ext uri="{BB962C8B-B14F-4D97-AF65-F5344CB8AC3E}">
        <p14:creationId xmlns:p14="http://schemas.microsoft.com/office/powerpoint/2010/main" val="1596515282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2">
            <a:extLst>
              <a:ext uri="{FF2B5EF4-FFF2-40B4-BE49-F238E27FC236}">
                <a16:creationId xmlns:a16="http://schemas.microsoft.com/office/drawing/2014/main" id="{B94C32FC-78F8-5043-8631-E20A9C5A2DA9}"/>
              </a:ext>
            </a:extLst>
          </p:cNvPr>
          <p:cNvSpPr txBox="1">
            <a:spLocks/>
          </p:cNvSpPr>
          <p:nvPr/>
        </p:nvSpPr>
        <p:spPr>
          <a:xfrm>
            <a:off x="6000628" y="1851661"/>
            <a:ext cx="3060687" cy="2299880"/>
          </a:xfrm>
          <a:prstGeom prst="rect">
            <a:avLst/>
          </a:prstGeom>
        </p:spPr>
        <p:txBody>
          <a:bodyPr vert="horz" lIns="68580" tIns="34290" rIns="68580" bIns="3429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rgbClr val="21B9EC"/>
                </a:solidFill>
                <a:latin typeface="+mj-lt"/>
                <a:ea typeface="+mj-ea"/>
                <a:cs typeface="+mj-cs"/>
              </a:defRPr>
            </a:lvl1pPr>
          </a:lstStyle>
          <a:p>
            <a:pPr defTabSz="342900">
              <a:spcAft>
                <a:spcPts val="450"/>
              </a:spcAft>
            </a:pPr>
            <a:br>
              <a:rPr lang="en-US" sz="3000" dirty="0">
                <a:solidFill>
                  <a:schemeClr val="tx1"/>
                </a:solidFill>
              </a:rPr>
            </a:br>
            <a:r>
              <a:rPr lang="en-US" sz="3000" dirty="0">
                <a:solidFill>
                  <a:schemeClr val="tx1"/>
                </a:solidFill>
              </a:rPr>
              <a:t>Infrastructure </a:t>
            </a:r>
            <a:br>
              <a:rPr lang="en-US" sz="3000" dirty="0">
                <a:solidFill>
                  <a:schemeClr val="tx1"/>
                </a:solidFill>
              </a:rPr>
            </a:br>
            <a:r>
              <a:rPr lang="en-US" sz="3000" dirty="0">
                <a:solidFill>
                  <a:schemeClr val="tx1"/>
                </a:solidFill>
              </a:rPr>
              <a:t>as Code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DC82F00-793C-00F4-CA99-3D317A0B13F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185" r="1" b="9439"/>
          <a:stretch/>
        </p:blipFill>
        <p:spPr>
          <a:xfrm>
            <a:off x="15" y="857258"/>
            <a:ext cx="5819940" cy="5143493"/>
          </a:xfrm>
          <a:custGeom>
            <a:avLst/>
            <a:gdLst/>
            <a:ahLst/>
            <a:cxnLst/>
            <a:rect l="l" t="t" r="r" b="b"/>
            <a:pathLst>
              <a:path w="7759940" h="6858001">
                <a:moveTo>
                  <a:pt x="0" y="0"/>
                </a:moveTo>
                <a:lnTo>
                  <a:pt x="1296537" y="0"/>
                </a:lnTo>
                <a:lnTo>
                  <a:pt x="1296537" y="1"/>
                </a:lnTo>
                <a:lnTo>
                  <a:pt x="6415225" y="1"/>
                </a:lnTo>
                <a:lnTo>
                  <a:pt x="6415225" y="0"/>
                </a:lnTo>
                <a:lnTo>
                  <a:pt x="7758763" y="0"/>
                </a:lnTo>
                <a:lnTo>
                  <a:pt x="7733718" y="155677"/>
                </a:lnTo>
                <a:lnTo>
                  <a:pt x="7709849" y="310668"/>
                </a:lnTo>
                <a:lnTo>
                  <a:pt x="7686485" y="466344"/>
                </a:lnTo>
                <a:lnTo>
                  <a:pt x="7666482" y="622707"/>
                </a:lnTo>
                <a:lnTo>
                  <a:pt x="7646311" y="778383"/>
                </a:lnTo>
                <a:lnTo>
                  <a:pt x="7627485" y="934746"/>
                </a:lnTo>
                <a:lnTo>
                  <a:pt x="7611349" y="1089051"/>
                </a:lnTo>
                <a:lnTo>
                  <a:pt x="7596053" y="1245413"/>
                </a:lnTo>
                <a:lnTo>
                  <a:pt x="7582101" y="1401090"/>
                </a:lnTo>
                <a:lnTo>
                  <a:pt x="7569999" y="1554023"/>
                </a:lnTo>
                <a:lnTo>
                  <a:pt x="7557896" y="1709014"/>
                </a:lnTo>
                <a:lnTo>
                  <a:pt x="7547811" y="1861947"/>
                </a:lnTo>
                <a:lnTo>
                  <a:pt x="7539911" y="2014881"/>
                </a:lnTo>
                <a:lnTo>
                  <a:pt x="7531674" y="2167128"/>
                </a:lnTo>
                <a:lnTo>
                  <a:pt x="7524783" y="2318004"/>
                </a:lnTo>
                <a:lnTo>
                  <a:pt x="7519908" y="2467509"/>
                </a:lnTo>
                <a:lnTo>
                  <a:pt x="7515706" y="2617013"/>
                </a:lnTo>
                <a:lnTo>
                  <a:pt x="7511672" y="2765146"/>
                </a:lnTo>
                <a:lnTo>
                  <a:pt x="7509823" y="2911221"/>
                </a:lnTo>
                <a:lnTo>
                  <a:pt x="7507806" y="3057297"/>
                </a:lnTo>
                <a:lnTo>
                  <a:pt x="7506797" y="3201315"/>
                </a:lnTo>
                <a:lnTo>
                  <a:pt x="7507806" y="3343961"/>
                </a:lnTo>
                <a:lnTo>
                  <a:pt x="7507806" y="3485236"/>
                </a:lnTo>
                <a:lnTo>
                  <a:pt x="7509823" y="3625139"/>
                </a:lnTo>
                <a:lnTo>
                  <a:pt x="7512848" y="3762299"/>
                </a:lnTo>
                <a:lnTo>
                  <a:pt x="7515706" y="3898087"/>
                </a:lnTo>
                <a:lnTo>
                  <a:pt x="7518900" y="4031133"/>
                </a:lnTo>
                <a:lnTo>
                  <a:pt x="7523774" y="4163492"/>
                </a:lnTo>
                <a:lnTo>
                  <a:pt x="7528985" y="4293793"/>
                </a:lnTo>
                <a:lnTo>
                  <a:pt x="7533691" y="4421352"/>
                </a:lnTo>
                <a:lnTo>
                  <a:pt x="7546971" y="4670298"/>
                </a:lnTo>
                <a:lnTo>
                  <a:pt x="7561090" y="4908956"/>
                </a:lnTo>
                <a:lnTo>
                  <a:pt x="7575882" y="5138013"/>
                </a:lnTo>
                <a:lnTo>
                  <a:pt x="7592187" y="5354726"/>
                </a:lnTo>
                <a:lnTo>
                  <a:pt x="7609164" y="5561838"/>
                </a:lnTo>
                <a:lnTo>
                  <a:pt x="7627485" y="5753862"/>
                </a:lnTo>
                <a:lnTo>
                  <a:pt x="7645471" y="5934227"/>
                </a:lnTo>
                <a:lnTo>
                  <a:pt x="7663456" y="6100191"/>
                </a:lnTo>
                <a:lnTo>
                  <a:pt x="7680433" y="6252438"/>
                </a:lnTo>
                <a:lnTo>
                  <a:pt x="7696570" y="6387541"/>
                </a:lnTo>
                <a:lnTo>
                  <a:pt x="7711866" y="6509613"/>
                </a:lnTo>
                <a:lnTo>
                  <a:pt x="7724641" y="6612483"/>
                </a:lnTo>
                <a:lnTo>
                  <a:pt x="7736743" y="6698894"/>
                </a:lnTo>
                <a:lnTo>
                  <a:pt x="7754057" y="6817538"/>
                </a:lnTo>
                <a:lnTo>
                  <a:pt x="7759940" y="6858000"/>
                </a:lnTo>
                <a:lnTo>
                  <a:pt x="6854586" y="6858000"/>
                </a:lnTo>
                <a:lnTo>
                  <a:pt x="6854586" y="6858001"/>
                </a:lnTo>
                <a:lnTo>
                  <a:pt x="764022" y="6858001"/>
                </a:lnTo>
                <a:lnTo>
                  <a:pt x="764022" y="6858000"/>
                </a:lnTo>
                <a:lnTo>
                  <a:pt x="0" y="685800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2671784927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1E091C-101D-89FB-DAA0-CDDD9FC378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Questions?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34DD4B7-0132-9DE6-C0C0-E44626F831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Sw. Evolution</a:t>
            </a:r>
          </a:p>
        </p:txBody>
      </p:sp>
      <p:pic>
        <p:nvPicPr>
          <p:cNvPr id="5" name="Picture 2" descr="Why does Yoda Speak Funny?. Here is a marvelous question with an… | by &amp; |  Medium">
            <a:extLst>
              <a:ext uri="{FF2B5EF4-FFF2-40B4-BE49-F238E27FC236}">
                <a16:creationId xmlns:a16="http://schemas.microsoft.com/office/drawing/2014/main" id="{90E3DB11-EA1D-19A1-F44F-A6269845FA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60512" y="2072590"/>
            <a:ext cx="4822976" cy="32905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27676918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C70F55E-57E9-4462-B41F-3CEB43B6CF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2216382"/>
            <a:ext cx="7997096" cy="3444286"/>
          </a:xfrm>
        </p:spPr>
        <p:txBody>
          <a:bodyPr>
            <a:normAutofit lnSpcReduction="10000"/>
          </a:bodyPr>
          <a:lstStyle/>
          <a:p>
            <a:r>
              <a:rPr lang="en-GB" dirty="0"/>
              <a:t>There is an active community</a:t>
            </a:r>
          </a:p>
          <a:p>
            <a:pPr marL="342900" lvl="1" indent="0">
              <a:buNone/>
            </a:pPr>
            <a:r>
              <a:rPr lang="en-GB" dirty="0">
                <a:hlinkClick r:id="rId3"/>
              </a:rPr>
              <a:t>https://github.community/t5/GitHub-Actions/bd-p/actions</a:t>
            </a:r>
            <a:r>
              <a:rPr lang="en-GB" dirty="0"/>
              <a:t> </a:t>
            </a:r>
            <a:br>
              <a:rPr lang="en-GB" dirty="0"/>
            </a:br>
            <a:endParaRPr lang="en-GB" dirty="0"/>
          </a:p>
          <a:p>
            <a:r>
              <a:rPr lang="en-GB" dirty="0"/>
              <a:t>And documentation at</a:t>
            </a:r>
          </a:p>
          <a:p>
            <a:pPr marL="342900" lvl="1" indent="0">
              <a:buNone/>
            </a:pPr>
            <a:r>
              <a:rPr lang="en-GB" dirty="0">
                <a:hlinkClick r:id="rId4"/>
              </a:rPr>
              <a:t>https://help.github.com/en/categories/automating-your-workflow-with-github-actions</a:t>
            </a:r>
            <a:br>
              <a:rPr lang="en-GB" dirty="0"/>
            </a:br>
            <a:endParaRPr lang="en-GB" dirty="0"/>
          </a:p>
          <a:p>
            <a:r>
              <a:rPr lang="en-GB" dirty="0"/>
              <a:t>And a Pluralsight Course </a:t>
            </a:r>
          </a:p>
          <a:p>
            <a:pPr marL="0" indent="0">
              <a:buNone/>
            </a:pPr>
            <a:r>
              <a:rPr lang="en-GB" sz="1500" dirty="0"/>
              <a:t>      ‘Building Custom GitHub Actions’ By Enrico </a:t>
            </a:r>
            <a:r>
              <a:rPr lang="en-GB" sz="1500" dirty="0" err="1"/>
              <a:t>Campidoglio</a:t>
            </a:r>
            <a:endParaRPr lang="en-GB" sz="1500" dirty="0"/>
          </a:p>
          <a:p>
            <a:pPr marL="0" indent="0">
              <a:buNone/>
            </a:pPr>
            <a:endParaRPr lang="en-GB" dirty="0"/>
          </a:p>
          <a:p>
            <a:pPr marL="342900" lvl="1" indent="0">
              <a:buNone/>
            </a:pPr>
            <a:endParaRPr lang="en-GB" dirty="0"/>
          </a:p>
          <a:p>
            <a:pPr marL="342900" lvl="1" indent="0">
              <a:buNone/>
            </a:pPr>
            <a:endParaRPr lang="en-GB" dirty="0"/>
          </a:p>
          <a:p>
            <a:pPr marL="342900" lvl="1" indent="0">
              <a:buNone/>
            </a:pPr>
            <a:endParaRPr lang="en-GB" dirty="0"/>
          </a:p>
          <a:p>
            <a:pPr marL="342900" lvl="1" indent="0">
              <a:buNone/>
            </a:pPr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440630D-50E7-41AF-A5C3-0551A741E8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Resources</a:t>
            </a:r>
          </a:p>
        </p:txBody>
      </p:sp>
    </p:spTree>
    <p:extLst>
      <p:ext uri="{BB962C8B-B14F-4D97-AF65-F5344CB8AC3E}">
        <p14:creationId xmlns:p14="http://schemas.microsoft.com/office/powerpoint/2010/main" val="1804108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2418</TotalTime>
  <Words>4270</Words>
  <Application>Microsoft Macintosh PowerPoint</Application>
  <PresentationFormat>On-screen Show (4:3)</PresentationFormat>
  <Paragraphs>778</Paragraphs>
  <Slides>73</Slides>
  <Notes>36</Notes>
  <HiddenSlides>3</HiddenSlides>
  <MMClips>0</MMClips>
  <ScaleCrop>false</ScaleCrop>
  <HeadingPairs>
    <vt:vector size="6" baseType="variant">
      <vt:variant>
        <vt:lpstr>Fonts Used</vt:lpstr>
      </vt:variant>
      <vt:variant>
        <vt:i4>17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73</vt:i4>
      </vt:variant>
    </vt:vector>
  </HeadingPairs>
  <TitlesOfParts>
    <vt:vector size="91" baseType="lpstr">
      <vt:lpstr>MS PGothic</vt:lpstr>
      <vt:lpstr>MS PGothic</vt:lpstr>
      <vt:lpstr>宋体</vt:lpstr>
      <vt:lpstr>Aptos</vt:lpstr>
      <vt:lpstr>Arial</vt:lpstr>
      <vt:lpstr>Arial Black</vt:lpstr>
      <vt:lpstr>Arial Rounded MT Bold</vt:lpstr>
      <vt:lpstr>Book Antiqua</vt:lpstr>
      <vt:lpstr>Calibri</vt:lpstr>
      <vt:lpstr>Calibri Light</vt:lpstr>
      <vt:lpstr>Rockwell Extra Bold</vt:lpstr>
      <vt:lpstr>Segoe UI</vt:lpstr>
      <vt:lpstr>Segoe UI Light</vt:lpstr>
      <vt:lpstr>Segoe UI Semilight</vt:lpstr>
      <vt:lpstr>SFMono-Regular</vt:lpstr>
      <vt:lpstr>Times New Roman</vt:lpstr>
      <vt:lpstr>Wingdings</vt:lpstr>
      <vt:lpstr>Office 2013 - 2022 Theme</vt:lpstr>
      <vt:lpstr>From Dev to -Ops and back again: DevOps Pipelines &amp; Their Evolution</vt:lpstr>
      <vt:lpstr>PowerPoint Presentation</vt:lpstr>
      <vt:lpstr>But first...</vt:lpstr>
      <vt:lpstr>Why DevOps?  Top failure causes so far*</vt:lpstr>
      <vt:lpstr>Top failure causes so far* An Example? </vt:lpstr>
      <vt:lpstr>Top failure causes so far* An Example! </vt:lpstr>
      <vt:lpstr>What is DevOps?</vt:lpstr>
      <vt:lpstr>What is DevOps?</vt:lpstr>
      <vt:lpstr>What is DevOps?</vt:lpstr>
      <vt:lpstr>DevOps Practices: Let’s take a look</vt:lpstr>
      <vt:lpstr>DevOps Practices: Let’s take a look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Waterfall vs. Agile vs. DevOps</vt:lpstr>
      <vt:lpstr>PowerPoint Presentation</vt:lpstr>
      <vt:lpstr>Puppet Labs Findings and Survey recommendations</vt:lpstr>
      <vt:lpstr>High Performance DevOps Companies Achieve…</vt:lpstr>
      <vt:lpstr>DevOps: Required Organisational Changes</vt:lpstr>
      <vt:lpstr>PowerPoint Presentation</vt:lpstr>
      <vt:lpstr>PowerPoint Presentation</vt:lpstr>
      <vt:lpstr>PowerPoint Presentation</vt:lpstr>
      <vt:lpstr>PowerPoint Presentation</vt:lpstr>
      <vt:lpstr>DevOps Maintenance</vt:lpstr>
      <vt:lpstr>PowerPoint Presentation</vt:lpstr>
      <vt:lpstr>PowerPoint Presentation</vt:lpstr>
      <vt:lpstr>PowerPoint Presentation</vt:lpstr>
      <vt:lpstr>Digital.ai DevOps Periodic Table</vt:lpstr>
      <vt:lpstr>PowerPoint Presentation</vt:lpstr>
      <vt:lpstr>Principle 1</vt:lpstr>
      <vt:lpstr>Maslow’s Hierarchy Of Needs</vt:lpstr>
      <vt:lpstr>“ Culture Eats Strategy For Breakfast     ”</vt:lpstr>
      <vt:lpstr>What are GitHub Actions?</vt:lpstr>
      <vt:lpstr>Run a workflow on any GitHub event</vt:lpstr>
      <vt:lpstr>Built to Scale</vt:lpstr>
      <vt:lpstr>Community-powered workflows</vt:lpstr>
      <vt:lpstr>Simple, pay-as-you-go pricing</vt:lpstr>
      <vt:lpstr>~Demo: Your first Workflow</vt:lpstr>
      <vt:lpstr>A Sample Workflow</vt:lpstr>
      <vt:lpstr>How do I write my own Custom Action?</vt:lpstr>
      <vt:lpstr>Why might you want a custom action?</vt:lpstr>
      <vt:lpstr>Before you start, remember the Marketplace</vt:lpstr>
      <vt:lpstr>What do I write my action in?</vt:lpstr>
      <vt:lpstr>Anatomy of an Action.yaml file</vt:lpstr>
      <vt:lpstr>But I have some custom  Azure DevOps Pipeline Tasks.   Can I reuse them?</vt:lpstr>
      <vt:lpstr>What is a good candidate?</vt:lpstr>
      <vt:lpstr>How did I write my own Custom Action? </vt:lpstr>
      <vt:lpstr>Adding a Release Branch</vt:lpstr>
      <vt:lpstr>Principle 2</vt:lpstr>
      <vt:lpstr>Versioning your Action Updates</vt:lpstr>
      <vt:lpstr>How to use your action in a workflow?</vt:lpstr>
      <vt:lpstr>Finally add it to the GitHub Marketplace</vt:lpstr>
      <vt:lpstr>Principle 3: structure</vt:lpstr>
      <vt:lpstr>Setup Jenkins as CI/CD Tool</vt:lpstr>
      <vt:lpstr>Configure Jenkins Pipeline (Jenkinsfile)</vt:lpstr>
      <vt:lpstr>Build the Docker Image (Build Stage)</vt:lpstr>
      <vt:lpstr>Run Tests (Test Stage)</vt:lpstr>
      <vt:lpstr>Publish Docker Image to Registry (Publish Stage)</vt:lpstr>
      <vt:lpstr>Deploy to Kubernetes (Deploy Stage)</vt:lpstr>
      <vt:lpstr>Summary</vt:lpstr>
      <vt:lpstr>PowerPoint Presentation</vt:lpstr>
      <vt:lpstr>PowerPoint Presentation</vt:lpstr>
      <vt:lpstr>Questions?</vt:lpstr>
      <vt:lpstr>Resources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Damian Andrew Tamburri</dc:creator>
  <cp:lastModifiedBy>Damian Andrew Tamburri</cp:lastModifiedBy>
  <cp:revision>95</cp:revision>
  <dcterms:created xsi:type="dcterms:W3CDTF">2024-06-17T07:34:05Z</dcterms:created>
  <dcterms:modified xsi:type="dcterms:W3CDTF">2026-10-26T09:47:46Z</dcterms:modified>
</cp:coreProperties>
</file>